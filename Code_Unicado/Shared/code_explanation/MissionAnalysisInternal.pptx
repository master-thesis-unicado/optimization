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8" r:id="rId3"/>
    <p:sldId id="272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FA46-9B49-4574-B09E-7EC196559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F7C51-A0C3-4CC0-B3D2-4EC13F736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58DD5-0F10-451D-AFBC-EF8B5A06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4BE68-C2F3-4258-B9D6-7FCD434E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282C7-A054-4D3C-8812-DEEC1DBF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8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FDE9-B104-45F6-ADC7-647927AE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CAAF-A0F1-498C-A5C9-2C4386C22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3D9B7-F0B8-4E8A-AD35-6323EF92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1BDD0-38F6-4F5E-992D-32C63897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F5543-676C-4ED8-A8A2-E40DACE8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0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355BA-07C3-4D18-A221-9C2333989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26070-DBB2-4FFE-BAE9-67E7BAD45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A1073-B928-48C2-BF33-177E5226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20B4-67C4-4FBA-B42A-9167C59B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053E6-6D05-4238-AC73-F1E357D4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20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ED53-E229-4695-BC9B-D2DA164C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2507-C164-4AD1-8185-BF3E7EC80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ABD39-866B-4A19-AF66-259725745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98883-5F10-4BB2-8E3E-66ED68B8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110E2-C3B9-4C9C-B18A-4088DC1A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F715-48AF-4DB3-AE37-732A68FB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1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C208-EB5E-47CD-B028-643CD6D8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3C6E1-C675-46BF-8532-66F7EBCB6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73E20-941B-4237-AE17-F35C8754E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2E767-8026-4A76-BFD0-78CB29CF8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0C20C-300E-4F23-A160-1871C7589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A0267F-9445-42FE-A338-DB7625B44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9E752-DA39-4492-A98A-84F0261C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AA62C-2DA9-4229-A713-1227B9F62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C063-7B56-4C0C-9CE1-395AB107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91CB1-5FF7-4339-94B8-5FA61FCD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BD888-0C31-4070-8C2A-77438F15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D3A2A-32EF-4271-82F6-935AD954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9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C8D98E-0E76-4259-934B-385F812E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6D264-FC41-49F8-B484-8E5CB044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E9489-B87F-493D-B9E4-7E93E454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23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4F99-66F6-49C7-AD65-8676D50A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3E21-8EB9-40AB-9CFB-1ED79871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F65B4-3ABC-4C84-A04A-5A5BF8FDA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7AE69-8247-434E-8964-958ADBC0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ADD0F-0CD7-4280-886A-9FA777063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DFD5B-A5CE-4282-9AC6-16C2496E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1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D046-C5D3-4D60-9447-10995E232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18EB2-1AA1-4EA9-A31B-43A2D5E4F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808BA-331D-46C7-9E87-38A79056A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9DDF7-3643-429E-8F82-FA5E34C3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CD025-CE1D-4163-AD79-3026ACCBF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239DC-944B-4015-9FF8-39C2367F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4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0F6A-414A-45B5-949A-2FADC1CF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8D36B-96BE-4D0F-ADFB-101F0DE31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565FD-F7D0-48B3-9F17-5995B818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556A7-0FA4-4D74-B712-2C7A7B61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2CBB5-86AA-4346-8A06-9A28194D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5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A3CA0-9003-4431-8FF2-0DB3EAB4D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A0308-511A-4330-A01A-AC1FC25D1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9304C-0C27-45A2-9785-5F864B8C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E6D48-2A1B-4683-9851-1B819E9E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8D5F-88BF-4D2E-9B17-A8099820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08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1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287338" y="6227763"/>
            <a:ext cx="731837" cy="396875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08860AB-2D7C-FE7A-E573-91DCB43770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1472" y="489138"/>
            <a:ext cx="1794474" cy="100405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AEF77C84-3BF0-9E82-5210-F75E7EBC59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410" t="28036" r="17527" b="27811"/>
          <a:stretch/>
        </p:blipFill>
        <p:spPr>
          <a:xfrm>
            <a:off x="6205926" y="1058009"/>
            <a:ext cx="1694219" cy="116767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638AFB78-1BDB-C49E-D810-B6372BBD96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7710" y="299777"/>
            <a:ext cx="2895600" cy="78105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B026FC51-222E-F76F-4FBF-7E2ECFF669C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3378" y="1228036"/>
            <a:ext cx="2540912" cy="85665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595EC522-7561-9F12-F44D-3096C6A87B4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46412" y="144861"/>
            <a:ext cx="2309232" cy="85665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05E3536C-9B7E-17F4-3EB4-C09CEA6A066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25409" y="6089246"/>
            <a:ext cx="2842591" cy="673245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0AF07FA6-7A1B-0248-2A22-688EE08560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8" t="7994" r="9544" b="9398"/>
          <a:stretch/>
        </p:blipFill>
        <p:spPr>
          <a:xfrm>
            <a:off x="8365942" y="6061556"/>
            <a:ext cx="628786" cy="673245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620AEA08-24E8-D33C-71B3-B373C6660A7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5975" y="1459950"/>
            <a:ext cx="3491753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75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1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287338" y="6227763"/>
            <a:ext cx="731837" cy="396875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7F15A71-885D-B641-BC6F-89FD77C7516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5409" y="6101946"/>
            <a:ext cx="2842591" cy="67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87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990413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338" y="6227763"/>
            <a:ext cx="731837" cy="3968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B07B0FF-EDB4-6BAF-D3F5-2280AF19B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8419" y="208975"/>
            <a:ext cx="1568620" cy="5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83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990413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338" y="6227763"/>
            <a:ext cx="731837" cy="3968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39F70A2-42FE-0CA1-2FC5-D4255440A0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8419" y="208975"/>
            <a:ext cx="1568620" cy="5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63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990413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338" y="6227763"/>
            <a:ext cx="731837" cy="3968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8501AC7-3A14-327C-8E85-6EECFE67C9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8419" y="208975"/>
            <a:ext cx="1568620" cy="5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22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990413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338" y="6227763"/>
            <a:ext cx="731837" cy="3968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384175" y="1081088"/>
            <a:ext cx="5365750" cy="4876800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tIns="324000"/>
          <a:lstStyle>
            <a:lvl1pPr>
              <a:defRPr/>
            </a:lvl1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548674" y="859631"/>
            <a:ext cx="2312987" cy="442913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6494425" y="1081088"/>
            <a:ext cx="5365750" cy="4876800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tIns="324000"/>
          <a:lstStyle>
            <a:lvl1pPr>
              <a:defRPr/>
            </a:lvl1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658924" y="859631"/>
            <a:ext cx="2312987" cy="442913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4122600" y="3359288"/>
            <a:ext cx="4006800" cy="320400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162CAA7-C42D-8455-A152-5C1385E5F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8419" y="208975"/>
            <a:ext cx="1568620" cy="5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639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E3475A-FCFA-6147-ADD1-ADCDAD0A0198}"/>
              </a:ext>
            </a:extLst>
          </p:cNvPr>
          <p:cNvSpPr/>
          <p:nvPr/>
        </p:nvSpPr>
        <p:spPr>
          <a:xfrm>
            <a:off x="371462" y="1289109"/>
            <a:ext cx="11496537" cy="4730691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 lIns="108000" tIns="360000" rIns="36000" bIns="36000" anchor="t">
            <a:noAutofit/>
          </a:bodyPr>
          <a:lstStyle/>
          <a:p>
            <a:pPr marL="285750" indent="-28575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endParaRPr lang="en-US" sz="1600" dirty="0"/>
          </a:p>
          <a:p>
            <a:pPr marL="285750" indent="-28575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4E70C0-EF38-194D-A610-304BB1A23C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BFD638-4BD9-EA4B-9879-1CE45CED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00" y="201600"/>
            <a:ext cx="990413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BBD7DFA-B118-A742-A91B-6C22F1A849A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4000" y="1714754"/>
            <a:ext cx="11483999" cy="43050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53256" y="1067652"/>
            <a:ext cx="2312987" cy="442913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1A42777-1849-45AF-65A6-88AABBE1C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8419" y="208975"/>
            <a:ext cx="1568620" cy="5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809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C0BD73-DE05-2842-B176-675003D401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78C59A-E344-E34B-9871-68AEB784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00" y="201600"/>
            <a:ext cx="990413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53B5EF3-D218-FE47-A75C-C552FF8676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762" y="1046447"/>
            <a:ext cx="10848825" cy="2382553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9835D581-78CB-154F-87FD-5F959A48A0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7762" y="3560297"/>
            <a:ext cx="10848825" cy="2382553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54189C9F-E80C-3F4F-8C52-BA6503C45B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2046988" y="3972973"/>
            <a:ext cx="912317" cy="784432"/>
          </a:xfrm>
          <a:prstGeom prst="chevron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76012CD-3A53-1C4C-ABC9-5BE60FDD2F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5363" y="3909031"/>
            <a:ext cx="7874000" cy="515501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9" name="Textplatzhalter 15">
            <a:extLst>
              <a:ext uri="{FF2B5EF4-FFF2-40B4-BE49-F238E27FC236}">
                <a16:creationId xmlns:a16="http://schemas.microsoft.com/office/drawing/2014/main" id="{0E1A5D9A-2BD8-964A-962F-63E16D550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2047128" y="4588429"/>
            <a:ext cx="912317" cy="784432"/>
          </a:xfrm>
          <a:prstGeom prst="chevron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BB880AC0-73A2-2245-B895-626B7D6A6C3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5503" y="4524487"/>
            <a:ext cx="7874000" cy="515501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42504" y="1227783"/>
            <a:ext cx="1525385" cy="638929"/>
          </a:xfrm>
          <a:prstGeom prst="homePlate">
            <a:avLst>
              <a:gd name="adj" fmla="val 32653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Objective</a:t>
            </a:r>
            <a:endParaRPr lang="de-DE" dirty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142504" y="3729286"/>
            <a:ext cx="1525385" cy="638929"/>
          </a:xfrm>
          <a:prstGeom prst="homePlate">
            <a:avLst>
              <a:gd name="adj" fmla="val 32653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Approach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C934803-4048-BE9E-2989-93A24B459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8419" y="208975"/>
            <a:ext cx="1568620" cy="5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360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 err="1">
                <a:solidFill>
                  <a:schemeClr val="bg1"/>
                </a:solidFill>
              </a:rPr>
              <a:t>Thank</a:t>
            </a:r>
            <a:r>
              <a:rPr lang="de-DE" altLang="de-DE" sz="3200" b="1" dirty="0">
                <a:solidFill>
                  <a:schemeClr val="bg1"/>
                </a:solidFill>
              </a:rPr>
              <a:t> You!</a:t>
            </a:r>
            <a:endParaRPr lang="en-US" altLang="de-DE" sz="3200" b="1" dirty="0">
              <a:solidFill>
                <a:schemeClr val="bg1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287338" y="6227763"/>
            <a:ext cx="731837" cy="396875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4A4940A-6398-6E76-A299-3DB64ED09A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5200" y="6087914"/>
            <a:ext cx="2842400" cy="6732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B96A250-89D8-CA7B-AF85-D8542A4EB6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8419" y="208975"/>
            <a:ext cx="1568620" cy="5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94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16CF4-595A-46D4-99D9-68CC9098C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7838E-D69F-435B-8414-BBD8F0A72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342D6-09BA-49C9-8C47-FB2739A3D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74E6D-0433-4213-B340-2A83FF41718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58AD1-D484-4A45-B103-AFCF0B347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A1E9D-9893-4845-AFEE-2822E0279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4D948-9EAB-4D2E-B033-5A1BCC9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3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tx2">
                <a:lumMod val="50000"/>
              </a:schemeClr>
            </a:gs>
            <a:gs pos="74000">
              <a:schemeClr val="tx2">
                <a:lumMod val="75000"/>
              </a:schemeClr>
            </a:gs>
            <a:gs pos="83000">
              <a:schemeClr val="tx2">
                <a:lumMod val="75000"/>
              </a:schemeClr>
            </a:gs>
            <a:gs pos="100000">
              <a:schemeClr val="tx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>
                <a:solidFill>
                  <a:schemeClr val="bg1"/>
                </a:solidFill>
              </a:rPr>
              <a:t>UNICADO-II  | LLS UNICADO Review |  </a:t>
            </a:r>
            <a:r>
              <a:rPr lang="de-DE" altLang="de-DE" sz="900" i="1" dirty="0">
                <a:solidFill>
                  <a:schemeClr val="bg1"/>
                </a:solidFill>
              </a:rPr>
              <a:t>TU Munich</a:t>
            </a:r>
            <a:endParaRPr lang="de-DE" altLang="de-DE" sz="900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r>
              <a:rPr lang="de-DE" altLang="de-DE" sz="900" dirty="0">
                <a:solidFill>
                  <a:schemeClr val="bg1"/>
                </a:solidFill>
              </a:rPr>
              <a:t>Chair of Aircraft Design  |  03.28.2025  | Meric Taneri</a:t>
            </a: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338" y="6227763"/>
            <a:ext cx="731837" cy="3968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C625DB7-0358-D143-AEC9-E7583ED9A4E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25200" y="6077504"/>
            <a:ext cx="2842400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6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0.sv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56.png"/><Relationship Id="rId9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BA9519-4FC7-4555-901D-4A5D48AA51AA}"/>
              </a:ext>
            </a:extLst>
          </p:cNvPr>
          <p:cNvSpPr/>
          <p:nvPr/>
        </p:nvSpPr>
        <p:spPr>
          <a:xfrm>
            <a:off x="9420768" y="3304746"/>
            <a:ext cx="2601281" cy="1950959"/>
          </a:xfrm>
          <a:prstGeom prst="roundRect">
            <a:avLst>
              <a:gd name="adj" fmla="val 385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88D95BF-39E6-4DCB-817B-845AB906F147}"/>
              </a:ext>
            </a:extLst>
          </p:cNvPr>
          <p:cNvSpPr/>
          <p:nvPr/>
        </p:nvSpPr>
        <p:spPr>
          <a:xfrm>
            <a:off x="6578879" y="3297228"/>
            <a:ext cx="2601281" cy="1950959"/>
          </a:xfrm>
          <a:prstGeom prst="roundRect">
            <a:avLst>
              <a:gd name="adj" fmla="val 385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2CDE4F-FC6D-4DAD-9DA3-8125CE1C9CAF}"/>
              </a:ext>
            </a:extLst>
          </p:cNvPr>
          <p:cNvSpPr/>
          <p:nvPr/>
        </p:nvSpPr>
        <p:spPr>
          <a:xfrm>
            <a:off x="2795110" y="1711840"/>
            <a:ext cx="2356010" cy="1651322"/>
          </a:xfrm>
          <a:prstGeom prst="roundRect">
            <a:avLst>
              <a:gd name="adj" fmla="val 385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2E9186-F1C9-4BD4-AE8D-B51265292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UNICADO 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3E1E1-0509-4CE3-BD16-7AEDA04AD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Mission Analysis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735220-AC8B-4134-9894-6C14B1CDD03D}"/>
              </a:ext>
            </a:extLst>
          </p:cNvPr>
          <p:cNvGrpSpPr/>
          <p:nvPr/>
        </p:nvGrpSpPr>
        <p:grpSpPr>
          <a:xfrm>
            <a:off x="3052630" y="3928931"/>
            <a:ext cx="1948962" cy="1092529"/>
            <a:chOff x="9533698" y="4482599"/>
            <a:chExt cx="1948962" cy="1092529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863399B-54DD-4029-85F3-24BB0923457A}"/>
                </a:ext>
              </a:extLst>
            </p:cNvPr>
            <p:cNvGrpSpPr/>
            <p:nvPr/>
          </p:nvGrpSpPr>
          <p:grpSpPr>
            <a:xfrm>
              <a:off x="9533698" y="4482599"/>
              <a:ext cx="1948962" cy="1092529"/>
              <a:chOff x="9533697" y="2966337"/>
              <a:chExt cx="1805906" cy="1724075"/>
            </a:xfrm>
            <a:solidFill>
              <a:srgbClr val="C0C079"/>
            </a:solidFill>
          </p:grpSpPr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0FCBB2A0-0D74-42FF-9E87-556855584E24}"/>
                  </a:ext>
                </a:extLst>
              </p:cNvPr>
              <p:cNvSpPr/>
              <p:nvPr/>
            </p:nvSpPr>
            <p:spPr>
              <a:xfrm>
                <a:off x="9533697" y="2966337"/>
                <a:ext cx="1805906" cy="1724075"/>
              </a:xfrm>
              <a:prstGeom prst="cube">
                <a:avLst>
                  <a:gd name="adj" fmla="val 13781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3295F21-41D0-4D7C-B91E-B902F142284A}"/>
                  </a:ext>
                </a:extLst>
              </p:cNvPr>
              <p:cNvSpPr/>
              <p:nvPr/>
            </p:nvSpPr>
            <p:spPr>
              <a:xfrm>
                <a:off x="9598547" y="3242865"/>
                <a:ext cx="1544884" cy="4065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Mission Analysis</a:t>
                </a:r>
              </a:p>
            </p:txBody>
          </p:sp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ED427569-F248-403C-874E-BB9497177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10649" y="4911221"/>
              <a:ext cx="1195057" cy="5942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Placeholder 1">
                <a:extLst>
                  <a:ext uri="{FF2B5EF4-FFF2-40B4-BE49-F238E27FC236}">
                    <a16:creationId xmlns:a16="http://schemas.microsoft.com/office/drawing/2014/main" id="{D568A71D-5BD1-46F7-B7A4-92DA6F8695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92300" y="4481715"/>
                <a:ext cx="491376" cy="1003210"/>
              </a:xfrm>
              <a:prstGeom prst="rect">
                <a:avLst/>
              </a:prstGeom>
              <a:ln>
                <a:noFill/>
              </a:ln>
            </p:spPr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None/>
                  <a:tabLst>
                    <a:tab pos="2159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𝑇𝑂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  <a:p>
                <a:pPr marL="0" marR="0" lvl="0" indent="0" algn="ctr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None/>
                  <a:tabLst>
                    <a:tab pos="2159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0" lang="en-US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  <a:p>
                <a:pPr marL="0" marR="0" lvl="0" indent="0" algn="ctr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None/>
                  <a:tabLst>
                    <a:tab pos="2159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0" lang="en-US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mbria Math" panose="02040503050406030204" pitchFamily="18" charset="0"/>
                  <a:ea typeface="ＭＳ Ｐゴシック" charset="0"/>
                  <a:cs typeface="Arial" panose="020B0604020202020204" pitchFamily="34" charset="0"/>
                </a:endParaRPr>
              </a:p>
              <a:p>
                <a:pPr marL="0" marR="0" lvl="0" indent="0" algn="ctr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None/>
                  <a:tabLst>
                    <a:tab pos="215900" algn="l"/>
                  </a:tabLs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0" lang="en-US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Text Placeholder 1">
                <a:extLst>
                  <a:ext uri="{FF2B5EF4-FFF2-40B4-BE49-F238E27FC236}">
                    <a16:creationId xmlns:a16="http://schemas.microsoft.com/office/drawing/2014/main" id="{D568A71D-5BD1-46F7-B7A4-92DA6F869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300" y="4481715"/>
                <a:ext cx="491376" cy="1003210"/>
              </a:xfrm>
              <a:prstGeom prst="rect">
                <a:avLst/>
              </a:prstGeom>
              <a:blipFill>
                <a:blip r:embed="rId4"/>
                <a:stretch>
                  <a:fillRect l="-2469" b="-12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FEBEFBA-F5AF-4B55-A2CA-A7CE5597B217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5001592" y="4865169"/>
            <a:ext cx="290708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3E89872-9185-44C4-A7ED-35DEA8872546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3945728" y="3611791"/>
            <a:ext cx="0" cy="317142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8E41313-AF8D-4936-A360-91E4790C5538}"/>
              </a:ext>
            </a:extLst>
          </p:cNvPr>
          <p:cNvSpPr txBox="1"/>
          <p:nvPr/>
        </p:nvSpPr>
        <p:spPr>
          <a:xfrm>
            <a:off x="3326808" y="3396347"/>
            <a:ext cx="1237839" cy="215444"/>
          </a:xfrm>
          <a:prstGeom prst="rect">
            <a:avLst/>
          </a:prstGeom>
          <a:solidFill>
            <a:srgbClr val="00448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t>Weight fractions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BB5557-3F14-4BF1-8043-C733E7E4CB68}"/>
              </a:ext>
            </a:extLst>
          </p:cNvPr>
          <p:cNvCxnSpPr>
            <a:cxnSpLocks/>
          </p:cNvCxnSpPr>
          <p:nvPr/>
        </p:nvCxnSpPr>
        <p:spPr>
          <a:xfrm flipV="1">
            <a:off x="4005719" y="5026485"/>
            <a:ext cx="0" cy="45844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60ABA07-5AA4-4263-9963-DF5488295F0A}"/>
              </a:ext>
            </a:extLst>
          </p:cNvPr>
          <p:cNvSpPr txBox="1"/>
          <p:nvPr/>
        </p:nvSpPr>
        <p:spPr>
          <a:xfrm>
            <a:off x="3386799" y="5315648"/>
            <a:ext cx="1237839" cy="338554"/>
          </a:xfrm>
          <a:prstGeom prst="rect">
            <a:avLst/>
          </a:prstGeom>
          <a:solidFill>
            <a:srgbClr val="004C8E"/>
          </a:solidFill>
          <a:ln>
            <a:solidFill>
              <a:srgbClr val="004C8E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t>Mission Performance Requirements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610E464-882B-4E74-A409-35D8B7455A4D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1785559" y="3616571"/>
            <a:ext cx="1267071" cy="933905"/>
          </a:xfrm>
          <a:prstGeom prst="bentConnector3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18B94D5-8568-4FD9-8DDE-ED4AE9647C54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1785559" y="4550476"/>
            <a:ext cx="1267071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6F2ACB08-2864-4C98-A388-77F8E762BDB6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1785559" y="4550476"/>
            <a:ext cx="1267071" cy="1003210"/>
          </a:xfrm>
          <a:prstGeom prst="bentConnector3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5215352-1A5B-4E8D-A37D-9C6C53991086}"/>
              </a:ext>
            </a:extLst>
          </p:cNvPr>
          <p:cNvSpPr>
            <a:spLocks noChangeAspect="1"/>
          </p:cNvSpPr>
          <p:nvPr/>
        </p:nvSpPr>
        <p:spPr>
          <a:xfrm>
            <a:off x="6542841" y="3297229"/>
            <a:ext cx="2601281" cy="1950959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2551D21-0853-42D1-8A7E-15F19DB67897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001592" y="4227871"/>
            <a:ext cx="1541249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333B38C-AEA2-4A39-BC4A-FBDCFC386F0A}"/>
              </a:ext>
            </a:extLst>
          </p:cNvPr>
          <p:cNvSpPr/>
          <p:nvPr/>
        </p:nvSpPr>
        <p:spPr>
          <a:xfrm>
            <a:off x="9384730" y="3297229"/>
            <a:ext cx="2601281" cy="1950959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AA03D42-6EEC-407E-B68C-9732B436E78F}"/>
              </a:ext>
            </a:extLst>
          </p:cNvPr>
          <p:cNvSpPr>
            <a:spLocks noChangeAspect="1"/>
          </p:cNvSpPr>
          <p:nvPr/>
        </p:nvSpPr>
        <p:spPr>
          <a:xfrm>
            <a:off x="2906469" y="1749845"/>
            <a:ext cx="2078516" cy="1558886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786BE64-411D-4263-B178-E89213846CD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957" t="8739" r="4628" b="8371"/>
          <a:stretch/>
        </p:blipFill>
        <p:spPr>
          <a:xfrm>
            <a:off x="734431" y="5248187"/>
            <a:ext cx="1068656" cy="57544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6E98BCC-3FF2-437C-A957-9874B01D40FB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0365" t="3183" r="4010" b="70802"/>
          <a:stretch/>
        </p:blipFill>
        <p:spPr>
          <a:xfrm>
            <a:off x="734430" y="3395947"/>
            <a:ext cx="1053838" cy="410625"/>
          </a:xfrm>
          <a:prstGeom prst="rect">
            <a:avLst/>
          </a:prstGeom>
          <a:solidFill>
            <a:srgbClr val="00447E"/>
          </a:solidFill>
          <a:ln w="12700"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428A5C1-DD50-480E-8B59-D64774587D2D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596" t="33475" r="4339" b="1831"/>
          <a:stretch/>
        </p:blipFill>
        <p:spPr>
          <a:xfrm>
            <a:off x="734431" y="4024138"/>
            <a:ext cx="1057449" cy="103478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995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7" grpId="0" animBg="1"/>
      <p:bldP spid="26" grpId="0" animBg="1"/>
      <p:bldP spid="51" grpId="0"/>
      <p:bldP spid="54" grpId="0" animBg="1"/>
      <p:bldP spid="56" grpId="0" animBg="1"/>
      <p:bldP spid="32" grpId="0" animBg="1"/>
      <p:bldP spid="62" grpId="0" animBg="1"/>
      <p:bldP spid="6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4967090C-00CE-4C2F-940D-ADC2C050E4DE}"/>
              </a:ext>
            </a:extLst>
          </p:cNvPr>
          <p:cNvCxnSpPr>
            <a:cxnSpLocks/>
          </p:cNvCxnSpPr>
          <p:nvPr/>
        </p:nvCxnSpPr>
        <p:spPr>
          <a:xfrm>
            <a:off x="10958767" y="4251960"/>
            <a:ext cx="0" cy="1091496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732C129-65C0-4E00-8087-6E49B9D809B1}"/>
              </a:ext>
            </a:extLst>
          </p:cNvPr>
          <p:cNvCxnSpPr>
            <a:cxnSpLocks/>
          </p:cNvCxnSpPr>
          <p:nvPr/>
        </p:nvCxnSpPr>
        <p:spPr>
          <a:xfrm>
            <a:off x="6999760" y="4251960"/>
            <a:ext cx="0" cy="1091496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03742E-289D-4D5B-B198-1358057D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3038" y="1708860"/>
            <a:ext cx="4795699" cy="396875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Input Format – Mission Performance Requirements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780264-66FB-4D5F-BA24-79A0EE69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UNICADO 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5CF28-7087-4C51-BBD5-C4E382E60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Mission Analysis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1DBD02AB-7554-459A-9ABD-CCA1A716469B}"/>
              </a:ext>
            </a:extLst>
          </p:cNvPr>
          <p:cNvSpPr txBox="1">
            <a:spLocks/>
          </p:cNvSpPr>
          <p:nvPr/>
        </p:nvSpPr>
        <p:spPr>
          <a:xfrm>
            <a:off x="403038" y="2105735"/>
            <a:ext cx="5722962" cy="317541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Check-Point to Check-Point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A2B60D2-F95B-4DC6-86D7-42F3D737D6E2}"/>
              </a:ext>
            </a:extLst>
          </p:cNvPr>
          <p:cNvSpPr txBox="1">
            <a:spLocks/>
          </p:cNvSpPr>
          <p:nvPr/>
        </p:nvSpPr>
        <p:spPr>
          <a:xfrm>
            <a:off x="403038" y="3990975"/>
            <a:ext cx="4591118" cy="631623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Segment Definition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364D8-4117-44D9-A975-8A699AA9A2B1}"/>
              </a:ext>
            </a:extLst>
          </p:cNvPr>
          <p:cNvSpPr/>
          <p:nvPr/>
        </p:nvSpPr>
        <p:spPr>
          <a:xfrm>
            <a:off x="486862" y="2635756"/>
            <a:ext cx="365760" cy="3657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F178CEA1-77BF-4056-9A7D-8C15FC1DB0B2}"/>
              </a:ext>
            </a:extLst>
          </p:cNvPr>
          <p:cNvSpPr txBox="1">
            <a:spLocks/>
          </p:cNvSpPr>
          <p:nvPr/>
        </p:nvSpPr>
        <p:spPr>
          <a:xfrm>
            <a:off x="1035502" y="2470483"/>
            <a:ext cx="1532438" cy="696307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Altitude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Mach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Radius or time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877AC90-0C43-4B9E-AE9E-C930A48F25EA}"/>
              </a:ext>
            </a:extLst>
          </p:cNvPr>
          <p:cNvSpPr/>
          <p:nvPr/>
        </p:nvSpPr>
        <p:spPr>
          <a:xfrm>
            <a:off x="3077662" y="2635756"/>
            <a:ext cx="365760" cy="3657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D29B10BF-B186-4FB1-B849-586E951E75B3}"/>
              </a:ext>
            </a:extLst>
          </p:cNvPr>
          <p:cNvSpPr txBox="1">
            <a:spLocks/>
          </p:cNvSpPr>
          <p:nvPr/>
        </p:nvSpPr>
        <p:spPr>
          <a:xfrm>
            <a:off x="3626302" y="2470483"/>
            <a:ext cx="1532438" cy="696307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Altitude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Mach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Radius or time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621FB2F-53DA-417B-80CF-152B05A37B74}"/>
              </a:ext>
            </a:extLst>
          </p:cNvPr>
          <p:cNvCxnSpPr>
            <a:cxnSpLocks/>
            <a:stCxn id="38" idx="3"/>
            <a:endCxn id="39" idx="2"/>
          </p:cNvCxnSpPr>
          <p:nvPr/>
        </p:nvCxnSpPr>
        <p:spPr>
          <a:xfrm flipV="1">
            <a:off x="2567940" y="2818636"/>
            <a:ext cx="509722" cy="1"/>
          </a:xfrm>
          <a:prstGeom prst="straightConnector1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82ECE239-A2C4-49F3-9054-EF258C1F09A8}"/>
              </a:ext>
            </a:extLst>
          </p:cNvPr>
          <p:cNvGrpSpPr/>
          <p:nvPr/>
        </p:nvGrpSpPr>
        <p:grpSpPr>
          <a:xfrm>
            <a:off x="395270" y="3207961"/>
            <a:ext cx="4711874" cy="696307"/>
            <a:chOff x="395270" y="3207961"/>
            <a:chExt cx="4711874" cy="696307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98961D5A-ACFB-4AAD-AF5F-5E0914D6C030}"/>
                </a:ext>
              </a:extLst>
            </p:cNvPr>
            <p:cNvSpPr/>
            <p:nvPr/>
          </p:nvSpPr>
          <p:spPr>
            <a:xfrm>
              <a:off x="395270" y="3207961"/>
              <a:ext cx="4711874" cy="696307"/>
            </a:xfrm>
            <a:prstGeom prst="roundRect">
              <a:avLst>
                <a:gd name="adj" fmla="val 20273"/>
              </a:avLst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Text Placeholder 1">
              <a:extLst>
                <a:ext uri="{FF2B5EF4-FFF2-40B4-BE49-F238E27FC236}">
                  <a16:creationId xmlns:a16="http://schemas.microsoft.com/office/drawing/2014/main" id="{83072C14-AFC2-47CF-8423-67F70CA9895A}"/>
                </a:ext>
              </a:extLst>
            </p:cNvPr>
            <p:cNvSpPr txBox="1">
              <a:spLocks/>
            </p:cNvSpPr>
            <p:nvPr/>
          </p:nvSpPr>
          <p:spPr>
            <a:xfrm>
              <a:off x="498742" y="3249109"/>
              <a:ext cx="4504930" cy="614011"/>
            </a:xfrm>
            <a:prstGeom prst="rect">
              <a:avLst/>
            </a:prstGeom>
          </p:spPr>
          <p:txBody>
            <a:bodyPr lIns="0" tIns="0" rIns="0" bIns="0"/>
            <a:lstStyle>
              <a:lvl1pPr marL="215900" indent="-215900" algn="l" defTabSz="21590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•"/>
                <a:tabLst>
                  <a:tab pos="215900" algn="l"/>
                </a:tabLs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defRPr>
              </a:lvl1pPr>
              <a:lvl2pPr marL="431800" indent="-215900" algn="l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Symbol" pitchFamily="18" charset="2"/>
                <a:buChar char="-"/>
                <a:tabLst>
                  <a:tab pos="4318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defRPr>
              </a:lvl2pPr>
              <a:lvl3pPr marL="647700" indent="-215900" algn="l" defTabSz="21590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tabLst>
                  <a:tab pos="6477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defRPr>
              </a:lvl3pPr>
              <a:lvl4pPr marL="863600" indent="-215900" algn="l" defTabSz="21590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00000"/>
                <a:buFont typeface="Arial" charset="0"/>
                <a:buChar char="-"/>
                <a:tabLst>
                  <a:tab pos="8636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defRPr>
              </a:lvl4pPr>
              <a:lvl5pPr marL="863600" indent="-215900" algn="l" rtl="0" eaLnBrk="1" fontAlgn="base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-"/>
                <a:tabLst>
                  <a:tab pos="89535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159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5BD"/>
                </a:buClr>
                <a:buSzTx/>
                <a:buFont typeface="Arial" charset="0"/>
                <a:buNone/>
                <a:tabLst>
                  <a:tab pos="215900" algn="l"/>
                </a:tabLst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rPr>
                <a:t>Use Case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rPr>
                <a:t>: Setting up pre-defined climb or descend profiles</a:t>
              </a:r>
            </a:p>
            <a:p>
              <a:pPr marL="0" marR="0" lvl="0" indent="0" algn="l" defTabSz="2159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5BD"/>
                </a:buClr>
                <a:buSzTx/>
                <a:buFont typeface="Arial" charset="0"/>
                <a:buNone/>
                <a:tabLst>
                  <a:tab pos="215900" algn="l"/>
                </a:tabLst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endParaRPr>
            </a:p>
            <a:p>
              <a:pPr marL="0" marR="0" lvl="0" indent="0" algn="l" defTabSz="2159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5BD"/>
                </a:buClr>
                <a:buSzTx/>
                <a:buFont typeface="Arial" charset="0"/>
                <a:buNone/>
                <a:tabLst>
                  <a:tab pos="215900" algn="l"/>
                </a:tabLst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rPr>
                <a:t>Flight profile dictates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rPr>
                <a:t>the analysis</a:t>
              </a: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53CB55-8D26-4EC1-B999-FF9E8DEB6AB3}"/>
              </a:ext>
            </a:extLst>
          </p:cNvPr>
          <p:cNvCxnSpPr>
            <a:cxnSpLocks/>
          </p:cNvCxnSpPr>
          <p:nvPr/>
        </p:nvCxnSpPr>
        <p:spPr>
          <a:xfrm>
            <a:off x="669742" y="4419600"/>
            <a:ext cx="0" cy="60960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296EEC0-6E3F-45AC-840F-213180558B0D}"/>
              </a:ext>
            </a:extLst>
          </p:cNvPr>
          <p:cNvCxnSpPr>
            <a:cxnSpLocks/>
          </p:cNvCxnSpPr>
          <p:nvPr/>
        </p:nvCxnSpPr>
        <p:spPr>
          <a:xfrm>
            <a:off x="3260542" y="4419600"/>
            <a:ext cx="0" cy="60960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1">
            <a:extLst>
              <a:ext uri="{FF2B5EF4-FFF2-40B4-BE49-F238E27FC236}">
                <a16:creationId xmlns:a16="http://schemas.microsoft.com/office/drawing/2014/main" id="{484C2E2A-07D0-4201-8995-FBA485BF033E}"/>
              </a:ext>
            </a:extLst>
          </p:cNvPr>
          <p:cNvSpPr txBox="1">
            <a:spLocks/>
          </p:cNvSpPr>
          <p:nvPr/>
        </p:nvSpPr>
        <p:spPr>
          <a:xfrm>
            <a:off x="6908320" y="1703855"/>
            <a:ext cx="4948579" cy="39687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None/>
              <a:tabLst>
                <a:tab pos="21590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Examples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A7C74B3-DB7C-4D0E-BAF6-494077E41CA0}"/>
              </a:ext>
            </a:extLst>
          </p:cNvPr>
          <p:cNvSpPr/>
          <p:nvPr/>
        </p:nvSpPr>
        <p:spPr>
          <a:xfrm>
            <a:off x="486862" y="4259602"/>
            <a:ext cx="365760" cy="3657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26E9A10-867B-48C8-9DE5-C21192719BF7}"/>
              </a:ext>
            </a:extLst>
          </p:cNvPr>
          <p:cNvSpPr/>
          <p:nvPr/>
        </p:nvSpPr>
        <p:spPr>
          <a:xfrm>
            <a:off x="3077662" y="4259602"/>
            <a:ext cx="365760" cy="3657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8529911-56E8-42AE-9A46-39C24ACCB7F9}"/>
              </a:ext>
            </a:extLst>
          </p:cNvPr>
          <p:cNvCxnSpPr>
            <a:cxnSpLocks/>
          </p:cNvCxnSpPr>
          <p:nvPr/>
        </p:nvCxnSpPr>
        <p:spPr>
          <a:xfrm flipV="1">
            <a:off x="689201" y="4980434"/>
            <a:ext cx="2540861" cy="1"/>
          </a:xfrm>
          <a:prstGeom prst="straightConnector1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">
            <a:extLst>
              <a:ext uri="{FF2B5EF4-FFF2-40B4-BE49-F238E27FC236}">
                <a16:creationId xmlns:a16="http://schemas.microsoft.com/office/drawing/2014/main" id="{8AD4EADB-518F-4CAB-9158-A3720A738F7E}"/>
              </a:ext>
            </a:extLst>
          </p:cNvPr>
          <p:cNvSpPr txBox="1">
            <a:spLocks/>
          </p:cNvSpPr>
          <p:nvPr/>
        </p:nvSpPr>
        <p:spPr>
          <a:xfrm>
            <a:off x="904330" y="4284127"/>
            <a:ext cx="1532438" cy="696307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Altitude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Mach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58" name="Text Placeholder 1">
            <a:extLst>
              <a:ext uri="{FF2B5EF4-FFF2-40B4-BE49-F238E27FC236}">
                <a16:creationId xmlns:a16="http://schemas.microsoft.com/office/drawing/2014/main" id="{529FC83D-4034-40C7-A3A1-F2309A41E009}"/>
              </a:ext>
            </a:extLst>
          </p:cNvPr>
          <p:cNvSpPr txBox="1">
            <a:spLocks/>
          </p:cNvSpPr>
          <p:nvPr/>
        </p:nvSpPr>
        <p:spPr>
          <a:xfrm>
            <a:off x="3500977" y="4265843"/>
            <a:ext cx="1532438" cy="696307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Altitude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Mach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59" name="Text Placeholder 1">
            <a:extLst>
              <a:ext uri="{FF2B5EF4-FFF2-40B4-BE49-F238E27FC236}">
                <a16:creationId xmlns:a16="http://schemas.microsoft.com/office/drawing/2014/main" id="{B97D7763-815B-4DAB-83D4-891BB054946E}"/>
              </a:ext>
            </a:extLst>
          </p:cNvPr>
          <p:cNvSpPr txBox="1">
            <a:spLocks/>
          </p:cNvSpPr>
          <p:nvPr/>
        </p:nvSpPr>
        <p:spPr>
          <a:xfrm>
            <a:off x="1493517" y="4980435"/>
            <a:ext cx="771728" cy="195710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Radius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89459C-9D7C-4D9B-9B3B-7CCC1F01C53A}"/>
              </a:ext>
            </a:extLst>
          </p:cNvPr>
          <p:cNvGrpSpPr/>
          <p:nvPr/>
        </p:nvGrpSpPr>
        <p:grpSpPr>
          <a:xfrm>
            <a:off x="382208" y="5189198"/>
            <a:ext cx="4711874" cy="696307"/>
            <a:chOff x="382208" y="5189198"/>
            <a:chExt cx="4711874" cy="696307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B1B998B7-8C94-4F6B-85F2-2B923816BD61}"/>
                </a:ext>
              </a:extLst>
            </p:cNvPr>
            <p:cNvSpPr/>
            <p:nvPr/>
          </p:nvSpPr>
          <p:spPr>
            <a:xfrm>
              <a:off x="382208" y="5189198"/>
              <a:ext cx="4711874" cy="696307"/>
            </a:xfrm>
            <a:prstGeom prst="roundRect">
              <a:avLst>
                <a:gd name="adj" fmla="val 20273"/>
              </a:avLst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Text Placeholder 1">
              <a:extLst>
                <a:ext uri="{FF2B5EF4-FFF2-40B4-BE49-F238E27FC236}">
                  <a16:creationId xmlns:a16="http://schemas.microsoft.com/office/drawing/2014/main" id="{A5A34065-6EC7-46FC-98D0-8464071808CB}"/>
                </a:ext>
              </a:extLst>
            </p:cNvPr>
            <p:cNvSpPr txBox="1">
              <a:spLocks/>
            </p:cNvSpPr>
            <p:nvPr/>
          </p:nvSpPr>
          <p:spPr>
            <a:xfrm>
              <a:off x="484498" y="5230346"/>
              <a:ext cx="4507295" cy="614011"/>
            </a:xfrm>
            <a:prstGeom prst="rect">
              <a:avLst/>
            </a:prstGeom>
          </p:spPr>
          <p:txBody>
            <a:bodyPr lIns="0" tIns="0" rIns="0" bIns="0"/>
            <a:lstStyle>
              <a:lvl1pPr marL="215900" indent="-215900" algn="l" defTabSz="21590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•"/>
                <a:tabLst>
                  <a:tab pos="215900" algn="l"/>
                </a:tabLs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defRPr>
              </a:lvl1pPr>
              <a:lvl2pPr marL="431800" indent="-215900" algn="l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Symbol" pitchFamily="18" charset="2"/>
                <a:buChar char="-"/>
                <a:tabLst>
                  <a:tab pos="4318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defRPr>
              </a:lvl2pPr>
              <a:lvl3pPr marL="647700" indent="-215900" algn="l" defTabSz="21590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tabLst>
                  <a:tab pos="6477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defRPr>
              </a:lvl3pPr>
              <a:lvl4pPr marL="863600" indent="-215900" algn="l" defTabSz="21590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00000"/>
                <a:buFont typeface="Arial" charset="0"/>
                <a:buChar char="-"/>
                <a:tabLst>
                  <a:tab pos="8636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defRPr>
              </a:lvl4pPr>
              <a:lvl5pPr marL="863600" indent="-215900" algn="l" rtl="0" eaLnBrk="1" fontAlgn="base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-"/>
                <a:tabLst>
                  <a:tab pos="89535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159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5BD"/>
                </a:buClr>
                <a:buSzTx/>
                <a:buFont typeface="Arial" charset="0"/>
                <a:buNone/>
                <a:tabLst>
                  <a:tab pos="215900" algn="l"/>
                </a:tabLst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rPr>
                <a:t>Use Case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rPr>
                <a:t>: Simple segment definitions from top level requirements</a:t>
              </a:r>
            </a:p>
            <a:p>
              <a:pPr marL="0" marR="0" lvl="0" indent="0" algn="l" defTabSz="2159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5BD"/>
                </a:buClr>
                <a:buSzTx/>
                <a:buFont typeface="Arial" charset="0"/>
                <a:buNone/>
                <a:tabLst>
                  <a:tab pos="215900" algn="l"/>
                </a:tabLst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endParaRPr>
            </a:p>
            <a:p>
              <a:pPr marL="0" marR="0" lvl="0" indent="0" algn="l" defTabSz="2159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5BD"/>
                </a:buClr>
                <a:buSzTx/>
                <a:buFont typeface="Arial" charset="0"/>
                <a:buNone/>
                <a:tabLst>
                  <a:tab pos="215900" algn="l"/>
                </a:tabLst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rPr>
                <a:t>Aircraft characteristics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rPr>
                <a:t>dictate the analysis</a:t>
              </a:r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9A2DAF1F-41B1-47D5-9B38-FC69E4EED0EC}"/>
              </a:ext>
            </a:extLst>
          </p:cNvPr>
          <p:cNvSpPr/>
          <p:nvPr/>
        </p:nvSpPr>
        <p:spPr>
          <a:xfrm>
            <a:off x="6908320" y="3246120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9E43FD4-23B0-4D06-B970-D975A7263311}"/>
              </a:ext>
            </a:extLst>
          </p:cNvPr>
          <p:cNvSpPr/>
          <p:nvPr/>
        </p:nvSpPr>
        <p:spPr>
          <a:xfrm>
            <a:off x="7276865" y="2795013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B380C7-C291-4183-8C5C-2BAB474A5288}"/>
              </a:ext>
            </a:extLst>
          </p:cNvPr>
          <p:cNvSpPr/>
          <p:nvPr/>
        </p:nvSpPr>
        <p:spPr>
          <a:xfrm>
            <a:off x="7647626" y="2479706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7AE8F2B-7FEF-44DC-B576-D3F78D60DE4E}"/>
              </a:ext>
            </a:extLst>
          </p:cNvPr>
          <p:cNvSpPr/>
          <p:nvPr/>
        </p:nvSpPr>
        <p:spPr>
          <a:xfrm>
            <a:off x="8036246" y="2257682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000F9E5-BED6-48B2-B2DB-E66F93488F25}"/>
              </a:ext>
            </a:extLst>
          </p:cNvPr>
          <p:cNvSpPr/>
          <p:nvPr/>
        </p:nvSpPr>
        <p:spPr>
          <a:xfrm>
            <a:off x="8371526" y="2166242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AE613C2-03D8-49D4-BDA5-5A9FDB15B9C5}"/>
              </a:ext>
            </a:extLst>
          </p:cNvPr>
          <p:cNvSpPr/>
          <p:nvPr/>
        </p:nvSpPr>
        <p:spPr>
          <a:xfrm>
            <a:off x="9316572" y="2166242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C0B6AAF-6C13-42E9-B441-94F40B67336A}"/>
              </a:ext>
            </a:extLst>
          </p:cNvPr>
          <p:cNvCxnSpPr>
            <a:stCxn id="62" idx="7"/>
            <a:endCxn id="63" idx="3"/>
          </p:cNvCxnSpPr>
          <p:nvPr/>
        </p:nvCxnSpPr>
        <p:spPr>
          <a:xfrm flipV="1">
            <a:off x="7064418" y="2951111"/>
            <a:ext cx="239229" cy="3217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3357644-E80C-4988-8702-1190C91DD7DB}"/>
              </a:ext>
            </a:extLst>
          </p:cNvPr>
          <p:cNvCxnSpPr>
            <a:cxnSpLocks/>
            <a:stCxn id="63" idx="7"/>
            <a:endCxn id="64" idx="2"/>
          </p:cNvCxnSpPr>
          <p:nvPr/>
        </p:nvCxnSpPr>
        <p:spPr>
          <a:xfrm flipV="1">
            <a:off x="7432963" y="2571146"/>
            <a:ext cx="214663" cy="2506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D049405-8679-4731-9219-3E5DDA729759}"/>
              </a:ext>
            </a:extLst>
          </p:cNvPr>
          <p:cNvCxnSpPr>
            <a:cxnSpLocks/>
            <a:stCxn id="64" idx="7"/>
            <a:endCxn id="66" idx="2"/>
          </p:cNvCxnSpPr>
          <p:nvPr/>
        </p:nvCxnSpPr>
        <p:spPr>
          <a:xfrm flipV="1">
            <a:off x="7803724" y="2349122"/>
            <a:ext cx="232522" cy="1573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0BFE60D-A07F-4818-927B-C2C952A9DD57}"/>
              </a:ext>
            </a:extLst>
          </p:cNvPr>
          <p:cNvCxnSpPr>
            <a:cxnSpLocks/>
            <a:stCxn id="66" idx="7"/>
            <a:endCxn id="67" idx="2"/>
          </p:cNvCxnSpPr>
          <p:nvPr/>
        </p:nvCxnSpPr>
        <p:spPr>
          <a:xfrm flipV="1">
            <a:off x="8192344" y="2257682"/>
            <a:ext cx="179182" cy="267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83D5431-5482-4ED2-BC10-39DB376D1573}"/>
              </a:ext>
            </a:extLst>
          </p:cNvPr>
          <p:cNvCxnSpPr>
            <a:cxnSpLocks/>
            <a:stCxn id="67" idx="6"/>
            <a:endCxn id="68" idx="2"/>
          </p:cNvCxnSpPr>
          <p:nvPr/>
        </p:nvCxnSpPr>
        <p:spPr>
          <a:xfrm>
            <a:off x="8554406" y="2257682"/>
            <a:ext cx="7621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5B63D590-000E-44FE-BF57-2F07937740BF}"/>
              </a:ext>
            </a:extLst>
          </p:cNvPr>
          <p:cNvSpPr/>
          <p:nvPr/>
        </p:nvSpPr>
        <p:spPr>
          <a:xfrm>
            <a:off x="9533150" y="2379043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1CF420-26AA-4EE3-81CE-95DBB08982B1}"/>
              </a:ext>
            </a:extLst>
          </p:cNvPr>
          <p:cNvSpPr/>
          <p:nvPr/>
        </p:nvSpPr>
        <p:spPr>
          <a:xfrm>
            <a:off x="9716030" y="2672607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CCAA8DF-423B-47A1-ADE4-2AEA4AAF1BAB}"/>
              </a:ext>
            </a:extLst>
          </p:cNvPr>
          <p:cNvSpPr/>
          <p:nvPr/>
        </p:nvSpPr>
        <p:spPr>
          <a:xfrm>
            <a:off x="9898910" y="2929126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7E92337-9792-4BE3-8331-9FAD561D2DE0}"/>
              </a:ext>
            </a:extLst>
          </p:cNvPr>
          <p:cNvSpPr/>
          <p:nvPr/>
        </p:nvSpPr>
        <p:spPr>
          <a:xfrm>
            <a:off x="10142750" y="3123941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219F1C2-2FCF-4795-BC5B-4FC1E567DA03}"/>
              </a:ext>
            </a:extLst>
          </p:cNvPr>
          <p:cNvSpPr/>
          <p:nvPr/>
        </p:nvSpPr>
        <p:spPr>
          <a:xfrm>
            <a:off x="10503960" y="3215381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4EB455E-0D4F-4477-8D21-6E7CB9E44D35}"/>
              </a:ext>
            </a:extLst>
          </p:cNvPr>
          <p:cNvSpPr/>
          <p:nvPr/>
        </p:nvSpPr>
        <p:spPr>
          <a:xfrm>
            <a:off x="10867327" y="3246120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12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1ADA3BE-BBD6-457E-978F-CAB1B853ACB5}"/>
              </a:ext>
            </a:extLst>
          </p:cNvPr>
          <p:cNvCxnSpPr>
            <a:cxnSpLocks/>
            <a:stCxn id="68" idx="6"/>
            <a:endCxn id="83" idx="1"/>
          </p:cNvCxnSpPr>
          <p:nvPr/>
        </p:nvCxnSpPr>
        <p:spPr>
          <a:xfrm>
            <a:off x="9499452" y="2257682"/>
            <a:ext cx="60480" cy="1481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6672070-B090-4C86-AE80-11E1E1C5DA29}"/>
              </a:ext>
            </a:extLst>
          </p:cNvPr>
          <p:cNvCxnSpPr>
            <a:cxnSpLocks/>
            <a:stCxn id="83" idx="5"/>
            <a:endCxn id="84" idx="1"/>
          </p:cNvCxnSpPr>
          <p:nvPr/>
        </p:nvCxnSpPr>
        <p:spPr>
          <a:xfrm>
            <a:off x="9689248" y="2535141"/>
            <a:ext cx="53564" cy="1642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2646701-35DD-4693-90C4-01494E145195}"/>
              </a:ext>
            </a:extLst>
          </p:cNvPr>
          <p:cNvCxnSpPr>
            <a:cxnSpLocks/>
            <a:stCxn id="84" idx="5"/>
            <a:endCxn id="85" idx="1"/>
          </p:cNvCxnSpPr>
          <p:nvPr/>
        </p:nvCxnSpPr>
        <p:spPr>
          <a:xfrm>
            <a:off x="9872128" y="2828705"/>
            <a:ext cx="53564" cy="1272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2C63DC7-9D12-4BE2-86AB-5A9E0DA658E1}"/>
              </a:ext>
            </a:extLst>
          </p:cNvPr>
          <p:cNvCxnSpPr>
            <a:cxnSpLocks/>
            <a:stCxn id="85" idx="5"/>
            <a:endCxn id="86" idx="1"/>
          </p:cNvCxnSpPr>
          <p:nvPr/>
        </p:nvCxnSpPr>
        <p:spPr>
          <a:xfrm>
            <a:off x="10055008" y="3085224"/>
            <a:ext cx="114524" cy="65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016B983-58D9-4556-85F5-885AB061F88F}"/>
              </a:ext>
            </a:extLst>
          </p:cNvPr>
          <p:cNvCxnSpPr>
            <a:cxnSpLocks/>
            <a:stCxn id="86" idx="6"/>
            <a:endCxn id="87" idx="2"/>
          </p:cNvCxnSpPr>
          <p:nvPr/>
        </p:nvCxnSpPr>
        <p:spPr>
          <a:xfrm>
            <a:off x="10325630" y="3215381"/>
            <a:ext cx="178330" cy="914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DE52BEF-937A-4315-B57A-BD43F39C63CC}"/>
              </a:ext>
            </a:extLst>
          </p:cNvPr>
          <p:cNvCxnSpPr>
            <a:cxnSpLocks/>
            <a:stCxn id="87" idx="6"/>
            <a:endCxn id="88" idx="2"/>
          </p:cNvCxnSpPr>
          <p:nvPr/>
        </p:nvCxnSpPr>
        <p:spPr>
          <a:xfrm>
            <a:off x="10686840" y="3306821"/>
            <a:ext cx="180487" cy="307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A7089E-EE70-4F2A-8E38-70F0455CE742}"/>
              </a:ext>
            </a:extLst>
          </p:cNvPr>
          <p:cNvCxnSpPr>
            <a:cxnSpLocks/>
          </p:cNvCxnSpPr>
          <p:nvPr/>
        </p:nvCxnSpPr>
        <p:spPr>
          <a:xfrm>
            <a:off x="8462966" y="4251960"/>
            <a:ext cx="0" cy="1091496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7028274-12AA-452D-B392-1025F15D001C}"/>
              </a:ext>
            </a:extLst>
          </p:cNvPr>
          <p:cNvCxnSpPr>
            <a:cxnSpLocks/>
          </p:cNvCxnSpPr>
          <p:nvPr/>
        </p:nvCxnSpPr>
        <p:spPr>
          <a:xfrm>
            <a:off x="9408012" y="4251960"/>
            <a:ext cx="0" cy="1091496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D29746E2-73B1-428C-AB0D-D21BE7E8CBD2}"/>
              </a:ext>
            </a:extLst>
          </p:cNvPr>
          <p:cNvSpPr/>
          <p:nvPr/>
        </p:nvSpPr>
        <p:spPr>
          <a:xfrm>
            <a:off x="6908320" y="5257800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91B7B57-4394-4760-82D3-29DD2534A116}"/>
              </a:ext>
            </a:extLst>
          </p:cNvPr>
          <p:cNvSpPr/>
          <p:nvPr/>
        </p:nvSpPr>
        <p:spPr>
          <a:xfrm>
            <a:off x="8371526" y="4168140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A6AAF8A2-FE32-47D6-BA72-7A93606987CB}"/>
              </a:ext>
            </a:extLst>
          </p:cNvPr>
          <p:cNvSpPr/>
          <p:nvPr/>
        </p:nvSpPr>
        <p:spPr>
          <a:xfrm>
            <a:off x="9316572" y="4168140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126689E-C620-4012-BC26-F4B5A3782673}"/>
              </a:ext>
            </a:extLst>
          </p:cNvPr>
          <p:cNvSpPr/>
          <p:nvPr/>
        </p:nvSpPr>
        <p:spPr>
          <a:xfrm>
            <a:off x="10867327" y="5252016"/>
            <a:ext cx="182880" cy="1828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CCF8E93-1277-4CA4-857B-F3A5EB32399A}"/>
              </a:ext>
            </a:extLst>
          </p:cNvPr>
          <p:cNvCxnSpPr>
            <a:cxnSpLocks/>
            <a:stCxn id="116" idx="7"/>
          </p:cNvCxnSpPr>
          <p:nvPr/>
        </p:nvCxnSpPr>
        <p:spPr>
          <a:xfrm flipV="1">
            <a:off x="7064418" y="4259580"/>
            <a:ext cx="293486" cy="10250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156508F-4779-4089-A70C-7C33B2F40854}"/>
              </a:ext>
            </a:extLst>
          </p:cNvPr>
          <p:cNvCxnSpPr>
            <a:cxnSpLocks/>
            <a:endCxn id="117" idx="2"/>
          </p:cNvCxnSpPr>
          <p:nvPr/>
        </p:nvCxnSpPr>
        <p:spPr>
          <a:xfrm>
            <a:off x="7368305" y="4259580"/>
            <a:ext cx="10032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42E8413-0EAF-410C-B93F-DECC1A27EE94}"/>
              </a:ext>
            </a:extLst>
          </p:cNvPr>
          <p:cNvCxnSpPr>
            <a:cxnSpLocks/>
            <a:stCxn id="117" idx="6"/>
            <a:endCxn id="118" idx="2"/>
          </p:cNvCxnSpPr>
          <p:nvPr/>
        </p:nvCxnSpPr>
        <p:spPr>
          <a:xfrm>
            <a:off x="8554406" y="4259580"/>
            <a:ext cx="7621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18C596-12D7-460B-B6DE-532F20945F4C}"/>
              </a:ext>
            </a:extLst>
          </p:cNvPr>
          <p:cNvCxnSpPr>
            <a:cxnSpLocks/>
            <a:stCxn id="118" idx="6"/>
          </p:cNvCxnSpPr>
          <p:nvPr/>
        </p:nvCxnSpPr>
        <p:spPr>
          <a:xfrm>
            <a:off x="9499452" y="4259580"/>
            <a:ext cx="73473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672F420-30F4-48D5-9960-40B1EE6ED9FE}"/>
              </a:ext>
            </a:extLst>
          </p:cNvPr>
          <p:cNvCxnSpPr>
            <a:cxnSpLocks/>
            <a:endCxn id="119" idx="2"/>
          </p:cNvCxnSpPr>
          <p:nvPr/>
        </p:nvCxnSpPr>
        <p:spPr>
          <a:xfrm>
            <a:off x="10234190" y="4265843"/>
            <a:ext cx="633137" cy="10776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65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37" grpId="0" animBg="1"/>
      <p:bldP spid="38" grpId="0"/>
      <p:bldP spid="39" grpId="0" animBg="1"/>
      <p:bldP spid="40" grpId="0"/>
      <p:bldP spid="51" grpId="0"/>
      <p:bldP spid="52" grpId="0" animBg="1"/>
      <p:bldP spid="53" grpId="0" animBg="1"/>
      <p:bldP spid="57" grpId="0"/>
      <p:bldP spid="58" grpId="0"/>
      <p:bldP spid="59" grpId="0"/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116" grpId="0" animBg="1"/>
      <p:bldP spid="117" grpId="0" animBg="1"/>
      <p:bldP spid="118" grpId="0" animBg="1"/>
      <p:bldP spid="1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03742E-289D-4D5B-B198-1358057D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3038" y="1708860"/>
            <a:ext cx="2816407" cy="396875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Logic – For Each Segment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780264-66FB-4D5F-BA24-79A0EE69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UNICADO 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5CF28-7087-4C51-BBD5-C4E382E60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Mission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1">
                <a:extLst>
                  <a:ext uri="{FF2B5EF4-FFF2-40B4-BE49-F238E27FC236}">
                    <a16:creationId xmlns:a16="http://schemas.microsoft.com/office/drawing/2014/main" id="{1DBD02AB-7554-459A-9ABD-CCA1A71646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76207" y="876982"/>
                <a:ext cx="2610473" cy="396876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None/>
                  <a:tabLst>
                    <a:tab pos="215900" algn="l"/>
                  </a:tabLst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Specific Energy: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kumimoji="0" lang="en-US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𝒉</m:t>
                    </m:r>
                    <m:r>
                      <a:rPr kumimoji="0" lang="en-US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 Placeholder 1">
                <a:extLst>
                  <a:ext uri="{FF2B5EF4-FFF2-40B4-BE49-F238E27FC236}">
                    <a16:creationId xmlns:a16="http://schemas.microsoft.com/office/drawing/2014/main" id="{1DBD02AB-7554-459A-9ABD-CCA1A7164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207" y="876982"/>
                <a:ext cx="2610473" cy="396876"/>
              </a:xfrm>
              <a:prstGeom prst="rect">
                <a:avLst/>
              </a:prstGeom>
              <a:blipFill>
                <a:blip r:embed="rId2"/>
                <a:stretch>
                  <a:fillRect l="-4206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50F4CA-053B-4C97-8E94-686520D004AC}"/>
              </a:ext>
            </a:extLst>
          </p:cNvPr>
          <p:cNvSpPr/>
          <p:nvPr/>
        </p:nvSpPr>
        <p:spPr>
          <a:xfrm>
            <a:off x="1594831" y="2854119"/>
            <a:ext cx="1026580" cy="299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Set Throttle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Diamond 7">
                <a:extLst>
                  <a:ext uri="{FF2B5EF4-FFF2-40B4-BE49-F238E27FC236}">
                    <a16:creationId xmlns:a16="http://schemas.microsoft.com/office/drawing/2014/main" id="{01A4B94F-65E5-4720-BCC2-474DD56F2955}"/>
                  </a:ext>
                </a:extLst>
              </p:cNvPr>
              <p:cNvSpPr/>
              <p:nvPr/>
            </p:nvSpPr>
            <p:spPr>
              <a:xfrm>
                <a:off x="3009624" y="2704472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𝑽</m:t>
                        </m:r>
                      </m:e>
                      <m:sub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𝒇</m:t>
                        </m:r>
                      </m:sub>
                    </m:sSub>
                    <m:r>
                      <a:rPr kumimoji="0" lang="en-US" sz="9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</m:t>
                    </m:r>
                    <m:sSub>
                      <m:sSubPr>
                        <m:ctrlP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𝑽</m:t>
                        </m:r>
                      </m:e>
                      <m:sub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&amp;&amp;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</m:t>
                          </m:r>
                        </m:sub>
                      </m:sSub>
                      <m:r>
                        <a:rPr kumimoji="0" lang="en-US" sz="9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Diamond 7">
                <a:extLst>
                  <a:ext uri="{FF2B5EF4-FFF2-40B4-BE49-F238E27FC236}">
                    <a16:creationId xmlns:a16="http://schemas.microsoft.com/office/drawing/2014/main" id="{01A4B94F-65E5-4720-BCC2-474DD56F29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624" y="2704472"/>
                <a:ext cx="1181923" cy="598977"/>
              </a:xfrm>
              <a:prstGeom prst="diamond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61CCE803-6E30-4FA0-A7D2-0ED822A7F73F}"/>
              </a:ext>
            </a:extLst>
          </p:cNvPr>
          <p:cNvSpPr/>
          <p:nvPr/>
        </p:nvSpPr>
        <p:spPr>
          <a:xfrm>
            <a:off x="4911669" y="2790745"/>
            <a:ext cx="1975228" cy="4311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50% SEP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 Climb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50% SEP  Acceleration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3BEC00-D319-4C66-8DF9-9BD9054B90D8}"/>
              </a:ext>
            </a:extLst>
          </p:cNvPr>
          <p:cNvCxnSpPr>
            <a:cxnSpLocks/>
            <a:stCxn id="8" idx="3"/>
            <a:endCxn id="90" idx="1"/>
          </p:cNvCxnSpPr>
          <p:nvPr/>
        </p:nvCxnSpPr>
        <p:spPr>
          <a:xfrm>
            <a:off x="4191547" y="3003961"/>
            <a:ext cx="720122" cy="2381"/>
          </a:xfrm>
          <a:prstGeom prst="line">
            <a:avLst/>
          </a:prstGeom>
          <a:ln w="28575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F5C17FA-D3C2-4531-ABDD-C5B83B7B6693}"/>
              </a:ext>
            </a:extLst>
          </p:cNvPr>
          <p:cNvCxnSpPr>
            <a:cxnSpLocks/>
            <a:stCxn id="79" idx="2"/>
            <a:endCxn id="95" idx="1"/>
          </p:cNvCxnSpPr>
          <p:nvPr/>
        </p:nvCxnSpPr>
        <p:spPr>
          <a:xfrm rot="16200000" flipH="1">
            <a:off x="4273624" y="4054953"/>
            <a:ext cx="576738" cy="740890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Diamond 78">
                <a:extLst>
                  <a:ext uri="{FF2B5EF4-FFF2-40B4-BE49-F238E27FC236}">
                    <a16:creationId xmlns:a16="http://schemas.microsoft.com/office/drawing/2014/main" id="{C9C40993-3BCA-46CB-B259-BB155CFD1D4C}"/>
                  </a:ext>
                </a:extLst>
              </p:cNvPr>
              <p:cNvSpPr/>
              <p:nvPr/>
            </p:nvSpPr>
            <p:spPr>
              <a:xfrm>
                <a:off x="3600586" y="3538052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𝑽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</m:t>
                          </m:r>
                        </m:sub>
                      </m:sSub>
                      <m:r>
                        <a:rPr kumimoji="0" lang="en-US" sz="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𝑽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9" name="Diamond 78">
                <a:extLst>
                  <a:ext uri="{FF2B5EF4-FFF2-40B4-BE49-F238E27FC236}">
                    <a16:creationId xmlns:a16="http://schemas.microsoft.com/office/drawing/2014/main" id="{C9C40993-3BCA-46CB-B259-BB155CFD1D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586" y="3538052"/>
                <a:ext cx="1181923" cy="598977"/>
              </a:xfrm>
              <a:prstGeom prst="diamond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F2A497-B256-4122-BD6F-75096D311069}"/>
              </a:ext>
            </a:extLst>
          </p:cNvPr>
          <p:cNvCxnSpPr>
            <a:cxnSpLocks/>
            <a:stCxn id="79" idx="3"/>
            <a:endCxn id="93" idx="1"/>
          </p:cNvCxnSpPr>
          <p:nvPr/>
        </p:nvCxnSpPr>
        <p:spPr>
          <a:xfrm>
            <a:off x="4782509" y="3837541"/>
            <a:ext cx="149930" cy="2477"/>
          </a:xfrm>
          <a:prstGeom prst="line">
            <a:avLst/>
          </a:prstGeom>
          <a:ln w="28575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5A02669-08A4-43E8-A2B5-4FAAC68F4DB2}"/>
              </a:ext>
            </a:extLst>
          </p:cNvPr>
          <p:cNvSpPr/>
          <p:nvPr/>
        </p:nvSpPr>
        <p:spPr>
          <a:xfrm>
            <a:off x="4932439" y="3690176"/>
            <a:ext cx="1975228" cy="299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100% SEP  Acceleration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BEE2571-DD89-42DD-AC5A-9DAAE9E6D7A2}"/>
              </a:ext>
            </a:extLst>
          </p:cNvPr>
          <p:cNvSpPr/>
          <p:nvPr/>
        </p:nvSpPr>
        <p:spPr>
          <a:xfrm>
            <a:off x="4932438" y="4563925"/>
            <a:ext cx="1975223" cy="299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100% SEP  Climb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02255898-4119-4D5C-9356-7DBD98F16F22}"/>
                  </a:ext>
                </a:extLst>
              </p:cNvPr>
              <p:cNvSpPr/>
              <p:nvPr/>
            </p:nvSpPr>
            <p:spPr>
              <a:xfrm>
                <a:off x="7132871" y="3687699"/>
                <a:ext cx="1859696" cy="299684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  <a:sym typeface="Wingdings" panose="05000000000000000000" pitchFamily="2" charset="2"/>
                  </a:rPr>
                  <a:t>Accelerated Climb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11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𝒅𝒉</m:t>
                            </m:r>
                          </m:num>
                          <m:den>
                            <m: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𝒅𝒕</m:t>
                            </m:r>
                          </m:den>
                        </m:f>
                        <m:r>
                          <a:rPr kumimoji="0" lang="en-US" sz="1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f>
                          <m:fPr>
                            <m:ctrlP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𝒅𝒗</m:t>
                            </m:r>
                          </m:num>
                          <m:den>
                            <m: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𝒅𝒕</m:t>
                            </m:r>
                          </m:den>
                        </m:f>
                      </m:e>
                    </m:d>
                  </m:oMath>
                </a14:m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02255898-4119-4D5C-9356-7DBD98F16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871" y="3687699"/>
                <a:ext cx="1859696" cy="299684"/>
              </a:xfrm>
              <a:prstGeom prst="roundRect">
                <a:avLst/>
              </a:prstGeom>
              <a:blipFill>
                <a:blip r:embed="rId5"/>
                <a:stretch>
                  <a:fillRect b="-39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 Placeholder 1">
                <a:extLst>
                  <a:ext uri="{FF2B5EF4-FFF2-40B4-BE49-F238E27FC236}">
                    <a16:creationId xmlns:a16="http://schemas.microsoft.com/office/drawing/2014/main" id="{F6913C94-4033-448C-AF14-77DBB3CE9F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871" y="4025697"/>
                <a:ext cx="1859696" cy="813254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Default: 10s step</a:t>
                </a: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Adjust timestep if: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kumimoji="0" lang="en-US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can be reached</a:t>
                </a:r>
              </a:p>
            </p:txBody>
          </p:sp>
        </mc:Choice>
        <mc:Fallback xmlns="">
          <p:sp>
            <p:nvSpPr>
              <p:cNvPr id="115" name="Text Placeholder 1">
                <a:extLst>
                  <a:ext uri="{FF2B5EF4-FFF2-40B4-BE49-F238E27FC236}">
                    <a16:creationId xmlns:a16="http://schemas.microsoft.com/office/drawing/2014/main" id="{F6913C94-4033-448C-AF14-77DBB3CE9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871" y="4025697"/>
                <a:ext cx="1859696" cy="813254"/>
              </a:xfrm>
              <a:prstGeom prst="rect">
                <a:avLst/>
              </a:prstGeom>
              <a:blipFill>
                <a:blip r:embed="rId6"/>
                <a:stretch>
                  <a:fillRect l="-4262" t="-5224" b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 Placeholder 1">
                <a:extLst>
                  <a:ext uri="{FF2B5EF4-FFF2-40B4-BE49-F238E27FC236}">
                    <a16:creationId xmlns:a16="http://schemas.microsoft.com/office/drawing/2014/main" id="{D6BCFA82-46B4-452A-9F84-179D69B031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4831" y="3286461"/>
                <a:ext cx="1859696" cy="741588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Default: 85% Throttle</a:t>
                </a: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Increase Throttle if: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85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kumimoji="0" lang="en-US" sz="85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0" lang="en-US" sz="85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kumimoji="0" lang="en-US" sz="85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≪</m:t>
                    </m:r>
                  </m:oMath>
                </a14:m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159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None/>
                  <a:tabLst>
                    <a:tab pos="431800" algn="l"/>
                  </a:tabLst>
                  <a:defRPr/>
                </a:pPr>
                <a:endPara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1" name="Text Placeholder 1">
                <a:extLst>
                  <a:ext uri="{FF2B5EF4-FFF2-40B4-BE49-F238E27FC236}">
                    <a16:creationId xmlns:a16="http://schemas.microsoft.com/office/drawing/2014/main" id="{D6BCFA82-46B4-452A-9F84-179D69B03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831" y="3286461"/>
                <a:ext cx="1859696" cy="741588"/>
              </a:xfrm>
              <a:prstGeom prst="rect">
                <a:avLst/>
              </a:prstGeom>
              <a:blipFill>
                <a:blip r:embed="rId7"/>
                <a:stretch>
                  <a:fillRect l="-4262" t="-5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A088BE6-1D86-4520-BAAF-DCE9F7EE9B66}"/>
              </a:ext>
            </a:extLst>
          </p:cNvPr>
          <p:cNvSpPr/>
          <p:nvPr/>
        </p:nvSpPr>
        <p:spPr>
          <a:xfrm>
            <a:off x="9338033" y="4365270"/>
            <a:ext cx="1197162" cy="299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Move to step i+1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DE23FCA5-08CC-4D98-9ED0-AEF269900C06}"/>
              </a:ext>
            </a:extLst>
          </p:cNvPr>
          <p:cNvSpPr/>
          <p:nvPr/>
        </p:nvSpPr>
        <p:spPr>
          <a:xfrm>
            <a:off x="10685088" y="4293173"/>
            <a:ext cx="1197162" cy="44387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Calculate state variables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CC10E32-C7D8-4102-A041-1BE616B32A3A}"/>
              </a:ext>
            </a:extLst>
          </p:cNvPr>
          <p:cNvCxnSpPr>
            <a:cxnSpLocks/>
            <a:stCxn id="124" idx="3"/>
            <a:endCxn id="125" idx="1"/>
          </p:cNvCxnSpPr>
          <p:nvPr/>
        </p:nvCxnSpPr>
        <p:spPr>
          <a:xfrm>
            <a:off x="10535195" y="4515112"/>
            <a:ext cx="149893" cy="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59C56CC4-B6AB-4362-B5C8-D0D376BAFD35}"/>
              </a:ext>
            </a:extLst>
          </p:cNvPr>
          <p:cNvSpPr/>
          <p:nvPr/>
        </p:nvSpPr>
        <p:spPr>
          <a:xfrm>
            <a:off x="10685088" y="5011353"/>
            <a:ext cx="1197162" cy="44387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Store state variables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981242C-3A36-4F3B-BF40-C016866529B7}"/>
              </a:ext>
            </a:extLst>
          </p:cNvPr>
          <p:cNvCxnSpPr>
            <a:cxnSpLocks/>
            <a:stCxn id="130" idx="0"/>
            <a:endCxn id="125" idx="2"/>
          </p:cNvCxnSpPr>
          <p:nvPr/>
        </p:nvCxnSpPr>
        <p:spPr>
          <a:xfrm flipV="1">
            <a:off x="11283669" y="4737052"/>
            <a:ext cx="0" cy="27430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5507D121-81E2-4065-A160-D3FE91F6B5E3}"/>
              </a:ext>
            </a:extLst>
          </p:cNvPr>
          <p:cNvCxnSpPr>
            <a:cxnSpLocks/>
            <a:stCxn id="90" idx="3"/>
            <a:endCxn id="109" idx="1"/>
          </p:cNvCxnSpPr>
          <p:nvPr/>
        </p:nvCxnSpPr>
        <p:spPr>
          <a:xfrm>
            <a:off x="6886897" y="3006342"/>
            <a:ext cx="245974" cy="831199"/>
          </a:xfrm>
          <a:prstGeom prst="bentConnector3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426DDB4C-EE7B-478C-8424-7681D2EF304D}"/>
              </a:ext>
            </a:extLst>
          </p:cNvPr>
          <p:cNvCxnSpPr>
            <a:cxnSpLocks/>
            <a:stCxn id="95" idx="3"/>
            <a:endCxn id="109" idx="1"/>
          </p:cNvCxnSpPr>
          <p:nvPr/>
        </p:nvCxnSpPr>
        <p:spPr>
          <a:xfrm flipV="1">
            <a:off x="6907661" y="3837541"/>
            <a:ext cx="225210" cy="876226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F98DAC9-7DE1-4859-9C7D-0F68AEA1E979}"/>
              </a:ext>
            </a:extLst>
          </p:cNvPr>
          <p:cNvCxnSpPr>
            <a:cxnSpLocks/>
            <a:stCxn id="93" idx="3"/>
            <a:endCxn id="109" idx="1"/>
          </p:cNvCxnSpPr>
          <p:nvPr/>
        </p:nvCxnSpPr>
        <p:spPr>
          <a:xfrm flipV="1">
            <a:off x="6907667" y="3837541"/>
            <a:ext cx="225204" cy="24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9D7634A-B69C-452F-B1A6-30CD1638AF81}"/>
              </a:ext>
            </a:extLst>
          </p:cNvPr>
          <p:cNvCxnSpPr>
            <a:cxnSpLocks/>
            <a:stCxn id="8" idx="2"/>
            <a:endCxn id="79" idx="1"/>
          </p:cNvCxnSpPr>
          <p:nvPr/>
        </p:nvCxnSpPr>
        <p:spPr>
          <a:xfrm>
            <a:off x="3600586" y="3303449"/>
            <a:ext cx="0" cy="534092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B7C3258A-B813-4C71-B32A-806E1830F40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621411" y="3003961"/>
            <a:ext cx="38821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Diamond 160">
                <a:extLst>
                  <a:ext uri="{FF2B5EF4-FFF2-40B4-BE49-F238E27FC236}">
                    <a16:creationId xmlns:a16="http://schemas.microsoft.com/office/drawing/2014/main" id="{23ECE0C2-56D9-4949-8676-C32B9612B61C}"/>
                  </a:ext>
                </a:extLst>
              </p:cNvPr>
              <p:cNvSpPr/>
              <p:nvPr/>
            </p:nvSpPr>
            <p:spPr>
              <a:xfrm>
                <a:off x="412817" y="2655807"/>
                <a:ext cx="931696" cy="69630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sz="9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9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0" lang="en-US" sz="9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𝒇𝒊𝒏𝒂𝒍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</m:oMath>
                  </m:oMathPara>
                </a14:m>
                <a:endPara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US" sz="9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9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𝑬</m:t>
                              </m:r>
                            </m:e>
                            <m:sub>
                              <m:r>
                                <a:rPr kumimoji="0" lang="en-US" sz="9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sub>
                          </m:sSub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1" name="Diamond 160">
                <a:extLst>
                  <a:ext uri="{FF2B5EF4-FFF2-40B4-BE49-F238E27FC236}">
                    <a16:creationId xmlns:a16="http://schemas.microsoft.com/office/drawing/2014/main" id="{23ECE0C2-56D9-4949-8676-C32B9612B6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17" y="2655807"/>
                <a:ext cx="931696" cy="696307"/>
              </a:xfrm>
              <a:prstGeom prst="diamond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E9A0EC17-9245-4A72-B6FF-66FD59C14A10}"/>
              </a:ext>
            </a:extLst>
          </p:cNvPr>
          <p:cNvCxnSpPr>
            <a:cxnSpLocks/>
            <a:stCxn id="161" idx="3"/>
            <a:endCxn id="6" idx="1"/>
          </p:cNvCxnSpPr>
          <p:nvPr/>
        </p:nvCxnSpPr>
        <p:spPr>
          <a:xfrm>
            <a:off x="1344513" y="3003961"/>
            <a:ext cx="250318" cy="0"/>
          </a:xfrm>
          <a:prstGeom prst="line">
            <a:avLst/>
          </a:prstGeom>
          <a:ln w="1905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E9A07C6-4903-49EA-AD93-5ECA65791536}"/>
              </a:ext>
            </a:extLst>
          </p:cNvPr>
          <p:cNvSpPr/>
          <p:nvPr/>
        </p:nvSpPr>
        <p:spPr>
          <a:xfrm>
            <a:off x="7132871" y="5056087"/>
            <a:ext cx="1859696" cy="299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Cruise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 Placeholder 1">
                <a:extLst>
                  <a:ext uri="{FF2B5EF4-FFF2-40B4-BE49-F238E27FC236}">
                    <a16:creationId xmlns:a16="http://schemas.microsoft.com/office/drawing/2014/main" id="{95CF1D45-A63A-4070-8325-BFD4DACAB5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871" y="5382947"/>
                <a:ext cx="1859696" cy="633457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Default: 60s step</a:t>
                </a: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Adjust timestep if: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8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kumimoji="0" lang="en-US" sz="8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can be reached</a:t>
                </a:r>
              </a:p>
            </p:txBody>
          </p:sp>
        </mc:Choice>
        <mc:Fallback xmlns="">
          <p:sp>
            <p:nvSpPr>
              <p:cNvPr id="166" name="Text Placeholder 1">
                <a:extLst>
                  <a:ext uri="{FF2B5EF4-FFF2-40B4-BE49-F238E27FC236}">
                    <a16:creationId xmlns:a16="http://schemas.microsoft.com/office/drawing/2014/main" id="{95CF1D45-A63A-4070-8325-BFD4DACAB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871" y="5382947"/>
                <a:ext cx="1859696" cy="633457"/>
              </a:xfrm>
              <a:prstGeom prst="rect">
                <a:avLst/>
              </a:prstGeom>
              <a:blipFill>
                <a:blip r:embed="rId9"/>
                <a:stretch>
                  <a:fillRect l="-4262" t="-673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0546B0E2-2B96-492C-B41C-C808A78EE8A6}"/>
              </a:ext>
            </a:extLst>
          </p:cNvPr>
          <p:cNvCxnSpPr>
            <a:cxnSpLocks/>
            <a:stCxn id="109" idx="3"/>
            <a:endCxn id="124" idx="1"/>
          </p:cNvCxnSpPr>
          <p:nvPr/>
        </p:nvCxnSpPr>
        <p:spPr>
          <a:xfrm>
            <a:off x="8992567" y="3837541"/>
            <a:ext cx="345466" cy="677571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9AABFD53-527F-4D3A-BAD8-F662C641F5DB}"/>
              </a:ext>
            </a:extLst>
          </p:cNvPr>
          <p:cNvCxnSpPr>
            <a:cxnSpLocks/>
            <a:stCxn id="165" idx="3"/>
            <a:endCxn id="124" idx="1"/>
          </p:cNvCxnSpPr>
          <p:nvPr/>
        </p:nvCxnSpPr>
        <p:spPr>
          <a:xfrm flipV="1">
            <a:off x="8992567" y="4515112"/>
            <a:ext cx="345466" cy="690817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65CD39DA-8CEC-46EB-9EB2-4B00B165837A}"/>
              </a:ext>
            </a:extLst>
          </p:cNvPr>
          <p:cNvCxnSpPr>
            <a:cxnSpLocks/>
            <a:stCxn id="218" idx="3"/>
            <a:endCxn id="125" idx="3"/>
          </p:cNvCxnSpPr>
          <p:nvPr/>
        </p:nvCxnSpPr>
        <p:spPr>
          <a:xfrm>
            <a:off x="11279859" y="2420152"/>
            <a:ext cx="602391" cy="2094961"/>
          </a:xfrm>
          <a:prstGeom prst="bentConnector3">
            <a:avLst>
              <a:gd name="adj1" fmla="val 137949"/>
            </a:avLst>
          </a:prstGeom>
          <a:ln w="19050">
            <a:solidFill>
              <a:schemeClr val="bg1">
                <a:lumMod val="8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Diamond 190">
                <a:extLst>
                  <a:ext uri="{FF2B5EF4-FFF2-40B4-BE49-F238E27FC236}">
                    <a16:creationId xmlns:a16="http://schemas.microsoft.com/office/drawing/2014/main" id="{A693A9FE-80DB-413E-82CE-3692195ACFC9}"/>
                  </a:ext>
                </a:extLst>
              </p:cNvPr>
              <p:cNvSpPr/>
              <p:nvPr/>
            </p:nvSpPr>
            <p:spPr>
              <a:xfrm>
                <a:off x="878665" y="4857348"/>
                <a:ext cx="931696" cy="69630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sz="9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9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0" lang="en-US" sz="9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𝒇𝒊𝒏𝒂𝒍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US" sz="9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9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𝑬</m:t>
                              </m:r>
                            </m:e>
                            <m:sub>
                              <m:r>
                                <a:rPr kumimoji="0" lang="en-US" sz="9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sub>
                          </m:sSub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1" name="Diamond 190">
                <a:extLst>
                  <a:ext uri="{FF2B5EF4-FFF2-40B4-BE49-F238E27FC236}">
                    <a16:creationId xmlns:a16="http://schemas.microsoft.com/office/drawing/2014/main" id="{A693A9FE-80DB-413E-82CE-3692195AC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65" y="4857348"/>
                <a:ext cx="931696" cy="696307"/>
              </a:xfrm>
              <a:prstGeom prst="diamond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6C8F87C3-E0B6-41A0-8B94-3EBE744F3088}"/>
              </a:ext>
            </a:extLst>
          </p:cNvPr>
          <p:cNvCxnSpPr>
            <a:cxnSpLocks/>
            <a:stCxn id="161" idx="2"/>
            <a:endCxn id="191" idx="1"/>
          </p:cNvCxnSpPr>
          <p:nvPr/>
        </p:nvCxnSpPr>
        <p:spPr>
          <a:xfrm>
            <a:off x="878665" y="3352114"/>
            <a:ext cx="0" cy="1853388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7422FC6-4AF2-444E-8CF5-9EFA1FFC1A28}"/>
              </a:ext>
            </a:extLst>
          </p:cNvPr>
          <p:cNvCxnSpPr>
            <a:cxnSpLocks/>
            <a:stCxn id="191" idx="3"/>
            <a:endCxn id="165" idx="1"/>
          </p:cNvCxnSpPr>
          <p:nvPr/>
        </p:nvCxnSpPr>
        <p:spPr>
          <a:xfrm>
            <a:off x="1810361" y="5205502"/>
            <a:ext cx="5322510" cy="427"/>
          </a:xfrm>
          <a:prstGeom prst="line">
            <a:avLst/>
          </a:prstGeom>
          <a:ln w="28575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DCF262C-5D2D-473E-BB7B-598CEFBC41D0}"/>
              </a:ext>
            </a:extLst>
          </p:cNvPr>
          <p:cNvGrpSpPr>
            <a:grpSpLocks noChangeAspect="1"/>
          </p:cNvGrpSpPr>
          <p:nvPr/>
        </p:nvGrpSpPr>
        <p:grpSpPr>
          <a:xfrm>
            <a:off x="9738303" y="1275971"/>
            <a:ext cx="1371600" cy="692078"/>
            <a:chOff x="4888872" y="850683"/>
            <a:chExt cx="2355868" cy="1188720"/>
          </a:xfrm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8E64C1-45FF-4212-ABC5-7034FE2B510B}"/>
                </a:ext>
              </a:extLst>
            </p:cNvPr>
            <p:cNvCxnSpPr>
              <a:cxnSpLocks/>
              <a:endCxn id="203" idx="0"/>
            </p:cNvCxnSpPr>
            <p:nvPr/>
          </p:nvCxnSpPr>
          <p:spPr>
            <a:xfrm>
              <a:off x="5019740" y="970646"/>
              <a:ext cx="0" cy="807021"/>
            </a:xfrm>
            <a:prstGeom prst="lin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C1272CD1-6718-4970-A62F-C3DD02091B0A}"/>
                </a:ext>
              </a:extLst>
            </p:cNvPr>
            <p:cNvCxnSpPr>
              <a:cxnSpLocks/>
            </p:cNvCxnSpPr>
            <p:nvPr/>
          </p:nvCxnSpPr>
          <p:spPr>
            <a:xfrm>
              <a:off x="7113872" y="970646"/>
              <a:ext cx="0" cy="963646"/>
            </a:xfrm>
            <a:prstGeom prst="lin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749E8BA4-5998-4312-BEBF-E99F600D7AF4}"/>
                </a:ext>
              </a:extLst>
            </p:cNvPr>
            <p:cNvSpPr/>
            <p:nvPr/>
          </p:nvSpPr>
          <p:spPr>
            <a:xfrm>
              <a:off x="4888872" y="1777666"/>
              <a:ext cx="261737" cy="261737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CFA5CE31-2566-4F71-94DE-D37CC01F1BD0}"/>
                </a:ext>
              </a:extLst>
            </p:cNvPr>
            <p:cNvSpPr/>
            <p:nvPr/>
          </p:nvSpPr>
          <p:spPr>
            <a:xfrm>
              <a:off x="6983003" y="850683"/>
              <a:ext cx="261737" cy="261737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6F8E0B02-C4CD-4306-BFB9-4A28019EED11}"/>
                </a:ext>
              </a:extLst>
            </p:cNvPr>
            <p:cNvCxnSpPr>
              <a:cxnSpLocks/>
              <a:stCxn id="203" idx="7"/>
            </p:cNvCxnSpPr>
            <p:nvPr/>
          </p:nvCxnSpPr>
          <p:spPr>
            <a:xfrm flipV="1">
              <a:off x="5112278" y="970646"/>
              <a:ext cx="420035" cy="845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4D164B89-0CAB-4BEE-834F-9BBA6835C266}"/>
                </a:ext>
              </a:extLst>
            </p:cNvPr>
            <p:cNvCxnSpPr>
              <a:cxnSpLocks/>
            </p:cNvCxnSpPr>
            <p:nvPr/>
          </p:nvCxnSpPr>
          <p:spPr>
            <a:xfrm>
              <a:off x="5547200" y="970947"/>
              <a:ext cx="14358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55A23D66-5246-45E5-BE25-05B70052DD4F}"/>
                </a:ext>
              </a:extLst>
            </p:cNvPr>
            <p:cNvSpPr/>
            <p:nvPr/>
          </p:nvSpPr>
          <p:spPr>
            <a:xfrm>
              <a:off x="5112280" y="1612016"/>
              <a:ext cx="130868" cy="13086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905630CE-EE4A-425A-80CC-220053A23A1E}"/>
                </a:ext>
              </a:extLst>
            </p:cNvPr>
            <p:cNvSpPr/>
            <p:nvPr/>
          </p:nvSpPr>
          <p:spPr>
            <a:xfrm>
              <a:off x="5235442" y="1360637"/>
              <a:ext cx="130868" cy="13086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C183B172-E474-4C1A-81BD-495B12A3DF5F}"/>
                </a:ext>
              </a:extLst>
            </p:cNvPr>
            <p:cNvSpPr/>
            <p:nvPr/>
          </p:nvSpPr>
          <p:spPr>
            <a:xfrm>
              <a:off x="5358604" y="1121170"/>
              <a:ext cx="130868" cy="13086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CC2AB658-2374-4979-A2EC-FFB396A84996}"/>
                </a:ext>
              </a:extLst>
            </p:cNvPr>
            <p:cNvSpPr/>
            <p:nvPr/>
          </p:nvSpPr>
          <p:spPr>
            <a:xfrm>
              <a:off x="5481765" y="905513"/>
              <a:ext cx="130868" cy="13086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209654E-A1F9-4AF9-ABC8-1357C62599EE}"/>
                </a:ext>
              </a:extLst>
            </p:cNvPr>
            <p:cNvSpPr/>
            <p:nvPr/>
          </p:nvSpPr>
          <p:spPr>
            <a:xfrm>
              <a:off x="5913947" y="905513"/>
              <a:ext cx="130868" cy="13086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3AEE6CB-82B3-4DE1-B0AD-051AE719C8DF}"/>
                </a:ext>
              </a:extLst>
            </p:cNvPr>
            <p:cNvSpPr/>
            <p:nvPr/>
          </p:nvSpPr>
          <p:spPr>
            <a:xfrm>
              <a:off x="6346129" y="905513"/>
              <a:ext cx="130868" cy="13086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FC2E7748-CBD2-49F2-8644-45A31B28E937}"/>
                </a:ext>
              </a:extLst>
            </p:cNvPr>
            <p:cNvSpPr/>
            <p:nvPr/>
          </p:nvSpPr>
          <p:spPr>
            <a:xfrm>
              <a:off x="6771815" y="905513"/>
              <a:ext cx="130868" cy="13086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Diamond 217">
                <a:extLst>
                  <a:ext uri="{FF2B5EF4-FFF2-40B4-BE49-F238E27FC236}">
                    <a16:creationId xmlns:a16="http://schemas.microsoft.com/office/drawing/2014/main" id="{D2CB6D2A-E54C-4C16-B591-23D00D82A7D4}"/>
                  </a:ext>
                </a:extLst>
              </p:cNvPr>
              <p:cNvSpPr/>
              <p:nvPr/>
            </p:nvSpPr>
            <p:spPr>
              <a:xfrm>
                <a:off x="10097936" y="2120663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</m:t>
                          </m:r>
                        </m:sub>
                      </m:sSub>
                      <m:r>
                        <a:rPr kumimoji="0" lang="en-US" sz="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8" name="Diamond 217">
                <a:extLst>
                  <a:ext uri="{FF2B5EF4-FFF2-40B4-BE49-F238E27FC236}">
                    <a16:creationId xmlns:a16="http://schemas.microsoft.com/office/drawing/2014/main" id="{D2CB6D2A-E54C-4C16-B591-23D00D82A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936" y="2120663"/>
                <a:ext cx="1181923" cy="598977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26AC72D4-377B-4100-A758-AF9B53989371}"/>
              </a:ext>
            </a:extLst>
          </p:cNvPr>
          <p:cNvCxnSpPr>
            <a:cxnSpLocks/>
            <a:stCxn id="161" idx="1"/>
            <a:endCxn id="218" idx="1"/>
          </p:cNvCxnSpPr>
          <p:nvPr/>
        </p:nvCxnSpPr>
        <p:spPr>
          <a:xfrm rot="10800000" flipH="1">
            <a:off x="412816" y="2420153"/>
            <a:ext cx="9685119" cy="583809"/>
          </a:xfrm>
          <a:prstGeom prst="bentConnector3">
            <a:avLst>
              <a:gd name="adj1" fmla="val -2360"/>
            </a:avLst>
          </a:prstGeom>
          <a:ln w="28575">
            <a:solidFill>
              <a:srgbClr val="0099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Diamond 227">
                <a:extLst>
                  <a:ext uri="{FF2B5EF4-FFF2-40B4-BE49-F238E27FC236}">
                    <a16:creationId xmlns:a16="http://schemas.microsoft.com/office/drawing/2014/main" id="{4B6811F1-3D1F-4307-9AC8-8335CA27E88F}"/>
                  </a:ext>
                </a:extLst>
              </p:cNvPr>
              <p:cNvSpPr/>
              <p:nvPr/>
            </p:nvSpPr>
            <p:spPr>
              <a:xfrm>
                <a:off x="10097935" y="3017207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𝑽</m:t>
                        </m:r>
                      </m:e>
                      <m:sub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𝒇</m:t>
                        </m:r>
                      </m:sub>
                    </m:sSub>
                    <m:r>
                      <a:rPr kumimoji="0" lang="en-US" sz="9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≫</m:t>
                    </m:r>
                    <m:sSub>
                      <m:sSubPr>
                        <m:ctrlP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𝑽</m:t>
                        </m:r>
                      </m:e>
                      <m:sub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||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</m:t>
                          </m:r>
                        </m:sub>
                      </m:sSub>
                      <m:r>
                        <a:rPr kumimoji="0" lang="en-US" sz="9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≫</m:t>
                      </m:r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8" name="Diamond 227">
                <a:extLst>
                  <a:ext uri="{FF2B5EF4-FFF2-40B4-BE49-F238E27FC236}">
                    <a16:creationId xmlns:a16="http://schemas.microsoft.com/office/drawing/2014/main" id="{4B6811F1-3D1F-4307-9AC8-8335CA27E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935" y="3017207"/>
                <a:ext cx="1181923" cy="598977"/>
              </a:xfrm>
              <a:prstGeom prst="diamond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64F49A3-2B21-4ECA-A92D-5E7A4E266B81}"/>
              </a:ext>
            </a:extLst>
          </p:cNvPr>
          <p:cNvCxnSpPr>
            <a:cxnSpLocks/>
            <a:stCxn id="218" idx="2"/>
            <a:endCxn id="228" idx="0"/>
          </p:cNvCxnSpPr>
          <p:nvPr/>
        </p:nvCxnSpPr>
        <p:spPr>
          <a:xfrm flipH="1">
            <a:off x="10688897" y="2719640"/>
            <a:ext cx="1" cy="297567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06F5052F-9DEE-4EFA-8520-BC4FD17249ED}"/>
              </a:ext>
            </a:extLst>
          </p:cNvPr>
          <p:cNvGrpSpPr/>
          <p:nvPr/>
        </p:nvGrpSpPr>
        <p:grpSpPr>
          <a:xfrm>
            <a:off x="10597458" y="3845169"/>
            <a:ext cx="182880" cy="182880"/>
            <a:chOff x="10340283" y="3683244"/>
            <a:chExt cx="182880" cy="182880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D4E9A7A0-BF13-4000-8970-CDDC1B34ED1A}"/>
                </a:ext>
              </a:extLst>
            </p:cNvPr>
            <p:cNvSpPr/>
            <p:nvPr/>
          </p:nvSpPr>
          <p:spPr>
            <a:xfrm>
              <a:off x="10340283" y="3683244"/>
              <a:ext cx="182880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CA7B34DF-6B6C-4A88-9B3B-F84001405D8B}"/>
                </a:ext>
              </a:extLst>
            </p:cNvPr>
            <p:cNvSpPr/>
            <p:nvPr/>
          </p:nvSpPr>
          <p:spPr>
            <a:xfrm>
              <a:off x="10370763" y="3713724"/>
              <a:ext cx="121920" cy="1219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3BB1D02E-733F-407D-9152-4D635447AA21}"/>
              </a:ext>
            </a:extLst>
          </p:cNvPr>
          <p:cNvCxnSpPr>
            <a:cxnSpLocks/>
            <a:stCxn id="228" idx="2"/>
            <a:endCxn id="236" idx="0"/>
          </p:cNvCxnSpPr>
          <p:nvPr/>
        </p:nvCxnSpPr>
        <p:spPr>
          <a:xfrm>
            <a:off x="10688897" y="3616184"/>
            <a:ext cx="1" cy="228985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688F0C94-7170-4A5E-AF48-973107219C17}"/>
              </a:ext>
            </a:extLst>
          </p:cNvPr>
          <p:cNvSpPr/>
          <p:nvPr/>
        </p:nvSpPr>
        <p:spPr>
          <a:xfrm>
            <a:off x="8889637" y="3094681"/>
            <a:ext cx="945759" cy="4440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Delete state variables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D73565AC-394E-4213-99D0-60F9B900674A}"/>
              </a:ext>
            </a:extLst>
          </p:cNvPr>
          <p:cNvCxnSpPr>
            <a:cxnSpLocks/>
            <a:stCxn id="228" idx="1"/>
            <a:endCxn id="242" idx="3"/>
          </p:cNvCxnSpPr>
          <p:nvPr/>
        </p:nvCxnSpPr>
        <p:spPr>
          <a:xfrm flipH="1" flipV="1">
            <a:off x="9835396" y="3316695"/>
            <a:ext cx="262539" cy="1"/>
          </a:xfrm>
          <a:prstGeom prst="line">
            <a:avLst/>
          </a:prstGeom>
          <a:ln w="28575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C1270F29-C939-404E-A091-617D5B34D50C}"/>
              </a:ext>
            </a:extLst>
          </p:cNvPr>
          <p:cNvSpPr/>
          <p:nvPr/>
        </p:nvSpPr>
        <p:spPr>
          <a:xfrm>
            <a:off x="7477857" y="3100818"/>
            <a:ext cx="1233588" cy="43175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Increase Default Throttle</a:t>
            </a:r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C9BCA25E-94F9-4811-A36C-F9F8BE7A374E}"/>
              </a:ext>
            </a:extLst>
          </p:cNvPr>
          <p:cNvCxnSpPr>
            <a:cxnSpLocks/>
            <a:stCxn id="242" idx="1"/>
            <a:endCxn id="248" idx="3"/>
          </p:cNvCxnSpPr>
          <p:nvPr/>
        </p:nvCxnSpPr>
        <p:spPr>
          <a:xfrm flipH="1">
            <a:off x="8711445" y="3316695"/>
            <a:ext cx="178192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0517A797-64A1-4BB2-B818-19DF769A79AE}"/>
              </a:ext>
            </a:extLst>
          </p:cNvPr>
          <p:cNvCxnSpPr>
            <a:cxnSpLocks/>
            <a:stCxn id="161" idx="0"/>
            <a:endCxn id="248" idx="1"/>
          </p:cNvCxnSpPr>
          <p:nvPr/>
        </p:nvCxnSpPr>
        <p:spPr>
          <a:xfrm rot="16200000" flipH="1">
            <a:off x="3847817" y="-313345"/>
            <a:ext cx="660888" cy="6599192"/>
          </a:xfrm>
          <a:prstGeom prst="bentConnector4">
            <a:avLst>
              <a:gd name="adj1" fmla="val -21907"/>
              <a:gd name="adj2" fmla="val 96831"/>
            </a:avLst>
          </a:prstGeom>
          <a:ln w="19050">
            <a:solidFill>
              <a:schemeClr val="bg1">
                <a:lumMod val="8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 Placeholder 1">
                <a:extLst>
                  <a:ext uri="{FF2B5EF4-FFF2-40B4-BE49-F238E27FC236}">
                    <a16:creationId xmlns:a16="http://schemas.microsoft.com/office/drawing/2014/main" id="{25DFF64D-22D4-4166-9106-DFD5C46015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0404" y="3958196"/>
                <a:ext cx="2110014" cy="80231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None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If Default Throttle  == 100% &amp;&amp;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kumimoji="0" lang="en-US" sz="105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 ||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kumimoji="0" lang="en-US" sz="105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0" lang="en-US" sz="105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  <m:r>
                      <a:rPr kumimoji="0" lang="en-US" sz="10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:</a:t>
                </a: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New constraint shall be set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Manually for now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Will be automated</a:t>
                </a:r>
              </a:p>
            </p:txBody>
          </p:sp>
        </mc:Choice>
        <mc:Fallback xmlns="">
          <p:sp>
            <p:nvSpPr>
              <p:cNvPr id="295" name="Text Placeholder 1">
                <a:extLst>
                  <a:ext uri="{FF2B5EF4-FFF2-40B4-BE49-F238E27FC236}">
                    <a16:creationId xmlns:a16="http://schemas.microsoft.com/office/drawing/2014/main" id="{25DFF64D-22D4-4166-9106-DFD5C4601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404" y="3958196"/>
                <a:ext cx="2110014" cy="8023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DF41931-EEFD-4EB5-81B2-31EE4B656975}"/>
              </a:ext>
            </a:extLst>
          </p:cNvPr>
          <p:cNvCxnSpPr>
            <a:cxnSpLocks/>
            <a:endCxn id="191" idx="2"/>
          </p:cNvCxnSpPr>
          <p:nvPr/>
        </p:nvCxnSpPr>
        <p:spPr>
          <a:xfrm flipV="1">
            <a:off x="1344513" y="5553655"/>
            <a:ext cx="0" cy="462749"/>
          </a:xfrm>
          <a:prstGeom prst="line">
            <a:avLst/>
          </a:prstGeom>
          <a:ln w="28575">
            <a:solidFill>
              <a:srgbClr val="C0000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3D049A47-27CE-4D8D-89AF-0CE300C1414F}"/>
              </a:ext>
            </a:extLst>
          </p:cNvPr>
          <p:cNvSpPr/>
          <p:nvPr/>
        </p:nvSpPr>
        <p:spPr>
          <a:xfrm>
            <a:off x="787225" y="2056374"/>
            <a:ext cx="182880" cy="182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7161C56-FF4E-4A96-8665-3C7B9ADD9FAC}"/>
              </a:ext>
            </a:extLst>
          </p:cNvPr>
          <p:cNvCxnSpPr>
            <a:cxnSpLocks/>
            <a:stCxn id="111" idx="4"/>
            <a:endCxn id="161" idx="0"/>
          </p:cNvCxnSpPr>
          <p:nvPr/>
        </p:nvCxnSpPr>
        <p:spPr>
          <a:xfrm>
            <a:off x="878665" y="2239254"/>
            <a:ext cx="0" cy="41655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96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0" grpId="0" animBg="1"/>
      <p:bldP spid="79" grpId="0" animBg="1"/>
      <p:bldP spid="93" grpId="0" animBg="1"/>
      <p:bldP spid="95" grpId="0" animBg="1"/>
      <p:bldP spid="109" grpId="0" animBg="1"/>
      <p:bldP spid="115" grpId="0"/>
      <p:bldP spid="121" grpId="0"/>
      <p:bldP spid="124" grpId="0" animBg="1"/>
      <p:bldP spid="125" grpId="0" animBg="1"/>
      <p:bldP spid="130" grpId="0" animBg="1"/>
      <p:bldP spid="161" grpId="0" animBg="1"/>
      <p:bldP spid="165" grpId="0" animBg="1"/>
      <p:bldP spid="166" grpId="0"/>
      <p:bldP spid="191" grpId="0" animBg="1"/>
      <p:bldP spid="218" grpId="0" animBg="1"/>
      <p:bldP spid="228" grpId="0" animBg="1"/>
      <p:bldP spid="242" grpId="0" animBg="1"/>
      <p:bldP spid="248" grpId="0" animBg="1"/>
      <p:bldP spid="295" grpId="0" animBg="1"/>
      <p:bldP spid="1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03742E-289D-4D5B-B198-1358057D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3039" y="1708860"/>
            <a:ext cx="877122" cy="396875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Logic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780264-66FB-4D5F-BA24-79A0EE69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UNICADO 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5CF28-7087-4C51-BBD5-C4E382E60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Mission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1">
                <a:extLst>
                  <a:ext uri="{FF2B5EF4-FFF2-40B4-BE49-F238E27FC236}">
                    <a16:creationId xmlns:a16="http://schemas.microsoft.com/office/drawing/2014/main" id="{1DBD02AB-7554-459A-9ABD-CCA1A71646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76207" y="876982"/>
                <a:ext cx="2610473" cy="396876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None/>
                  <a:tabLst>
                    <a:tab pos="215900" algn="l"/>
                  </a:tabLst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Specific Energy: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kumimoji="0" lang="en-US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𝒉</m:t>
                    </m:r>
                    <m:r>
                      <a:rPr kumimoji="0" lang="en-US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C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 Placeholder 1">
                <a:extLst>
                  <a:ext uri="{FF2B5EF4-FFF2-40B4-BE49-F238E27FC236}">
                    <a16:creationId xmlns:a16="http://schemas.microsoft.com/office/drawing/2014/main" id="{1DBD02AB-7554-459A-9ABD-CCA1A7164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207" y="876982"/>
                <a:ext cx="2610473" cy="396876"/>
              </a:xfrm>
              <a:prstGeom prst="rect">
                <a:avLst/>
              </a:prstGeom>
              <a:blipFill>
                <a:blip r:embed="rId2"/>
                <a:stretch>
                  <a:fillRect l="-4206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02255898-4119-4D5C-9356-7DBD98F16F22}"/>
                  </a:ext>
                </a:extLst>
              </p:cNvPr>
              <p:cNvSpPr/>
              <p:nvPr/>
            </p:nvSpPr>
            <p:spPr>
              <a:xfrm>
                <a:off x="6991352" y="3687699"/>
                <a:ext cx="2075010" cy="299684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Decelerated descent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11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𝒅𝒉</m:t>
                            </m:r>
                          </m:num>
                          <m:den>
                            <m: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𝒅𝒕</m:t>
                            </m:r>
                          </m:den>
                        </m:f>
                        <m:r>
                          <a:rPr kumimoji="0" lang="en-US" sz="1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f>
                          <m:fPr>
                            <m:ctrlP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𝒅𝒗</m:t>
                            </m:r>
                          </m:num>
                          <m:den>
                            <m:r>
                              <a:rPr kumimoji="0" lang="en-US" sz="11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𝒅𝒕</m:t>
                            </m:r>
                          </m:den>
                        </m:f>
                      </m:e>
                    </m:d>
                  </m:oMath>
                </a14:m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02255898-4119-4D5C-9356-7DBD98F16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352" y="3687699"/>
                <a:ext cx="2075010" cy="299684"/>
              </a:xfrm>
              <a:prstGeom prst="roundRect">
                <a:avLst/>
              </a:prstGeom>
              <a:blipFill>
                <a:blip r:embed="rId3"/>
                <a:stretch>
                  <a:fillRect b="-39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 Placeholder 1">
                <a:extLst>
                  <a:ext uri="{FF2B5EF4-FFF2-40B4-BE49-F238E27FC236}">
                    <a16:creationId xmlns:a16="http://schemas.microsoft.com/office/drawing/2014/main" id="{F6913C94-4033-448C-AF14-77DBB3CE9F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871" y="4025697"/>
                <a:ext cx="1859696" cy="813254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Engine on Idle</a:t>
                </a: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Default: 10s step</a:t>
                </a: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charset="0"/>
                  <a:cs typeface="Arial" panose="020B0604020202020204" pitchFamily="34" charset="0"/>
                </a:endParaRP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Adjust timestep if: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kumimoji="0" lang="en-US" sz="8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kumimoji="0" lang="en-US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can be reached</a:t>
                </a:r>
              </a:p>
            </p:txBody>
          </p:sp>
        </mc:Choice>
        <mc:Fallback xmlns="">
          <p:sp>
            <p:nvSpPr>
              <p:cNvPr id="115" name="Text Placeholder 1">
                <a:extLst>
                  <a:ext uri="{FF2B5EF4-FFF2-40B4-BE49-F238E27FC236}">
                    <a16:creationId xmlns:a16="http://schemas.microsoft.com/office/drawing/2014/main" id="{F6913C94-4033-448C-AF14-77DBB3CE9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871" y="4025697"/>
                <a:ext cx="1859696" cy="813254"/>
              </a:xfrm>
              <a:prstGeom prst="rect">
                <a:avLst/>
              </a:prstGeom>
              <a:blipFill>
                <a:blip r:embed="rId4"/>
                <a:stretch>
                  <a:fillRect l="-4262" t="-5224" b="-40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A088BE6-1D86-4520-BAAF-DCE9F7EE9B66}"/>
              </a:ext>
            </a:extLst>
          </p:cNvPr>
          <p:cNvSpPr/>
          <p:nvPr/>
        </p:nvSpPr>
        <p:spPr>
          <a:xfrm>
            <a:off x="9338033" y="4365270"/>
            <a:ext cx="1197162" cy="299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Move to step i+1</a:t>
            </a: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E9A07C6-4903-49EA-AD93-5ECA65791536}"/>
              </a:ext>
            </a:extLst>
          </p:cNvPr>
          <p:cNvSpPr/>
          <p:nvPr/>
        </p:nvSpPr>
        <p:spPr>
          <a:xfrm>
            <a:off x="7132871" y="5205929"/>
            <a:ext cx="1859696" cy="299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Cruise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0546B0E2-2B96-492C-B41C-C808A78EE8A6}"/>
              </a:ext>
            </a:extLst>
          </p:cNvPr>
          <p:cNvCxnSpPr>
            <a:cxnSpLocks/>
            <a:stCxn id="109" idx="3"/>
            <a:endCxn id="124" idx="1"/>
          </p:cNvCxnSpPr>
          <p:nvPr/>
        </p:nvCxnSpPr>
        <p:spPr>
          <a:xfrm>
            <a:off x="9066362" y="3837541"/>
            <a:ext cx="271671" cy="677571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9AABFD53-527F-4D3A-BAD8-F662C641F5DB}"/>
              </a:ext>
            </a:extLst>
          </p:cNvPr>
          <p:cNvCxnSpPr>
            <a:cxnSpLocks/>
            <a:stCxn id="165" idx="3"/>
            <a:endCxn id="124" idx="1"/>
          </p:cNvCxnSpPr>
          <p:nvPr/>
        </p:nvCxnSpPr>
        <p:spPr>
          <a:xfrm flipV="1">
            <a:off x="8992567" y="4515112"/>
            <a:ext cx="345466" cy="84065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65CD39DA-8CEC-46EB-9EB2-4B00B165837A}"/>
              </a:ext>
            </a:extLst>
          </p:cNvPr>
          <p:cNvCxnSpPr>
            <a:cxnSpLocks/>
            <a:stCxn id="218" idx="3"/>
            <a:endCxn id="114" idx="3"/>
          </p:cNvCxnSpPr>
          <p:nvPr/>
        </p:nvCxnSpPr>
        <p:spPr>
          <a:xfrm>
            <a:off x="11279859" y="2420152"/>
            <a:ext cx="602391" cy="2094961"/>
          </a:xfrm>
          <a:prstGeom prst="bentConnector3">
            <a:avLst>
              <a:gd name="adj1" fmla="val 137949"/>
            </a:avLst>
          </a:prstGeom>
          <a:ln w="19050">
            <a:solidFill>
              <a:schemeClr val="bg1">
                <a:lumMod val="8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5AEF982-7D47-450B-94F8-2A0C42BE97AA}"/>
              </a:ext>
            </a:extLst>
          </p:cNvPr>
          <p:cNvGrpSpPr/>
          <p:nvPr/>
        </p:nvGrpSpPr>
        <p:grpSpPr>
          <a:xfrm>
            <a:off x="9723759" y="1270869"/>
            <a:ext cx="1386144" cy="676929"/>
            <a:chOff x="9723759" y="1270869"/>
            <a:chExt cx="1386144" cy="676929"/>
          </a:xfrm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8E64C1-45FF-4212-ABC5-7034FE2B510B}"/>
                </a:ext>
              </a:extLst>
            </p:cNvPr>
            <p:cNvCxnSpPr>
              <a:cxnSpLocks/>
              <a:endCxn id="203" idx="0"/>
            </p:cNvCxnSpPr>
            <p:nvPr/>
          </p:nvCxnSpPr>
          <p:spPr>
            <a:xfrm>
              <a:off x="11033710" y="1325563"/>
              <a:ext cx="0" cy="469851"/>
            </a:xfrm>
            <a:prstGeom prst="line">
              <a:avLst/>
            </a:prstGeom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C1272CD1-6718-4970-A62F-C3DD02091B0A}"/>
                </a:ext>
              </a:extLst>
            </p:cNvPr>
            <p:cNvCxnSpPr>
              <a:cxnSpLocks/>
            </p:cNvCxnSpPr>
            <p:nvPr/>
          </p:nvCxnSpPr>
          <p:spPr>
            <a:xfrm>
              <a:off x="9802876" y="1364776"/>
              <a:ext cx="0" cy="561039"/>
            </a:xfrm>
            <a:prstGeom prst="line">
              <a:avLst/>
            </a:prstGeom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749E8BA4-5998-4312-BEBF-E99F600D7AF4}"/>
                </a:ext>
              </a:extLst>
            </p:cNvPr>
            <p:cNvSpPr/>
            <p:nvPr/>
          </p:nvSpPr>
          <p:spPr>
            <a:xfrm>
              <a:off x="10957518" y="1795414"/>
              <a:ext cx="152385" cy="152384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CFA5CE31-2566-4F71-94DE-D37CC01F1BD0}"/>
                </a:ext>
              </a:extLst>
            </p:cNvPr>
            <p:cNvSpPr/>
            <p:nvPr/>
          </p:nvSpPr>
          <p:spPr>
            <a:xfrm>
              <a:off x="9723759" y="1270869"/>
              <a:ext cx="152385" cy="152384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6F8E0B02-C4CD-4306-BFB9-4A28019EED11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971" y="1345989"/>
              <a:ext cx="244547" cy="4921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4D164B89-0CAB-4BEE-834F-9BBA6835C266}"/>
                </a:ext>
              </a:extLst>
            </p:cNvPr>
            <p:cNvCxnSpPr>
              <a:cxnSpLocks/>
            </p:cNvCxnSpPr>
            <p:nvPr/>
          </p:nvCxnSpPr>
          <p:spPr>
            <a:xfrm>
              <a:off x="9876316" y="1344229"/>
              <a:ext cx="8359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55A23D66-5246-45E5-BE25-05B70052DD4F}"/>
                </a:ext>
              </a:extLst>
            </p:cNvPr>
            <p:cNvSpPr/>
            <p:nvPr/>
          </p:nvSpPr>
          <p:spPr>
            <a:xfrm flipH="1">
              <a:off x="10858688" y="1686507"/>
              <a:ext cx="76192" cy="76192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905630CE-EE4A-425A-80CC-220053A23A1E}"/>
                </a:ext>
              </a:extLst>
            </p:cNvPr>
            <p:cNvSpPr/>
            <p:nvPr/>
          </p:nvSpPr>
          <p:spPr>
            <a:xfrm flipH="1">
              <a:off x="10797348" y="1558771"/>
              <a:ext cx="76192" cy="76192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C183B172-E474-4C1A-81BD-495B12A3DF5F}"/>
                </a:ext>
              </a:extLst>
            </p:cNvPr>
            <p:cNvSpPr/>
            <p:nvPr/>
          </p:nvSpPr>
          <p:spPr>
            <a:xfrm flipH="1">
              <a:off x="10735442" y="1431036"/>
              <a:ext cx="76192" cy="76192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CC2AB658-2374-4979-A2EC-FFB396A84996}"/>
                </a:ext>
              </a:extLst>
            </p:cNvPr>
            <p:cNvSpPr/>
            <p:nvPr/>
          </p:nvSpPr>
          <p:spPr>
            <a:xfrm flipH="1">
              <a:off x="10649223" y="1306133"/>
              <a:ext cx="76192" cy="76192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EE8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209654E-A1F9-4AF9-ABC8-1357C62599EE}"/>
                </a:ext>
              </a:extLst>
            </p:cNvPr>
            <p:cNvSpPr/>
            <p:nvPr/>
          </p:nvSpPr>
          <p:spPr>
            <a:xfrm>
              <a:off x="9994512" y="1306133"/>
              <a:ext cx="76192" cy="76192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3AEE6CB-82B3-4DE1-B0AD-051AE719C8DF}"/>
                </a:ext>
              </a:extLst>
            </p:cNvPr>
            <p:cNvSpPr/>
            <p:nvPr/>
          </p:nvSpPr>
          <p:spPr>
            <a:xfrm>
              <a:off x="10199642" y="1306133"/>
              <a:ext cx="76192" cy="76192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FC2E7748-CBD2-49F2-8644-45A31B28E937}"/>
                </a:ext>
              </a:extLst>
            </p:cNvPr>
            <p:cNvSpPr/>
            <p:nvPr/>
          </p:nvSpPr>
          <p:spPr>
            <a:xfrm>
              <a:off x="10413516" y="1306133"/>
              <a:ext cx="76192" cy="76192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Diamond 217">
                <a:extLst>
                  <a:ext uri="{FF2B5EF4-FFF2-40B4-BE49-F238E27FC236}">
                    <a16:creationId xmlns:a16="http://schemas.microsoft.com/office/drawing/2014/main" id="{D2CB6D2A-E54C-4C16-B591-23D00D82A7D4}"/>
                  </a:ext>
                </a:extLst>
              </p:cNvPr>
              <p:cNvSpPr/>
              <p:nvPr/>
            </p:nvSpPr>
            <p:spPr>
              <a:xfrm>
                <a:off x="10097936" y="2120663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0" lang="en-US" sz="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8" name="Diamond 217">
                <a:extLst>
                  <a:ext uri="{FF2B5EF4-FFF2-40B4-BE49-F238E27FC236}">
                    <a16:creationId xmlns:a16="http://schemas.microsoft.com/office/drawing/2014/main" id="{D2CB6D2A-E54C-4C16-B591-23D00D82A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936" y="2120663"/>
                <a:ext cx="1181923" cy="598977"/>
              </a:xfrm>
              <a:prstGeom prst="diamond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Diamond 227">
                <a:extLst>
                  <a:ext uri="{FF2B5EF4-FFF2-40B4-BE49-F238E27FC236}">
                    <a16:creationId xmlns:a16="http://schemas.microsoft.com/office/drawing/2014/main" id="{4B6811F1-3D1F-4307-9AC8-8335CA27E88F}"/>
                  </a:ext>
                </a:extLst>
              </p:cNvPr>
              <p:cNvSpPr/>
              <p:nvPr/>
            </p:nvSpPr>
            <p:spPr>
              <a:xfrm>
                <a:off x="10097935" y="3017207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𝑽</m:t>
                        </m:r>
                      </m:e>
                      <m:sub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</m:sub>
                    </m:sSub>
                    <m:r>
                      <a:rPr kumimoji="0" lang="en-US" sz="9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≫</m:t>
                    </m:r>
                    <m:sSub>
                      <m:sSubPr>
                        <m:ctrlP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𝑽</m:t>
                        </m:r>
                      </m:e>
                      <m:sub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𝒇</m:t>
                        </m:r>
                      </m:sub>
                    </m:sSub>
                  </m:oMath>
                </a14:m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||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0" lang="en-US" sz="9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≫</m:t>
                      </m:r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8" name="Diamond 227">
                <a:extLst>
                  <a:ext uri="{FF2B5EF4-FFF2-40B4-BE49-F238E27FC236}">
                    <a16:creationId xmlns:a16="http://schemas.microsoft.com/office/drawing/2014/main" id="{4B6811F1-3D1F-4307-9AC8-8335CA27E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935" y="3017207"/>
                <a:ext cx="1181923" cy="598977"/>
              </a:xfrm>
              <a:prstGeom prst="diamond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64F49A3-2B21-4ECA-A92D-5E7A4E266B81}"/>
              </a:ext>
            </a:extLst>
          </p:cNvPr>
          <p:cNvCxnSpPr>
            <a:cxnSpLocks/>
            <a:stCxn id="218" idx="2"/>
            <a:endCxn id="228" idx="0"/>
          </p:cNvCxnSpPr>
          <p:nvPr/>
        </p:nvCxnSpPr>
        <p:spPr>
          <a:xfrm flipH="1">
            <a:off x="10688897" y="2719640"/>
            <a:ext cx="1" cy="297567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06F5052F-9DEE-4EFA-8520-BC4FD17249ED}"/>
              </a:ext>
            </a:extLst>
          </p:cNvPr>
          <p:cNvGrpSpPr/>
          <p:nvPr/>
        </p:nvGrpSpPr>
        <p:grpSpPr>
          <a:xfrm>
            <a:off x="10597458" y="3845169"/>
            <a:ext cx="182880" cy="182880"/>
            <a:chOff x="10340283" y="3683244"/>
            <a:chExt cx="182880" cy="182880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D4E9A7A0-BF13-4000-8970-CDDC1B34ED1A}"/>
                </a:ext>
              </a:extLst>
            </p:cNvPr>
            <p:cNvSpPr/>
            <p:nvPr/>
          </p:nvSpPr>
          <p:spPr>
            <a:xfrm>
              <a:off x="10340283" y="3683244"/>
              <a:ext cx="182880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CA7B34DF-6B6C-4A88-9B3B-F84001405D8B}"/>
                </a:ext>
              </a:extLst>
            </p:cNvPr>
            <p:cNvSpPr/>
            <p:nvPr/>
          </p:nvSpPr>
          <p:spPr>
            <a:xfrm>
              <a:off x="10370763" y="3713724"/>
              <a:ext cx="121920" cy="1219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3BB1D02E-733F-407D-9152-4D635447AA21}"/>
              </a:ext>
            </a:extLst>
          </p:cNvPr>
          <p:cNvCxnSpPr>
            <a:cxnSpLocks/>
            <a:stCxn id="228" idx="2"/>
            <a:endCxn id="236" idx="0"/>
          </p:cNvCxnSpPr>
          <p:nvPr/>
        </p:nvCxnSpPr>
        <p:spPr>
          <a:xfrm>
            <a:off x="10688897" y="3616184"/>
            <a:ext cx="1" cy="228985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D73565AC-394E-4213-99D0-60F9B900674A}"/>
              </a:ext>
            </a:extLst>
          </p:cNvPr>
          <p:cNvCxnSpPr>
            <a:cxnSpLocks/>
            <a:stCxn id="228" idx="1"/>
            <a:endCxn id="96" idx="3"/>
          </p:cNvCxnSpPr>
          <p:nvPr/>
        </p:nvCxnSpPr>
        <p:spPr>
          <a:xfrm flipH="1">
            <a:off x="9906202" y="3316696"/>
            <a:ext cx="191733" cy="0"/>
          </a:xfrm>
          <a:prstGeom prst="line">
            <a:avLst/>
          </a:prstGeom>
          <a:ln w="28575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C1270F29-C939-404E-A091-617D5B34D50C}"/>
              </a:ext>
            </a:extLst>
          </p:cNvPr>
          <p:cNvSpPr/>
          <p:nvPr/>
        </p:nvSpPr>
        <p:spPr>
          <a:xfrm>
            <a:off x="7438469" y="3113275"/>
            <a:ext cx="1233588" cy="40684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Move transition point back</a:t>
            </a:r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C9BCA25E-94F9-4811-A36C-F9F8BE7A374E}"/>
              </a:ext>
            </a:extLst>
          </p:cNvPr>
          <p:cNvCxnSpPr>
            <a:cxnSpLocks/>
            <a:stCxn id="96" idx="1"/>
            <a:endCxn id="248" idx="3"/>
          </p:cNvCxnSpPr>
          <p:nvPr/>
        </p:nvCxnSpPr>
        <p:spPr>
          <a:xfrm flipH="1">
            <a:off x="8672057" y="3316696"/>
            <a:ext cx="288386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2BF844EE-A173-4FE7-B52F-FE4BA97203BF}"/>
                  </a:ext>
                </a:extLst>
              </p:cNvPr>
              <p:cNvSpPr/>
              <p:nvPr/>
            </p:nvSpPr>
            <p:spPr>
              <a:xfrm>
                <a:off x="1344513" y="2259373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</m:oMath>
                  </m:oMathPara>
                </a14:m>
                <a:endPara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𝒕𝒓𝒂𝒏𝒔𝒊𝒕𝒊𝒐𝒏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2BF844EE-A173-4FE7-B52F-FE4BA97203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513" y="2259373"/>
                <a:ext cx="1181923" cy="598977"/>
              </a:xfrm>
              <a:prstGeom prst="diamond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E17DAF4-4B0F-44BA-9F79-DD42CC9AD484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1344513" y="1558771"/>
            <a:ext cx="0" cy="1000091"/>
          </a:xfrm>
          <a:prstGeom prst="line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56F1E1FF-6412-410E-A4D2-4E8EF08C548B}"/>
              </a:ext>
            </a:extLst>
          </p:cNvPr>
          <p:cNvCxnSpPr>
            <a:cxnSpLocks/>
            <a:stCxn id="80" idx="2"/>
            <a:endCxn id="165" idx="1"/>
          </p:cNvCxnSpPr>
          <p:nvPr/>
        </p:nvCxnSpPr>
        <p:spPr>
          <a:xfrm rot="16200000" flipH="1">
            <a:off x="3285463" y="1508362"/>
            <a:ext cx="2497421" cy="5197396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F9AE091-3FCD-4257-BED2-034567A3F4D0}"/>
              </a:ext>
            </a:extLst>
          </p:cNvPr>
          <p:cNvSpPr/>
          <p:nvPr/>
        </p:nvSpPr>
        <p:spPr>
          <a:xfrm>
            <a:off x="4065032" y="2828269"/>
            <a:ext cx="1181924" cy="4244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Set linear flight path</a:t>
            </a:r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392C0E2-54C0-40A4-A470-B87E40878E5F}"/>
              </a:ext>
            </a:extLst>
          </p:cNvPr>
          <p:cNvGrpSpPr/>
          <p:nvPr/>
        </p:nvGrpSpPr>
        <p:grpSpPr>
          <a:xfrm>
            <a:off x="4343694" y="2165799"/>
            <a:ext cx="374461" cy="622235"/>
            <a:chOff x="4655994" y="3280256"/>
            <a:chExt cx="374461" cy="622235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09B3C11-52F8-4BA0-8FB6-DB057F811BEF}"/>
                </a:ext>
              </a:extLst>
            </p:cNvPr>
            <p:cNvCxnSpPr>
              <a:cxnSpLocks/>
              <a:endCxn id="99" idx="0"/>
            </p:cNvCxnSpPr>
            <p:nvPr/>
          </p:nvCxnSpPr>
          <p:spPr>
            <a:xfrm>
              <a:off x="4954262" y="3280256"/>
              <a:ext cx="0" cy="469851"/>
            </a:xfrm>
            <a:prstGeom prst="lin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162A8E1-213A-462E-B1CC-DE73B56250FE}"/>
                </a:ext>
              </a:extLst>
            </p:cNvPr>
            <p:cNvSpPr/>
            <p:nvPr/>
          </p:nvSpPr>
          <p:spPr>
            <a:xfrm>
              <a:off x="4878070" y="3750107"/>
              <a:ext cx="152385" cy="152384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F024B4E-E8FA-4222-AF9C-068D82771629}"/>
                </a:ext>
              </a:extLst>
            </p:cNvPr>
            <p:cNvCxnSpPr>
              <a:cxnSpLocks/>
              <a:stCxn id="103" idx="3"/>
            </p:cNvCxnSpPr>
            <p:nvPr/>
          </p:nvCxnSpPr>
          <p:spPr>
            <a:xfrm>
              <a:off x="4721028" y="3450763"/>
              <a:ext cx="157042" cy="3420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8828D98-0FC1-4C7A-806D-B634CD32E0FB}"/>
                </a:ext>
              </a:extLst>
            </p:cNvPr>
            <p:cNvSpPr/>
            <p:nvPr/>
          </p:nvSpPr>
          <p:spPr>
            <a:xfrm flipH="1">
              <a:off x="4655994" y="3385729"/>
              <a:ext cx="76192" cy="76192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28FC1BF-5E80-413F-ADA2-A35313F77CEC}"/>
              </a:ext>
            </a:extLst>
          </p:cNvPr>
          <p:cNvCxnSpPr>
            <a:cxnSpLocks/>
            <a:stCxn id="111" idx="1"/>
            <a:endCxn id="80" idx="3"/>
          </p:cNvCxnSpPr>
          <p:nvPr/>
        </p:nvCxnSpPr>
        <p:spPr>
          <a:xfrm flipV="1">
            <a:off x="2522460" y="2558862"/>
            <a:ext cx="3976" cy="483207"/>
          </a:xfrm>
          <a:prstGeom prst="line">
            <a:avLst/>
          </a:prstGeom>
          <a:ln w="28575">
            <a:solidFill>
              <a:srgbClr val="0099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Diamond 110">
                <a:extLst>
                  <a:ext uri="{FF2B5EF4-FFF2-40B4-BE49-F238E27FC236}">
                    <a16:creationId xmlns:a16="http://schemas.microsoft.com/office/drawing/2014/main" id="{2AC3185B-9F73-43CC-9255-A9D3B0967C13}"/>
                  </a:ext>
                </a:extLst>
              </p:cNvPr>
              <p:cNvSpPr/>
              <p:nvPr/>
            </p:nvSpPr>
            <p:spPr>
              <a:xfrm>
                <a:off x="2522460" y="2742580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𝑽</m:t>
                        </m:r>
                      </m:e>
                      <m:sub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</m:sub>
                    </m:sSub>
                    <m:r>
                      <a:rPr kumimoji="0" lang="en-US" sz="9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</m:t>
                    </m:r>
                    <m:sSub>
                      <m:sSubPr>
                        <m:ctrlP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𝑽</m:t>
                        </m:r>
                      </m:e>
                      <m:sub>
                        <m:r>
                          <a:rPr kumimoji="0" lang="en-US" sz="9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𝒇</m:t>
                        </m:r>
                      </m:sub>
                    </m:sSub>
                  </m:oMath>
                </a14:m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&amp;&amp;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0" lang="en-US" sz="9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1" name="Diamond 110">
                <a:extLst>
                  <a:ext uri="{FF2B5EF4-FFF2-40B4-BE49-F238E27FC236}">
                    <a16:creationId xmlns:a16="http://schemas.microsoft.com/office/drawing/2014/main" id="{2AC3185B-9F73-43CC-9255-A9D3B0967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60" y="2742580"/>
                <a:ext cx="1181923" cy="598977"/>
              </a:xfrm>
              <a:prstGeom prst="diamond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Diamond 111">
                <a:extLst>
                  <a:ext uri="{FF2B5EF4-FFF2-40B4-BE49-F238E27FC236}">
                    <a16:creationId xmlns:a16="http://schemas.microsoft.com/office/drawing/2014/main" id="{2D6B0C01-A984-4443-B7E3-485B529DCA91}"/>
                  </a:ext>
                </a:extLst>
              </p:cNvPr>
              <p:cNvSpPr/>
              <p:nvPr/>
            </p:nvSpPr>
            <p:spPr>
              <a:xfrm>
                <a:off x="3113422" y="3538052"/>
                <a:ext cx="1181923" cy="598977"/>
              </a:xfrm>
              <a:prstGeom prst="diamond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𝑽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0" lang="en-US" sz="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sSub>
                        <m:sSubPr>
                          <m:ctrlP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𝑽</m:t>
                          </m:r>
                        </m:e>
                        <m:sub>
                          <m:r>
                            <a:rPr kumimoji="0" lang="en-US" sz="9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2" name="Diamond 111">
                <a:extLst>
                  <a:ext uri="{FF2B5EF4-FFF2-40B4-BE49-F238E27FC236}">
                    <a16:creationId xmlns:a16="http://schemas.microsoft.com/office/drawing/2014/main" id="{2D6B0C01-A984-4443-B7E3-485B529DC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422" y="3538052"/>
                <a:ext cx="1181923" cy="598977"/>
              </a:xfrm>
              <a:prstGeom prst="diamond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D6A2EFB-13BE-4EF2-9E95-293ECF75F328}"/>
              </a:ext>
            </a:extLst>
          </p:cNvPr>
          <p:cNvCxnSpPr>
            <a:cxnSpLocks/>
            <a:stCxn id="112" idx="1"/>
            <a:endCxn id="111" idx="2"/>
          </p:cNvCxnSpPr>
          <p:nvPr/>
        </p:nvCxnSpPr>
        <p:spPr>
          <a:xfrm flipV="1">
            <a:off x="3113422" y="3341557"/>
            <a:ext cx="0" cy="495984"/>
          </a:xfrm>
          <a:prstGeom prst="line">
            <a:avLst/>
          </a:prstGeom>
          <a:ln w="28575">
            <a:solidFill>
              <a:srgbClr val="C0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8AB6ECE-AB14-4DBD-A61C-3AFA70938D8C}"/>
              </a:ext>
            </a:extLst>
          </p:cNvPr>
          <p:cNvCxnSpPr>
            <a:cxnSpLocks/>
            <a:stCxn id="97" idx="1"/>
            <a:endCxn id="111" idx="3"/>
          </p:cNvCxnSpPr>
          <p:nvPr/>
        </p:nvCxnSpPr>
        <p:spPr>
          <a:xfrm flipH="1">
            <a:off x="3704383" y="3040504"/>
            <a:ext cx="360649" cy="1565"/>
          </a:xfrm>
          <a:prstGeom prst="line">
            <a:avLst/>
          </a:prstGeom>
          <a:ln w="28575">
            <a:solidFill>
              <a:srgbClr val="0099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0C283E34-6C1E-4337-99E7-A5C1B0ABA149}"/>
                  </a:ext>
                </a:extLst>
              </p:cNvPr>
              <p:cNvSpPr/>
              <p:nvPr/>
            </p:nvSpPr>
            <p:spPr>
              <a:xfrm>
                <a:off x="5465079" y="2892227"/>
                <a:ext cx="1181924" cy="299684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𝒅𝒉</m:t>
                        </m:r>
                      </m:num>
                      <m:den>
                        <m: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𝒅𝒕</m:t>
                        </m:r>
                      </m:den>
                    </m:f>
                    <m:r>
                      <a:rPr kumimoji="0" lang="en-US" sz="11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f>
                      <m:fPr>
                        <m:ctrlP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𝒅𝒗</m:t>
                        </m:r>
                      </m:num>
                      <m:den>
                        <m: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𝒅𝒕</m:t>
                        </m:r>
                      </m:den>
                    </m:f>
                  </m:oMath>
                </a14:m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0C283E34-6C1E-4337-99E7-A5C1B0ABA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079" y="2892227"/>
                <a:ext cx="1181924" cy="299684"/>
              </a:xfrm>
              <a:prstGeom prst="roundRect">
                <a:avLst/>
              </a:prstGeom>
              <a:blipFill>
                <a:blip r:embed="rId10"/>
                <a:stretch>
                  <a:fillRect b="-1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7FF3B16-9161-4711-9333-958FBEAA7478}"/>
              </a:ext>
            </a:extLst>
          </p:cNvPr>
          <p:cNvCxnSpPr>
            <a:cxnSpLocks/>
            <a:stCxn id="123" idx="1"/>
            <a:endCxn id="97" idx="3"/>
          </p:cNvCxnSpPr>
          <p:nvPr/>
        </p:nvCxnSpPr>
        <p:spPr>
          <a:xfrm flipH="1" flipV="1">
            <a:off x="5246956" y="3040504"/>
            <a:ext cx="218123" cy="156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4DAFA0BF-3F52-4E83-B6E2-F6393BFF3BF1}"/>
              </a:ext>
            </a:extLst>
          </p:cNvPr>
          <p:cNvCxnSpPr>
            <a:cxnSpLocks/>
            <a:stCxn id="123" idx="3"/>
            <a:endCxn id="109" idx="1"/>
          </p:cNvCxnSpPr>
          <p:nvPr/>
        </p:nvCxnSpPr>
        <p:spPr>
          <a:xfrm>
            <a:off x="6647003" y="3042069"/>
            <a:ext cx="344349" cy="79547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74A2339F-E777-4D45-904F-B7850A6CAF22}"/>
                  </a:ext>
                </a:extLst>
              </p:cNvPr>
              <p:cNvSpPr/>
              <p:nvPr/>
            </p:nvSpPr>
            <p:spPr>
              <a:xfrm>
                <a:off x="5140965" y="3687699"/>
                <a:ext cx="1181924" cy="299684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Calculate 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𝒅𝒗</m:t>
                        </m:r>
                      </m:num>
                      <m:den>
                        <m: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𝒅𝒕</m:t>
                        </m:r>
                      </m:den>
                    </m:f>
                  </m:oMath>
                </a14:m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74A2339F-E777-4D45-904F-B7850A6CA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965" y="3687699"/>
                <a:ext cx="1181924" cy="299684"/>
              </a:xfrm>
              <a:prstGeom prst="roundRect">
                <a:avLst/>
              </a:prstGeom>
              <a:blipFill>
                <a:blip r:embed="rId11"/>
                <a:stretch>
                  <a:fillRect b="-39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567DE1D-0A7D-461D-8AA0-DE2F11451C99}"/>
              </a:ext>
            </a:extLst>
          </p:cNvPr>
          <p:cNvCxnSpPr>
            <a:cxnSpLocks/>
            <a:stCxn id="132" idx="1"/>
            <a:endCxn id="112" idx="3"/>
          </p:cNvCxnSpPr>
          <p:nvPr/>
        </p:nvCxnSpPr>
        <p:spPr>
          <a:xfrm flipH="1">
            <a:off x="4295345" y="3837541"/>
            <a:ext cx="845620" cy="0"/>
          </a:xfrm>
          <a:prstGeom prst="line">
            <a:avLst/>
          </a:prstGeom>
          <a:ln w="28575">
            <a:solidFill>
              <a:srgbClr val="0099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811337D-9D3E-4ECB-9AA0-A64C243027DE}"/>
              </a:ext>
            </a:extLst>
          </p:cNvPr>
          <p:cNvCxnSpPr>
            <a:cxnSpLocks/>
            <a:stCxn id="132" idx="3"/>
            <a:endCxn id="109" idx="1"/>
          </p:cNvCxnSpPr>
          <p:nvPr/>
        </p:nvCxnSpPr>
        <p:spPr>
          <a:xfrm>
            <a:off x="6322889" y="3837541"/>
            <a:ext cx="66846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78FF6718-B3F3-410B-BC19-B022D4B87A9B}"/>
                  </a:ext>
                </a:extLst>
              </p:cNvPr>
              <p:cNvSpPr/>
              <p:nvPr/>
            </p:nvSpPr>
            <p:spPr>
              <a:xfrm>
                <a:off x="5140965" y="4446813"/>
                <a:ext cx="1181924" cy="299684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Calculate 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</m:t>
                        </m:r>
                        <m:r>
                          <a:rPr kumimoji="0" lang="en-US" sz="11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𝒉</m:t>
                        </m:r>
                      </m:num>
                      <m:den>
                        <m:r>
                          <a:rPr kumimoji="0" lang="en-US" sz="11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𝒅𝒕</m:t>
                        </m:r>
                      </m:den>
                    </m:f>
                  </m:oMath>
                </a14:m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78FF6718-B3F3-410B-BC19-B022D4B87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965" y="4446813"/>
                <a:ext cx="1181924" cy="299684"/>
              </a:xfrm>
              <a:prstGeom prst="roundRect">
                <a:avLst/>
              </a:prstGeom>
              <a:blipFill>
                <a:blip r:embed="rId12"/>
                <a:stretch>
                  <a:fillRect b="-1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16ECECCF-A3DB-49A6-B6DD-B7F114935478}"/>
              </a:ext>
            </a:extLst>
          </p:cNvPr>
          <p:cNvCxnSpPr>
            <a:cxnSpLocks/>
            <a:stCxn id="112" idx="2"/>
            <a:endCxn id="143" idx="1"/>
          </p:cNvCxnSpPr>
          <p:nvPr/>
        </p:nvCxnSpPr>
        <p:spPr>
          <a:xfrm rot="16200000" flipH="1">
            <a:off x="4192861" y="3648551"/>
            <a:ext cx="459626" cy="1436581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C13DCA74-6867-444F-9631-D98D342A3BB2}"/>
              </a:ext>
            </a:extLst>
          </p:cNvPr>
          <p:cNvCxnSpPr>
            <a:cxnSpLocks/>
            <a:stCxn id="143" idx="3"/>
            <a:endCxn id="109" idx="1"/>
          </p:cNvCxnSpPr>
          <p:nvPr/>
        </p:nvCxnSpPr>
        <p:spPr>
          <a:xfrm flipV="1">
            <a:off x="6322889" y="3837541"/>
            <a:ext cx="668463" cy="759114"/>
          </a:xfrm>
          <a:prstGeom prst="bentConnector3">
            <a:avLst>
              <a:gd name="adj1" fmla="val 74519"/>
            </a:avLst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D8FA5B43-015A-48E2-8EA5-AA1348ED7373}"/>
              </a:ext>
            </a:extLst>
          </p:cNvPr>
          <p:cNvCxnSpPr>
            <a:cxnSpLocks/>
            <a:stCxn id="80" idx="0"/>
            <a:endCxn id="248" idx="1"/>
          </p:cNvCxnSpPr>
          <p:nvPr/>
        </p:nvCxnSpPr>
        <p:spPr>
          <a:xfrm rot="16200000" flipH="1">
            <a:off x="4158310" y="36537"/>
            <a:ext cx="1057323" cy="5502994"/>
          </a:xfrm>
          <a:prstGeom prst="bentConnector4">
            <a:avLst>
              <a:gd name="adj1" fmla="val -21621"/>
              <a:gd name="adj2" fmla="val 98122"/>
            </a:avLst>
          </a:prstGeom>
          <a:ln w="19050">
            <a:solidFill>
              <a:schemeClr val="bg1">
                <a:lumMod val="8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CC42C48A-6B2E-481C-A3A5-9EC944926395}"/>
              </a:ext>
            </a:extLst>
          </p:cNvPr>
          <p:cNvCxnSpPr>
            <a:cxnSpLocks/>
            <a:stCxn id="218" idx="1"/>
            <a:endCxn id="80" idx="1"/>
          </p:cNvCxnSpPr>
          <p:nvPr/>
        </p:nvCxnSpPr>
        <p:spPr>
          <a:xfrm rot="10800000" flipV="1">
            <a:off x="1344514" y="2420152"/>
            <a:ext cx="8753423" cy="138710"/>
          </a:xfrm>
          <a:prstGeom prst="bentConnector5">
            <a:avLst>
              <a:gd name="adj1" fmla="val 28976"/>
              <a:gd name="adj2" fmla="val -387364"/>
              <a:gd name="adj3" fmla="val 102612"/>
            </a:avLst>
          </a:prstGeom>
          <a:ln w="28575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 Placeholder 1">
                <a:extLst>
                  <a:ext uri="{FF2B5EF4-FFF2-40B4-BE49-F238E27FC236}">
                    <a16:creationId xmlns:a16="http://schemas.microsoft.com/office/drawing/2014/main" id="{B4DBB3AB-7540-4A33-95EB-C847CACD68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782" y="3439380"/>
                <a:ext cx="1635857" cy="1418183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0" bIns="0"/>
              <a:lstStyle>
                <a:lvl1pPr marL="2159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•"/>
                  <a:tabLst>
                    <a:tab pos="215900" algn="l"/>
                  </a:tabLs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defRPr>
                </a:lvl1pPr>
                <a:lvl2pPr marL="431800" indent="-215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Symbol" pitchFamily="18" charset="2"/>
                  <a:buChar char="-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2pPr>
                <a:lvl3pPr marL="6477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3pPr>
                <a:lvl4pPr marL="863600" indent="-215900" algn="l" defTabSz="215900" rtl="0" eaLnBrk="1" fontAlgn="base" hangingPunct="1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100000"/>
                  <a:buFont typeface="Arial" charset="0"/>
                  <a:buChar char="-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4pPr>
                <a:lvl5pPr marL="863600" indent="-215900" algn="l" rtl="0" eaLnBrk="1" fontAlgn="base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None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0" lang="en-US" sz="105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==</m:t>
                    </m:r>
                    <m:sSub>
                      <m:sSubPr>
                        <m:ctrlPr>
                          <a:rPr kumimoji="0" lang="en-US" sz="10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kumimoji="0" lang="en-US" sz="105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&amp;&amp;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0" lang="en-US" sz="105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 ||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0" lang="en-US" sz="105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0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kumimoji="0" lang="en-US" sz="10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kumimoji="0" lang="en-US" sz="10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:</a:t>
                </a: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New constraint shall be set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Manually for now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Will be automated</a:t>
                </a:r>
              </a:p>
              <a:p>
                <a:pPr marL="215900" marR="0" lvl="0" indent="-215900" algn="l" defTabSz="2159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Arial" charset="0"/>
                  <a:buChar char="•"/>
                  <a:tabLst>
                    <a:tab pos="215900" algn="l"/>
                  </a:tabLst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charset="0"/>
                    <a:cs typeface="Arial" panose="020B0604020202020204" pitchFamily="34" charset="0"/>
                  </a:rPr>
                  <a:t>Initial point shall be moved backward</a:t>
                </a:r>
              </a:p>
              <a:p>
                <a:pPr marL="431800" marR="0" lvl="1" indent="-215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5BD"/>
                  </a:buClr>
                  <a:buSzTx/>
                  <a:buFont typeface="Symbol" pitchFamily="18" charset="2"/>
                  <a:buChar char="-"/>
                  <a:tabLst>
                    <a:tab pos="431800" algn="l"/>
                  </a:tabLst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Manually</a:t>
                </a:r>
              </a:p>
            </p:txBody>
          </p:sp>
        </mc:Choice>
        <mc:Fallback xmlns="">
          <p:sp>
            <p:nvSpPr>
              <p:cNvPr id="180" name="Text Placeholder 1">
                <a:extLst>
                  <a:ext uri="{FF2B5EF4-FFF2-40B4-BE49-F238E27FC236}">
                    <a16:creationId xmlns:a16="http://schemas.microsoft.com/office/drawing/2014/main" id="{B4DBB3AB-7540-4A33-95EB-C847CACD6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2" y="3439380"/>
                <a:ext cx="1635857" cy="14181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812A83E-1FF2-491B-AA97-036C60ECDB8B}"/>
              </a:ext>
            </a:extLst>
          </p:cNvPr>
          <p:cNvSpPr/>
          <p:nvPr/>
        </p:nvSpPr>
        <p:spPr>
          <a:xfrm>
            <a:off x="8960443" y="3113275"/>
            <a:ext cx="945759" cy="40684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Delete state variables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71D17C9-9E7D-4994-8900-4ECF2C5CC4BC}"/>
              </a:ext>
            </a:extLst>
          </p:cNvPr>
          <p:cNvSpPr/>
          <p:nvPr/>
        </p:nvSpPr>
        <p:spPr>
          <a:xfrm>
            <a:off x="10685088" y="4293173"/>
            <a:ext cx="1197162" cy="44387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Calculate state variables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AE02FF4-22DE-4C30-AFCD-4A1FACA131BF}"/>
              </a:ext>
            </a:extLst>
          </p:cNvPr>
          <p:cNvSpPr/>
          <p:nvPr/>
        </p:nvSpPr>
        <p:spPr>
          <a:xfrm>
            <a:off x="10685088" y="5011353"/>
            <a:ext cx="1197162" cy="44387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Store state variables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6DE4DB6-57A3-409B-A582-CCB9F11DD934}"/>
              </a:ext>
            </a:extLst>
          </p:cNvPr>
          <p:cNvCxnSpPr>
            <a:cxnSpLocks/>
            <a:stCxn id="124" idx="3"/>
            <a:endCxn id="114" idx="1"/>
          </p:cNvCxnSpPr>
          <p:nvPr/>
        </p:nvCxnSpPr>
        <p:spPr>
          <a:xfrm>
            <a:off x="10535195" y="4515112"/>
            <a:ext cx="149893" cy="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20ECA14F-A0A1-44C0-9B47-84B7A758BB0F}"/>
              </a:ext>
            </a:extLst>
          </p:cNvPr>
          <p:cNvCxnSpPr>
            <a:cxnSpLocks/>
            <a:stCxn id="114" idx="2"/>
            <a:endCxn id="117" idx="0"/>
          </p:cNvCxnSpPr>
          <p:nvPr/>
        </p:nvCxnSpPr>
        <p:spPr>
          <a:xfrm>
            <a:off x="11283669" y="4737052"/>
            <a:ext cx="0" cy="27430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64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15" grpId="0"/>
      <p:bldP spid="124" grpId="0" animBg="1"/>
      <p:bldP spid="165" grpId="0" animBg="1"/>
      <p:bldP spid="218" grpId="0" animBg="1"/>
      <p:bldP spid="228" grpId="0" animBg="1"/>
      <p:bldP spid="248" grpId="0" animBg="1"/>
      <p:bldP spid="80" grpId="0" animBg="1"/>
      <p:bldP spid="97" grpId="0" animBg="1"/>
      <p:bldP spid="111" grpId="0" animBg="1"/>
      <p:bldP spid="112" grpId="0" animBg="1"/>
      <p:bldP spid="123" grpId="0" animBg="1"/>
      <p:bldP spid="132" grpId="0" animBg="1"/>
      <p:bldP spid="143" grpId="0" animBg="1"/>
      <p:bldP spid="180" grpId="0" animBg="1"/>
      <p:bldP spid="96" grpId="0" animBg="1"/>
      <p:bldP spid="114" grpId="0" animBg="1"/>
      <p:bldP spid="1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780264-66FB-4D5F-BA24-79A0EE69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UNICADO Review</a:t>
            </a:r>
          </a:p>
        </p:txBody>
      </p:sp>
      <p:sp>
        <p:nvSpPr>
          <p:cNvPr id="150" name="Content Placeholder 3">
            <a:extLst>
              <a:ext uri="{FF2B5EF4-FFF2-40B4-BE49-F238E27FC236}">
                <a16:creationId xmlns:a16="http://schemas.microsoft.com/office/drawing/2014/main" id="{D2121D1C-82CE-4A78-9279-E48D407E5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Mission Analysis</a:t>
            </a:r>
          </a:p>
        </p:txBody>
      </p:sp>
      <p:sp>
        <p:nvSpPr>
          <p:cNvPr id="151" name="Text Placeholder 1">
            <a:extLst>
              <a:ext uri="{FF2B5EF4-FFF2-40B4-BE49-F238E27FC236}">
                <a16:creationId xmlns:a16="http://schemas.microsoft.com/office/drawing/2014/main" id="{C5167306-C237-4639-82AE-DEB7FCFAE6A2}"/>
              </a:ext>
            </a:extLst>
          </p:cNvPr>
          <p:cNvSpPr txBox="1">
            <a:spLocks/>
          </p:cNvSpPr>
          <p:nvPr/>
        </p:nvSpPr>
        <p:spPr>
          <a:xfrm>
            <a:off x="384000" y="1659533"/>
            <a:ext cx="4084845" cy="1588491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If mission fails at any point it is because either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the point performance requirements are not fulfilled or,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the point performance requirement does not exist for a limiting case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155" name="Text Placeholder 1">
            <a:extLst>
              <a:ext uri="{FF2B5EF4-FFF2-40B4-BE49-F238E27FC236}">
                <a16:creationId xmlns:a16="http://schemas.microsoft.com/office/drawing/2014/main" id="{EA264B3A-EC2D-43D5-950E-331E6108FFDB}"/>
              </a:ext>
            </a:extLst>
          </p:cNvPr>
          <p:cNvSpPr txBox="1">
            <a:spLocks/>
          </p:cNvSpPr>
          <p:nvPr/>
        </p:nvSpPr>
        <p:spPr>
          <a:xfrm>
            <a:off x="384000" y="3710631"/>
            <a:ext cx="4084845" cy="1346216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Instead of breaking the loop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mission shall ask for or create new constraints</a:t>
            </a: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the aircraft shall be resized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 marL="215900" marR="0" lvl="0" indent="-2159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65BD"/>
              </a:buClr>
              <a:buSzTx/>
              <a:buFont typeface="Arial" charset="0"/>
              <a:buChar char="•"/>
              <a:tabLst>
                <a:tab pos="215900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6733B4-5152-4E6A-9833-9D97FDAE5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541" y="896966"/>
            <a:ext cx="7082151" cy="49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7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5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sign_tum">
  <a:themeElements>
    <a:clrScheme name="UNICADO_TUM">
      <a:dk1>
        <a:srgbClr val="000000"/>
      </a:dk1>
      <a:lt1>
        <a:srgbClr val="FFFFFF"/>
      </a:lt1>
      <a:dk2>
        <a:srgbClr val="0065BD"/>
      </a:dk2>
      <a:lt2>
        <a:srgbClr val="BD1E3C"/>
      </a:lt2>
      <a:accent1>
        <a:srgbClr val="0065BD"/>
      </a:accent1>
      <a:accent2>
        <a:srgbClr val="C50E1E"/>
      </a:accent2>
      <a:accent3>
        <a:srgbClr val="BD1E3C"/>
      </a:accent3>
      <a:accent4>
        <a:srgbClr val="01519D"/>
      </a:accent4>
      <a:accent5>
        <a:srgbClr val="2CC6D6"/>
      </a:accent5>
      <a:accent6>
        <a:srgbClr val="363F49"/>
      </a:accent6>
      <a:hlink>
        <a:srgbClr val="01519D"/>
      </a:hlink>
      <a:folHlink>
        <a:srgbClr val="01519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6" id="{CADBB113-BCCB-4E1F-93B4-8304A9CC01C5}" vid="{F5758DB6-424B-4C48-A23B-28666FDC4D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Widescreen</PresentationFormat>
  <Paragraphs>149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ＭＳ Ｐゴシック</vt:lpstr>
      <vt:lpstr>Arial</vt:lpstr>
      <vt:lpstr>Calibri</vt:lpstr>
      <vt:lpstr>Calibri Light</vt:lpstr>
      <vt:lpstr>Cambria Math</vt:lpstr>
      <vt:lpstr>Symbol</vt:lpstr>
      <vt:lpstr>Wingdings</vt:lpstr>
      <vt:lpstr>Office Theme</vt:lpstr>
      <vt:lpstr>design_tum</vt:lpstr>
      <vt:lpstr>UNICADO Review</vt:lpstr>
      <vt:lpstr>UNICADO Review</vt:lpstr>
      <vt:lpstr>UNICADO Review</vt:lpstr>
      <vt:lpstr>UNICADO Review</vt:lpstr>
      <vt:lpstr>UNICADO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UNICADO Review</dc:title>
  <dc:creator>Meric Taneri</dc:creator>
  <cp:lastModifiedBy>Meric Taneri</cp:lastModifiedBy>
  <cp:revision>1</cp:revision>
  <dcterms:created xsi:type="dcterms:W3CDTF">2025-07-15T14:18:54Z</dcterms:created>
  <dcterms:modified xsi:type="dcterms:W3CDTF">2025-07-15T14:19:19Z</dcterms:modified>
</cp:coreProperties>
</file>