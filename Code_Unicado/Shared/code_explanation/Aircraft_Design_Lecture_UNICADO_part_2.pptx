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3" r:id="rId2"/>
  </p:sldMasterIdLst>
  <p:notesMasterIdLst>
    <p:notesMasterId r:id="rId33"/>
  </p:notesMasterIdLst>
  <p:sldIdLst>
    <p:sldId id="1289" r:id="rId3"/>
    <p:sldId id="1263" r:id="rId4"/>
    <p:sldId id="298" r:id="rId5"/>
    <p:sldId id="1265" r:id="rId6"/>
    <p:sldId id="1264" r:id="rId7"/>
    <p:sldId id="301" r:id="rId8"/>
    <p:sldId id="302" r:id="rId9"/>
    <p:sldId id="1266" r:id="rId10"/>
    <p:sldId id="1267" r:id="rId11"/>
    <p:sldId id="1269" r:id="rId12"/>
    <p:sldId id="305" r:id="rId13"/>
    <p:sldId id="1268" r:id="rId14"/>
    <p:sldId id="299" r:id="rId15"/>
    <p:sldId id="1286" r:id="rId16"/>
    <p:sldId id="1270" r:id="rId17"/>
    <p:sldId id="1285" r:id="rId18"/>
    <p:sldId id="1271" r:id="rId19"/>
    <p:sldId id="300" r:id="rId20"/>
    <p:sldId id="1273" r:id="rId21"/>
    <p:sldId id="1283" r:id="rId22"/>
    <p:sldId id="1284" r:id="rId23"/>
    <p:sldId id="1272" r:id="rId24"/>
    <p:sldId id="303" r:id="rId25"/>
    <p:sldId id="1275" r:id="rId26"/>
    <p:sldId id="1287" r:id="rId27"/>
    <p:sldId id="1276" r:id="rId28"/>
    <p:sldId id="1288" r:id="rId29"/>
    <p:sldId id="1278" r:id="rId30"/>
    <p:sldId id="1280" r:id="rId31"/>
    <p:sldId id="128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 2" id="{5243D7AA-D41A-4A30-B0C4-C16D35C2E2FF}">
          <p14:sldIdLst>
            <p14:sldId id="1289"/>
            <p14:sldId id="1263"/>
            <p14:sldId id="298"/>
            <p14:sldId id="1265"/>
            <p14:sldId id="1264"/>
            <p14:sldId id="301"/>
            <p14:sldId id="302"/>
            <p14:sldId id="1266"/>
            <p14:sldId id="1267"/>
            <p14:sldId id="1269"/>
            <p14:sldId id="305"/>
            <p14:sldId id="1268"/>
            <p14:sldId id="299"/>
            <p14:sldId id="1286"/>
            <p14:sldId id="1270"/>
            <p14:sldId id="1285"/>
            <p14:sldId id="1271"/>
            <p14:sldId id="300"/>
            <p14:sldId id="1273"/>
            <p14:sldId id="1283"/>
            <p14:sldId id="1284"/>
            <p14:sldId id="1272"/>
            <p14:sldId id="303"/>
            <p14:sldId id="1275"/>
            <p14:sldId id="1287"/>
            <p14:sldId id="1276"/>
            <p14:sldId id="1288"/>
            <p14:sldId id="1278"/>
            <p14:sldId id="1280"/>
            <p14:sldId id="12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C4B2"/>
    <a:srgbClr val="DAD7CB"/>
    <a:srgbClr val="003359"/>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88538" autoAdjust="0"/>
  </p:normalViewPr>
  <p:slideViewPr>
    <p:cSldViewPr snapToGrid="0" snapToObjects="1">
      <p:cViewPr varScale="1">
        <p:scale>
          <a:sx n="115" d="100"/>
          <a:sy n="115" d="100"/>
        </p:scale>
        <p:origin x="408" y="114"/>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964102971977"/>
          <c:y val="5.0925925925925923E-2"/>
          <c:w val="0.76611829581908319"/>
          <c:h val="0.74350320793234181"/>
        </c:manualLayout>
      </c:layout>
      <c:lineChart>
        <c:grouping val="standard"/>
        <c:varyColors val="0"/>
        <c:ser>
          <c:idx val="1"/>
          <c:order val="1"/>
          <c:tx>
            <c:v>W/S</c:v>
          </c:tx>
          <c:spPr>
            <a:ln w="28575" cap="rnd">
              <a:solidFill>
                <a:srgbClr val="C00000"/>
              </a:solidFill>
              <a:round/>
            </a:ln>
            <a:effectLst/>
          </c:spPr>
          <c:marker>
            <c:symbol val="circle"/>
            <c:size val="5"/>
            <c:spPr>
              <a:solidFill>
                <a:srgbClr val="C00000"/>
              </a:solidFill>
              <a:ln w="12700">
                <a:solidFill>
                  <a:srgbClr val="C00000"/>
                </a:solidFill>
              </a:ln>
              <a:effectLst/>
            </c:spPr>
          </c:marker>
          <c:cat>
            <c:numRef>
              <c:f>Sheet1!$A$1:$A$9</c:f>
              <c:numCache>
                <c:formatCode>General</c:formatCode>
                <c:ptCount val="9"/>
                <c:pt idx="0">
                  <c:v>1</c:v>
                </c:pt>
                <c:pt idx="1">
                  <c:v>2</c:v>
                </c:pt>
                <c:pt idx="2">
                  <c:v>3</c:v>
                </c:pt>
                <c:pt idx="3">
                  <c:v>4</c:v>
                </c:pt>
                <c:pt idx="4">
                  <c:v>5</c:v>
                </c:pt>
                <c:pt idx="5">
                  <c:v>6</c:v>
                </c:pt>
                <c:pt idx="6">
                  <c:v>7</c:v>
                </c:pt>
                <c:pt idx="7">
                  <c:v>8</c:v>
                </c:pt>
                <c:pt idx="8">
                  <c:v>9</c:v>
                </c:pt>
              </c:numCache>
            </c:numRef>
          </c:cat>
          <c:val>
            <c:numRef>
              <c:f>Sheet1!$C$1:$C$9</c:f>
              <c:numCache>
                <c:formatCode>General</c:formatCode>
                <c:ptCount val="9"/>
                <c:pt idx="0">
                  <c:v>572</c:v>
                </c:pt>
                <c:pt idx="1">
                  <c:v>549</c:v>
                </c:pt>
                <c:pt idx="2">
                  <c:v>531</c:v>
                </c:pt>
                <c:pt idx="3">
                  <c:v>521</c:v>
                </c:pt>
                <c:pt idx="4">
                  <c:v>517</c:v>
                </c:pt>
                <c:pt idx="5">
                  <c:v>514</c:v>
                </c:pt>
                <c:pt idx="6">
                  <c:v>514</c:v>
                </c:pt>
                <c:pt idx="7">
                  <c:v>513</c:v>
                </c:pt>
                <c:pt idx="8">
                  <c:v>513</c:v>
                </c:pt>
              </c:numCache>
            </c:numRef>
          </c:val>
          <c:smooth val="0"/>
          <c:extLst>
            <c:ext xmlns:c16="http://schemas.microsoft.com/office/drawing/2014/chart" uri="{C3380CC4-5D6E-409C-BE32-E72D297353CC}">
              <c16:uniqueId val="{00000000-FD1B-4A6C-BEAE-0B793927B968}"/>
            </c:ext>
          </c:extLst>
        </c:ser>
        <c:dLbls>
          <c:showLegendKey val="0"/>
          <c:showVal val="0"/>
          <c:showCatName val="0"/>
          <c:showSerName val="0"/>
          <c:showPercent val="0"/>
          <c:showBubbleSize val="0"/>
        </c:dLbls>
        <c:marker val="1"/>
        <c:smooth val="0"/>
        <c:axId val="469171272"/>
        <c:axId val="304652424"/>
      </c:lineChart>
      <c:lineChart>
        <c:grouping val="standard"/>
        <c:varyColors val="0"/>
        <c:ser>
          <c:idx val="0"/>
          <c:order val="0"/>
          <c:tx>
            <c:v>T_SL/W_TO</c:v>
          </c:tx>
          <c:spPr>
            <a:ln w="25400" cap="rnd">
              <a:solidFill>
                <a:schemeClr val="accent1"/>
              </a:solidFill>
              <a:round/>
            </a:ln>
            <a:effectLst/>
          </c:spPr>
          <c:marker>
            <c:symbol val="circle"/>
            <c:size val="5"/>
            <c:spPr>
              <a:solidFill>
                <a:schemeClr val="accent1"/>
              </a:solidFill>
              <a:ln w="9525">
                <a:solidFill>
                  <a:schemeClr val="accent1"/>
                </a:solidFill>
              </a:ln>
              <a:effectLst/>
            </c:spPr>
          </c:marker>
          <c:cat>
            <c:numRef>
              <c:f>Sheet1!$A$1:$A$9</c:f>
              <c:numCache>
                <c:formatCode>General</c:formatCode>
                <c:ptCount val="9"/>
                <c:pt idx="0">
                  <c:v>1</c:v>
                </c:pt>
                <c:pt idx="1">
                  <c:v>2</c:v>
                </c:pt>
                <c:pt idx="2">
                  <c:v>3</c:v>
                </c:pt>
                <c:pt idx="3">
                  <c:v>4</c:v>
                </c:pt>
                <c:pt idx="4">
                  <c:v>5</c:v>
                </c:pt>
                <c:pt idx="5">
                  <c:v>6</c:v>
                </c:pt>
                <c:pt idx="6">
                  <c:v>7</c:v>
                </c:pt>
                <c:pt idx="7">
                  <c:v>8</c:v>
                </c:pt>
                <c:pt idx="8">
                  <c:v>9</c:v>
                </c:pt>
              </c:numCache>
            </c:numRef>
          </c:cat>
          <c:val>
            <c:numRef>
              <c:f>Sheet1!$B$1:$B$9</c:f>
              <c:numCache>
                <c:formatCode>General</c:formatCode>
                <c:ptCount val="9"/>
                <c:pt idx="0">
                  <c:v>0.48480000000000001</c:v>
                </c:pt>
                <c:pt idx="1">
                  <c:v>0.45810000000000001</c:v>
                </c:pt>
                <c:pt idx="2">
                  <c:v>0.43730000000000002</c:v>
                </c:pt>
                <c:pt idx="3">
                  <c:v>0.42709999999999998</c:v>
                </c:pt>
                <c:pt idx="4">
                  <c:v>0.42259999999999998</c:v>
                </c:pt>
                <c:pt idx="5">
                  <c:v>0.4209</c:v>
                </c:pt>
                <c:pt idx="6">
                  <c:v>0.42</c:v>
                </c:pt>
                <c:pt idx="7">
                  <c:v>0.42009999999999997</c:v>
                </c:pt>
                <c:pt idx="8">
                  <c:v>0.42009999999999997</c:v>
                </c:pt>
              </c:numCache>
            </c:numRef>
          </c:val>
          <c:smooth val="0"/>
          <c:extLst>
            <c:ext xmlns:c16="http://schemas.microsoft.com/office/drawing/2014/chart" uri="{C3380CC4-5D6E-409C-BE32-E72D297353CC}">
              <c16:uniqueId val="{00000001-FD1B-4A6C-BEAE-0B793927B968}"/>
            </c:ext>
          </c:extLst>
        </c:ser>
        <c:dLbls>
          <c:showLegendKey val="0"/>
          <c:showVal val="0"/>
          <c:showCatName val="0"/>
          <c:showSerName val="0"/>
          <c:showPercent val="0"/>
          <c:showBubbleSize val="0"/>
        </c:dLbls>
        <c:marker val="1"/>
        <c:smooth val="0"/>
        <c:axId val="518248288"/>
        <c:axId val="516794880"/>
      </c:lineChart>
      <c:catAx>
        <c:axId val="4691712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4652424"/>
        <c:crosses val="autoZero"/>
        <c:auto val="1"/>
        <c:lblAlgn val="ctr"/>
        <c:lblOffset val="100"/>
        <c:noMultiLvlLbl val="0"/>
      </c:catAx>
      <c:valAx>
        <c:axId val="3046524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Wing Loading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9171272"/>
        <c:crosses val="autoZero"/>
        <c:crossBetween val="between"/>
      </c:valAx>
      <c:valAx>
        <c:axId val="516794880"/>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Thrust Loading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8248288"/>
        <c:crosses val="max"/>
        <c:crossBetween val="between"/>
      </c:valAx>
      <c:catAx>
        <c:axId val="518248288"/>
        <c:scaling>
          <c:orientation val="minMax"/>
        </c:scaling>
        <c:delete val="1"/>
        <c:axPos val="b"/>
        <c:numFmt formatCode="General" sourceLinked="1"/>
        <c:majorTickMark val="out"/>
        <c:minorTickMark val="none"/>
        <c:tickLblPos val="nextTo"/>
        <c:crossAx val="516794880"/>
        <c:crosses val="autoZero"/>
        <c:auto val="1"/>
        <c:lblAlgn val="ctr"/>
        <c:lblOffset val="100"/>
        <c:noMultiLvlLbl val="0"/>
      </c:catAx>
      <c:spPr>
        <a:noFill/>
        <a:ln>
          <a:noFill/>
        </a:ln>
        <a:effectLst/>
      </c:spPr>
    </c:plotArea>
    <c:legend>
      <c:legendPos val="tr"/>
      <c:layout>
        <c:manualLayout>
          <c:xMode val="edge"/>
          <c:yMode val="edge"/>
          <c:x val="0.6810237893494191"/>
          <c:y val="8.4677415994197036E-2"/>
          <c:w val="0.20094402023295982"/>
          <c:h val="0.11254706500241836"/>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964102971977"/>
          <c:y val="5.0925925925925923E-2"/>
          <c:w val="0.76611829581908319"/>
          <c:h val="0.74350320793234181"/>
        </c:manualLayout>
      </c:layout>
      <c:lineChart>
        <c:grouping val="standard"/>
        <c:varyColors val="0"/>
        <c:ser>
          <c:idx val="1"/>
          <c:order val="1"/>
          <c:tx>
            <c:v>W/S</c:v>
          </c:tx>
          <c:spPr>
            <a:ln w="28575" cap="rnd">
              <a:solidFill>
                <a:srgbClr val="C00000"/>
              </a:solidFill>
              <a:round/>
            </a:ln>
            <a:effectLst/>
          </c:spPr>
          <c:marker>
            <c:symbol val="circle"/>
            <c:size val="5"/>
            <c:spPr>
              <a:solidFill>
                <a:srgbClr val="C00000"/>
              </a:solidFill>
              <a:ln w="12700">
                <a:solidFill>
                  <a:srgbClr val="C00000"/>
                </a:solidFill>
              </a:ln>
              <a:effectLst/>
            </c:spPr>
          </c:marker>
          <c:cat>
            <c:numRef>
              <c:f>Sheet1!$A$1:$A$17</c:f>
              <c:numCache>
                <c:formatCode>General</c:formatCode>
                <c:ptCount val="1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numCache>
            </c:numRef>
          </c:cat>
          <c:val>
            <c:numRef>
              <c:f>Sheet1!$C$1:$C$17</c:f>
              <c:numCache>
                <c:formatCode>General</c:formatCode>
                <c:ptCount val="17"/>
                <c:pt idx="0">
                  <c:v>572</c:v>
                </c:pt>
                <c:pt idx="1">
                  <c:v>549</c:v>
                </c:pt>
                <c:pt idx="2">
                  <c:v>531</c:v>
                </c:pt>
                <c:pt idx="3">
                  <c:v>521</c:v>
                </c:pt>
                <c:pt idx="4">
                  <c:v>517</c:v>
                </c:pt>
                <c:pt idx="5">
                  <c:v>514</c:v>
                </c:pt>
                <c:pt idx="6">
                  <c:v>514</c:v>
                </c:pt>
                <c:pt idx="7">
                  <c:v>513</c:v>
                </c:pt>
                <c:pt idx="8">
                  <c:v>513</c:v>
                </c:pt>
                <c:pt idx="9">
                  <c:v>513</c:v>
                </c:pt>
                <c:pt idx="10">
                  <c:v>513</c:v>
                </c:pt>
                <c:pt idx="11">
                  <c:v>513</c:v>
                </c:pt>
                <c:pt idx="12">
                  <c:v>513</c:v>
                </c:pt>
                <c:pt idx="13">
                  <c:v>513</c:v>
                </c:pt>
                <c:pt idx="14">
                  <c:v>513</c:v>
                </c:pt>
                <c:pt idx="15">
                  <c:v>513</c:v>
                </c:pt>
                <c:pt idx="16">
                  <c:v>513</c:v>
                </c:pt>
              </c:numCache>
            </c:numRef>
          </c:val>
          <c:smooth val="0"/>
          <c:extLst>
            <c:ext xmlns:c16="http://schemas.microsoft.com/office/drawing/2014/chart" uri="{C3380CC4-5D6E-409C-BE32-E72D297353CC}">
              <c16:uniqueId val="{00000000-4532-4983-86BE-0FFBAFE0AF29}"/>
            </c:ext>
          </c:extLst>
        </c:ser>
        <c:dLbls>
          <c:showLegendKey val="0"/>
          <c:showVal val="0"/>
          <c:showCatName val="0"/>
          <c:showSerName val="0"/>
          <c:showPercent val="0"/>
          <c:showBubbleSize val="0"/>
        </c:dLbls>
        <c:marker val="1"/>
        <c:smooth val="0"/>
        <c:axId val="469171272"/>
        <c:axId val="304652424"/>
      </c:lineChart>
      <c:lineChart>
        <c:grouping val="standard"/>
        <c:varyColors val="0"/>
        <c:ser>
          <c:idx val="0"/>
          <c:order val="0"/>
          <c:tx>
            <c:v>T_SL/W_TO</c:v>
          </c:tx>
          <c:spPr>
            <a:ln w="25400" cap="rnd">
              <a:solidFill>
                <a:schemeClr val="accent1"/>
              </a:solidFill>
              <a:round/>
            </a:ln>
            <a:effectLst/>
          </c:spPr>
          <c:marker>
            <c:symbol val="circle"/>
            <c:size val="5"/>
            <c:spPr>
              <a:solidFill>
                <a:schemeClr val="accent1"/>
              </a:solidFill>
              <a:ln w="9525">
                <a:solidFill>
                  <a:schemeClr val="accent1"/>
                </a:solidFill>
              </a:ln>
              <a:effectLst/>
            </c:spPr>
          </c:marker>
          <c:cat>
            <c:numRef>
              <c:f>Sheet1!$A$1:$A$17</c:f>
              <c:numCache>
                <c:formatCode>General</c:formatCode>
                <c:ptCount val="17"/>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numCache>
            </c:numRef>
          </c:cat>
          <c:val>
            <c:numRef>
              <c:f>Sheet1!$B$1:$B$17</c:f>
              <c:numCache>
                <c:formatCode>General</c:formatCode>
                <c:ptCount val="17"/>
                <c:pt idx="0">
                  <c:v>0.48480000000000001</c:v>
                </c:pt>
                <c:pt idx="1">
                  <c:v>0.45810000000000001</c:v>
                </c:pt>
                <c:pt idx="2">
                  <c:v>0.43730000000000002</c:v>
                </c:pt>
                <c:pt idx="3">
                  <c:v>0.42709999999999998</c:v>
                </c:pt>
                <c:pt idx="4">
                  <c:v>0.42259999999999998</c:v>
                </c:pt>
                <c:pt idx="5">
                  <c:v>0.4209</c:v>
                </c:pt>
                <c:pt idx="6">
                  <c:v>0.42</c:v>
                </c:pt>
                <c:pt idx="7">
                  <c:v>0.42009999999999997</c:v>
                </c:pt>
                <c:pt idx="8">
                  <c:v>0.42009999999999997</c:v>
                </c:pt>
                <c:pt idx="9">
                  <c:v>0.42009999999999997</c:v>
                </c:pt>
                <c:pt idx="10">
                  <c:v>0.42009999999999997</c:v>
                </c:pt>
                <c:pt idx="11">
                  <c:v>0.42009999999999997</c:v>
                </c:pt>
                <c:pt idx="12">
                  <c:v>0.42010009999999998</c:v>
                </c:pt>
                <c:pt idx="13">
                  <c:v>0.42010029999999998</c:v>
                </c:pt>
                <c:pt idx="14">
                  <c:v>0.42010049999999999</c:v>
                </c:pt>
                <c:pt idx="15">
                  <c:v>0.420101</c:v>
                </c:pt>
                <c:pt idx="16">
                  <c:v>0.42011389999999998</c:v>
                </c:pt>
              </c:numCache>
            </c:numRef>
          </c:val>
          <c:smooth val="0"/>
          <c:extLst>
            <c:ext xmlns:c16="http://schemas.microsoft.com/office/drawing/2014/chart" uri="{C3380CC4-5D6E-409C-BE32-E72D297353CC}">
              <c16:uniqueId val="{00000001-4532-4983-86BE-0FFBAFE0AF29}"/>
            </c:ext>
          </c:extLst>
        </c:ser>
        <c:dLbls>
          <c:showLegendKey val="0"/>
          <c:showVal val="0"/>
          <c:showCatName val="0"/>
          <c:showSerName val="0"/>
          <c:showPercent val="0"/>
          <c:showBubbleSize val="0"/>
        </c:dLbls>
        <c:marker val="1"/>
        <c:smooth val="0"/>
        <c:axId val="518248288"/>
        <c:axId val="516794880"/>
      </c:lineChart>
      <c:catAx>
        <c:axId val="4691712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4652424"/>
        <c:crosses val="autoZero"/>
        <c:auto val="1"/>
        <c:lblAlgn val="ctr"/>
        <c:lblOffset val="100"/>
        <c:noMultiLvlLbl val="0"/>
      </c:catAx>
      <c:valAx>
        <c:axId val="3046524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Wing Loading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9171272"/>
        <c:crosses val="autoZero"/>
        <c:crossBetween val="between"/>
      </c:valAx>
      <c:valAx>
        <c:axId val="516794880"/>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Thrust Loading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8248288"/>
        <c:crosses val="max"/>
        <c:crossBetween val="between"/>
      </c:valAx>
      <c:catAx>
        <c:axId val="518248288"/>
        <c:scaling>
          <c:orientation val="minMax"/>
        </c:scaling>
        <c:delete val="1"/>
        <c:axPos val="b"/>
        <c:numFmt formatCode="General" sourceLinked="1"/>
        <c:majorTickMark val="out"/>
        <c:minorTickMark val="none"/>
        <c:tickLblPos val="nextTo"/>
        <c:crossAx val="516794880"/>
        <c:crosses val="autoZero"/>
        <c:auto val="1"/>
        <c:lblAlgn val="ctr"/>
        <c:lblOffset val="100"/>
        <c:noMultiLvlLbl val="0"/>
      </c:catAx>
      <c:spPr>
        <a:noFill/>
        <a:ln>
          <a:noFill/>
        </a:ln>
        <a:effectLst/>
      </c:spPr>
    </c:plotArea>
    <c:legend>
      <c:legendPos val="tr"/>
      <c:layout>
        <c:manualLayout>
          <c:xMode val="edge"/>
          <c:yMode val="edge"/>
          <c:x val="0.6810237893494191"/>
          <c:y val="8.4677415994197036E-2"/>
          <c:w val="0.20094402023295982"/>
          <c:h val="0.11254706500241836"/>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93CF19-2E3C-46FE-963E-304C1812C6A9}" type="datetimeFigureOut">
              <a:rPr lang="en-US" smtClean="0"/>
              <a:t>6/3/2025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2B2F71-12FA-4E59-8F75-9AD3EDA46F16}" type="slidenum">
              <a:rPr lang="en-US" smtClean="0"/>
              <a:t>‹#›</a:t>
            </a:fld>
            <a:endParaRPr lang="en-US" dirty="0"/>
          </a:p>
        </p:txBody>
      </p:sp>
    </p:spTree>
    <p:extLst>
      <p:ext uri="{BB962C8B-B14F-4D97-AF65-F5344CB8AC3E}">
        <p14:creationId xmlns:p14="http://schemas.microsoft.com/office/powerpoint/2010/main" val="317351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9900" cy="38369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85815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documentation can be given if wanted</a:t>
            </a:r>
          </a:p>
        </p:txBody>
      </p:sp>
      <p:sp>
        <p:nvSpPr>
          <p:cNvPr id="4" name="Slide Number Placeholder 3"/>
          <p:cNvSpPr>
            <a:spLocks noGrp="1"/>
          </p:cNvSpPr>
          <p:nvPr>
            <p:ph type="sldNum" sz="quarter" idx="5"/>
          </p:nvPr>
        </p:nvSpPr>
        <p:spPr/>
        <p:txBody>
          <a:bodyPr/>
          <a:lstStyle/>
          <a:p>
            <a:fld id="{1C2B2F71-12FA-4E59-8F75-9AD3EDA46F16}" type="slidenum">
              <a:rPr lang="en-US" smtClean="0"/>
              <a:t>9</a:t>
            </a:fld>
            <a:endParaRPr lang="en-US"/>
          </a:p>
        </p:txBody>
      </p:sp>
    </p:spTree>
    <p:extLst>
      <p:ext uri="{BB962C8B-B14F-4D97-AF65-F5344CB8AC3E}">
        <p14:creationId xmlns:p14="http://schemas.microsoft.com/office/powerpoint/2010/main" val="1113676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is a lot of room to grow in UNICADO</a:t>
            </a:r>
          </a:p>
          <a:p>
            <a:r>
              <a:rPr lang="en-US" sz="1200" b="0" i="0" kern="1200" dirty="0">
                <a:solidFill>
                  <a:schemeClr val="tx1"/>
                </a:solidFill>
                <a:effectLst/>
                <a:latin typeface="+mn-lt"/>
                <a:ea typeface="+mn-ea"/>
                <a:cs typeface="+mn-cs"/>
              </a:rPr>
              <a:t>This report is a collection, correlation, codification, and recording of best knowledge, opinion, and judgment in the area of aerodynamic stability and control prediction methods. It presents substantiated techniques for use 1 early in the design or concept study phase, 2 to evaluate changes resulting from proposed engineering fixes, and 3 as a training on cross-training aid. It bridges the gap between theory and practice by including a combination of pertinent discussion and proven practical methods. For any given configuration and flight condition, a complete set of stability and control derivatives can be determined without resort to outside information. A spectrum of methods is presented, ranging from very simple and easily applied techniques to quite accurate and thorough procedures. Comparatively simple methods are presented in complete form, while the more complex methods are often handled by reference to separate treatments. Tables which compare calculated results with test data provide indications of method accuracy. Extensive references to related material are also included. </a:t>
            </a:r>
          </a:p>
          <a:p>
            <a:r>
              <a:rPr lang="en-US" sz="1200" b="0" i="0" kern="1200" dirty="0">
                <a:solidFill>
                  <a:schemeClr val="tx1"/>
                </a:solidFill>
                <a:effectLst/>
                <a:latin typeface="+mn-lt"/>
                <a:ea typeface="+mn-ea"/>
                <a:cs typeface="+mn-cs"/>
              </a:rPr>
              <a:t>Final rept. Sep 1975-Sep 1977</a:t>
            </a:r>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12</a:t>
            </a:fld>
            <a:endParaRPr lang="en-US"/>
          </a:p>
        </p:txBody>
      </p:sp>
    </p:spTree>
    <p:extLst>
      <p:ext uri="{BB962C8B-B14F-4D97-AF65-F5344CB8AC3E}">
        <p14:creationId xmlns:p14="http://schemas.microsoft.com/office/powerpoint/2010/main" val="1150865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14</a:t>
            </a:fld>
            <a:endParaRPr lang="en-US"/>
          </a:p>
        </p:txBody>
      </p:sp>
    </p:spTree>
    <p:extLst>
      <p:ext uri="{BB962C8B-B14F-4D97-AF65-F5344CB8AC3E}">
        <p14:creationId xmlns:p14="http://schemas.microsoft.com/office/powerpoint/2010/main" val="1489070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15</a:t>
            </a:fld>
            <a:endParaRPr lang="en-US"/>
          </a:p>
        </p:txBody>
      </p:sp>
    </p:spTree>
    <p:extLst>
      <p:ext uri="{BB962C8B-B14F-4D97-AF65-F5344CB8AC3E}">
        <p14:creationId xmlns:p14="http://schemas.microsoft.com/office/powerpoint/2010/main" val="1091728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16</a:t>
            </a:fld>
            <a:endParaRPr lang="en-US"/>
          </a:p>
        </p:txBody>
      </p:sp>
    </p:spTree>
    <p:extLst>
      <p:ext uri="{BB962C8B-B14F-4D97-AF65-F5344CB8AC3E}">
        <p14:creationId xmlns:p14="http://schemas.microsoft.com/office/powerpoint/2010/main" val="3450392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17</a:t>
            </a:fld>
            <a:endParaRPr lang="en-US"/>
          </a:p>
        </p:txBody>
      </p:sp>
    </p:spTree>
    <p:extLst>
      <p:ext uri="{BB962C8B-B14F-4D97-AF65-F5344CB8AC3E}">
        <p14:creationId xmlns:p14="http://schemas.microsoft.com/office/powerpoint/2010/main" val="3916189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22</a:t>
            </a:fld>
            <a:endParaRPr lang="en-US" dirty="0"/>
          </a:p>
        </p:txBody>
      </p:sp>
    </p:spTree>
    <p:extLst>
      <p:ext uri="{BB962C8B-B14F-4D97-AF65-F5344CB8AC3E}">
        <p14:creationId xmlns:p14="http://schemas.microsoft.com/office/powerpoint/2010/main" val="4232019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B2F71-12FA-4E59-8F75-9AD3EDA46F16}" type="slidenum">
              <a:rPr lang="en-US" smtClean="0"/>
              <a:t>28</a:t>
            </a:fld>
            <a:endParaRPr lang="en-US" dirty="0"/>
          </a:p>
        </p:txBody>
      </p:sp>
    </p:spTree>
    <p:extLst>
      <p:ext uri="{BB962C8B-B14F-4D97-AF65-F5344CB8AC3E}">
        <p14:creationId xmlns:p14="http://schemas.microsoft.com/office/powerpoint/2010/main" val="8044197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elfolie">
    <p:bg>
      <p:bgPr>
        <a:solidFill>
          <a:schemeClr val="bg1"/>
        </a:solidFill>
        <a:effectLst/>
      </p:bgPr>
    </p:bg>
    <p:spTree>
      <p:nvGrpSpPr>
        <p:cNvPr id="1" name=""/>
        <p:cNvGrpSpPr/>
        <p:nvPr/>
      </p:nvGrpSpPr>
      <p:grpSpPr>
        <a:xfrm>
          <a:off x="0" y="0"/>
          <a:ext cx="0" cy="0"/>
          <a:chOff x="0" y="0"/>
          <a:chExt cx="0" cy="0"/>
        </a:xfrm>
      </p:grpSpPr>
      <p:sp>
        <p:nvSpPr>
          <p:cNvPr id="8194" name="Titelplatzhalter 1"/>
          <p:cNvSpPr>
            <a:spLocks noGrp="1"/>
          </p:cNvSpPr>
          <p:nvPr>
            <p:ph type="ctrTitle"/>
          </p:nvPr>
        </p:nvSpPr>
        <p:spPr>
          <a:xfrm>
            <a:off x="478368" y="2130430"/>
            <a:ext cx="11228917" cy="1470025"/>
          </a:xfrm>
        </p:spPr>
        <p:txBody>
          <a:bodyPr/>
          <a:lstStyle>
            <a:lvl1pPr>
              <a:defRPr sz="2400" smtClean="0">
                <a:solidFill>
                  <a:srgbClr val="0065BD"/>
                </a:solidFill>
              </a:defRPr>
            </a:lvl1pPr>
          </a:lstStyle>
          <a:p>
            <a:r>
              <a:rPr lang="en-US" noProof="0" dirty="0"/>
              <a:t>Click to edit Master title style</a:t>
            </a:r>
          </a:p>
        </p:txBody>
      </p:sp>
      <p:sp>
        <p:nvSpPr>
          <p:cNvPr id="8195" name="Textplatzhalter 2"/>
          <p:cNvSpPr>
            <a:spLocks noGrp="1"/>
          </p:cNvSpPr>
          <p:nvPr>
            <p:ph type="subTitle" idx="1"/>
          </p:nvPr>
        </p:nvSpPr>
        <p:spPr>
          <a:xfrm>
            <a:off x="478368" y="3886200"/>
            <a:ext cx="11228917" cy="1752600"/>
          </a:xfrm>
        </p:spPr>
        <p:txBody>
          <a:bodyPr/>
          <a:lstStyle>
            <a:lvl1pPr>
              <a:defRPr sz="1500" smtClean="0">
                <a:solidFill>
                  <a:schemeClr val="tx1"/>
                </a:solidFill>
              </a:defRPr>
            </a:lvl1pPr>
          </a:lstStyle>
          <a:p>
            <a:r>
              <a:rPr lang="en-US" noProof="0" dirty="0"/>
              <a:t>Click to edit Master subtitle style</a:t>
            </a:r>
          </a:p>
        </p:txBody>
      </p:sp>
      <p:cxnSp>
        <p:nvCxnSpPr>
          <p:cNvPr id="14" name="Straight Connector 13"/>
          <p:cNvCxnSpPr/>
          <p:nvPr userDrawn="1"/>
        </p:nvCxnSpPr>
        <p:spPr bwMode="auto">
          <a:xfrm flipV="1">
            <a:off x="0" y="471056"/>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cxnSp>
        <p:nvCxnSpPr>
          <p:cNvPr id="15" name="Straight Connector 14"/>
          <p:cNvCxnSpPr/>
          <p:nvPr userDrawn="1"/>
        </p:nvCxnSpPr>
        <p:spPr bwMode="auto">
          <a:xfrm flipV="1">
            <a:off x="0" y="6400824"/>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sp>
        <p:nvSpPr>
          <p:cNvPr id="21" name="Text Box 18"/>
          <p:cNvSpPr txBox="1">
            <a:spLocks noChangeArrowheads="1"/>
          </p:cNvSpPr>
          <p:nvPr userDrawn="1"/>
        </p:nvSpPr>
        <p:spPr bwMode="auto">
          <a:xfrm>
            <a:off x="478370" y="6493158"/>
            <a:ext cx="9326033" cy="230832"/>
          </a:xfrm>
          <a:prstGeom prst="rect">
            <a:avLst/>
          </a:prstGeom>
          <a:noFill/>
          <a:ln w="9525">
            <a:noFill/>
            <a:miter lim="800000"/>
            <a:headEnd/>
            <a:tailEnd/>
          </a:ln>
          <a:effectLst/>
        </p:spPr>
        <p:txBody>
          <a:bodyPr wrap="square">
            <a:spAutoFit/>
          </a:bodyPr>
          <a:lstStyle/>
          <a:p>
            <a:pPr marL="0" marR="0" lvl="0" indent="0" algn="l" defTabSz="685800" eaLnBrk="1" fontAlgn="auto" latinLnBrk="0" hangingPunct="1">
              <a:lnSpc>
                <a:spcPct val="100000"/>
              </a:lnSpc>
              <a:spcBef>
                <a:spcPct val="50000"/>
              </a:spcBef>
              <a:spcAft>
                <a:spcPts val="0"/>
              </a:spcAft>
              <a:buClrTx/>
              <a:buSzTx/>
              <a:buFontTx/>
              <a:buNone/>
              <a:tabLst/>
              <a:defRPr/>
            </a:pPr>
            <a:r>
              <a:rPr kumimoji="0" lang="en-US" sz="900" b="1" i="0" u="none" strike="noStrike" kern="0" cap="none" spc="0" normalizeH="0" baseline="0" noProof="0" dirty="0">
                <a:ln>
                  <a:noFill/>
                </a:ln>
                <a:solidFill>
                  <a:srgbClr val="0065BD"/>
                </a:solidFill>
                <a:effectLst/>
                <a:uLnTx/>
                <a:uFillTx/>
                <a:latin typeface="Arial" pitchFamily="34" charset="0"/>
                <a:cs typeface="Arial" pitchFamily="34" charset="0"/>
              </a:rPr>
              <a:t>Advanced Aircraft Design </a:t>
            </a:r>
            <a:r>
              <a:rPr kumimoji="0" lang="en-US" sz="900" b="0" i="0" u="none" strike="noStrike" kern="0" cap="none" spc="0" normalizeH="0" baseline="0" noProof="0" dirty="0">
                <a:ln>
                  <a:noFill/>
                </a:ln>
                <a:solidFill>
                  <a:srgbClr val="0065BD"/>
                </a:solidFill>
                <a:effectLst/>
                <a:uLnTx/>
                <a:uFillTx/>
                <a:latin typeface="Arial" pitchFamily="34" charset="0"/>
                <a:cs typeface="Arial" pitchFamily="34" charset="0"/>
              </a:rPr>
              <a:t>| Prof. Dr.-Ing. M. Hornung</a:t>
            </a:r>
          </a:p>
        </p:txBody>
      </p:sp>
      <p:sp>
        <p:nvSpPr>
          <p:cNvPr id="22" name="Text Box 23"/>
          <p:cNvSpPr txBox="1">
            <a:spLocks noChangeArrowheads="1"/>
          </p:cNvSpPr>
          <p:nvPr userDrawn="1"/>
        </p:nvSpPr>
        <p:spPr bwMode="auto">
          <a:xfrm>
            <a:off x="8456084" y="6539325"/>
            <a:ext cx="3251200" cy="230832"/>
          </a:xfrm>
          <a:prstGeom prst="rect">
            <a:avLst/>
          </a:prstGeom>
          <a:noFill/>
          <a:ln w="9525">
            <a:noFill/>
            <a:miter lim="800000"/>
            <a:headEnd/>
            <a:tailEnd/>
          </a:ln>
          <a:effectLst/>
        </p:spPr>
        <p:txBody>
          <a:bodyPr wrap="square" lIns="0" rIns="0" anchor="b">
            <a:spAutoFit/>
          </a:bodyPr>
          <a:lstStyle/>
          <a:p>
            <a:pPr marL="0" marR="0" lvl="0" indent="0" algn="r" defTabSz="685800" eaLnBrk="1" fontAlgn="auto" latinLnBrk="0" hangingPunct="1">
              <a:lnSpc>
                <a:spcPct val="100000"/>
              </a:lnSpc>
              <a:spcBef>
                <a:spcPct val="50000"/>
              </a:spcBef>
              <a:spcAft>
                <a:spcPts val="0"/>
              </a:spcAft>
              <a:buClrTx/>
              <a:buSzTx/>
              <a:buFontTx/>
              <a:buNone/>
              <a:tabLst/>
              <a:defRPr/>
            </a:pPr>
            <a:r>
              <a:rPr kumimoji="0" lang="en-US" sz="900" b="0" i="0" u="none" strike="noStrike" kern="0" cap="none" spc="0" normalizeH="0" baseline="0" noProof="0" dirty="0">
                <a:ln>
                  <a:noFill/>
                </a:ln>
                <a:solidFill>
                  <a:srgbClr val="0065BD"/>
                </a:solidFill>
                <a:effectLst/>
                <a:uLnTx/>
                <a:uFillTx/>
                <a:latin typeface="Arial" panose="020B0604020202020204" pitchFamily="34" charset="0"/>
              </a:rPr>
              <a:t>AY 2024 </a:t>
            </a:r>
            <a:r>
              <a:rPr kumimoji="0" lang="en-US" sz="900" b="0" i="0" u="none" strike="noStrike" kern="0" cap="none" spc="0" normalizeH="0" baseline="0" noProof="0" dirty="0">
                <a:ln>
                  <a:noFill/>
                </a:ln>
                <a:solidFill>
                  <a:srgbClr val="0065BD"/>
                </a:solidFill>
                <a:effectLst/>
                <a:uLnTx/>
                <a:uFillTx/>
                <a:latin typeface="Arial" pitchFamily="34" charset="0"/>
                <a:cs typeface="Arial" pitchFamily="34" charset="0"/>
              </a:rPr>
              <a:t>|</a:t>
            </a:r>
            <a:r>
              <a:rPr kumimoji="0" lang="en-US" sz="900" b="0" i="0" u="none" strike="noStrike" kern="0" cap="none" spc="0" normalizeH="0" baseline="0" noProof="0" dirty="0">
                <a:ln>
                  <a:noFill/>
                </a:ln>
                <a:solidFill>
                  <a:srgbClr val="0065BD"/>
                </a:solidFill>
                <a:effectLst/>
                <a:uLnTx/>
                <a:uFillTx/>
                <a:latin typeface="Arial" panose="020B0604020202020204" pitchFamily="34" charset="0"/>
              </a:rPr>
              <a:t> </a:t>
            </a:r>
            <a:fld id="{9E2D9293-14AD-48BB-B030-230B5A633776}" type="slidenum">
              <a:rPr kumimoji="0" lang="en-US" sz="900" b="0" i="0" u="none" strike="noStrike" kern="0" cap="none" spc="0" normalizeH="0" baseline="0" noProof="0" smtClean="0">
                <a:ln>
                  <a:noFill/>
                </a:ln>
                <a:solidFill>
                  <a:srgbClr val="0065BD"/>
                </a:solidFill>
                <a:effectLst/>
                <a:uLnTx/>
                <a:uFillTx/>
                <a:latin typeface="Arial" panose="020B0604020202020204" pitchFamily="34" charset="0"/>
              </a:rPr>
              <a:pPr marL="0" marR="0" lvl="0" indent="0" algn="r" defTabSz="685800" eaLnBrk="1" fontAlgn="auto" latinLnBrk="0" hangingPunct="1">
                <a:lnSpc>
                  <a:spcPct val="100000"/>
                </a:lnSpc>
                <a:spcBef>
                  <a:spcPct val="50000"/>
                </a:spcBef>
                <a:spcAft>
                  <a:spcPts val="0"/>
                </a:spcAft>
                <a:buClrTx/>
                <a:buSzTx/>
                <a:buFontTx/>
                <a:buNone/>
                <a:tabLst/>
                <a:defRPr/>
              </a:pPr>
              <a:t>‹#›</a:t>
            </a:fld>
            <a:endParaRPr kumimoji="0" lang="en-US" sz="900" b="0" i="0" u="none" strike="noStrike" kern="0" cap="none" spc="0" normalizeH="0" baseline="0" noProof="0" dirty="0">
              <a:ln>
                <a:noFill/>
              </a:ln>
              <a:solidFill>
                <a:srgbClr val="0065BD"/>
              </a:solidFill>
              <a:effectLst/>
              <a:uLnTx/>
              <a:uFillTx/>
              <a:latin typeface="Arial" panose="020B0604020202020204" pitchFamily="34" charset="0"/>
            </a:endParaRPr>
          </a:p>
        </p:txBody>
      </p:sp>
      <p:pic>
        <p:nvPicPr>
          <p:cNvPr id="9" name="Picture 2">
            <a:extLst>
              <a:ext uri="{FF2B5EF4-FFF2-40B4-BE49-F238E27FC236}">
                <a16:creationId xmlns:a16="http://schemas.microsoft.com/office/drawing/2014/main" id="{721F18CB-E9AA-4812-A224-00B8628562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26140" y="110638"/>
            <a:ext cx="681144" cy="322394"/>
          </a:xfrm>
          <a:prstGeom prst="rect">
            <a:avLst/>
          </a:prstGeom>
        </p:spPr>
      </p:pic>
    </p:spTree>
    <p:extLst>
      <p:ext uri="{BB962C8B-B14F-4D97-AF65-F5344CB8AC3E}">
        <p14:creationId xmlns:p14="http://schemas.microsoft.com/office/powerpoint/2010/main" val="1496237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78368" y="627988"/>
            <a:ext cx="11228917" cy="432000"/>
          </a:xfrm>
        </p:spPr>
        <p:txBody>
          <a:bodyPr>
            <a:noAutofit/>
          </a:bodyPr>
          <a:lstStyle>
            <a:lvl1pPr>
              <a:lnSpc>
                <a:spcPct val="125000"/>
              </a:lnSpc>
              <a:defRPr sz="1650"/>
            </a:lvl1pPr>
          </a:lstStyle>
          <a:p>
            <a:r>
              <a:rPr lang="en-US" noProof="0" dirty="0"/>
              <a:t>Click to edit Master title style</a:t>
            </a:r>
            <a:endParaRPr lang="de-DE" noProof="0" dirty="0"/>
          </a:p>
        </p:txBody>
      </p:sp>
      <p:sp>
        <p:nvSpPr>
          <p:cNvPr id="3" name="Inhaltsplatzhalter 2"/>
          <p:cNvSpPr>
            <a:spLocks noGrp="1"/>
          </p:cNvSpPr>
          <p:nvPr>
            <p:ph idx="1"/>
          </p:nvPr>
        </p:nvSpPr>
        <p:spPr>
          <a:xfrm>
            <a:off x="478368" y="1134140"/>
            <a:ext cx="11228917" cy="5133460"/>
          </a:xfrm>
        </p:spPr>
        <p:txBody>
          <a:bodyPr>
            <a:normAutofit/>
          </a:bodyPr>
          <a:lstStyle>
            <a:lvl1pPr marL="0" indent="0">
              <a:lnSpc>
                <a:spcPct val="125000"/>
              </a:lnSpc>
              <a:spcBef>
                <a:spcPts val="0"/>
              </a:spcBef>
              <a:buNone/>
              <a:defRPr sz="1500"/>
            </a:lvl1pPr>
            <a:lvl2pPr marL="132160" indent="-132160">
              <a:lnSpc>
                <a:spcPct val="125000"/>
              </a:lnSpc>
              <a:spcBef>
                <a:spcPts val="0"/>
              </a:spcBef>
              <a:buFont typeface="Arial" pitchFamily="34" charset="0"/>
              <a:buChar char="•"/>
              <a:defRPr sz="1500"/>
            </a:lvl2pPr>
            <a:lvl3pPr marL="270272" indent="-138113">
              <a:lnSpc>
                <a:spcPct val="125000"/>
              </a:lnSpc>
              <a:spcBef>
                <a:spcPts val="0"/>
              </a:spcBef>
              <a:buFont typeface="Symbol" pitchFamily="18" charset="2"/>
              <a:buChar char="-"/>
              <a:defRPr sz="1500"/>
            </a:lvl3pPr>
            <a:lvl4pPr marL="403622" indent="-133350">
              <a:lnSpc>
                <a:spcPct val="125000"/>
              </a:lnSpc>
              <a:spcBef>
                <a:spcPts val="0"/>
              </a:spcBef>
              <a:buFont typeface="Symbol" pitchFamily="18" charset="2"/>
              <a:buChar char="-"/>
              <a:defRPr sz="1500"/>
            </a:lvl4pPr>
            <a:lvl5pPr marL="535781" indent="-132160">
              <a:lnSpc>
                <a:spcPct val="125000"/>
              </a:lnSpc>
              <a:spcBef>
                <a:spcPts val="0"/>
              </a:spcBef>
              <a:buFont typeface="Symbol" pitchFamily="18" charset="2"/>
              <a:buChar char="-"/>
              <a:defRPr sz="15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DE" noProof="0"/>
          </a:p>
        </p:txBody>
      </p:sp>
    </p:spTree>
    <p:extLst>
      <p:ext uri="{BB962C8B-B14F-4D97-AF65-F5344CB8AC3E}">
        <p14:creationId xmlns:p14="http://schemas.microsoft.com/office/powerpoint/2010/main" val="2581693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478368" y="485830"/>
            <a:ext cx="11228917" cy="5781770"/>
          </a:xfrm>
        </p:spPr>
        <p:txBody>
          <a:bodyPr>
            <a:normAutofit/>
          </a:bodyPr>
          <a:lstStyle>
            <a:lvl1pPr marL="0" indent="0">
              <a:lnSpc>
                <a:spcPct val="125000"/>
              </a:lnSpc>
              <a:spcBef>
                <a:spcPts val="0"/>
              </a:spcBef>
              <a:buNone/>
              <a:defRPr sz="1600"/>
            </a:lvl1pPr>
            <a:lvl2pPr marL="132160" indent="-132160">
              <a:lnSpc>
                <a:spcPct val="125000"/>
              </a:lnSpc>
              <a:spcBef>
                <a:spcPts val="0"/>
              </a:spcBef>
              <a:buFont typeface="Arial" pitchFamily="34" charset="0"/>
              <a:buChar char="•"/>
              <a:defRPr sz="1600"/>
            </a:lvl2pPr>
            <a:lvl3pPr marL="270272" indent="-138113">
              <a:lnSpc>
                <a:spcPct val="125000"/>
              </a:lnSpc>
              <a:spcBef>
                <a:spcPts val="0"/>
              </a:spcBef>
              <a:buFont typeface="Symbol" pitchFamily="18" charset="2"/>
              <a:buChar char="-"/>
              <a:defRPr sz="1600"/>
            </a:lvl3pPr>
            <a:lvl4pPr marL="403622" indent="-133350">
              <a:lnSpc>
                <a:spcPct val="125000"/>
              </a:lnSpc>
              <a:spcBef>
                <a:spcPts val="0"/>
              </a:spcBef>
              <a:buFont typeface="Symbol" pitchFamily="18" charset="2"/>
              <a:buChar char="-"/>
              <a:defRPr sz="1600"/>
            </a:lvl4pPr>
            <a:lvl5pPr marL="535781" indent="-132160">
              <a:lnSpc>
                <a:spcPct val="125000"/>
              </a:lnSpc>
              <a:spcBef>
                <a:spcPts val="0"/>
              </a:spcBef>
              <a:buFont typeface="Symbol" pitchFamily="18" charset="2"/>
              <a:buChar char="-"/>
              <a:defRPr sz="16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de-DE" noProof="0" dirty="0"/>
          </a:p>
        </p:txBody>
      </p:sp>
      <p:graphicFrame>
        <p:nvGraphicFramePr>
          <p:cNvPr id="4" name="Objekt 3" hidden="1"/>
          <p:cNvGraphicFramePr>
            <a:graphicFrameLocks noChangeAspect="1"/>
          </p:cNvGraphicFramePr>
          <p:nvPr userDrawn="1">
            <p:custDataLst>
              <p:tags r:id="rId2"/>
            </p:custDataLs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spid="_x0000_s2185" name="think-cell Folie" r:id="rId4" imgW="216" imgH="216" progId="TCLayout.ActiveDocument.1">
                  <p:embed/>
                </p:oleObj>
              </mc:Choice>
              <mc:Fallback>
                <p:oleObj name="think-cell Folie" r:id="rId4" imgW="216" imgH="216" progId="TCLayout.ActiveDocument.1">
                  <p:embed/>
                  <p:pic>
                    <p:nvPicPr>
                      <p:cNvPr id="4" name="Objekt 3"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el 1"/>
          <p:cNvSpPr>
            <a:spLocks noGrp="1"/>
          </p:cNvSpPr>
          <p:nvPr>
            <p:ph type="title"/>
          </p:nvPr>
        </p:nvSpPr>
        <p:spPr>
          <a:xfrm>
            <a:off x="478368" y="53830"/>
            <a:ext cx="11228917" cy="432000"/>
          </a:xfrm>
        </p:spPr>
        <p:txBody>
          <a:bodyPr>
            <a:noAutofit/>
          </a:bodyPr>
          <a:lstStyle>
            <a:lvl1pPr>
              <a:lnSpc>
                <a:spcPct val="125000"/>
              </a:lnSpc>
              <a:defRPr sz="1650"/>
            </a:lvl1pPr>
          </a:lstStyle>
          <a:p>
            <a:r>
              <a:rPr lang="de-DE" noProof="0" dirty="0"/>
              <a:t>Click </a:t>
            </a:r>
            <a:r>
              <a:rPr lang="de-DE" noProof="0" dirty="0" err="1"/>
              <a:t>to</a:t>
            </a:r>
            <a:r>
              <a:rPr lang="de-DE" noProof="0" dirty="0"/>
              <a:t> </a:t>
            </a:r>
            <a:r>
              <a:rPr lang="de-DE" noProof="0" dirty="0" err="1"/>
              <a:t>edit</a:t>
            </a:r>
            <a:r>
              <a:rPr lang="de-DE" noProof="0" dirty="0"/>
              <a:t> Master title style</a:t>
            </a:r>
          </a:p>
        </p:txBody>
      </p:sp>
    </p:spTree>
    <p:extLst>
      <p:ext uri="{BB962C8B-B14F-4D97-AF65-F5344CB8AC3E}">
        <p14:creationId xmlns:p14="http://schemas.microsoft.com/office/powerpoint/2010/main" val="381797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77336" y="1828800"/>
            <a:ext cx="10837333" cy="4343400"/>
          </a:xfrm>
        </p:spPr>
        <p:txBody>
          <a:bodyPr/>
          <a:lstStyle>
            <a:lvl1pPr marL="257175" indent="-257175">
              <a:buFont typeface="Wingdings" panose="05000000000000000000" pitchFamily="2" charset="2"/>
              <a:buChar char="§"/>
              <a:defRPr sz="1600">
                <a:solidFill>
                  <a:schemeClr val="tx1">
                    <a:lumMod val="50000"/>
                  </a:schemeClr>
                </a:solidFill>
              </a:defRPr>
            </a:lvl1pPr>
            <a:lvl2pPr>
              <a:defRPr sz="1600">
                <a:solidFill>
                  <a:schemeClr val="tx1">
                    <a:lumMod val="50000"/>
                  </a:schemeClr>
                </a:solidFill>
              </a:defRPr>
            </a:lvl2pPr>
            <a:lvl3pPr>
              <a:defRPr sz="1600">
                <a:solidFill>
                  <a:schemeClr val="tx1">
                    <a:lumMod val="50000"/>
                  </a:schemeClr>
                </a:solidFill>
              </a:defRPr>
            </a:lvl3pPr>
            <a:lvl4pPr>
              <a:defRPr sz="1600">
                <a:solidFill>
                  <a:schemeClr val="tx1">
                    <a:lumMod val="50000"/>
                  </a:schemeClr>
                </a:solidFill>
              </a:defRPr>
            </a:lvl4pPr>
            <a:lvl5pPr>
              <a:defRPr sz="1600">
                <a:solidFill>
                  <a:schemeClr val="tx1">
                    <a:lumMod val="50000"/>
                  </a:schemeClr>
                </a:solidFill>
              </a:defRPr>
            </a:lvl5pPr>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endParaRPr lang="en-US" noProof="0" dirty="0"/>
          </a:p>
        </p:txBody>
      </p:sp>
      <p:sp>
        <p:nvSpPr>
          <p:cNvPr id="2" name="Titel 1"/>
          <p:cNvSpPr>
            <a:spLocks noGrp="1"/>
          </p:cNvSpPr>
          <p:nvPr>
            <p:ph type="title"/>
          </p:nvPr>
        </p:nvSpPr>
        <p:spPr>
          <a:xfrm>
            <a:off x="677336" y="914400"/>
            <a:ext cx="10837333" cy="609600"/>
          </a:xfrm>
        </p:spPr>
        <p:txBody>
          <a:bodyPr/>
          <a:lstStyle>
            <a:lvl1pPr>
              <a:defRPr sz="1800" b="1"/>
            </a:lvl1pPr>
          </a:lstStyle>
          <a:p>
            <a:r>
              <a:rPr lang="de-DE" noProof="0" dirty="0"/>
              <a:t>Titelmasterformat durch Klicken bearbeiten</a:t>
            </a:r>
            <a:endParaRPr lang="en-US" noProof="0" dirty="0"/>
          </a:p>
        </p:txBody>
      </p:sp>
    </p:spTree>
    <p:extLst>
      <p:ext uri="{BB962C8B-B14F-4D97-AF65-F5344CB8AC3E}">
        <p14:creationId xmlns:p14="http://schemas.microsoft.com/office/powerpoint/2010/main" val="399528628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fault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25455" y="927971"/>
            <a:ext cx="11345332" cy="53966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600" noProof="0" dirty="0" smtClean="0"/>
            </a:lvl1pPr>
            <a:lvl2pPr>
              <a:lnSpc>
                <a:spcPct val="114000"/>
              </a:lnSpc>
              <a:defRPr lang="de-DE" sz="1600" noProof="0" dirty="0" smtClean="0"/>
            </a:lvl2pPr>
            <a:lvl3pPr marL="360354" indent="-184145" defTabSz="228594">
              <a:buFont typeface="Wingdings" panose="05000000000000000000" pitchFamily="2" charset="2"/>
              <a:buChar char="Ø"/>
              <a:defRPr sz="16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5" name="Footer Placeholder 4">
            <a:extLst>
              <a:ext uri="{FF2B5EF4-FFF2-40B4-BE49-F238E27FC236}">
                <a16:creationId xmlns:a16="http://schemas.microsoft.com/office/drawing/2014/main" id="{A364F584-FE4D-4FDC-B844-97C68D7F7EDD}"/>
              </a:ext>
            </a:extLst>
          </p:cNvPr>
          <p:cNvSpPr>
            <a:spLocks noGrp="1"/>
          </p:cNvSpPr>
          <p:nvPr>
            <p:ph type="ftr" sz="quarter" idx="10"/>
          </p:nvPr>
        </p:nvSpPr>
        <p:spPr/>
        <p:txBody>
          <a:bodyPr/>
          <a:lstStyle/>
          <a:p>
            <a:r>
              <a:rPr lang="en-US" dirty="0"/>
              <a:t>1.1 System Overview</a:t>
            </a:r>
          </a:p>
        </p:txBody>
      </p:sp>
      <p:sp>
        <p:nvSpPr>
          <p:cNvPr id="7" name="Slide Number Placeholder 6">
            <a:extLst>
              <a:ext uri="{FF2B5EF4-FFF2-40B4-BE49-F238E27FC236}">
                <a16:creationId xmlns:a16="http://schemas.microsoft.com/office/drawing/2014/main" id="{E4C443BC-CC26-4FCA-949F-6BAB690E449E}"/>
              </a:ext>
            </a:extLst>
          </p:cNvPr>
          <p:cNvSpPr>
            <a:spLocks noGrp="1"/>
          </p:cNvSpPr>
          <p:nvPr>
            <p:ph type="sldNum" sz="quarter" idx="11"/>
          </p:nvPr>
        </p:nvSpPr>
        <p:spPr/>
        <p:txBody>
          <a:bodyPr/>
          <a:lstStyle/>
          <a:p>
            <a:pPr algn="ctr"/>
            <a:fld id="{899D276B-7979-48FE-80FC-E571DA85DA8B}" type="slidenum">
              <a:rPr lang="en-US" smtClean="0"/>
              <a:pPr algn="ctr"/>
              <a:t>‹#›</a:t>
            </a:fld>
            <a:endParaRPr lang="en-US" dirty="0"/>
          </a:p>
        </p:txBody>
      </p:sp>
      <p:sp>
        <p:nvSpPr>
          <p:cNvPr id="8" name="Title 7">
            <a:extLst>
              <a:ext uri="{FF2B5EF4-FFF2-40B4-BE49-F238E27FC236}">
                <a16:creationId xmlns:a16="http://schemas.microsoft.com/office/drawing/2014/main" id="{F52392AA-3991-4AC1-A365-D99A5278F98D}"/>
              </a:ext>
            </a:extLst>
          </p:cNvPr>
          <p:cNvSpPr>
            <a:spLocks noGrp="1"/>
          </p:cNvSpPr>
          <p:nvPr>
            <p:ph type="title"/>
          </p:nvPr>
        </p:nvSpPr>
        <p:spPr/>
        <p:txBody>
          <a:bodyPr>
            <a:noAutofit/>
          </a:bodyPr>
          <a:lstStyle>
            <a:lvl1pPr>
              <a:defRPr sz="2500"/>
            </a:lvl1pPr>
          </a:lstStyle>
          <a:p>
            <a:r>
              <a:rPr lang="en-US" dirty="0"/>
              <a:t>Click to edit Master title style</a:t>
            </a:r>
          </a:p>
        </p:txBody>
      </p:sp>
      <p:sp>
        <p:nvSpPr>
          <p:cNvPr id="4" name="Text Placeholder 3">
            <a:extLst>
              <a:ext uri="{FF2B5EF4-FFF2-40B4-BE49-F238E27FC236}">
                <a16:creationId xmlns:a16="http://schemas.microsoft.com/office/drawing/2014/main" id="{F1DFDD4B-9AF6-4E7B-ADDF-77E0D60DE428}"/>
              </a:ext>
            </a:extLst>
          </p:cNvPr>
          <p:cNvSpPr>
            <a:spLocks noGrp="1"/>
          </p:cNvSpPr>
          <p:nvPr>
            <p:ph type="body" sz="quarter" idx="12" hasCustomPrompt="1"/>
          </p:nvPr>
        </p:nvSpPr>
        <p:spPr>
          <a:xfrm>
            <a:off x="9964841" y="6036737"/>
            <a:ext cx="1811867" cy="287867"/>
          </a:xfrm>
          <a:prstGeom prst="rect">
            <a:avLst/>
          </a:prstGeom>
        </p:spPr>
        <p:txBody>
          <a:bodyPr/>
          <a:lstStyle>
            <a:lvl1pPr algn="r">
              <a:defRPr lang="en-US" sz="800" kern="1200" dirty="0" smtClean="0">
                <a:solidFill>
                  <a:schemeClr val="tx1"/>
                </a:solidFill>
                <a:latin typeface="Arial" charset="0"/>
                <a:ea typeface="+mn-ea"/>
                <a:cs typeface="Arial" charset="0"/>
              </a:defRPr>
            </a:lvl1pPr>
          </a:lstStyle>
          <a:p>
            <a:pPr lvl="0"/>
            <a:r>
              <a:rPr lang="en-US" dirty="0"/>
              <a:t>&lt;Source&gt;</a:t>
            </a:r>
          </a:p>
        </p:txBody>
      </p:sp>
    </p:spTree>
    <p:extLst>
      <p:ext uri="{BB962C8B-B14F-4D97-AF65-F5344CB8AC3E}">
        <p14:creationId xmlns:p14="http://schemas.microsoft.com/office/powerpoint/2010/main" val="78680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la Text">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8753C7CB-734A-4C2A-8C7F-715461FB92E0}"/>
              </a:ext>
            </a:extLst>
          </p:cNvPr>
          <p:cNvSpPr>
            <a:spLocks noGrp="1"/>
          </p:cNvSpPr>
          <p:nvPr>
            <p:ph type="body" sz="quarter" idx="12"/>
          </p:nvPr>
        </p:nvSpPr>
        <p:spPr>
          <a:xfrm>
            <a:off x="720000" y="1536000"/>
            <a:ext cx="8616000" cy="4248000"/>
          </a:xfrm>
          <a:prstGeom prst="rect">
            <a:avLst/>
          </a:prstGeom>
        </p:spPr>
        <p:txBody>
          <a:bodyPr lIns="0"/>
          <a:lstStyle>
            <a:lvl1pPr marL="180971" indent="-180971">
              <a:lnSpc>
                <a:spcPct val="100000"/>
              </a:lnSpc>
              <a:buSzPct val="150000"/>
              <a:buFontTx/>
              <a:buBlip>
                <a:blip r:embed="rId2"/>
              </a:buBlip>
              <a:defRPr sz="1800" b="1">
                <a:solidFill>
                  <a:srgbClr val="203864"/>
                </a:solidFill>
                <a:latin typeface="Arial Narrow" panose="020B0606020202030204" pitchFamily="34" charset="0"/>
              </a:defRPr>
            </a:lvl1pPr>
            <a:lvl2pPr marL="357179" indent="-177796">
              <a:lnSpc>
                <a:spcPct val="100000"/>
              </a:lnSpc>
              <a:buSzPct val="75000"/>
              <a:buFont typeface="Wingdings" panose="05000000000000000000" pitchFamily="2" charset="2"/>
              <a:buChar char="§"/>
              <a:defRPr sz="1800">
                <a:solidFill>
                  <a:srgbClr val="203864"/>
                </a:solidFill>
                <a:latin typeface="Arial Narrow" panose="020B0606020202030204" pitchFamily="34" charset="0"/>
              </a:defRPr>
            </a:lvl2pPr>
            <a:lvl3pPr marL="857228" indent="-171446">
              <a:buSzPct val="150000"/>
              <a:buFontTx/>
              <a:buBlip>
                <a:blip r:embed="rId2"/>
              </a:buBlip>
              <a:defRPr sz="1800">
                <a:solidFill>
                  <a:srgbClr val="203864"/>
                </a:solidFill>
                <a:latin typeface="Arial Narrow" panose="020B0606020202030204" pitchFamily="34" charset="0"/>
              </a:defRPr>
            </a:lvl3pPr>
            <a:lvl4pPr marL="1200120" indent="-171446">
              <a:buSzPct val="150000"/>
              <a:buFontTx/>
              <a:buBlip>
                <a:blip r:embed="rId2"/>
              </a:buBlip>
              <a:defRPr sz="1800">
                <a:solidFill>
                  <a:srgbClr val="203864"/>
                </a:solidFill>
                <a:latin typeface="Arial Narrow" panose="020B0606020202030204" pitchFamily="34" charset="0"/>
              </a:defRPr>
            </a:lvl4pPr>
            <a:lvl5pPr marL="1543012" indent="-171446">
              <a:buSzPct val="150000"/>
              <a:buFontTx/>
              <a:buBlip>
                <a:blip r:embed="rId2"/>
              </a:buBlip>
              <a:defRPr sz="1800">
                <a:solidFill>
                  <a:srgbClr val="203864"/>
                </a:solidFill>
                <a:latin typeface="Arial Narrow" panose="020B0606020202030204" pitchFamily="34" charset="0"/>
              </a:defRPr>
            </a:lvl5pPr>
          </a:lstStyle>
          <a:p>
            <a:pPr lvl="0"/>
            <a:r>
              <a:rPr lang="de-DE"/>
              <a:t>Formatvorlagen des Textmasters bearbeiten</a:t>
            </a:r>
          </a:p>
          <a:p>
            <a:pPr lvl="1"/>
            <a:r>
              <a:rPr lang="de-DE"/>
              <a:t>Zweite Ebene</a:t>
            </a:r>
          </a:p>
        </p:txBody>
      </p:sp>
      <p:sp>
        <p:nvSpPr>
          <p:cNvPr id="4" name="Titelplatzhalter 1">
            <a:extLst>
              <a:ext uri="{FF2B5EF4-FFF2-40B4-BE49-F238E27FC236}">
                <a16:creationId xmlns:a16="http://schemas.microsoft.com/office/drawing/2014/main" id="{045CF093-A93A-4D85-88E6-6453C37EEB9F}"/>
              </a:ext>
            </a:extLst>
          </p:cNvPr>
          <p:cNvSpPr>
            <a:spLocks noGrp="1"/>
          </p:cNvSpPr>
          <p:nvPr>
            <p:ph type="title"/>
          </p:nvPr>
        </p:nvSpPr>
        <p:spPr>
          <a:xfrm>
            <a:off x="720003" y="0"/>
            <a:ext cx="8614095" cy="881979"/>
          </a:xfrm>
          <a:prstGeom prst="rect">
            <a:avLst/>
          </a:prstGeom>
          <a:noFill/>
          <a:ln w="9525">
            <a:noFill/>
            <a:miter lim="800000"/>
            <a:headEnd/>
            <a:tailEnd/>
          </a:ln>
        </p:spPr>
        <p:txBody>
          <a:bodyPr>
            <a:noAutofit/>
          </a:bodyPr>
          <a:lstStyle/>
          <a:p>
            <a:pPr lvl="0"/>
            <a:r>
              <a:rPr lang="de-DE"/>
              <a:t>Titelmasterformat durch Klicken bearbeiten</a:t>
            </a:r>
            <a:endParaRPr lang="de-DE" dirty="0"/>
          </a:p>
        </p:txBody>
      </p:sp>
    </p:spTree>
    <p:extLst>
      <p:ext uri="{BB962C8B-B14F-4D97-AF65-F5344CB8AC3E}">
        <p14:creationId xmlns:p14="http://schemas.microsoft.com/office/powerpoint/2010/main" val="68502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nspaliges_Ras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D6AAE5-8080-4726-A077-F2E7020E1A1B}"/>
              </a:ext>
            </a:extLst>
          </p:cNvPr>
          <p:cNvSpPr>
            <a:spLocks noGrp="1"/>
          </p:cNvSpPr>
          <p:nvPr>
            <p:ph type="title"/>
          </p:nvPr>
        </p:nvSpPr>
        <p:spPr>
          <a:xfrm>
            <a:off x="721815" y="0"/>
            <a:ext cx="10752000" cy="851134"/>
          </a:xfrm>
        </p:spPr>
        <p:txBody>
          <a:bodyPr/>
          <a:lstStyle>
            <a:lvl1pPr>
              <a:lnSpc>
                <a:spcPct val="100000"/>
              </a:lnSpc>
              <a:spcAft>
                <a:spcPts val="461"/>
              </a:spcAft>
              <a:defRPr>
                <a:solidFill>
                  <a:schemeClr val="tx1"/>
                </a:solidFill>
              </a:defRPr>
            </a:lvl1pPr>
          </a:lstStyle>
          <a:p>
            <a:r>
              <a:rPr lang="en-US"/>
              <a:t>Click to edit Master title style</a:t>
            </a:r>
            <a:endParaRPr lang="de-DE" dirty="0"/>
          </a:p>
        </p:txBody>
      </p:sp>
      <p:sp>
        <p:nvSpPr>
          <p:cNvPr id="30" name="Inhaltsplatzhalter 23">
            <a:extLst>
              <a:ext uri="{FF2B5EF4-FFF2-40B4-BE49-F238E27FC236}">
                <a16:creationId xmlns:a16="http://schemas.microsoft.com/office/drawing/2014/main" id="{484CD127-A585-4386-B565-BB790A538EC1}"/>
              </a:ext>
            </a:extLst>
          </p:cNvPr>
          <p:cNvSpPr>
            <a:spLocks noGrp="1"/>
          </p:cNvSpPr>
          <p:nvPr>
            <p:ph sz="quarter" idx="14"/>
          </p:nvPr>
        </p:nvSpPr>
        <p:spPr>
          <a:xfrm>
            <a:off x="719999" y="1575923"/>
            <a:ext cx="10752000" cy="4284000"/>
          </a:xfrm>
          <a:prstGeom prst="rect">
            <a:avLst/>
          </a:prstGeom>
        </p:spPr>
        <p:txBody>
          <a:bodyPr lIns="0"/>
          <a:lstStyle>
            <a:lvl1pPr marL="182006" indent="-182006">
              <a:lnSpc>
                <a:spcPct val="100000"/>
              </a:lnSpc>
              <a:spcAft>
                <a:spcPts val="461"/>
              </a:spcAft>
              <a:buSzPct val="115000"/>
              <a:buFontTx/>
              <a:buBlip>
                <a:blip r:embed="rId2"/>
              </a:buBlip>
              <a:defRPr lang="de-DE" sz="2063" b="1" dirty="0" smtClean="0">
                <a:solidFill>
                  <a:schemeClr val="tx1"/>
                </a:solidFill>
                <a:latin typeface="+mn-lt"/>
                <a:ea typeface="+mn-ea"/>
                <a:cs typeface="+mn-cs"/>
              </a:defRPr>
            </a:lvl1pPr>
            <a:lvl2pPr marL="370511" indent="-188506">
              <a:lnSpc>
                <a:spcPct val="100000"/>
              </a:lnSpc>
              <a:spcAft>
                <a:spcPts val="461"/>
              </a:spcAft>
              <a:buClr>
                <a:srgbClr val="537496"/>
              </a:buClr>
              <a:buSzPct val="70000"/>
              <a:buFont typeface="Wingdings" panose="05000000000000000000" pitchFamily="2" charset="2"/>
              <a:buChar char="§"/>
              <a:defRPr lang="de-DE" sz="1875" dirty="0" smtClean="0">
                <a:solidFill>
                  <a:schemeClr val="tx1"/>
                </a:solidFill>
                <a:latin typeface="+mn-lt"/>
                <a:ea typeface="+mn-ea"/>
              </a:defRPr>
            </a:lvl2pPr>
            <a:lvl3pPr marL="0" indent="0">
              <a:lnSpc>
                <a:spcPct val="100000"/>
              </a:lnSpc>
              <a:spcAft>
                <a:spcPts val="461"/>
              </a:spcAft>
              <a:buClr>
                <a:srgbClr val="537496"/>
              </a:buClr>
              <a:buSzPct val="70000"/>
              <a:buFontTx/>
              <a:buNone/>
              <a:defRPr lang="de-DE" sz="1875" b="0" kern="1200" dirty="0" smtClean="0">
                <a:solidFill>
                  <a:schemeClr val="tx1"/>
                </a:solidFill>
                <a:latin typeface="+mn-lt"/>
                <a:ea typeface="+mn-ea"/>
                <a:cs typeface="ＭＳ Ｐゴシック" pitchFamily="-123" charset="-128"/>
              </a:defRPr>
            </a:lvl3pPr>
          </a:lstStyle>
          <a:p>
            <a:pPr lvl="0"/>
            <a:r>
              <a:rPr lang="en-US"/>
              <a:t>Edit Master text styles</a:t>
            </a:r>
          </a:p>
          <a:p>
            <a:pPr lvl="1"/>
            <a:r>
              <a:rPr lang="en-US"/>
              <a:t>Second level</a:t>
            </a:r>
          </a:p>
          <a:p>
            <a:pPr lvl="2"/>
            <a:r>
              <a:rPr lang="en-US"/>
              <a:t>Third level</a:t>
            </a:r>
          </a:p>
        </p:txBody>
      </p:sp>
      <p:sp>
        <p:nvSpPr>
          <p:cNvPr id="18" name="Datumsplatzhalter 3">
            <a:extLst>
              <a:ext uri="{FF2B5EF4-FFF2-40B4-BE49-F238E27FC236}">
                <a16:creationId xmlns:a16="http://schemas.microsoft.com/office/drawing/2014/main" id="{AF762AEC-813C-420A-8575-6EE049177796}"/>
              </a:ext>
            </a:extLst>
          </p:cNvPr>
          <p:cNvSpPr>
            <a:spLocks noGrp="1"/>
          </p:cNvSpPr>
          <p:nvPr>
            <p:ph type="dt" sz="half" idx="2"/>
          </p:nvPr>
        </p:nvSpPr>
        <p:spPr>
          <a:xfrm>
            <a:off x="2526082" y="6396572"/>
            <a:ext cx="856068" cy="312035"/>
          </a:xfrm>
          <a:prstGeom prst="rect">
            <a:avLst/>
          </a:prstGeom>
        </p:spPr>
        <p:txBody>
          <a:bodyPr vert="horz" lIns="0" tIns="0" rIns="0" bIns="0" rtlCol="0" anchor="ctr"/>
          <a:lstStyle>
            <a:lvl1pPr algn="ctr" eaLnBrk="1" hangingPunct="1">
              <a:defRPr sz="750" b="0">
                <a:solidFill>
                  <a:schemeClr val="tx1"/>
                </a:solidFill>
                <a:latin typeface="+mn-lt"/>
                <a:ea typeface="ＭＳ Ｐゴシック" pitchFamily="-123" charset="-128"/>
                <a:cs typeface="ＭＳ Ｐゴシック" pitchFamily="-123" charset="-128"/>
              </a:defRPr>
            </a:lvl1pPr>
          </a:lstStyle>
          <a:p>
            <a:pPr>
              <a:defRPr/>
            </a:pPr>
            <a:r>
              <a:rPr lang="de-DE" dirty="0"/>
              <a:t>13.10.2022</a:t>
            </a:r>
            <a:endParaRPr lang="en-GB" dirty="0"/>
          </a:p>
        </p:txBody>
      </p:sp>
      <p:sp>
        <p:nvSpPr>
          <p:cNvPr id="19" name="Fußzeilenplatzhalter 4">
            <a:extLst>
              <a:ext uri="{FF2B5EF4-FFF2-40B4-BE49-F238E27FC236}">
                <a16:creationId xmlns:a16="http://schemas.microsoft.com/office/drawing/2014/main" id="{C6ABA3E9-F0FD-4DD5-843E-FDCFADBBCF7D}"/>
              </a:ext>
            </a:extLst>
          </p:cNvPr>
          <p:cNvSpPr>
            <a:spLocks noGrp="1"/>
          </p:cNvSpPr>
          <p:nvPr>
            <p:ph type="ftr" sz="quarter" idx="3"/>
          </p:nvPr>
        </p:nvSpPr>
        <p:spPr>
          <a:xfrm>
            <a:off x="3471640" y="6396571"/>
            <a:ext cx="3608917" cy="312035"/>
          </a:xfrm>
          <a:prstGeom prst="rect">
            <a:avLst/>
          </a:prstGeom>
        </p:spPr>
        <p:txBody>
          <a:bodyPr vert="horz" lIns="0" tIns="0" rIns="0" bIns="0" rtlCol="0" anchor="ctr"/>
          <a:lstStyle>
            <a:lvl1pPr algn="l" eaLnBrk="1" hangingPunct="1">
              <a:defRPr sz="750" b="0" dirty="0">
                <a:solidFill>
                  <a:schemeClr val="tx1"/>
                </a:solidFill>
                <a:latin typeface="+mn-lt"/>
                <a:ea typeface="ＭＳ Ｐゴシック" pitchFamily="-123" charset="-128"/>
                <a:cs typeface="ＭＳ Ｐゴシック" pitchFamily="-123" charset="-128"/>
              </a:defRPr>
            </a:lvl1pPr>
          </a:lstStyle>
          <a:p>
            <a:pPr>
              <a:defRPr/>
            </a:pPr>
            <a:r>
              <a:rPr lang="en-GB" dirty="0"/>
              <a:t>Scenario Analysis - Transition to Climate Neutrality</a:t>
            </a:r>
          </a:p>
        </p:txBody>
      </p:sp>
    </p:spTree>
    <p:extLst>
      <p:ext uri="{BB962C8B-B14F-4D97-AF65-F5344CB8AC3E}">
        <p14:creationId xmlns:p14="http://schemas.microsoft.com/office/powerpoint/2010/main" val="1096351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spaltiges_Raster_2_Fe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D6AAE5-8080-4726-A077-F2E7020E1A1B}"/>
              </a:ext>
            </a:extLst>
          </p:cNvPr>
          <p:cNvSpPr>
            <a:spLocks noGrp="1"/>
          </p:cNvSpPr>
          <p:nvPr>
            <p:ph type="title"/>
          </p:nvPr>
        </p:nvSpPr>
        <p:spPr>
          <a:xfrm>
            <a:off x="721815" y="0"/>
            <a:ext cx="10752000" cy="851134"/>
          </a:xfrm>
        </p:spPr>
        <p:txBody>
          <a:bodyPr/>
          <a:lstStyle>
            <a:lvl1pPr>
              <a:lnSpc>
                <a:spcPct val="100000"/>
              </a:lnSpc>
              <a:spcAft>
                <a:spcPts val="461"/>
              </a:spcAft>
              <a:defRPr>
                <a:solidFill>
                  <a:schemeClr val="tx1"/>
                </a:solidFill>
              </a:defRPr>
            </a:lvl1pPr>
          </a:lstStyle>
          <a:p>
            <a:r>
              <a:rPr lang="en-US"/>
              <a:t>Click to edit Master title style</a:t>
            </a:r>
            <a:endParaRPr lang="de-DE" dirty="0"/>
          </a:p>
        </p:txBody>
      </p:sp>
      <p:sp>
        <p:nvSpPr>
          <p:cNvPr id="7" name="Inhaltsplatzhalter 23">
            <a:extLst>
              <a:ext uri="{FF2B5EF4-FFF2-40B4-BE49-F238E27FC236}">
                <a16:creationId xmlns:a16="http://schemas.microsoft.com/office/drawing/2014/main" id="{0CF09C69-40D8-484B-9E54-73833049F0CE}"/>
              </a:ext>
            </a:extLst>
          </p:cNvPr>
          <p:cNvSpPr>
            <a:spLocks noGrp="1"/>
          </p:cNvSpPr>
          <p:nvPr>
            <p:ph sz="quarter" idx="19"/>
          </p:nvPr>
        </p:nvSpPr>
        <p:spPr>
          <a:xfrm>
            <a:off x="719999" y="1608291"/>
            <a:ext cx="5136000" cy="4292976"/>
          </a:xfrm>
          <a:prstGeom prst="rect">
            <a:avLst/>
          </a:prstGeom>
        </p:spPr>
        <p:txBody>
          <a:bodyPr lIns="0"/>
          <a:lstStyle>
            <a:lvl1pPr marL="138942" indent="-138942">
              <a:lnSpc>
                <a:spcPct val="100000"/>
              </a:lnSpc>
              <a:spcAft>
                <a:spcPts val="461"/>
              </a:spcAft>
              <a:buSzPct val="115000"/>
              <a:buFontTx/>
              <a:buBlip>
                <a:blip r:embed="rId2"/>
              </a:buBlip>
              <a:defRPr lang="de-DE" sz="1875" b="1" dirty="0" smtClean="0">
                <a:solidFill>
                  <a:schemeClr val="tx1"/>
                </a:solidFill>
                <a:latin typeface="+mn-lt"/>
                <a:ea typeface="+mn-ea"/>
                <a:cs typeface="+mn-cs"/>
              </a:defRPr>
            </a:lvl1pPr>
            <a:lvl2pPr marL="277885" indent="-141380">
              <a:lnSpc>
                <a:spcPct val="100000"/>
              </a:lnSpc>
              <a:spcAft>
                <a:spcPts val="461"/>
              </a:spcAft>
              <a:buClr>
                <a:srgbClr val="537496"/>
              </a:buClr>
              <a:buSzPct val="70000"/>
              <a:buFont typeface="Wingdings" panose="05000000000000000000" pitchFamily="2" charset="2"/>
              <a:buChar char="§"/>
              <a:defRPr lang="de-DE" sz="1650" dirty="0" smtClean="0">
                <a:solidFill>
                  <a:schemeClr val="tx1"/>
                </a:solidFill>
                <a:latin typeface="+mn-lt"/>
                <a:ea typeface="+mn-ea"/>
              </a:defRPr>
            </a:lvl2pPr>
            <a:lvl3pPr marL="0" indent="0">
              <a:lnSpc>
                <a:spcPct val="100000"/>
              </a:lnSpc>
              <a:spcAft>
                <a:spcPts val="461"/>
              </a:spcAft>
              <a:buClr>
                <a:srgbClr val="537496"/>
              </a:buClr>
              <a:buSzPct val="70000"/>
              <a:buFontTx/>
              <a:buNone/>
              <a:defRPr lang="de-DE" sz="1650" b="0" kern="1200" dirty="0" smtClean="0">
                <a:solidFill>
                  <a:schemeClr val="tx1"/>
                </a:solidFill>
                <a:latin typeface="+mn-lt"/>
                <a:ea typeface="+mn-ea"/>
                <a:cs typeface="ＭＳ Ｐゴシック" pitchFamily="-123" charset="-128"/>
              </a:defRPr>
            </a:lvl3pPr>
          </a:lstStyle>
          <a:p>
            <a:pPr lvl="0"/>
            <a:r>
              <a:rPr lang="en-US"/>
              <a:t>Edit Master text styles</a:t>
            </a:r>
          </a:p>
          <a:p>
            <a:pPr lvl="1"/>
            <a:r>
              <a:rPr lang="en-US"/>
              <a:t>Second level</a:t>
            </a:r>
          </a:p>
          <a:p>
            <a:pPr lvl="2"/>
            <a:r>
              <a:rPr lang="en-US"/>
              <a:t>Third level</a:t>
            </a:r>
          </a:p>
        </p:txBody>
      </p:sp>
      <p:sp>
        <p:nvSpPr>
          <p:cNvPr id="8" name="Inhaltsplatzhalter 23">
            <a:extLst>
              <a:ext uri="{FF2B5EF4-FFF2-40B4-BE49-F238E27FC236}">
                <a16:creationId xmlns:a16="http://schemas.microsoft.com/office/drawing/2014/main" id="{EB03C471-04B0-465B-AA4D-985CB0D6BC9D}"/>
              </a:ext>
            </a:extLst>
          </p:cNvPr>
          <p:cNvSpPr>
            <a:spLocks noGrp="1"/>
          </p:cNvSpPr>
          <p:nvPr>
            <p:ph sz="quarter" idx="20"/>
          </p:nvPr>
        </p:nvSpPr>
        <p:spPr>
          <a:xfrm>
            <a:off x="6384032" y="1608291"/>
            <a:ext cx="5136000" cy="4292976"/>
          </a:xfrm>
          <a:prstGeom prst="rect">
            <a:avLst/>
          </a:prstGeom>
        </p:spPr>
        <p:txBody>
          <a:bodyPr lIns="0"/>
          <a:lstStyle>
            <a:lvl1pPr marL="138942" indent="-138942">
              <a:lnSpc>
                <a:spcPct val="100000"/>
              </a:lnSpc>
              <a:spcAft>
                <a:spcPts val="461"/>
              </a:spcAft>
              <a:buSzPct val="115000"/>
              <a:buFontTx/>
              <a:buBlip>
                <a:blip r:embed="rId2"/>
              </a:buBlip>
              <a:defRPr lang="de-DE" sz="1875" b="1" dirty="0" smtClean="0">
                <a:solidFill>
                  <a:schemeClr val="tx1"/>
                </a:solidFill>
                <a:latin typeface="+mn-lt"/>
                <a:ea typeface="+mn-ea"/>
                <a:cs typeface="+mn-cs"/>
              </a:defRPr>
            </a:lvl1pPr>
            <a:lvl2pPr marL="277885" indent="-141380">
              <a:lnSpc>
                <a:spcPct val="100000"/>
              </a:lnSpc>
              <a:spcAft>
                <a:spcPts val="461"/>
              </a:spcAft>
              <a:buClr>
                <a:srgbClr val="537496"/>
              </a:buClr>
              <a:buSzPct val="70000"/>
              <a:buFont typeface="Wingdings" panose="05000000000000000000" pitchFamily="2" charset="2"/>
              <a:buChar char="§"/>
              <a:defRPr lang="de-DE" sz="1650" dirty="0" smtClean="0">
                <a:solidFill>
                  <a:schemeClr val="tx1"/>
                </a:solidFill>
                <a:latin typeface="+mn-lt"/>
                <a:ea typeface="+mn-ea"/>
              </a:defRPr>
            </a:lvl2pPr>
            <a:lvl3pPr marL="0" indent="0">
              <a:lnSpc>
                <a:spcPct val="100000"/>
              </a:lnSpc>
              <a:spcAft>
                <a:spcPts val="461"/>
              </a:spcAft>
              <a:buClr>
                <a:srgbClr val="537496"/>
              </a:buClr>
              <a:buSzPct val="70000"/>
              <a:buFontTx/>
              <a:buNone/>
              <a:defRPr lang="de-DE" sz="1650" b="0" kern="1200" dirty="0" smtClean="0">
                <a:solidFill>
                  <a:schemeClr val="tx1"/>
                </a:solidFill>
                <a:latin typeface="+mn-lt"/>
                <a:ea typeface="+mn-ea"/>
                <a:cs typeface="ＭＳ Ｐゴシック" pitchFamily="-123" charset="-128"/>
              </a:defRPr>
            </a:lvl3pPr>
          </a:lstStyle>
          <a:p>
            <a:pPr lvl="0"/>
            <a:r>
              <a:rPr lang="en-US"/>
              <a:t>Edit Master text styles</a:t>
            </a:r>
          </a:p>
          <a:p>
            <a:pPr lvl="1"/>
            <a:r>
              <a:rPr lang="en-US"/>
              <a:t>Second level</a:t>
            </a:r>
          </a:p>
          <a:p>
            <a:pPr lvl="2"/>
            <a:r>
              <a:rPr lang="en-US"/>
              <a:t>Third level</a:t>
            </a:r>
          </a:p>
        </p:txBody>
      </p:sp>
      <p:sp>
        <p:nvSpPr>
          <p:cNvPr id="18" name="Datumsplatzhalter 3">
            <a:extLst>
              <a:ext uri="{FF2B5EF4-FFF2-40B4-BE49-F238E27FC236}">
                <a16:creationId xmlns:a16="http://schemas.microsoft.com/office/drawing/2014/main" id="{7C2D765F-D6FE-49A3-B212-4515A2EAF404}"/>
              </a:ext>
            </a:extLst>
          </p:cNvPr>
          <p:cNvSpPr>
            <a:spLocks noGrp="1"/>
          </p:cNvSpPr>
          <p:nvPr>
            <p:ph type="dt" sz="half" idx="2"/>
          </p:nvPr>
        </p:nvSpPr>
        <p:spPr>
          <a:xfrm>
            <a:off x="2526082" y="6396572"/>
            <a:ext cx="856068" cy="312035"/>
          </a:xfrm>
          <a:prstGeom prst="rect">
            <a:avLst/>
          </a:prstGeom>
        </p:spPr>
        <p:txBody>
          <a:bodyPr vert="horz" lIns="0" tIns="0" rIns="0" bIns="0" rtlCol="0" anchor="ctr"/>
          <a:lstStyle>
            <a:lvl1pPr algn="ctr" eaLnBrk="1" hangingPunct="1">
              <a:defRPr sz="750" b="0">
                <a:solidFill>
                  <a:schemeClr val="tx1"/>
                </a:solidFill>
                <a:latin typeface="+mn-lt"/>
                <a:ea typeface="ＭＳ Ｐゴシック" pitchFamily="-123" charset="-128"/>
                <a:cs typeface="ＭＳ Ｐゴシック" pitchFamily="-123" charset="-128"/>
              </a:defRPr>
            </a:lvl1pPr>
          </a:lstStyle>
          <a:p>
            <a:pPr>
              <a:defRPr/>
            </a:pPr>
            <a:r>
              <a:rPr lang="de-DE" dirty="0"/>
              <a:t>13.10.2022</a:t>
            </a:r>
            <a:endParaRPr lang="en-GB" dirty="0"/>
          </a:p>
        </p:txBody>
      </p:sp>
      <p:sp>
        <p:nvSpPr>
          <p:cNvPr id="19" name="Fußzeilenplatzhalter 4">
            <a:extLst>
              <a:ext uri="{FF2B5EF4-FFF2-40B4-BE49-F238E27FC236}">
                <a16:creationId xmlns:a16="http://schemas.microsoft.com/office/drawing/2014/main" id="{78E75FA6-2E44-456C-82CC-1FCA526AF525}"/>
              </a:ext>
            </a:extLst>
          </p:cNvPr>
          <p:cNvSpPr>
            <a:spLocks noGrp="1"/>
          </p:cNvSpPr>
          <p:nvPr>
            <p:ph type="ftr" sz="quarter" idx="3"/>
          </p:nvPr>
        </p:nvSpPr>
        <p:spPr>
          <a:xfrm>
            <a:off x="3471640" y="6396571"/>
            <a:ext cx="3608917" cy="312035"/>
          </a:xfrm>
          <a:prstGeom prst="rect">
            <a:avLst/>
          </a:prstGeom>
        </p:spPr>
        <p:txBody>
          <a:bodyPr vert="horz" lIns="0" tIns="0" rIns="0" bIns="0" rtlCol="0" anchor="ctr"/>
          <a:lstStyle>
            <a:lvl1pPr algn="l" eaLnBrk="1" hangingPunct="1">
              <a:defRPr sz="750" b="0" dirty="0">
                <a:solidFill>
                  <a:schemeClr val="tx1"/>
                </a:solidFill>
                <a:latin typeface="+mn-lt"/>
                <a:ea typeface="ＭＳ Ｐゴシック" pitchFamily="-123" charset="-128"/>
                <a:cs typeface="ＭＳ Ｐゴシック" pitchFamily="-123" charset="-128"/>
              </a:defRPr>
            </a:lvl1pPr>
          </a:lstStyle>
          <a:p>
            <a:pPr>
              <a:defRPr/>
            </a:pPr>
            <a:r>
              <a:rPr lang="en-GB" dirty="0"/>
              <a:t>Scenario Analysis - Transition to Climate Neutrality</a:t>
            </a:r>
          </a:p>
        </p:txBody>
      </p:sp>
    </p:spTree>
    <p:extLst>
      <p:ext uri="{BB962C8B-B14F-4D97-AF65-F5344CB8AC3E}">
        <p14:creationId xmlns:p14="http://schemas.microsoft.com/office/powerpoint/2010/main" val="1291114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9" y="1152000"/>
            <a:ext cx="11484000" cy="3726000"/>
          </a:xfrm>
          <a:prstGeom prst="rect">
            <a:avLst/>
          </a:prstGeom>
        </p:spPr>
        <p:txBody>
          <a:bodyPr lIns="0" tIns="0" rIns="0" bIns="0"/>
          <a:lstStyle>
            <a:lvl1pPr marL="161921" indent="-161921">
              <a:buFont typeface="Wingdings" panose="05000000000000000000" pitchFamily="2" charset="2"/>
              <a:buChar char="§"/>
              <a:defRPr sz="1600"/>
            </a:lvl1pPr>
            <a:lvl2pPr>
              <a:defRPr sz="1600"/>
            </a:lvl2pPr>
            <a:lvl3pPr>
              <a:defRPr sz="1600"/>
            </a:lvl3pPr>
            <a:lvl4pPr>
              <a:defRPr sz="1600"/>
            </a:lvl4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1500" b="1">
                <a:solidFill>
                  <a:schemeClr val="tx2"/>
                </a:solidFill>
              </a:defRPr>
            </a:lvl1pPr>
          </a:lstStyle>
          <a:p>
            <a:r>
              <a:rPr lang="de-DE"/>
              <a:t>Titelmasterformat durch Klicken bearbeiten</a:t>
            </a:r>
            <a:endParaRPr lang="en-US" dirty="0"/>
          </a:p>
        </p:txBody>
      </p:sp>
      <p:sp>
        <p:nvSpPr>
          <p:cNvPr id="4" name="Footer Placeholder 4"/>
          <p:cNvSpPr>
            <a:spLocks noGrp="1"/>
          </p:cNvSpPr>
          <p:nvPr>
            <p:ph type="ftr" sz="quarter" idx="3"/>
          </p:nvPr>
        </p:nvSpPr>
        <p:spPr>
          <a:xfrm>
            <a:off x="287340" y="6227768"/>
            <a:ext cx="731837" cy="396875"/>
          </a:xfrm>
          <a:prstGeom prst="rect">
            <a:avLst/>
          </a:prstGeom>
        </p:spPr>
        <p:txBody>
          <a:bodyPr vert="horz" lIns="0" tIns="0" rIns="0" bIns="0" rtlCol="0" anchor="t" anchorCtr="0"/>
          <a:lstStyle>
            <a:lvl1pPr algn="l" eaLnBrk="1" fontAlgn="auto" hangingPunct="1">
              <a:spcBef>
                <a:spcPts val="0"/>
              </a:spcBef>
              <a:spcAft>
                <a:spcPts val="0"/>
              </a:spcAft>
              <a:defRPr sz="675" dirty="0">
                <a:solidFill>
                  <a:schemeClr val="tx2"/>
                </a:solidFill>
                <a:latin typeface="+mn-lt"/>
              </a:defRPr>
            </a:lvl1pPr>
          </a:lstStyle>
          <a:p>
            <a:pPr>
              <a:defRPr/>
            </a:pPr>
            <a:endParaRPr lang="de-DE" dirty="0"/>
          </a:p>
        </p:txBody>
      </p:sp>
    </p:spTree>
    <p:extLst>
      <p:ext uri="{BB962C8B-B14F-4D97-AF65-F5344CB8AC3E}">
        <p14:creationId xmlns:p14="http://schemas.microsoft.com/office/powerpoint/2010/main" val="1787837746"/>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512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8" y="1684800"/>
            <a:ext cx="11484000" cy="3193200"/>
          </a:xfrm>
          <a:prstGeom prst="rect">
            <a:avLst/>
          </a:prstGeom>
        </p:spPr>
        <p:txBody>
          <a:bodyPr lIns="0" tIns="0" rIns="0" bIns="0"/>
          <a:lstStyle>
            <a:lvl1pPr>
              <a:defRPr sz="1600"/>
            </a:lvl1pPr>
            <a:lvl2pPr>
              <a:defRPr sz="1600"/>
            </a:lvl2pPr>
            <a:lvl3pPr>
              <a:defRPr sz="1600"/>
            </a:lvl3pPr>
            <a:lvl4pPr>
              <a:defRPr sz="1600"/>
            </a:lvl4p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sp>
        <p:nvSpPr>
          <p:cNvPr id="6"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7" name="Footer Placeholder 4"/>
          <p:cNvSpPr>
            <a:spLocks noGrp="1"/>
          </p:cNvSpPr>
          <p:nvPr>
            <p:ph type="ftr" sz="quarter" idx="3"/>
          </p:nvPr>
        </p:nvSpPr>
        <p:spPr>
          <a:xfrm>
            <a:off x="287338" y="6227763"/>
            <a:ext cx="731837" cy="396875"/>
          </a:xfrm>
          <a:prstGeom prst="rect">
            <a:avLst/>
          </a:prstGeom>
        </p:spPr>
        <p:txBody>
          <a:bodyPr vert="horz" lIns="0" tIns="0" rIns="0" bIns="0" rtlCol="0" anchor="t" anchorCtr="0"/>
          <a:lstStyle>
            <a:lvl1pPr algn="l" eaLnBrk="1" fontAlgn="auto" hangingPunct="1">
              <a:spcBef>
                <a:spcPts val="0"/>
              </a:spcBef>
              <a:spcAft>
                <a:spcPts val="0"/>
              </a:spcAft>
              <a:defRPr sz="900" dirty="0">
                <a:solidFill>
                  <a:schemeClr val="tx2"/>
                </a:solidFill>
                <a:latin typeface="+mn-lt"/>
              </a:defRPr>
            </a:lvl1pPr>
          </a:lstStyle>
          <a:p>
            <a:pPr>
              <a:defRPr/>
            </a:pPr>
            <a:endParaRPr lang="de-DE" dirty="0"/>
          </a:p>
        </p:txBody>
      </p:sp>
    </p:spTree>
    <p:extLst>
      <p:ext uri="{BB962C8B-B14F-4D97-AF65-F5344CB8AC3E}">
        <p14:creationId xmlns:p14="http://schemas.microsoft.com/office/powerpoint/2010/main" val="3035407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1_Titelfolie">
    <p:bg>
      <p:bgPr>
        <a:solidFill>
          <a:schemeClr val="bg1"/>
        </a:solidFill>
        <a:effectLst/>
      </p:bgPr>
    </p:bg>
    <p:spTree>
      <p:nvGrpSpPr>
        <p:cNvPr id="1" name=""/>
        <p:cNvGrpSpPr/>
        <p:nvPr/>
      </p:nvGrpSpPr>
      <p:grpSpPr>
        <a:xfrm>
          <a:off x="0" y="0"/>
          <a:ext cx="0" cy="0"/>
          <a:chOff x="0" y="0"/>
          <a:chExt cx="0" cy="0"/>
        </a:xfrm>
      </p:grpSpPr>
      <p:sp>
        <p:nvSpPr>
          <p:cNvPr id="8194" name="Titelplatzhalter 1"/>
          <p:cNvSpPr>
            <a:spLocks noGrp="1"/>
          </p:cNvSpPr>
          <p:nvPr>
            <p:ph type="ctrTitle"/>
          </p:nvPr>
        </p:nvSpPr>
        <p:spPr>
          <a:xfrm>
            <a:off x="478367" y="2130426"/>
            <a:ext cx="11228917" cy="1470025"/>
          </a:xfrm>
        </p:spPr>
        <p:txBody>
          <a:bodyPr/>
          <a:lstStyle>
            <a:lvl1pPr>
              <a:defRPr sz="3200" smtClean="0">
                <a:solidFill>
                  <a:srgbClr val="0065BD"/>
                </a:solidFill>
              </a:defRPr>
            </a:lvl1pPr>
          </a:lstStyle>
          <a:p>
            <a:r>
              <a:rPr lang="en-US" noProof="0" dirty="0"/>
              <a:t>Click to edit Master title style</a:t>
            </a:r>
          </a:p>
        </p:txBody>
      </p:sp>
      <p:sp>
        <p:nvSpPr>
          <p:cNvPr id="8195" name="Textplatzhalter 2"/>
          <p:cNvSpPr>
            <a:spLocks noGrp="1"/>
          </p:cNvSpPr>
          <p:nvPr>
            <p:ph type="subTitle" idx="1"/>
          </p:nvPr>
        </p:nvSpPr>
        <p:spPr>
          <a:xfrm>
            <a:off x="478367" y="3886200"/>
            <a:ext cx="11228917" cy="1752600"/>
          </a:xfrm>
        </p:spPr>
        <p:txBody>
          <a:bodyPr/>
          <a:lstStyle>
            <a:lvl1pPr>
              <a:defRPr sz="2000" smtClean="0">
                <a:solidFill>
                  <a:schemeClr val="tx1"/>
                </a:solidFill>
              </a:defRPr>
            </a:lvl1pPr>
          </a:lstStyle>
          <a:p>
            <a:r>
              <a:rPr lang="en-US" noProof="0" dirty="0"/>
              <a:t>Click to edit Master subtitle style</a:t>
            </a:r>
          </a:p>
        </p:txBody>
      </p:sp>
      <p:cxnSp>
        <p:nvCxnSpPr>
          <p:cNvPr id="14" name="Straight Connector 13"/>
          <p:cNvCxnSpPr/>
          <p:nvPr userDrawn="1"/>
        </p:nvCxnSpPr>
        <p:spPr bwMode="auto">
          <a:xfrm flipV="1">
            <a:off x="0" y="471056"/>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cxnSp>
        <p:nvCxnSpPr>
          <p:cNvPr id="15" name="Straight Connector 14"/>
          <p:cNvCxnSpPr/>
          <p:nvPr userDrawn="1"/>
        </p:nvCxnSpPr>
        <p:spPr bwMode="auto">
          <a:xfrm flipV="1">
            <a:off x="0" y="6400824"/>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sp>
        <p:nvSpPr>
          <p:cNvPr id="21" name="Text Box 18"/>
          <p:cNvSpPr txBox="1">
            <a:spLocks noChangeArrowheads="1"/>
          </p:cNvSpPr>
          <p:nvPr userDrawn="1"/>
        </p:nvSpPr>
        <p:spPr bwMode="auto">
          <a:xfrm>
            <a:off x="478368" y="6493158"/>
            <a:ext cx="9326033" cy="276999"/>
          </a:xfrm>
          <a:prstGeom prst="rect">
            <a:avLst/>
          </a:prstGeom>
          <a:noFill/>
          <a:ln w="9525">
            <a:noFill/>
            <a:miter lim="800000"/>
            <a:headEnd/>
            <a:tailEnd/>
          </a:ln>
          <a:effectLst/>
        </p:spPr>
        <p:txBody>
          <a:bodyPr wrap="square">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dirty="0">
                <a:ln>
                  <a:noFill/>
                </a:ln>
                <a:solidFill>
                  <a:srgbClr val="0065BD"/>
                </a:solidFill>
                <a:effectLst/>
                <a:uLnTx/>
                <a:uFillTx/>
                <a:latin typeface="Arial" pitchFamily="34" charset="0"/>
                <a:cs typeface="Arial" pitchFamily="34" charset="0"/>
              </a:rPr>
              <a:t>Aircraft Design Advanced </a:t>
            </a:r>
            <a:r>
              <a:rPr kumimoji="0" lang="en-US" sz="1200" b="0" i="0" u="none" strike="noStrike" kern="0" cap="none" spc="0" normalizeH="0" baseline="0" noProof="0" dirty="0">
                <a:ln>
                  <a:noFill/>
                </a:ln>
                <a:solidFill>
                  <a:srgbClr val="0065BD"/>
                </a:solidFill>
                <a:effectLst/>
                <a:uLnTx/>
                <a:uFillTx/>
                <a:latin typeface="Arial" pitchFamily="34" charset="0"/>
                <a:cs typeface="Arial" pitchFamily="34" charset="0"/>
              </a:rPr>
              <a:t>| Taneri</a:t>
            </a:r>
          </a:p>
        </p:txBody>
      </p:sp>
      <p:sp>
        <p:nvSpPr>
          <p:cNvPr id="22" name="Text Box 23"/>
          <p:cNvSpPr txBox="1">
            <a:spLocks noChangeArrowheads="1"/>
          </p:cNvSpPr>
          <p:nvPr userDrawn="1"/>
        </p:nvSpPr>
        <p:spPr bwMode="auto">
          <a:xfrm>
            <a:off x="8456084" y="6493158"/>
            <a:ext cx="3251200" cy="276999"/>
          </a:xfrm>
          <a:prstGeom prst="rect">
            <a:avLst/>
          </a:prstGeom>
          <a:noFill/>
          <a:ln w="9525">
            <a:noFill/>
            <a:miter lim="800000"/>
            <a:headEnd/>
            <a:tailEnd/>
          </a:ln>
          <a:effectLst/>
        </p:spPr>
        <p:txBody>
          <a:bodyPr wrap="square" lIns="0" rIns="0" anchor="b">
            <a:spAutoFit/>
          </a:bodyP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rgbClr val="0065BD"/>
                </a:solidFill>
                <a:effectLst/>
                <a:uLnTx/>
                <a:uFillTx/>
                <a:latin typeface="Arial" panose="020B0604020202020204" pitchFamily="34" charset="0"/>
              </a:rPr>
              <a:t>AY 2025 </a:t>
            </a:r>
            <a:r>
              <a:rPr kumimoji="0" lang="en-US" sz="1200" b="0" i="0" u="none" strike="noStrike" kern="0" cap="none" spc="0" normalizeH="0" baseline="0" noProof="0" dirty="0">
                <a:ln>
                  <a:noFill/>
                </a:ln>
                <a:solidFill>
                  <a:srgbClr val="0065BD"/>
                </a:solidFill>
                <a:effectLst/>
                <a:uLnTx/>
                <a:uFillTx/>
                <a:latin typeface="Arial" pitchFamily="34" charset="0"/>
                <a:cs typeface="Arial" pitchFamily="34" charset="0"/>
              </a:rPr>
              <a:t>|</a:t>
            </a:r>
            <a:r>
              <a:rPr kumimoji="0" lang="en-US" sz="1200" b="0" i="0" u="none" strike="noStrike" kern="0" cap="none" spc="0" normalizeH="0" baseline="0" noProof="0" dirty="0">
                <a:ln>
                  <a:noFill/>
                </a:ln>
                <a:solidFill>
                  <a:srgbClr val="0065BD"/>
                </a:solidFill>
                <a:effectLst/>
                <a:uLnTx/>
                <a:uFillTx/>
                <a:latin typeface="Arial" panose="020B0604020202020204" pitchFamily="34" charset="0"/>
              </a:rPr>
              <a:t> </a:t>
            </a:r>
            <a:fld id="{9E2D9293-14AD-48BB-B030-230B5A633776}" type="slidenum">
              <a:rPr kumimoji="0" lang="en-US" sz="1200" b="0" i="0" u="none" strike="noStrike" kern="0" cap="none" spc="0" normalizeH="0" baseline="0" noProof="0" smtClean="0">
                <a:ln>
                  <a:noFill/>
                </a:ln>
                <a:solidFill>
                  <a:srgbClr val="0065BD"/>
                </a:solidFill>
                <a:effectLst/>
                <a:uLnTx/>
                <a:uFillTx/>
                <a:latin typeface="Arial" panose="020B0604020202020204" pitchFamily="34" charset="0"/>
              </a:rPr>
              <a:pPr marL="0" marR="0" lvl="0" indent="0" algn="r" defTabSz="914400" eaLnBrk="1" fontAlgn="auto" latinLnBrk="0" hangingPunct="1">
                <a:lnSpc>
                  <a:spcPct val="100000"/>
                </a:lnSpc>
                <a:spcBef>
                  <a:spcPct val="50000"/>
                </a:spcBef>
                <a:spcAft>
                  <a:spcPts val="0"/>
                </a:spcAft>
                <a:buClrTx/>
                <a:buSzTx/>
                <a:buFontTx/>
                <a:buNone/>
                <a:tabLst/>
                <a:defRPr/>
              </a:pPr>
              <a:t>‹#›</a:t>
            </a:fld>
            <a:endParaRPr kumimoji="0" lang="en-US" sz="1200" b="0" i="0" u="none" strike="noStrike" kern="0" cap="none" spc="0" normalizeH="0" baseline="0" noProof="0" dirty="0">
              <a:ln>
                <a:noFill/>
              </a:ln>
              <a:solidFill>
                <a:srgbClr val="0065BD"/>
              </a:solidFill>
              <a:effectLst/>
              <a:uLnTx/>
              <a:uFillTx/>
              <a:latin typeface="Arial" panose="020B0604020202020204" pitchFamily="34" charset="0"/>
            </a:endParaRPr>
          </a:p>
        </p:txBody>
      </p:sp>
      <p:pic>
        <p:nvPicPr>
          <p:cNvPr id="9" name="Picture 2">
            <a:extLst>
              <a:ext uri="{FF2B5EF4-FFF2-40B4-BE49-F238E27FC236}">
                <a16:creationId xmlns:a16="http://schemas.microsoft.com/office/drawing/2014/main" id="{721F18CB-E9AA-4812-A224-00B86285620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26140" y="110638"/>
            <a:ext cx="681144" cy="322394"/>
          </a:xfrm>
          <a:prstGeom prst="rect">
            <a:avLst/>
          </a:prstGeom>
        </p:spPr>
      </p:pic>
    </p:spTree>
    <p:extLst>
      <p:ext uri="{BB962C8B-B14F-4D97-AF65-F5344CB8AC3E}">
        <p14:creationId xmlns:p14="http://schemas.microsoft.com/office/powerpoint/2010/main" val="13985195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78367" y="627988"/>
            <a:ext cx="11228917" cy="432000"/>
          </a:xfrm>
        </p:spPr>
        <p:txBody>
          <a:bodyPr>
            <a:noAutofit/>
          </a:bodyPr>
          <a:lstStyle>
            <a:lvl1pPr>
              <a:lnSpc>
                <a:spcPct val="125000"/>
              </a:lnSpc>
              <a:defRPr sz="2200"/>
            </a:lvl1pPr>
          </a:lstStyle>
          <a:p>
            <a:r>
              <a:rPr lang="en-US" noProof="0" dirty="0"/>
              <a:t>Click to edit Master title style</a:t>
            </a:r>
            <a:endParaRPr lang="de-DE" noProof="0" dirty="0"/>
          </a:p>
        </p:txBody>
      </p:sp>
      <p:sp>
        <p:nvSpPr>
          <p:cNvPr id="3" name="Inhaltsplatzhalter 2"/>
          <p:cNvSpPr>
            <a:spLocks noGrp="1"/>
          </p:cNvSpPr>
          <p:nvPr>
            <p:ph idx="1"/>
          </p:nvPr>
        </p:nvSpPr>
        <p:spPr>
          <a:xfrm>
            <a:off x="478367" y="1134140"/>
            <a:ext cx="11228917" cy="5133460"/>
          </a:xfrm>
        </p:spPr>
        <p:txBody>
          <a:bodyPr>
            <a:normAutofit/>
          </a:bodyPr>
          <a:lstStyle>
            <a:lvl1pPr marL="0" indent="0">
              <a:lnSpc>
                <a:spcPct val="125000"/>
              </a:lnSpc>
              <a:spcBef>
                <a:spcPts val="0"/>
              </a:spcBef>
              <a:buNone/>
              <a:defRPr sz="2000"/>
            </a:lvl1pPr>
            <a:lvl2pPr marL="176213" indent="-176213">
              <a:lnSpc>
                <a:spcPct val="125000"/>
              </a:lnSpc>
              <a:spcBef>
                <a:spcPts val="0"/>
              </a:spcBef>
              <a:buFont typeface="Arial" pitchFamily="34" charset="0"/>
              <a:buChar char="•"/>
              <a:defRPr sz="2000"/>
            </a:lvl2pPr>
            <a:lvl3pPr marL="360363" indent="-184150">
              <a:lnSpc>
                <a:spcPct val="125000"/>
              </a:lnSpc>
              <a:spcBef>
                <a:spcPts val="0"/>
              </a:spcBef>
              <a:buFont typeface="Symbol" pitchFamily="18" charset="2"/>
              <a:buChar char="-"/>
              <a:defRPr sz="2000"/>
            </a:lvl3pPr>
            <a:lvl4pPr marL="538163" indent="-177800">
              <a:lnSpc>
                <a:spcPct val="125000"/>
              </a:lnSpc>
              <a:spcBef>
                <a:spcPts val="0"/>
              </a:spcBef>
              <a:buFont typeface="Symbol" pitchFamily="18" charset="2"/>
              <a:buChar char="-"/>
              <a:defRPr sz="2000"/>
            </a:lvl4pPr>
            <a:lvl5pPr marL="714375" indent="-176213">
              <a:lnSpc>
                <a:spcPct val="125000"/>
              </a:lnSpc>
              <a:spcBef>
                <a:spcPts val="0"/>
              </a:spcBef>
              <a:buFont typeface="Symbol" pitchFamily="18" charset="2"/>
              <a:buChar char="-"/>
              <a:defRPr sz="20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DE" noProof="0"/>
          </a:p>
        </p:txBody>
      </p:sp>
    </p:spTree>
    <p:extLst>
      <p:ext uri="{BB962C8B-B14F-4D97-AF65-F5344CB8AC3E}">
        <p14:creationId xmlns:p14="http://schemas.microsoft.com/office/powerpoint/2010/main" val="3112477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478367" y="485830"/>
            <a:ext cx="11228917" cy="5781770"/>
          </a:xfrm>
        </p:spPr>
        <p:txBody>
          <a:bodyPr>
            <a:normAutofit/>
          </a:bodyPr>
          <a:lstStyle>
            <a:lvl1pPr marL="0" indent="0">
              <a:lnSpc>
                <a:spcPct val="125000"/>
              </a:lnSpc>
              <a:spcBef>
                <a:spcPts val="0"/>
              </a:spcBef>
              <a:buNone/>
              <a:defRPr sz="2000"/>
            </a:lvl1pPr>
            <a:lvl2pPr marL="176213" indent="-176213">
              <a:lnSpc>
                <a:spcPct val="125000"/>
              </a:lnSpc>
              <a:spcBef>
                <a:spcPts val="0"/>
              </a:spcBef>
              <a:buFont typeface="Arial" pitchFamily="34" charset="0"/>
              <a:buChar char="•"/>
              <a:defRPr sz="2000"/>
            </a:lvl2pPr>
            <a:lvl3pPr marL="360363" indent="-184150">
              <a:lnSpc>
                <a:spcPct val="125000"/>
              </a:lnSpc>
              <a:spcBef>
                <a:spcPts val="0"/>
              </a:spcBef>
              <a:buFont typeface="Symbol" pitchFamily="18" charset="2"/>
              <a:buChar char="-"/>
              <a:defRPr sz="2000"/>
            </a:lvl3pPr>
            <a:lvl4pPr marL="538163" indent="-177800">
              <a:lnSpc>
                <a:spcPct val="125000"/>
              </a:lnSpc>
              <a:spcBef>
                <a:spcPts val="0"/>
              </a:spcBef>
              <a:buFont typeface="Symbol" pitchFamily="18" charset="2"/>
              <a:buChar char="-"/>
              <a:defRPr sz="2000"/>
            </a:lvl4pPr>
            <a:lvl5pPr marL="714375" indent="-176213">
              <a:lnSpc>
                <a:spcPct val="125000"/>
              </a:lnSpc>
              <a:spcBef>
                <a:spcPts val="0"/>
              </a:spcBef>
              <a:buFont typeface="Symbol" pitchFamily="18" charset="2"/>
              <a:buChar char="-"/>
              <a:defRPr sz="20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DE" noProof="0"/>
          </a:p>
        </p:txBody>
      </p:sp>
      <p:graphicFrame>
        <p:nvGraphicFramePr>
          <p:cNvPr id="4" name="Objekt 3" hidden="1"/>
          <p:cNvGraphicFramePr>
            <a:graphicFrameLocks noChangeAspect="1"/>
          </p:cNvGraphicFramePr>
          <p:nvPr userDrawn="1">
            <p:custDataLst>
              <p:tags r:id="rId2"/>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4159" name="think-cell Folie" r:id="rId4" imgW="216" imgH="216" progId="TCLayout.ActiveDocument.1">
                  <p:embed/>
                </p:oleObj>
              </mc:Choice>
              <mc:Fallback>
                <p:oleObj name="think-cell Folie" r:id="rId4" imgW="216" imgH="216" progId="TCLayout.ActiveDocument.1">
                  <p:embed/>
                  <p:pic>
                    <p:nvPicPr>
                      <p:cNvPr id="4" name="Objekt 3" hidden="1"/>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2" name="Titel 1"/>
          <p:cNvSpPr>
            <a:spLocks noGrp="1"/>
          </p:cNvSpPr>
          <p:nvPr>
            <p:ph type="title"/>
          </p:nvPr>
        </p:nvSpPr>
        <p:spPr>
          <a:xfrm>
            <a:off x="478367" y="53830"/>
            <a:ext cx="11228917" cy="432000"/>
          </a:xfrm>
        </p:spPr>
        <p:txBody>
          <a:bodyPr>
            <a:noAutofit/>
          </a:bodyPr>
          <a:lstStyle>
            <a:lvl1pPr>
              <a:lnSpc>
                <a:spcPct val="125000"/>
              </a:lnSpc>
              <a:defRPr sz="2200"/>
            </a:lvl1pPr>
          </a:lstStyle>
          <a:p>
            <a:r>
              <a:rPr lang="de-DE" noProof="0" dirty="0"/>
              <a:t>Click </a:t>
            </a:r>
            <a:r>
              <a:rPr lang="de-DE" noProof="0" dirty="0" err="1"/>
              <a:t>to</a:t>
            </a:r>
            <a:r>
              <a:rPr lang="de-DE" noProof="0" dirty="0"/>
              <a:t> </a:t>
            </a:r>
            <a:r>
              <a:rPr lang="de-DE" noProof="0" dirty="0" err="1"/>
              <a:t>edit</a:t>
            </a:r>
            <a:r>
              <a:rPr lang="de-DE" noProof="0" dirty="0"/>
              <a:t> Master title style</a:t>
            </a:r>
          </a:p>
        </p:txBody>
      </p:sp>
    </p:spTree>
    <p:extLst>
      <p:ext uri="{BB962C8B-B14F-4D97-AF65-F5344CB8AC3E}">
        <p14:creationId xmlns:p14="http://schemas.microsoft.com/office/powerpoint/2010/main" val="4288854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77334" y="1828800"/>
            <a:ext cx="10837333" cy="4343400"/>
          </a:xfrm>
        </p:spPr>
        <p:txBody>
          <a:bodyPr/>
          <a:lstStyle>
            <a:lvl1pPr marL="342900" indent="-342900">
              <a:buFont typeface="Wingdings" panose="05000000000000000000" pitchFamily="2" charset="2"/>
              <a:buChar char="§"/>
              <a:defRPr sz="1800">
                <a:solidFill>
                  <a:schemeClr val="tx1">
                    <a:lumMod val="50000"/>
                  </a:schemeClr>
                </a:solidFill>
              </a:defRPr>
            </a:lvl1pPr>
            <a:lvl2pPr>
              <a:defRPr>
                <a:solidFill>
                  <a:schemeClr val="tx1">
                    <a:lumMod val="50000"/>
                  </a:schemeClr>
                </a:solidFill>
              </a:defRPr>
            </a:lvl2pPr>
            <a:lvl3pPr>
              <a:defRPr>
                <a:solidFill>
                  <a:schemeClr val="tx1">
                    <a:lumMod val="50000"/>
                  </a:schemeClr>
                </a:solidFill>
              </a:defRPr>
            </a:lvl3pPr>
            <a:lvl4pPr>
              <a:defRPr>
                <a:solidFill>
                  <a:schemeClr val="tx1">
                    <a:lumMod val="50000"/>
                  </a:schemeClr>
                </a:solidFill>
              </a:defRPr>
            </a:lvl4pPr>
            <a:lvl5pPr>
              <a:defRPr>
                <a:solidFill>
                  <a:schemeClr val="tx1">
                    <a:lumMod val="50000"/>
                  </a:schemeClr>
                </a:solidFill>
              </a:defRPr>
            </a:lvl5pPr>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endParaRPr lang="en-US" noProof="0" dirty="0"/>
          </a:p>
        </p:txBody>
      </p:sp>
      <p:sp>
        <p:nvSpPr>
          <p:cNvPr id="2" name="Titel 1"/>
          <p:cNvSpPr>
            <a:spLocks noGrp="1"/>
          </p:cNvSpPr>
          <p:nvPr>
            <p:ph type="title"/>
          </p:nvPr>
        </p:nvSpPr>
        <p:spPr>
          <a:xfrm>
            <a:off x="677334" y="914400"/>
            <a:ext cx="10837333" cy="609600"/>
          </a:xfrm>
        </p:spPr>
        <p:txBody>
          <a:bodyPr/>
          <a:lstStyle>
            <a:lvl1pPr>
              <a:defRPr sz="2400" b="0"/>
            </a:lvl1pPr>
          </a:lstStyle>
          <a:p>
            <a:r>
              <a:rPr lang="de-DE" noProof="0" dirty="0"/>
              <a:t>Titelmasterformat durch Klicken bearbeiten</a:t>
            </a:r>
            <a:endParaRPr lang="en-US" noProof="0" dirty="0"/>
          </a:p>
        </p:txBody>
      </p:sp>
    </p:spTree>
    <p:extLst>
      <p:ext uri="{BB962C8B-B14F-4D97-AF65-F5344CB8AC3E}">
        <p14:creationId xmlns:p14="http://schemas.microsoft.com/office/powerpoint/2010/main" val="207389328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efault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25454" y="927971"/>
            <a:ext cx="11345332" cy="53966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2133" noProof="0" dirty="0" smtClean="0"/>
            </a:lvl1pPr>
            <a:lvl2pPr>
              <a:lnSpc>
                <a:spcPct val="114000"/>
              </a:lnSpc>
              <a:defRPr lang="de-DE" sz="2133" noProof="0" dirty="0" smtClean="0"/>
            </a:lvl2pPr>
            <a:lvl3pPr marL="480472" indent="-245527" defTabSz="304792">
              <a:buFont typeface="Wingdings" panose="05000000000000000000" pitchFamily="2" charset="2"/>
              <a:buChar char="Ø"/>
              <a:defRPr sz="20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5" name="Footer Placeholder 4">
            <a:extLst>
              <a:ext uri="{FF2B5EF4-FFF2-40B4-BE49-F238E27FC236}">
                <a16:creationId xmlns:a16="http://schemas.microsoft.com/office/drawing/2014/main" id="{A364F584-FE4D-4FDC-B844-97C68D7F7EDD}"/>
              </a:ext>
            </a:extLst>
          </p:cNvPr>
          <p:cNvSpPr>
            <a:spLocks noGrp="1"/>
          </p:cNvSpPr>
          <p:nvPr>
            <p:ph type="ftr" sz="quarter" idx="10"/>
          </p:nvPr>
        </p:nvSpPr>
        <p:spPr/>
        <p:txBody>
          <a:bodyPr/>
          <a:lstStyle/>
          <a:p>
            <a:r>
              <a:rPr lang="en-US" dirty="0"/>
              <a:t>1.1 System Overview</a:t>
            </a:r>
          </a:p>
        </p:txBody>
      </p:sp>
      <p:sp>
        <p:nvSpPr>
          <p:cNvPr id="7" name="Slide Number Placeholder 6">
            <a:extLst>
              <a:ext uri="{FF2B5EF4-FFF2-40B4-BE49-F238E27FC236}">
                <a16:creationId xmlns:a16="http://schemas.microsoft.com/office/drawing/2014/main" id="{E4C443BC-CC26-4FCA-949F-6BAB690E449E}"/>
              </a:ext>
            </a:extLst>
          </p:cNvPr>
          <p:cNvSpPr>
            <a:spLocks noGrp="1"/>
          </p:cNvSpPr>
          <p:nvPr>
            <p:ph type="sldNum" sz="quarter" idx="11"/>
          </p:nvPr>
        </p:nvSpPr>
        <p:spPr/>
        <p:txBody>
          <a:bodyPr/>
          <a:lstStyle/>
          <a:p>
            <a:pPr algn="ctr"/>
            <a:fld id="{899D276B-7979-48FE-80FC-E571DA85DA8B}" type="slidenum">
              <a:rPr lang="en-US" smtClean="0"/>
              <a:pPr algn="ctr"/>
              <a:t>‹#›</a:t>
            </a:fld>
            <a:endParaRPr lang="en-US" dirty="0"/>
          </a:p>
        </p:txBody>
      </p:sp>
      <p:sp>
        <p:nvSpPr>
          <p:cNvPr id="8" name="Title 7">
            <a:extLst>
              <a:ext uri="{FF2B5EF4-FFF2-40B4-BE49-F238E27FC236}">
                <a16:creationId xmlns:a16="http://schemas.microsoft.com/office/drawing/2014/main" id="{F52392AA-3991-4AC1-A365-D99A5278F98D}"/>
              </a:ext>
            </a:extLst>
          </p:cNvPr>
          <p:cNvSpPr>
            <a:spLocks noGrp="1"/>
          </p:cNvSpPr>
          <p:nvPr>
            <p:ph type="title"/>
          </p:nvPr>
        </p:nvSpPr>
        <p:spPr/>
        <p:txBody>
          <a:bodyPr>
            <a:noAutofit/>
          </a:bodyPr>
          <a:lstStyle>
            <a:lvl1pPr>
              <a:defRPr sz="3333"/>
            </a:lvl1pPr>
          </a:lstStyle>
          <a:p>
            <a:r>
              <a:rPr lang="en-US" dirty="0"/>
              <a:t>Click to edit Master title style</a:t>
            </a:r>
          </a:p>
        </p:txBody>
      </p:sp>
      <p:sp>
        <p:nvSpPr>
          <p:cNvPr id="4" name="Text Placeholder 3">
            <a:extLst>
              <a:ext uri="{FF2B5EF4-FFF2-40B4-BE49-F238E27FC236}">
                <a16:creationId xmlns:a16="http://schemas.microsoft.com/office/drawing/2014/main" id="{F1DFDD4B-9AF6-4E7B-ADDF-77E0D60DE428}"/>
              </a:ext>
            </a:extLst>
          </p:cNvPr>
          <p:cNvSpPr>
            <a:spLocks noGrp="1"/>
          </p:cNvSpPr>
          <p:nvPr>
            <p:ph type="body" sz="quarter" idx="12" hasCustomPrompt="1"/>
          </p:nvPr>
        </p:nvSpPr>
        <p:spPr>
          <a:xfrm>
            <a:off x="9964840" y="6036733"/>
            <a:ext cx="1811867" cy="287867"/>
          </a:xfrm>
          <a:prstGeom prst="rect">
            <a:avLst/>
          </a:prstGeom>
        </p:spPr>
        <p:txBody>
          <a:bodyPr/>
          <a:lstStyle>
            <a:lvl1pPr algn="r">
              <a:defRPr lang="en-US" sz="1067" kern="1200" dirty="0" smtClean="0">
                <a:solidFill>
                  <a:schemeClr val="tx1"/>
                </a:solidFill>
                <a:latin typeface="Arial" charset="0"/>
                <a:ea typeface="+mn-ea"/>
                <a:cs typeface="Arial" charset="0"/>
              </a:defRPr>
            </a:lvl1pPr>
          </a:lstStyle>
          <a:p>
            <a:pPr lvl="0"/>
            <a:r>
              <a:rPr lang="en-US" dirty="0"/>
              <a:t>&lt;Source&gt;</a:t>
            </a:r>
          </a:p>
        </p:txBody>
      </p:sp>
    </p:spTree>
    <p:extLst>
      <p:ext uri="{BB962C8B-B14F-4D97-AF65-F5344CB8AC3E}">
        <p14:creationId xmlns:p14="http://schemas.microsoft.com/office/powerpoint/2010/main" val="1059031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la Text">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8753C7CB-734A-4C2A-8C7F-715461FB92E0}"/>
              </a:ext>
            </a:extLst>
          </p:cNvPr>
          <p:cNvSpPr>
            <a:spLocks noGrp="1"/>
          </p:cNvSpPr>
          <p:nvPr>
            <p:ph type="body" sz="quarter" idx="12"/>
          </p:nvPr>
        </p:nvSpPr>
        <p:spPr>
          <a:xfrm>
            <a:off x="720000" y="1536000"/>
            <a:ext cx="8616000" cy="4248000"/>
          </a:xfrm>
          <a:prstGeom prst="rect">
            <a:avLst/>
          </a:prstGeom>
        </p:spPr>
        <p:txBody>
          <a:bodyPr lIns="0"/>
          <a:lstStyle>
            <a:lvl1pPr marL="241294" indent="-241294">
              <a:lnSpc>
                <a:spcPct val="100000"/>
              </a:lnSpc>
              <a:buSzPct val="150000"/>
              <a:buFontTx/>
              <a:buBlip>
                <a:blip r:embed="rId2"/>
              </a:buBlip>
              <a:defRPr sz="2400" b="1">
                <a:solidFill>
                  <a:srgbClr val="203864"/>
                </a:solidFill>
                <a:latin typeface="Arial Narrow" panose="020B0606020202030204" pitchFamily="34" charset="0"/>
              </a:defRPr>
            </a:lvl1pPr>
            <a:lvl2pPr marL="476239" indent="-237061">
              <a:lnSpc>
                <a:spcPct val="100000"/>
              </a:lnSpc>
              <a:buSzPct val="75000"/>
              <a:buFont typeface="Wingdings" panose="05000000000000000000" pitchFamily="2" charset="2"/>
              <a:buChar char="§"/>
              <a:defRPr sz="2400">
                <a:solidFill>
                  <a:srgbClr val="203864"/>
                </a:solidFill>
                <a:latin typeface="Arial Narrow" panose="020B0606020202030204" pitchFamily="34" charset="0"/>
              </a:defRPr>
            </a:lvl2pPr>
            <a:lvl3pPr marL="1142971" indent="-228594">
              <a:buSzPct val="150000"/>
              <a:buFontTx/>
              <a:buBlip>
                <a:blip r:embed="rId2"/>
              </a:buBlip>
              <a:defRPr sz="2400">
                <a:solidFill>
                  <a:srgbClr val="203864"/>
                </a:solidFill>
                <a:latin typeface="Arial Narrow" panose="020B0606020202030204" pitchFamily="34" charset="0"/>
              </a:defRPr>
            </a:lvl3pPr>
            <a:lvl4pPr marL="1600160" indent="-228594">
              <a:buSzPct val="150000"/>
              <a:buFontTx/>
              <a:buBlip>
                <a:blip r:embed="rId2"/>
              </a:buBlip>
              <a:defRPr sz="2400">
                <a:solidFill>
                  <a:srgbClr val="203864"/>
                </a:solidFill>
                <a:latin typeface="Arial Narrow" panose="020B0606020202030204" pitchFamily="34" charset="0"/>
              </a:defRPr>
            </a:lvl4pPr>
            <a:lvl5pPr marL="2057349" indent="-228594">
              <a:buSzPct val="150000"/>
              <a:buFontTx/>
              <a:buBlip>
                <a:blip r:embed="rId2"/>
              </a:buBlip>
              <a:defRPr sz="2400">
                <a:solidFill>
                  <a:srgbClr val="203864"/>
                </a:solidFill>
                <a:latin typeface="Arial Narrow" panose="020B0606020202030204" pitchFamily="34" charset="0"/>
              </a:defRPr>
            </a:lvl5pPr>
          </a:lstStyle>
          <a:p>
            <a:pPr lvl="0"/>
            <a:r>
              <a:rPr lang="de-DE"/>
              <a:t>Formatvorlagen des Textmasters bearbeiten</a:t>
            </a:r>
          </a:p>
          <a:p>
            <a:pPr lvl="1"/>
            <a:r>
              <a:rPr lang="de-DE"/>
              <a:t>Zweite Ebene</a:t>
            </a:r>
          </a:p>
        </p:txBody>
      </p:sp>
      <p:sp>
        <p:nvSpPr>
          <p:cNvPr id="4" name="Titelplatzhalter 1">
            <a:extLst>
              <a:ext uri="{FF2B5EF4-FFF2-40B4-BE49-F238E27FC236}">
                <a16:creationId xmlns:a16="http://schemas.microsoft.com/office/drawing/2014/main" id="{045CF093-A93A-4D85-88E6-6453C37EEB9F}"/>
              </a:ext>
            </a:extLst>
          </p:cNvPr>
          <p:cNvSpPr>
            <a:spLocks noGrp="1"/>
          </p:cNvSpPr>
          <p:nvPr>
            <p:ph type="title"/>
          </p:nvPr>
        </p:nvSpPr>
        <p:spPr>
          <a:xfrm>
            <a:off x="720001" y="0"/>
            <a:ext cx="8614095" cy="881979"/>
          </a:xfrm>
          <a:prstGeom prst="rect">
            <a:avLst/>
          </a:prstGeom>
          <a:noFill/>
          <a:ln w="9525">
            <a:noFill/>
            <a:miter lim="800000"/>
            <a:headEnd/>
            <a:tailEnd/>
          </a:ln>
        </p:spPr>
        <p:txBody>
          <a:bodyPr>
            <a:noAutofit/>
          </a:bodyPr>
          <a:lstStyle/>
          <a:p>
            <a:pPr lvl="0"/>
            <a:r>
              <a:rPr lang="de-DE"/>
              <a:t>Titelmasterformat durch Klicken bearbeiten</a:t>
            </a:r>
            <a:endParaRPr lang="de-DE" dirty="0"/>
          </a:p>
        </p:txBody>
      </p:sp>
    </p:spTree>
    <p:extLst>
      <p:ext uri="{BB962C8B-B14F-4D97-AF65-F5344CB8AC3E}">
        <p14:creationId xmlns:p14="http://schemas.microsoft.com/office/powerpoint/2010/main" val="2740180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Einspaliges_Ras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D6AAE5-8080-4726-A077-F2E7020E1A1B}"/>
              </a:ext>
            </a:extLst>
          </p:cNvPr>
          <p:cNvSpPr>
            <a:spLocks noGrp="1"/>
          </p:cNvSpPr>
          <p:nvPr>
            <p:ph type="title"/>
          </p:nvPr>
        </p:nvSpPr>
        <p:spPr>
          <a:xfrm>
            <a:off x="721814" y="0"/>
            <a:ext cx="10752000" cy="851134"/>
          </a:xfrm>
        </p:spPr>
        <p:txBody>
          <a:bodyPr/>
          <a:lstStyle>
            <a:lvl1pPr>
              <a:lnSpc>
                <a:spcPct val="100000"/>
              </a:lnSpc>
              <a:spcAft>
                <a:spcPts val="614"/>
              </a:spcAft>
              <a:defRPr>
                <a:solidFill>
                  <a:schemeClr val="tx1"/>
                </a:solidFill>
              </a:defRPr>
            </a:lvl1pPr>
          </a:lstStyle>
          <a:p>
            <a:r>
              <a:rPr lang="en-US"/>
              <a:t>Click to edit Master title style</a:t>
            </a:r>
            <a:endParaRPr lang="de-DE" dirty="0"/>
          </a:p>
        </p:txBody>
      </p:sp>
      <p:sp>
        <p:nvSpPr>
          <p:cNvPr id="30" name="Inhaltsplatzhalter 23">
            <a:extLst>
              <a:ext uri="{FF2B5EF4-FFF2-40B4-BE49-F238E27FC236}">
                <a16:creationId xmlns:a16="http://schemas.microsoft.com/office/drawing/2014/main" id="{484CD127-A585-4386-B565-BB790A538EC1}"/>
              </a:ext>
            </a:extLst>
          </p:cNvPr>
          <p:cNvSpPr>
            <a:spLocks noGrp="1"/>
          </p:cNvSpPr>
          <p:nvPr>
            <p:ph sz="quarter" idx="14"/>
          </p:nvPr>
        </p:nvSpPr>
        <p:spPr>
          <a:xfrm>
            <a:off x="719999" y="1575923"/>
            <a:ext cx="10752000" cy="4284000"/>
          </a:xfrm>
          <a:prstGeom prst="rect">
            <a:avLst/>
          </a:prstGeom>
        </p:spPr>
        <p:txBody>
          <a:bodyPr lIns="0"/>
          <a:lstStyle>
            <a:lvl1pPr marL="242674" indent="-242674">
              <a:lnSpc>
                <a:spcPct val="100000"/>
              </a:lnSpc>
              <a:spcAft>
                <a:spcPts val="614"/>
              </a:spcAft>
              <a:buSzPct val="115000"/>
              <a:buFontTx/>
              <a:buBlip>
                <a:blip r:embed="rId2"/>
              </a:buBlip>
              <a:defRPr lang="de-DE" sz="2750" b="1" dirty="0" smtClean="0">
                <a:solidFill>
                  <a:schemeClr val="tx1"/>
                </a:solidFill>
                <a:latin typeface="+mn-lt"/>
                <a:ea typeface="+mn-ea"/>
                <a:cs typeface="+mn-cs"/>
              </a:defRPr>
            </a:lvl1pPr>
            <a:lvl2pPr marL="494015" indent="-251341">
              <a:lnSpc>
                <a:spcPct val="100000"/>
              </a:lnSpc>
              <a:spcAft>
                <a:spcPts val="614"/>
              </a:spcAft>
              <a:buClr>
                <a:srgbClr val="537496"/>
              </a:buClr>
              <a:buSzPct val="70000"/>
              <a:buFont typeface="Wingdings" panose="05000000000000000000" pitchFamily="2" charset="2"/>
              <a:buChar char="§"/>
              <a:defRPr lang="de-DE" sz="2500" dirty="0" smtClean="0">
                <a:solidFill>
                  <a:schemeClr val="tx1"/>
                </a:solidFill>
                <a:latin typeface="+mn-lt"/>
                <a:ea typeface="+mn-ea"/>
              </a:defRPr>
            </a:lvl2pPr>
            <a:lvl3pPr marL="0" indent="0">
              <a:lnSpc>
                <a:spcPct val="100000"/>
              </a:lnSpc>
              <a:spcAft>
                <a:spcPts val="614"/>
              </a:spcAft>
              <a:buClr>
                <a:srgbClr val="537496"/>
              </a:buClr>
              <a:buSzPct val="70000"/>
              <a:buFontTx/>
              <a:buNone/>
              <a:defRPr lang="de-DE" sz="2500" b="0" kern="1200" dirty="0" smtClean="0">
                <a:solidFill>
                  <a:schemeClr val="tx1"/>
                </a:solidFill>
                <a:latin typeface="+mn-lt"/>
                <a:ea typeface="+mn-ea"/>
                <a:cs typeface="ＭＳ Ｐゴシック" pitchFamily="-123" charset="-128"/>
              </a:defRPr>
            </a:lvl3pPr>
          </a:lstStyle>
          <a:p>
            <a:pPr lvl="0"/>
            <a:r>
              <a:rPr lang="en-US"/>
              <a:t>Edit Master text styles</a:t>
            </a:r>
          </a:p>
          <a:p>
            <a:pPr lvl="1"/>
            <a:r>
              <a:rPr lang="en-US"/>
              <a:t>Second level</a:t>
            </a:r>
          </a:p>
          <a:p>
            <a:pPr lvl="2"/>
            <a:r>
              <a:rPr lang="en-US"/>
              <a:t>Third level</a:t>
            </a:r>
          </a:p>
        </p:txBody>
      </p:sp>
      <p:sp>
        <p:nvSpPr>
          <p:cNvPr id="18" name="Datumsplatzhalter 3">
            <a:extLst>
              <a:ext uri="{FF2B5EF4-FFF2-40B4-BE49-F238E27FC236}">
                <a16:creationId xmlns:a16="http://schemas.microsoft.com/office/drawing/2014/main" id="{AF762AEC-813C-420A-8575-6EE049177796}"/>
              </a:ext>
            </a:extLst>
          </p:cNvPr>
          <p:cNvSpPr>
            <a:spLocks noGrp="1"/>
          </p:cNvSpPr>
          <p:nvPr>
            <p:ph type="dt" sz="half" idx="2"/>
          </p:nvPr>
        </p:nvSpPr>
        <p:spPr>
          <a:xfrm>
            <a:off x="2526080" y="6396568"/>
            <a:ext cx="856068" cy="312035"/>
          </a:xfrm>
          <a:prstGeom prst="rect">
            <a:avLst/>
          </a:prstGeom>
        </p:spPr>
        <p:txBody>
          <a:bodyPr vert="horz" lIns="0" tIns="0" rIns="0" bIns="0" rtlCol="0" anchor="ctr"/>
          <a:lstStyle>
            <a:lvl1pPr algn="ctr" eaLnBrk="1" hangingPunct="1">
              <a:defRPr sz="1000" b="0">
                <a:solidFill>
                  <a:schemeClr val="tx1"/>
                </a:solidFill>
                <a:latin typeface="+mn-lt"/>
                <a:ea typeface="ＭＳ Ｐゴシック" pitchFamily="-123" charset="-128"/>
                <a:cs typeface="ＭＳ Ｐゴシック" pitchFamily="-123" charset="-128"/>
              </a:defRPr>
            </a:lvl1pPr>
          </a:lstStyle>
          <a:p>
            <a:pPr>
              <a:defRPr/>
            </a:pPr>
            <a:r>
              <a:rPr lang="de-DE" dirty="0"/>
              <a:t>13.10.2022</a:t>
            </a:r>
            <a:endParaRPr lang="en-GB" dirty="0"/>
          </a:p>
        </p:txBody>
      </p:sp>
      <p:sp>
        <p:nvSpPr>
          <p:cNvPr id="19" name="Fußzeilenplatzhalter 4">
            <a:extLst>
              <a:ext uri="{FF2B5EF4-FFF2-40B4-BE49-F238E27FC236}">
                <a16:creationId xmlns:a16="http://schemas.microsoft.com/office/drawing/2014/main" id="{C6ABA3E9-F0FD-4DD5-843E-FDCFADBBCF7D}"/>
              </a:ext>
            </a:extLst>
          </p:cNvPr>
          <p:cNvSpPr>
            <a:spLocks noGrp="1"/>
          </p:cNvSpPr>
          <p:nvPr>
            <p:ph type="ftr" sz="quarter" idx="3"/>
          </p:nvPr>
        </p:nvSpPr>
        <p:spPr>
          <a:xfrm>
            <a:off x="3471638" y="6396567"/>
            <a:ext cx="3608917" cy="312035"/>
          </a:xfrm>
          <a:prstGeom prst="rect">
            <a:avLst/>
          </a:prstGeom>
        </p:spPr>
        <p:txBody>
          <a:bodyPr vert="horz" lIns="0" tIns="0" rIns="0" bIns="0" rtlCol="0" anchor="ctr"/>
          <a:lstStyle>
            <a:lvl1pPr algn="l" eaLnBrk="1" hangingPunct="1">
              <a:defRPr sz="1000" b="0" dirty="0">
                <a:solidFill>
                  <a:schemeClr val="tx1"/>
                </a:solidFill>
                <a:latin typeface="+mn-lt"/>
                <a:ea typeface="ＭＳ Ｐゴシック" pitchFamily="-123" charset="-128"/>
                <a:cs typeface="ＭＳ Ｐゴシック" pitchFamily="-123" charset="-128"/>
              </a:defRPr>
            </a:lvl1pPr>
          </a:lstStyle>
          <a:p>
            <a:pPr>
              <a:defRPr/>
            </a:pPr>
            <a:r>
              <a:rPr lang="en-GB" dirty="0"/>
              <a:t>Scenario Analysis - Transition to Climate Neutrality</a:t>
            </a:r>
          </a:p>
        </p:txBody>
      </p:sp>
    </p:spTree>
    <p:extLst>
      <p:ext uri="{BB962C8B-B14F-4D97-AF65-F5344CB8AC3E}">
        <p14:creationId xmlns:p14="http://schemas.microsoft.com/office/powerpoint/2010/main" val="80513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Zweispaltiges_Raster_2_Fe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D6AAE5-8080-4726-A077-F2E7020E1A1B}"/>
              </a:ext>
            </a:extLst>
          </p:cNvPr>
          <p:cNvSpPr>
            <a:spLocks noGrp="1"/>
          </p:cNvSpPr>
          <p:nvPr>
            <p:ph type="title"/>
          </p:nvPr>
        </p:nvSpPr>
        <p:spPr>
          <a:xfrm>
            <a:off x="721814" y="0"/>
            <a:ext cx="10752000" cy="851134"/>
          </a:xfrm>
        </p:spPr>
        <p:txBody>
          <a:bodyPr/>
          <a:lstStyle>
            <a:lvl1pPr>
              <a:lnSpc>
                <a:spcPct val="100000"/>
              </a:lnSpc>
              <a:spcAft>
                <a:spcPts val="614"/>
              </a:spcAft>
              <a:defRPr>
                <a:solidFill>
                  <a:schemeClr val="tx1"/>
                </a:solidFill>
              </a:defRPr>
            </a:lvl1pPr>
          </a:lstStyle>
          <a:p>
            <a:r>
              <a:rPr lang="en-US"/>
              <a:t>Click to edit Master title style</a:t>
            </a:r>
            <a:endParaRPr lang="de-DE" dirty="0"/>
          </a:p>
        </p:txBody>
      </p:sp>
      <p:sp>
        <p:nvSpPr>
          <p:cNvPr id="7" name="Inhaltsplatzhalter 23">
            <a:extLst>
              <a:ext uri="{FF2B5EF4-FFF2-40B4-BE49-F238E27FC236}">
                <a16:creationId xmlns:a16="http://schemas.microsoft.com/office/drawing/2014/main" id="{0CF09C69-40D8-484B-9E54-73833049F0CE}"/>
              </a:ext>
            </a:extLst>
          </p:cNvPr>
          <p:cNvSpPr>
            <a:spLocks noGrp="1"/>
          </p:cNvSpPr>
          <p:nvPr>
            <p:ph sz="quarter" idx="19"/>
          </p:nvPr>
        </p:nvSpPr>
        <p:spPr>
          <a:xfrm>
            <a:off x="719999" y="1608291"/>
            <a:ext cx="5136000" cy="4292976"/>
          </a:xfrm>
          <a:prstGeom prst="rect">
            <a:avLst/>
          </a:prstGeom>
        </p:spPr>
        <p:txBody>
          <a:bodyPr lIns="0"/>
          <a:lstStyle>
            <a:lvl1pPr marL="185256" indent="-185256">
              <a:lnSpc>
                <a:spcPct val="100000"/>
              </a:lnSpc>
              <a:spcAft>
                <a:spcPts val="614"/>
              </a:spcAft>
              <a:buSzPct val="115000"/>
              <a:buFontTx/>
              <a:buBlip>
                <a:blip r:embed="rId2"/>
              </a:buBlip>
              <a:defRPr lang="de-DE" sz="2500" b="1" dirty="0" smtClean="0">
                <a:solidFill>
                  <a:schemeClr val="tx1"/>
                </a:solidFill>
                <a:latin typeface="+mn-lt"/>
                <a:ea typeface="+mn-ea"/>
                <a:cs typeface="+mn-cs"/>
              </a:defRPr>
            </a:lvl1pPr>
            <a:lvl2pPr marL="370513" indent="-188507">
              <a:lnSpc>
                <a:spcPct val="100000"/>
              </a:lnSpc>
              <a:spcAft>
                <a:spcPts val="614"/>
              </a:spcAft>
              <a:buClr>
                <a:srgbClr val="537496"/>
              </a:buClr>
              <a:buSzPct val="70000"/>
              <a:buFont typeface="Wingdings" panose="05000000000000000000" pitchFamily="2" charset="2"/>
              <a:buChar char="§"/>
              <a:defRPr lang="de-DE" sz="2200" dirty="0" smtClean="0">
                <a:solidFill>
                  <a:schemeClr val="tx1"/>
                </a:solidFill>
                <a:latin typeface="+mn-lt"/>
                <a:ea typeface="+mn-ea"/>
              </a:defRPr>
            </a:lvl2pPr>
            <a:lvl3pPr marL="0" indent="0">
              <a:lnSpc>
                <a:spcPct val="100000"/>
              </a:lnSpc>
              <a:spcAft>
                <a:spcPts val="614"/>
              </a:spcAft>
              <a:buClr>
                <a:srgbClr val="537496"/>
              </a:buClr>
              <a:buSzPct val="70000"/>
              <a:buFontTx/>
              <a:buNone/>
              <a:defRPr lang="de-DE" sz="2200" b="0" kern="1200" dirty="0" smtClean="0">
                <a:solidFill>
                  <a:schemeClr val="tx1"/>
                </a:solidFill>
                <a:latin typeface="+mn-lt"/>
                <a:ea typeface="+mn-ea"/>
                <a:cs typeface="ＭＳ Ｐゴシック" pitchFamily="-123" charset="-128"/>
              </a:defRPr>
            </a:lvl3pPr>
          </a:lstStyle>
          <a:p>
            <a:pPr lvl="0"/>
            <a:r>
              <a:rPr lang="en-US"/>
              <a:t>Edit Master text styles</a:t>
            </a:r>
          </a:p>
          <a:p>
            <a:pPr lvl="1"/>
            <a:r>
              <a:rPr lang="en-US"/>
              <a:t>Second level</a:t>
            </a:r>
          </a:p>
          <a:p>
            <a:pPr lvl="2"/>
            <a:r>
              <a:rPr lang="en-US"/>
              <a:t>Third level</a:t>
            </a:r>
          </a:p>
        </p:txBody>
      </p:sp>
      <p:sp>
        <p:nvSpPr>
          <p:cNvPr id="8" name="Inhaltsplatzhalter 23">
            <a:extLst>
              <a:ext uri="{FF2B5EF4-FFF2-40B4-BE49-F238E27FC236}">
                <a16:creationId xmlns:a16="http://schemas.microsoft.com/office/drawing/2014/main" id="{EB03C471-04B0-465B-AA4D-985CB0D6BC9D}"/>
              </a:ext>
            </a:extLst>
          </p:cNvPr>
          <p:cNvSpPr>
            <a:spLocks noGrp="1"/>
          </p:cNvSpPr>
          <p:nvPr>
            <p:ph sz="quarter" idx="20"/>
          </p:nvPr>
        </p:nvSpPr>
        <p:spPr>
          <a:xfrm>
            <a:off x="6384032" y="1608291"/>
            <a:ext cx="5136000" cy="4292976"/>
          </a:xfrm>
          <a:prstGeom prst="rect">
            <a:avLst/>
          </a:prstGeom>
        </p:spPr>
        <p:txBody>
          <a:bodyPr lIns="0"/>
          <a:lstStyle>
            <a:lvl1pPr marL="185256" indent="-185256">
              <a:lnSpc>
                <a:spcPct val="100000"/>
              </a:lnSpc>
              <a:spcAft>
                <a:spcPts val="614"/>
              </a:spcAft>
              <a:buSzPct val="115000"/>
              <a:buFontTx/>
              <a:buBlip>
                <a:blip r:embed="rId2"/>
              </a:buBlip>
              <a:defRPr lang="de-DE" sz="2500" b="1" dirty="0" smtClean="0">
                <a:solidFill>
                  <a:schemeClr val="tx1"/>
                </a:solidFill>
                <a:latin typeface="+mn-lt"/>
                <a:ea typeface="+mn-ea"/>
                <a:cs typeface="+mn-cs"/>
              </a:defRPr>
            </a:lvl1pPr>
            <a:lvl2pPr marL="370513" indent="-188507">
              <a:lnSpc>
                <a:spcPct val="100000"/>
              </a:lnSpc>
              <a:spcAft>
                <a:spcPts val="614"/>
              </a:spcAft>
              <a:buClr>
                <a:srgbClr val="537496"/>
              </a:buClr>
              <a:buSzPct val="70000"/>
              <a:buFont typeface="Wingdings" panose="05000000000000000000" pitchFamily="2" charset="2"/>
              <a:buChar char="§"/>
              <a:defRPr lang="de-DE" sz="2200" dirty="0" smtClean="0">
                <a:solidFill>
                  <a:schemeClr val="tx1"/>
                </a:solidFill>
                <a:latin typeface="+mn-lt"/>
                <a:ea typeface="+mn-ea"/>
              </a:defRPr>
            </a:lvl2pPr>
            <a:lvl3pPr marL="0" indent="0">
              <a:lnSpc>
                <a:spcPct val="100000"/>
              </a:lnSpc>
              <a:spcAft>
                <a:spcPts val="614"/>
              </a:spcAft>
              <a:buClr>
                <a:srgbClr val="537496"/>
              </a:buClr>
              <a:buSzPct val="70000"/>
              <a:buFontTx/>
              <a:buNone/>
              <a:defRPr lang="de-DE" sz="2200" b="0" kern="1200" dirty="0" smtClean="0">
                <a:solidFill>
                  <a:schemeClr val="tx1"/>
                </a:solidFill>
                <a:latin typeface="+mn-lt"/>
                <a:ea typeface="+mn-ea"/>
                <a:cs typeface="ＭＳ Ｐゴシック" pitchFamily="-123" charset="-128"/>
              </a:defRPr>
            </a:lvl3pPr>
          </a:lstStyle>
          <a:p>
            <a:pPr lvl="0"/>
            <a:r>
              <a:rPr lang="en-US"/>
              <a:t>Edit Master text styles</a:t>
            </a:r>
          </a:p>
          <a:p>
            <a:pPr lvl="1"/>
            <a:r>
              <a:rPr lang="en-US"/>
              <a:t>Second level</a:t>
            </a:r>
          </a:p>
          <a:p>
            <a:pPr lvl="2"/>
            <a:r>
              <a:rPr lang="en-US"/>
              <a:t>Third level</a:t>
            </a:r>
          </a:p>
        </p:txBody>
      </p:sp>
      <p:sp>
        <p:nvSpPr>
          <p:cNvPr id="18" name="Datumsplatzhalter 3">
            <a:extLst>
              <a:ext uri="{FF2B5EF4-FFF2-40B4-BE49-F238E27FC236}">
                <a16:creationId xmlns:a16="http://schemas.microsoft.com/office/drawing/2014/main" id="{7C2D765F-D6FE-49A3-B212-4515A2EAF404}"/>
              </a:ext>
            </a:extLst>
          </p:cNvPr>
          <p:cNvSpPr>
            <a:spLocks noGrp="1"/>
          </p:cNvSpPr>
          <p:nvPr>
            <p:ph type="dt" sz="half" idx="2"/>
          </p:nvPr>
        </p:nvSpPr>
        <p:spPr>
          <a:xfrm>
            <a:off x="2526080" y="6396568"/>
            <a:ext cx="856068" cy="312035"/>
          </a:xfrm>
          <a:prstGeom prst="rect">
            <a:avLst/>
          </a:prstGeom>
        </p:spPr>
        <p:txBody>
          <a:bodyPr vert="horz" lIns="0" tIns="0" rIns="0" bIns="0" rtlCol="0" anchor="ctr"/>
          <a:lstStyle>
            <a:lvl1pPr algn="ctr" eaLnBrk="1" hangingPunct="1">
              <a:defRPr sz="1000" b="0">
                <a:solidFill>
                  <a:schemeClr val="tx1"/>
                </a:solidFill>
                <a:latin typeface="+mn-lt"/>
                <a:ea typeface="ＭＳ Ｐゴシック" pitchFamily="-123" charset="-128"/>
                <a:cs typeface="ＭＳ Ｐゴシック" pitchFamily="-123" charset="-128"/>
              </a:defRPr>
            </a:lvl1pPr>
          </a:lstStyle>
          <a:p>
            <a:pPr>
              <a:defRPr/>
            </a:pPr>
            <a:r>
              <a:rPr lang="de-DE" dirty="0"/>
              <a:t>13.10.2022</a:t>
            </a:r>
            <a:endParaRPr lang="en-GB" dirty="0"/>
          </a:p>
        </p:txBody>
      </p:sp>
      <p:sp>
        <p:nvSpPr>
          <p:cNvPr id="19" name="Fußzeilenplatzhalter 4">
            <a:extLst>
              <a:ext uri="{FF2B5EF4-FFF2-40B4-BE49-F238E27FC236}">
                <a16:creationId xmlns:a16="http://schemas.microsoft.com/office/drawing/2014/main" id="{78E75FA6-2E44-456C-82CC-1FCA526AF525}"/>
              </a:ext>
            </a:extLst>
          </p:cNvPr>
          <p:cNvSpPr>
            <a:spLocks noGrp="1"/>
          </p:cNvSpPr>
          <p:nvPr>
            <p:ph type="ftr" sz="quarter" idx="3"/>
          </p:nvPr>
        </p:nvSpPr>
        <p:spPr>
          <a:xfrm>
            <a:off x="3471638" y="6396567"/>
            <a:ext cx="3608917" cy="312035"/>
          </a:xfrm>
          <a:prstGeom prst="rect">
            <a:avLst/>
          </a:prstGeom>
        </p:spPr>
        <p:txBody>
          <a:bodyPr vert="horz" lIns="0" tIns="0" rIns="0" bIns="0" rtlCol="0" anchor="ctr"/>
          <a:lstStyle>
            <a:lvl1pPr algn="l" eaLnBrk="1" hangingPunct="1">
              <a:defRPr sz="1000" b="0" dirty="0">
                <a:solidFill>
                  <a:schemeClr val="tx1"/>
                </a:solidFill>
                <a:latin typeface="+mn-lt"/>
                <a:ea typeface="ＭＳ Ｐゴシック" pitchFamily="-123" charset="-128"/>
                <a:cs typeface="ＭＳ Ｐゴシック" pitchFamily="-123" charset="-128"/>
              </a:defRPr>
            </a:lvl1pPr>
          </a:lstStyle>
          <a:p>
            <a:pPr>
              <a:defRPr/>
            </a:pPr>
            <a:r>
              <a:rPr lang="en-GB" dirty="0"/>
              <a:t>Scenario Analysis - Transition to Climate Neutrality</a:t>
            </a:r>
          </a:p>
        </p:txBody>
      </p:sp>
    </p:spTree>
    <p:extLst>
      <p:ext uri="{BB962C8B-B14F-4D97-AF65-F5344CB8AC3E}">
        <p14:creationId xmlns:p14="http://schemas.microsoft.com/office/powerpoint/2010/main" val="7331284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9" y="1152000"/>
            <a:ext cx="11484000" cy="3726000"/>
          </a:xfrm>
          <a:prstGeom prst="rect">
            <a:avLst/>
          </a:prstGeom>
        </p:spPr>
        <p:txBody>
          <a:bodyPr lIns="0" tIns="0" rIns="0" bIns="0"/>
          <a:lstStyle>
            <a:lvl1pPr marL="215895" indent="-215895">
              <a:buFont typeface="Wingdings" panose="05000000000000000000" pitchFamily="2" charset="2"/>
              <a:buChar char="§"/>
              <a:defRPr/>
            </a:lvl1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Titelmasterformat durch Klicken bearbeiten</a:t>
            </a:r>
            <a:endParaRPr lang="en-US" dirty="0"/>
          </a:p>
        </p:txBody>
      </p:sp>
      <p:sp>
        <p:nvSpPr>
          <p:cNvPr id="4" name="Footer Placeholder 4"/>
          <p:cNvSpPr>
            <a:spLocks noGrp="1"/>
          </p:cNvSpPr>
          <p:nvPr>
            <p:ph type="ftr" sz="quarter" idx="3"/>
          </p:nvPr>
        </p:nvSpPr>
        <p:spPr>
          <a:xfrm>
            <a:off x="287339" y="6227764"/>
            <a:ext cx="731837" cy="396875"/>
          </a:xfrm>
          <a:prstGeom prst="rect">
            <a:avLst/>
          </a:prstGeom>
        </p:spPr>
        <p:txBody>
          <a:bodyPr vert="horz" lIns="0" tIns="0" rIns="0" bIns="0" rtlCol="0" anchor="t" anchorCtr="0"/>
          <a:lstStyle>
            <a:lvl1pPr algn="l" eaLnBrk="1" fontAlgn="auto" hangingPunct="1">
              <a:spcBef>
                <a:spcPts val="0"/>
              </a:spcBef>
              <a:spcAft>
                <a:spcPts val="0"/>
              </a:spcAft>
              <a:defRPr sz="900" dirty="0">
                <a:solidFill>
                  <a:schemeClr val="tx2"/>
                </a:solidFill>
                <a:latin typeface="+mn-lt"/>
              </a:defRPr>
            </a:lvl1pPr>
          </a:lstStyle>
          <a:p>
            <a:pPr>
              <a:defRPr/>
            </a:pPr>
            <a:endParaRPr lang="de-DE" dirty="0"/>
          </a:p>
        </p:txBody>
      </p:sp>
    </p:spTree>
    <p:extLst>
      <p:ext uri="{BB962C8B-B14F-4D97-AF65-F5344CB8AC3E}">
        <p14:creationId xmlns:p14="http://schemas.microsoft.com/office/powerpoint/2010/main" val="37177186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Einspaliges_Raster">
  <p:cSld name="1_Einspaliges_Raster">
    <p:spTree>
      <p:nvGrpSpPr>
        <p:cNvPr id="1" name="Shape 68"/>
        <p:cNvGrpSpPr/>
        <p:nvPr/>
      </p:nvGrpSpPr>
      <p:grpSpPr>
        <a:xfrm>
          <a:off x="0" y="0"/>
          <a:ext cx="0" cy="0"/>
          <a:chOff x="0" y="0"/>
          <a:chExt cx="0" cy="0"/>
        </a:xfrm>
      </p:grpSpPr>
      <p:sp>
        <p:nvSpPr>
          <p:cNvPr id="69" name="Google Shape;69;p37"/>
          <p:cNvSpPr txBox="1">
            <a:spLocks noGrp="1"/>
          </p:cNvSpPr>
          <p:nvPr>
            <p:ph type="title"/>
          </p:nvPr>
        </p:nvSpPr>
        <p:spPr>
          <a:xfrm>
            <a:off x="721813" y="0"/>
            <a:ext cx="10752000" cy="851133"/>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400"/>
              <a:buFont typeface="Arial"/>
              <a:buNone/>
              <a:defRPr>
                <a:solidFill>
                  <a:schemeClr val="dk1"/>
                </a:solidFill>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7"/>
          <p:cNvSpPr txBox="1">
            <a:spLocks noGrp="1"/>
          </p:cNvSpPr>
          <p:nvPr>
            <p:ph type="body" idx="1"/>
          </p:nvPr>
        </p:nvSpPr>
        <p:spPr>
          <a:xfrm>
            <a:off x="719999" y="1575923"/>
            <a:ext cx="10752000" cy="4284000"/>
          </a:xfrm>
          <a:prstGeom prst="rect">
            <a:avLst/>
          </a:prstGeom>
          <a:noFill/>
          <a:ln>
            <a:noFill/>
          </a:ln>
        </p:spPr>
        <p:txBody>
          <a:bodyPr spcFirstLastPara="1" wrap="square" lIns="0" tIns="45700" rIns="91425" bIns="45700" anchor="t" anchorCtr="0">
            <a:normAutofit/>
          </a:bodyPr>
          <a:lstStyle>
            <a:lvl1pPr marL="609585" lvl="0" indent="-499521" algn="l">
              <a:lnSpc>
                <a:spcPct val="100000"/>
              </a:lnSpc>
              <a:spcBef>
                <a:spcPts val="1333"/>
              </a:spcBef>
              <a:spcAft>
                <a:spcPts val="0"/>
              </a:spcAft>
              <a:buClr>
                <a:schemeClr val="dk1"/>
              </a:buClr>
              <a:buSzPts val="2300"/>
              <a:buFont typeface="Arial"/>
              <a:buChar char="•"/>
              <a:defRPr sz="2667" b="1">
                <a:solidFill>
                  <a:schemeClr val="dk1"/>
                </a:solidFill>
                <a:latin typeface="Arial"/>
                <a:ea typeface="Arial"/>
                <a:cs typeface="Arial"/>
                <a:sym typeface="Arial"/>
              </a:defRPr>
            </a:lvl1pPr>
            <a:lvl2pPr marL="1219170" lvl="1" indent="-411470" algn="l">
              <a:lnSpc>
                <a:spcPct val="100000"/>
              </a:lnSpc>
              <a:spcBef>
                <a:spcPts val="667"/>
              </a:spcBef>
              <a:spcAft>
                <a:spcPts val="0"/>
              </a:spcAft>
              <a:buClr>
                <a:srgbClr val="537496"/>
              </a:buClr>
              <a:buSzPts val="1260"/>
              <a:buFont typeface="Noto Sans Symbols"/>
              <a:buChar char="▪"/>
              <a:defRPr sz="2400">
                <a:solidFill>
                  <a:schemeClr val="dk1"/>
                </a:solidFill>
                <a:latin typeface="Arial"/>
                <a:ea typeface="Arial"/>
                <a:cs typeface="Arial"/>
                <a:sym typeface="Arial"/>
              </a:defRPr>
            </a:lvl2pPr>
            <a:lvl3pPr marL="1828754" lvl="2" indent="-304792" algn="l">
              <a:lnSpc>
                <a:spcPct val="100000"/>
              </a:lnSpc>
              <a:spcBef>
                <a:spcPts val="667"/>
              </a:spcBef>
              <a:spcAft>
                <a:spcPts val="0"/>
              </a:spcAft>
              <a:buClr>
                <a:srgbClr val="537496"/>
              </a:buClr>
              <a:buSzPts val="1260"/>
              <a:buFont typeface="Arial"/>
              <a:buNone/>
              <a:defRPr sz="2400" b="0">
                <a:solidFill>
                  <a:schemeClr val="dk1"/>
                </a:solidFill>
                <a:latin typeface="Arial"/>
                <a:ea typeface="Arial"/>
                <a:cs typeface="Arial"/>
                <a:sym typeface="Arial"/>
              </a:defRPr>
            </a:lvl3pPr>
            <a:lvl4pPr marL="2438339" lvl="3" indent="-457189" algn="l">
              <a:lnSpc>
                <a:spcPct val="90000"/>
              </a:lnSpc>
              <a:spcBef>
                <a:spcPts val="667"/>
              </a:spcBef>
              <a:spcAft>
                <a:spcPts val="0"/>
              </a:spcAft>
              <a:buClr>
                <a:schemeClr val="dk1"/>
              </a:buClr>
              <a:buSzPts val="1800"/>
              <a:buChar char="•"/>
              <a:defRPr/>
            </a:lvl4pPr>
            <a:lvl5pPr marL="3047924" lvl="4" indent="-457189" algn="l">
              <a:lnSpc>
                <a:spcPct val="90000"/>
              </a:lnSpc>
              <a:spcBef>
                <a:spcPts val="667"/>
              </a:spcBef>
              <a:spcAft>
                <a:spcPts val="0"/>
              </a:spcAft>
              <a:buClr>
                <a:schemeClr val="dk1"/>
              </a:buClr>
              <a:buSzPts val="18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71" name="Google Shape;71;p37"/>
          <p:cNvSpPr txBox="1">
            <a:spLocks noGrp="1"/>
          </p:cNvSpPr>
          <p:nvPr>
            <p:ph type="dt" idx="10"/>
          </p:nvPr>
        </p:nvSpPr>
        <p:spPr>
          <a:xfrm>
            <a:off x="2800351" y="6358764"/>
            <a:ext cx="86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67"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dirty="0"/>
          </a:p>
        </p:txBody>
      </p:sp>
      <p:sp>
        <p:nvSpPr>
          <p:cNvPr id="72" name="Google Shape;72;p37"/>
          <p:cNvSpPr txBox="1">
            <a:spLocks noGrp="1"/>
          </p:cNvSpPr>
          <p:nvPr>
            <p:ph type="ftr" idx="11"/>
          </p:nvPr>
        </p:nvSpPr>
        <p:spPr>
          <a:xfrm>
            <a:off x="3649134" y="6360411"/>
            <a:ext cx="360891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67"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704860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ags" Target="../tags/tag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vmlDrawing" Target="../drawings/vmlDrawing3.vml"/><Relationship Id="rId2" Type="http://schemas.openxmlformats.org/officeDocument/2006/relationships/slideLayout" Target="../slideLayouts/slideLayout12.xml"/><Relationship Id="rId16" Type="http://schemas.openxmlformats.org/officeDocument/2006/relationships/image" Target="../media/image2.png"/><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5" Type="http://schemas.openxmlformats.org/officeDocument/2006/relationships/image" Target="../media/image1.emf"/><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3"/>
            </p:custDataLs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spid="_x0000_s1166" name="think-cell Folie" r:id="rId14" imgW="216" imgH="216" progId="TCLayout.ActiveDocument.1">
                  <p:embed/>
                </p:oleObj>
              </mc:Choice>
              <mc:Fallback>
                <p:oleObj name="think-cell Folie" r:id="rId14" imgW="216" imgH="216" progId="TCLayout.ActiveDocument.1">
                  <p:embed/>
                  <p:pic>
                    <p:nvPicPr>
                      <p:cNvPr id="2" name="Objekt 1" hidden="1"/>
                      <p:cNvPicPr/>
                      <p:nvPr/>
                    </p:nvPicPr>
                    <p:blipFill>
                      <a:blip r:embed="rId15"/>
                      <a:stretch>
                        <a:fillRect/>
                      </a:stretch>
                    </p:blipFill>
                    <p:spPr>
                      <a:xfrm>
                        <a:off x="2119" y="1593"/>
                        <a:ext cx="2116" cy="1587"/>
                      </a:xfrm>
                      <a:prstGeom prst="rect">
                        <a:avLst/>
                      </a:prstGeom>
                    </p:spPr>
                  </p:pic>
                </p:oleObj>
              </mc:Fallback>
            </mc:AlternateContent>
          </a:graphicData>
        </a:graphic>
      </p:graphicFrame>
      <p:sp>
        <p:nvSpPr>
          <p:cNvPr id="1026" name="Titelplatzhalter 1"/>
          <p:cNvSpPr>
            <a:spLocks noGrp="1"/>
          </p:cNvSpPr>
          <p:nvPr>
            <p:ph type="title"/>
          </p:nvPr>
        </p:nvSpPr>
        <p:spPr bwMode="auto">
          <a:xfrm>
            <a:off x="478368" y="627478"/>
            <a:ext cx="11228917" cy="432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de-DE" noProof="0" dirty="0"/>
              <a:t>Titelmasterformat durch Klicken bearbeiten</a:t>
            </a:r>
          </a:p>
        </p:txBody>
      </p:sp>
      <p:sp>
        <p:nvSpPr>
          <p:cNvPr id="1027" name="Textplatzhalter 2"/>
          <p:cNvSpPr>
            <a:spLocks noGrp="1"/>
          </p:cNvSpPr>
          <p:nvPr>
            <p:ph type="body" idx="1"/>
          </p:nvPr>
        </p:nvSpPr>
        <p:spPr bwMode="auto">
          <a:xfrm>
            <a:off x="478368" y="1135528"/>
            <a:ext cx="11228917" cy="513207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noProof="0" dirty="0"/>
              <a:t>Textmasterformate durch Klicken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8" name="Text Box 18"/>
          <p:cNvSpPr txBox="1">
            <a:spLocks noChangeArrowheads="1"/>
          </p:cNvSpPr>
          <p:nvPr userDrawn="1"/>
        </p:nvSpPr>
        <p:spPr bwMode="auto">
          <a:xfrm>
            <a:off x="478370" y="6493158"/>
            <a:ext cx="9326033" cy="276999"/>
          </a:xfrm>
          <a:prstGeom prst="rect">
            <a:avLst/>
          </a:prstGeom>
          <a:noFill/>
          <a:ln w="9525">
            <a:noFill/>
            <a:miter lim="800000"/>
            <a:headEnd/>
            <a:tailEnd/>
          </a:ln>
          <a:effectLst/>
        </p:spPr>
        <p:txBody>
          <a:bodyPr wrap="square">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dirty="0">
                <a:ln>
                  <a:noFill/>
                </a:ln>
                <a:solidFill>
                  <a:srgbClr val="0065BD"/>
                </a:solidFill>
                <a:effectLst/>
                <a:uLnTx/>
                <a:uFillTx/>
                <a:latin typeface="Arial" pitchFamily="34" charset="0"/>
                <a:cs typeface="Arial" pitchFamily="34" charset="0"/>
              </a:rPr>
              <a:t>Aircraft Design Advanced </a:t>
            </a:r>
            <a:r>
              <a:rPr kumimoji="0" lang="en-US" sz="1200" b="0" i="0" u="none" strike="noStrike" kern="0" cap="none" spc="0" normalizeH="0" baseline="0" noProof="0" dirty="0">
                <a:ln>
                  <a:noFill/>
                </a:ln>
                <a:solidFill>
                  <a:srgbClr val="0065BD"/>
                </a:solidFill>
                <a:effectLst/>
                <a:uLnTx/>
                <a:uFillTx/>
                <a:latin typeface="Arial" pitchFamily="34" charset="0"/>
                <a:cs typeface="Arial" pitchFamily="34" charset="0"/>
              </a:rPr>
              <a:t>| Taneri</a:t>
            </a:r>
          </a:p>
        </p:txBody>
      </p:sp>
      <p:sp>
        <p:nvSpPr>
          <p:cNvPr id="10" name="Text Box 23"/>
          <p:cNvSpPr txBox="1">
            <a:spLocks noChangeArrowheads="1"/>
          </p:cNvSpPr>
          <p:nvPr userDrawn="1"/>
        </p:nvSpPr>
        <p:spPr bwMode="auto">
          <a:xfrm>
            <a:off x="8456084" y="6539325"/>
            <a:ext cx="3251200" cy="230832"/>
          </a:xfrm>
          <a:prstGeom prst="rect">
            <a:avLst/>
          </a:prstGeom>
          <a:noFill/>
          <a:ln w="9525">
            <a:noFill/>
            <a:miter lim="800000"/>
            <a:headEnd/>
            <a:tailEnd/>
          </a:ln>
          <a:effectLst/>
        </p:spPr>
        <p:txBody>
          <a:bodyPr wrap="square" lIns="0" rIns="0" anchor="b">
            <a:spAutoFit/>
          </a:bodyPr>
          <a:lstStyle/>
          <a:p>
            <a:pPr marL="0" marR="0" lvl="0" indent="0" algn="r" defTabSz="685800" eaLnBrk="1" fontAlgn="auto" latinLnBrk="0" hangingPunct="1">
              <a:lnSpc>
                <a:spcPct val="100000"/>
              </a:lnSpc>
              <a:spcBef>
                <a:spcPct val="50000"/>
              </a:spcBef>
              <a:spcAft>
                <a:spcPts val="0"/>
              </a:spcAft>
              <a:buClrTx/>
              <a:buSzTx/>
              <a:buFontTx/>
              <a:buNone/>
              <a:tabLst/>
              <a:defRPr/>
            </a:pPr>
            <a:r>
              <a:rPr kumimoji="0" lang="de-DE" sz="900" b="0" i="0" u="none" strike="noStrike" kern="0" cap="none" spc="0" normalizeH="0" baseline="0" noProof="0" dirty="0">
                <a:ln>
                  <a:noFill/>
                </a:ln>
                <a:solidFill>
                  <a:srgbClr val="0065BD"/>
                </a:solidFill>
                <a:effectLst/>
                <a:uLnTx/>
                <a:uFillTx/>
                <a:latin typeface="Arial" panose="020B0604020202020204" pitchFamily="34" charset="0"/>
              </a:rPr>
              <a:t>AY 2024 </a:t>
            </a:r>
            <a:r>
              <a:rPr kumimoji="0" lang="en-US" sz="900" b="0" i="0" u="none" strike="noStrike" kern="0" cap="none" spc="0" normalizeH="0" baseline="0" noProof="0" dirty="0">
                <a:ln>
                  <a:noFill/>
                </a:ln>
                <a:solidFill>
                  <a:srgbClr val="0065BD"/>
                </a:solidFill>
                <a:effectLst/>
                <a:uLnTx/>
                <a:uFillTx/>
                <a:latin typeface="Arial" pitchFamily="34" charset="0"/>
                <a:cs typeface="Arial" pitchFamily="34" charset="0"/>
              </a:rPr>
              <a:t>|</a:t>
            </a:r>
            <a:r>
              <a:rPr kumimoji="0" lang="de-DE" sz="900" b="0" i="0" u="none" strike="noStrike" kern="0" cap="none" spc="0" normalizeH="0" baseline="0" noProof="0" dirty="0">
                <a:ln>
                  <a:noFill/>
                </a:ln>
                <a:solidFill>
                  <a:srgbClr val="0065BD"/>
                </a:solidFill>
                <a:effectLst/>
                <a:uLnTx/>
                <a:uFillTx/>
                <a:latin typeface="Arial" panose="020B0604020202020204" pitchFamily="34" charset="0"/>
              </a:rPr>
              <a:t> </a:t>
            </a:r>
            <a:fld id="{9E2D9293-14AD-48BB-B030-230B5A633776}" type="slidenum">
              <a:rPr kumimoji="0" lang="de-DE" sz="900" b="0" i="0" u="none" strike="noStrike" kern="0" cap="none" spc="0" normalizeH="0" baseline="0" noProof="0" smtClean="0">
                <a:ln>
                  <a:noFill/>
                </a:ln>
                <a:solidFill>
                  <a:srgbClr val="0065BD"/>
                </a:solidFill>
                <a:effectLst/>
                <a:uLnTx/>
                <a:uFillTx/>
                <a:latin typeface="Arial" panose="020B0604020202020204" pitchFamily="34" charset="0"/>
              </a:rPr>
              <a:pPr marL="0" marR="0" lvl="0" indent="0" algn="r" defTabSz="685800" eaLnBrk="1" fontAlgn="auto" latinLnBrk="0" hangingPunct="1">
                <a:lnSpc>
                  <a:spcPct val="100000"/>
                </a:lnSpc>
                <a:spcBef>
                  <a:spcPct val="50000"/>
                </a:spcBef>
                <a:spcAft>
                  <a:spcPts val="0"/>
                </a:spcAft>
                <a:buClrTx/>
                <a:buSzTx/>
                <a:buFontTx/>
                <a:buNone/>
                <a:tabLst/>
                <a:defRPr/>
              </a:pPr>
              <a:t>‹#›</a:t>
            </a:fld>
            <a:endParaRPr kumimoji="0" lang="de-DE" sz="900" b="0" i="0" u="none" strike="noStrike" kern="0" cap="none" spc="0" normalizeH="0" baseline="0" noProof="0" dirty="0">
              <a:ln>
                <a:noFill/>
              </a:ln>
              <a:solidFill>
                <a:srgbClr val="0065BD"/>
              </a:solidFill>
              <a:effectLst/>
              <a:uLnTx/>
              <a:uFillTx/>
              <a:latin typeface="Arial" panose="020B0604020202020204" pitchFamily="34" charset="0"/>
            </a:endParaRPr>
          </a:p>
        </p:txBody>
      </p:sp>
      <p:cxnSp>
        <p:nvCxnSpPr>
          <p:cNvPr id="11" name="Straight Connector 10"/>
          <p:cNvCxnSpPr/>
          <p:nvPr userDrawn="1"/>
        </p:nvCxnSpPr>
        <p:spPr bwMode="auto">
          <a:xfrm flipV="1">
            <a:off x="0" y="471056"/>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cxnSp>
        <p:nvCxnSpPr>
          <p:cNvPr id="12" name="Straight Connector 11"/>
          <p:cNvCxnSpPr/>
          <p:nvPr userDrawn="1"/>
        </p:nvCxnSpPr>
        <p:spPr bwMode="auto">
          <a:xfrm flipV="1">
            <a:off x="0" y="6400824"/>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pic>
        <p:nvPicPr>
          <p:cNvPr id="3" name="Picture 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026140" y="110638"/>
            <a:ext cx="681144" cy="322394"/>
          </a:xfrm>
          <a:prstGeom prst="rect">
            <a:avLst/>
          </a:prstGeom>
        </p:spPr>
      </p:pic>
    </p:spTree>
    <p:extLst>
      <p:ext uri="{BB962C8B-B14F-4D97-AF65-F5344CB8AC3E}">
        <p14:creationId xmlns:p14="http://schemas.microsoft.com/office/powerpoint/2010/main" val="34116475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sldNum="0" hdr="0" ftr="0" dt="0"/>
  <p:txStyles>
    <p:titleStyle>
      <a:lvl1pPr algn="l" rtl="0" eaLnBrk="1" fontAlgn="base" hangingPunct="1">
        <a:lnSpc>
          <a:spcPct val="125000"/>
        </a:lnSpc>
        <a:spcBef>
          <a:spcPct val="0"/>
        </a:spcBef>
        <a:spcAft>
          <a:spcPct val="0"/>
        </a:spcAft>
        <a:defRPr sz="1650" b="1" kern="1200">
          <a:solidFill>
            <a:schemeClr val="tx1"/>
          </a:solidFill>
          <a:latin typeface="+mj-lt"/>
          <a:ea typeface="+mj-ea"/>
          <a:cs typeface="+mj-cs"/>
        </a:defRPr>
      </a:lvl1pPr>
      <a:lvl2pPr algn="l" rtl="0" eaLnBrk="1" fontAlgn="base" hangingPunct="1">
        <a:spcBef>
          <a:spcPct val="0"/>
        </a:spcBef>
        <a:spcAft>
          <a:spcPct val="0"/>
        </a:spcAft>
        <a:defRPr sz="1500" b="1">
          <a:solidFill>
            <a:schemeClr val="tx2"/>
          </a:solidFill>
          <a:latin typeface="Arial" charset="0"/>
          <a:cs typeface="Arial" charset="0"/>
        </a:defRPr>
      </a:lvl2pPr>
      <a:lvl3pPr algn="l" rtl="0" eaLnBrk="1" fontAlgn="base" hangingPunct="1">
        <a:spcBef>
          <a:spcPct val="0"/>
        </a:spcBef>
        <a:spcAft>
          <a:spcPct val="0"/>
        </a:spcAft>
        <a:defRPr sz="1500" b="1">
          <a:solidFill>
            <a:schemeClr val="tx2"/>
          </a:solidFill>
          <a:latin typeface="Arial" charset="0"/>
          <a:cs typeface="Arial" charset="0"/>
        </a:defRPr>
      </a:lvl3pPr>
      <a:lvl4pPr algn="l" rtl="0" eaLnBrk="1" fontAlgn="base" hangingPunct="1">
        <a:spcBef>
          <a:spcPct val="0"/>
        </a:spcBef>
        <a:spcAft>
          <a:spcPct val="0"/>
        </a:spcAft>
        <a:defRPr sz="1500" b="1">
          <a:solidFill>
            <a:schemeClr val="tx2"/>
          </a:solidFill>
          <a:latin typeface="Arial" charset="0"/>
          <a:cs typeface="Arial" charset="0"/>
        </a:defRPr>
      </a:lvl4pPr>
      <a:lvl5pPr algn="l" rtl="0" eaLnBrk="1" fontAlgn="base" hangingPunct="1">
        <a:spcBef>
          <a:spcPct val="0"/>
        </a:spcBef>
        <a:spcAft>
          <a:spcPct val="0"/>
        </a:spcAft>
        <a:defRPr sz="1500" b="1">
          <a:solidFill>
            <a:schemeClr val="tx2"/>
          </a:solidFill>
          <a:latin typeface="Arial" charset="0"/>
          <a:cs typeface="Arial" charset="0"/>
        </a:defRPr>
      </a:lvl5pPr>
      <a:lvl6pPr marL="342900" algn="l" rtl="0" eaLnBrk="1" fontAlgn="base" hangingPunct="1">
        <a:spcBef>
          <a:spcPct val="0"/>
        </a:spcBef>
        <a:spcAft>
          <a:spcPct val="0"/>
        </a:spcAft>
        <a:defRPr sz="1500" b="1">
          <a:solidFill>
            <a:schemeClr val="tx2"/>
          </a:solidFill>
          <a:latin typeface="Arial" charset="0"/>
          <a:cs typeface="Arial" charset="0"/>
        </a:defRPr>
      </a:lvl6pPr>
      <a:lvl7pPr marL="685800" algn="l" rtl="0" eaLnBrk="1" fontAlgn="base" hangingPunct="1">
        <a:spcBef>
          <a:spcPct val="0"/>
        </a:spcBef>
        <a:spcAft>
          <a:spcPct val="0"/>
        </a:spcAft>
        <a:defRPr sz="1500" b="1">
          <a:solidFill>
            <a:schemeClr val="tx2"/>
          </a:solidFill>
          <a:latin typeface="Arial" charset="0"/>
          <a:cs typeface="Arial" charset="0"/>
        </a:defRPr>
      </a:lvl7pPr>
      <a:lvl8pPr marL="1028700" algn="l" rtl="0" eaLnBrk="1" fontAlgn="base" hangingPunct="1">
        <a:spcBef>
          <a:spcPct val="0"/>
        </a:spcBef>
        <a:spcAft>
          <a:spcPct val="0"/>
        </a:spcAft>
        <a:defRPr sz="1500" b="1">
          <a:solidFill>
            <a:schemeClr val="tx2"/>
          </a:solidFill>
          <a:latin typeface="Arial" charset="0"/>
          <a:cs typeface="Arial" charset="0"/>
        </a:defRPr>
      </a:lvl8pPr>
      <a:lvl9pPr marL="1371600" algn="l" rtl="0" eaLnBrk="1" fontAlgn="base" hangingPunct="1">
        <a:spcBef>
          <a:spcPct val="0"/>
        </a:spcBef>
        <a:spcAft>
          <a:spcPct val="0"/>
        </a:spcAft>
        <a:defRPr sz="1500" b="1">
          <a:solidFill>
            <a:schemeClr val="tx2"/>
          </a:solidFill>
          <a:latin typeface="Arial" charset="0"/>
          <a:cs typeface="Arial" charset="0"/>
        </a:defRPr>
      </a:lvl9pPr>
    </p:titleStyle>
    <p:bodyStyle>
      <a:lvl1pPr algn="l" rtl="0" eaLnBrk="1" fontAlgn="base" hangingPunct="1">
        <a:lnSpc>
          <a:spcPct val="125000"/>
        </a:lnSpc>
        <a:spcBef>
          <a:spcPct val="0"/>
        </a:spcBef>
        <a:spcAft>
          <a:spcPct val="0"/>
        </a:spcAft>
        <a:defRPr sz="1500" kern="1200">
          <a:solidFill>
            <a:schemeClr val="tx1"/>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3"/>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135" name="think-cell Folie" r:id="rId14" imgW="216" imgH="216" progId="TCLayout.ActiveDocument.1">
                  <p:embed/>
                </p:oleObj>
              </mc:Choice>
              <mc:Fallback>
                <p:oleObj name="think-cell Folie" r:id="rId14" imgW="216" imgH="216" progId="TCLayout.ActiveDocument.1">
                  <p:embed/>
                  <p:pic>
                    <p:nvPicPr>
                      <p:cNvPr id="2" name="Objekt 1" hidden="1"/>
                      <p:cNvPicPr/>
                      <p:nvPr/>
                    </p:nvPicPr>
                    <p:blipFill>
                      <a:blip r:embed="rId15"/>
                      <a:stretch>
                        <a:fillRect/>
                      </a:stretch>
                    </p:blipFill>
                    <p:spPr>
                      <a:xfrm>
                        <a:off x="2118" y="1589"/>
                        <a:ext cx="2116" cy="1587"/>
                      </a:xfrm>
                      <a:prstGeom prst="rect">
                        <a:avLst/>
                      </a:prstGeom>
                    </p:spPr>
                  </p:pic>
                </p:oleObj>
              </mc:Fallback>
            </mc:AlternateContent>
          </a:graphicData>
        </a:graphic>
      </p:graphicFrame>
      <p:sp>
        <p:nvSpPr>
          <p:cNvPr id="1026" name="Titelplatzhalter 1"/>
          <p:cNvSpPr>
            <a:spLocks noGrp="1"/>
          </p:cNvSpPr>
          <p:nvPr>
            <p:ph type="title"/>
          </p:nvPr>
        </p:nvSpPr>
        <p:spPr bwMode="auto">
          <a:xfrm>
            <a:off x="478367" y="627478"/>
            <a:ext cx="11228917" cy="432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de-DE" noProof="0" dirty="0"/>
              <a:t>Titelmasterformat durch Klicken bearbeiten</a:t>
            </a:r>
          </a:p>
        </p:txBody>
      </p:sp>
      <p:sp>
        <p:nvSpPr>
          <p:cNvPr id="1027" name="Textplatzhalter 2"/>
          <p:cNvSpPr>
            <a:spLocks noGrp="1"/>
          </p:cNvSpPr>
          <p:nvPr>
            <p:ph type="body" idx="1"/>
          </p:nvPr>
        </p:nvSpPr>
        <p:spPr bwMode="auto">
          <a:xfrm>
            <a:off x="478367" y="1135527"/>
            <a:ext cx="11228917" cy="513207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DE" noProof="0" dirty="0"/>
              <a:t>Textmasterformate durch Klicken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8" name="Text Box 18"/>
          <p:cNvSpPr txBox="1">
            <a:spLocks noChangeArrowheads="1"/>
          </p:cNvSpPr>
          <p:nvPr userDrawn="1"/>
        </p:nvSpPr>
        <p:spPr bwMode="auto">
          <a:xfrm>
            <a:off x="478368" y="6493158"/>
            <a:ext cx="9326033" cy="276999"/>
          </a:xfrm>
          <a:prstGeom prst="rect">
            <a:avLst/>
          </a:prstGeom>
          <a:noFill/>
          <a:ln w="9525">
            <a:noFill/>
            <a:miter lim="800000"/>
            <a:headEnd/>
            <a:tailEnd/>
          </a:ln>
          <a:effectLst/>
        </p:spPr>
        <p:txBody>
          <a:bodyPr wrap="square">
            <a:spAutoFit/>
          </a:bodyPr>
          <a:lstStyle/>
          <a:p>
            <a:pPr marL="0" marR="0" lvl="0" indent="0" algn="l" defTabSz="91440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dirty="0">
                <a:ln>
                  <a:noFill/>
                </a:ln>
                <a:solidFill>
                  <a:srgbClr val="0065BD"/>
                </a:solidFill>
                <a:effectLst/>
                <a:uLnTx/>
                <a:uFillTx/>
                <a:latin typeface="Arial" pitchFamily="34" charset="0"/>
                <a:cs typeface="Arial" pitchFamily="34" charset="0"/>
              </a:rPr>
              <a:t>Aircraft Design Advanced </a:t>
            </a:r>
            <a:r>
              <a:rPr kumimoji="0" lang="en-US" sz="1200" b="0" i="0" u="none" strike="noStrike" kern="0" cap="none" spc="0" normalizeH="0" baseline="0" noProof="0" dirty="0">
                <a:ln>
                  <a:noFill/>
                </a:ln>
                <a:solidFill>
                  <a:srgbClr val="0065BD"/>
                </a:solidFill>
                <a:effectLst/>
                <a:uLnTx/>
                <a:uFillTx/>
                <a:latin typeface="Arial" pitchFamily="34" charset="0"/>
                <a:cs typeface="Arial" pitchFamily="34" charset="0"/>
              </a:rPr>
              <a:t>| Taneri</a:t>
            </a:r>
          </a:p>
        </p:txBody>
      </p:sp>
      <p:sp>
        <p:nvSpPr>
          <p:cNvPr id="10" name="Text Box 23"/>
          <p:cNvSpPr txBox="1">
            <a:spLocks noChangeArrowheads="1"/>
          </p:cNvSpPr>
          <p:nvPr userDrawn="1"/>
        </p:nvSpPr>
        <p:spPr bwMode="auto">
          <a:xfrm>
            <a:off x="8456084" y="6493158"/>
            <a:ext cx="3251200" cy="276999"/>
          </a:xfrm>
          <a:prstGeom prst="rect">
            <a:avLst/>
          </a:prstGeom>
          <a:noFill/>
          <a:ln w="9525">
            <a:noFill/>
            <a:miter lim="800000"/>
            <a:headEnd/>
            <a:tailEnd/>
          </a:ln>
          <a:effectLst/>
        </p:spPr>
        <p:txBody>
          <a:bodyPr wrap="square" lIns="0" rIns="0" anchor="b">
            <a:spAutoFit/>
          </a:bodyP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de-DE" sz="1200" b="0" i="0" u="none" strike="noStrike" kern="0" cap="none" spc="0" normalizeH="0" baseline="0" noProof="0" dirty="0">
                <a:ln>
                  <a:noFill/>
                </a:ln>
                <a:solidFill>
                  <a:srgbClr val="0065BD"/>
                </a:solidFill>
                <a:effectLst/>
                <a:uLnTx/>
                <a:uFillTx/>
                <a:latin typeface="Arial" panose="020B0604020202020204" pitchFamily="34" charset="0"/>
              </a:rPr>
              <a:t>AY 2025 </a:t>
            </a:r>
            <a:r>
              <a:rPr kumimoji="0" lang="en-US" sz="1200" b="0" i="0" u="none" strike="noStrike" kern="0" cap="none" spc="0" normalizeH="0" baseline="0" noProof="0" dirty="0">
                <a:ln>
                  <a:noFill/>
                </a:ln>
                <a:solidFill>
                  <a:srgbClr val="0065BD"/>
                </a:solidFill>
                <a:effectLst/>
                <a:uLnTx/>
                <a:uFillTx/>
                <a:latin typeface="Arial" pitchFamily="34" charset="0"/>
                <a:cs typeface="Arial" pitchFamily="34" charset="0"/>
              </a:rPr>
              <a:t>|</a:t>
            </a:r>
            <a:r>
              <a:rPr kumimoji="0" lang="de-DE" sz="1200" b="0" i="0" u="none" strike="noStrike" kern="0" cap="none" spc="0" normalizeH="0" baseline="0" noProof="0" dirty="0">
                <a:ln>
                  <a:noFill/>
                </a:ln>
                <a:solidFill>
                  <a:srgbClr val="0065BD"/>
                </a:solidFill>
                <a:effectLst/>
                <a:uLnTx/>
                <a:uFillTx/>
                <a:latin typeface="Arial" panose="020B0604020202020204" pitchFamily="34" charset="0"/>
              </a:rPr>
              <a:t> </a:t>
            </a:r>
            <a:fld id="{9E2D9293-14AD-48BB-B030-230B5A633776}" type="slidenum">
              <a:rPr kumimoji="0" lang="de-DE" sz="1200" b="0" i="0" u="none" strike="noStrike" kern="0" cap="none" spc="0" normalizeH="0" baseline="0" noProof="0" smtClean="0">
                <a:ln>
                  <a:noFill/>
                </a:ln>
                <a:solidFill>
                  <a:srgbClr val="0065BD"/>
                </a:solidFill>
                <a:effectLst/>
                <a:uLnTx/>
                <a:uFillTx/>
                <a:latin typeface="Arial" panose="020B0604020202020204" pitchFamily="34" charset="0"/>
              </a:rPr>
              <a:pPr marL="0" marR="0" lvl="0" indent="0" algn="r" defTabSz="914400" eaLnBrk="1" fontAlgn="auto" latinLnBrk="0" hangingPunct="1">
                <a:lnSpc>
                  <a:spcPct val="100000"/>
                </a:lnSpc>
                <a:spcBef>
                  <a:spcPct val="50000"/>
                </a:spcBef>
                <a:spcAft>
                  <a:spcPts val="0"/>
                </a:spcAft>
                <a:buClrTx/>
                <a:buSzTx/>
                <a:buFontTx/>
                <a:buNone/>
                <a:tabLst/>
                <a:defRPr/>
              </a:pPr>
              <a:t>‹#›</a:t>
            </a:fld>
            <a:endParaRPr kumimoji="0" lang="de-DE" sz="1200" b="0" i="0" u="none" strike="noStrike" kern="0" cap="none" spc="0" normalizeH="0" baseline="0" noProof="0" dirty="0">
              <a:ln>
                <a:noFill/>
              </a:ln>
              <a:solidFill>
                <a:srgbClr val="0065BD"/>
              </a:solidFill>
              <a:effectLst/>
              <a:uLnTx/>
              <a:uFillTx/>
              <a:latin typeface="Arial" panose="020B0604020202020204" pitchFamily="34" charset="0"/>
            </a:endParaRPr>
          </a:p>
        </p:txBody>
      </p:sp>
      <p:cxnSp>
        <p:nvCxnSpPr>
          <p:cNvPr id="11" name="Straight Connector 10"/>
          <p:cNvCxnSpPr/>
          <p:nvPr userDrawn="1"/>
        </p:nvCxnSpPr>
        <p:spPr bwMode="auto">
          <a:xfrm flipV="1">
            <a:off x="0" y="471056"/>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cxnSp>
        <p:nvCxnSpPr>
          <p:cNvPr id="12" name="Straight Connector 11"/>
          <p:cNvCxnSpPr/>
          <p:nvPr userDrawn="1"/>
        </p:nvCxnSpPr>
        <p:spPr bwMode="auto">
          <a:xfrm flipV="1">
            <a:off x="0" y="6400824"/>
            <a:ext cx="12192000" cy="0"/>
          </a:xfrm>
          <a:prstGeom prst="line">
            <a:avLst/>
          </a:prstGeom>
          <a:solidFill>
            <a:schemeClr val="accent1"/>
          </a:solidFill>
          <a:ln w="12700" cap="flat" cmpd="sng" algn="ctr">
            <a:solidFill>
              <a:srgbClr val="0065BD"/>
            </a:solidFill>
            <a:prstDash val="solid"/>
            <a:round/>
            <a:headEnd type="none" w="med" len="med"/>
            <a:tailEnd type="none" w="med" len="med"/>
          </a:ln>
          <a:effectLst/>
        </p:spPr>
      </p:cxnSp>
      <p:pic>
        <p:nvPicPr>
          <p:cNvPr id="3" name="Picture 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026140" y="110638"/>
            <a:ext cx="681144" cy="322394"/>
          </a:xfrm>
          <a:prstGeom prst="rect">
            <a:avLst/>
          </a:prstGeom>
        </p:spPr>
      </p:pic>
    </p:spTree>
    <p:extLst>
      <p:ext uri="{BB962C8B-B14F-4D97-AF65-F5344CB8AC3E}">
        <p14:creationId xmlns:p14="http://schemas.microsoft.com/office/powerpoint/2010/main" val="422456253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sldNum="0" hdr="0" ftr="0" dt="0"/>
  <p:txStyles>
    <p:titleStyle>
      <a:lvl1pPr algn="l" rtl="0" eaLnBrk="1" fontAlgn="base" hangingPunct="1">
        <a:lnSpc>
          <a:spcPct val="125000"/>
        </a:lnSpc>
        <a:spcBef>
          <a:spcPct val="0"/>
        </a:spcBef>
        <a:spcAft>
          <a:spcPct val="0"/>
        </a:spcAft>
        <a:defRPr sz="2200" b="1"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25000"/>
        </a:lnSpc>
        <a:spcBef>
          <a:spcPct val="0"/>
        </a:spcBef>
        <a:spcAft>
          <a:spcPct val="0"/>
        </a:spcAft>
        <a:defRPr sz="2000" kern="1200">
          <a:solidFill>
            <a:schemeClr val="tx1"/>
          </a:solidFill>
          <a:latin typeface="+mn-lt"/>
          <a:ea typeface="+mn-ea"/>
          <a:cs typeface="+mn-cs"/>
        </a:defRPr>
      </a:lvl1pPr>
      <a:lvl2pPr marL="176213" indent="-176213" algn="l" rtl="0" eaLnBrk="1" fontAlgn="base" hangingPunct="1">
        <a:lnSpc>
          <a:spcPct val="125000"/>
        </a:lnSpc>
        <a:spcBef>
          <a:spcPct val="0"/>
        </a:spcBef>
        <a:spcAft>
          <a:spcPct val="0"/>
        </a:spcAft>
        <a:buFont typeface="Arial" charset="0"/>
        <a:buChar char="•"/>
        <a:defRPr sz="20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20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20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4.png"/><Relationship Id="rId3" Type="http://schemas.openxmlformats.org/officeDocument/2006/relationships/image" Target="../media/image7.svg"/><Relationship Id="rId7" Type="http://schemas.openxmlformats.org/officeDocument/2006/relationships/image" Target="../media/image10.png"/><Relationship Id="rId12"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2.png"/><Relationship Id="rId5" Type="http://schemas.microsoft.com/office/2007/relationships/hdphoto" Target="../media/hdphoto1.wdp"/><Relationship Id="rId10" Type="http://schemas.openxmlformats.org/officeDocument/2006/relationships/image" Target="../media/image330.png"/><Relationship Id="rId4" Type="http://schemas.openxmlformats.org/officeDocument/2006/relationships/image" Target="../media/image8.png"/><Relationship Id="rId9" Type="http://schemas.openxmlformats.org/officeDocument/2006/relationships/image" Target="../media/image320.png"/><Relationship Id="rId1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7.svg"/><Relationship Id="rId7" Type="http://schemas.openxmlformats.org/officeDocument/2006/relationships/image" Target="../media/image42.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5.sv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330.png"/></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5.sv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11.png"/><Relationship Id="rId10" Type="http://schemas.openxmlformats.org/officeDocument/2006/relationships/image" Target="../media/image28.svg"/><Relationship Id="rId4" Type="http://schemas.openxmlformats.org/officeDocument/2006/relationships/image" Target="../media/image10.png"/><Relationship Id="rId9"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4.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21.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5.png"/><Relationship Id="rId3" Type="http://schemas.openxmlformats.org/officeDocument/2006/relationships/image" Target="../media/image69.png"/><Relationship Id="rId7" Type="http://schemas.openxmlformats.org/officeDocument/2006/relationships/image" Target="../media/image80.png"/><Relationship Id="rId12" Type="http://schemas.openxmlformats.org/officeDocument/2006/relationships/image" Target="../media/image84.png"/><Relationship Id="rId17" Type="http://schemas.openxmlformats.org/officeDocument/2006/relationships/image" Target="../media/image89.png"/><Relationship Id="rId2" Type="http://schemas.openxmlformats.org/officeDocument/2006/relationships/image" Target="../media/image68.png"/><Relationship Id="rId16" Type="http://schemas.openxmlformats.org/officeDocument/2006/relationships/image" Target="../media/image88.png"/><Relationship Id="rId1" Type="http://schemas.openxmlformats.org/officeDocument/2006/relationships/slideLayout" Target="../slideLayouts/slideLayout4.xml"/><Relationship Id="rId6" Type="http://schemas.openxmlformats.org/officeDocument/2006/relationships/image" Target="../media/image72.png"/><Relationship Id="rId11" Type="http://schemas.openxmlformats.org/officeDocument/2006/relationships/image" Target="../media/image83.png"/><Relationship Id="rId5" Type="http://schemas.openxmlformats.org/officeDocument/2006/relationships/image" Target="../media/image71.png"/><Relationship Id="rId15" Type="http://schemas.openxmlformats.org/officeDocument/2006/relationships/image" Target="../media/image87.png"/><Relationship Id="rId10" Type="http://schemas.openxmlformats.org/officeDocument/2006/relationships/image" Target="../media/image82.png"/><Relationship Id="rId4" Type="http://schemas.openxmlformats.org/officeDocument/2006/relationships/image" Target="../media/image70.png"/><Relationship Id="rId9" Type="http://schemas.openxmlformats.org/officeDocument/2006/relationships/image" Target="../media/image81.png"/><Relationship Id="rId14" Type="http://schemas.openxmlformats.org/officeDocument/2006/relationships/image" Target="../media/image8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11.png"/><Relationship Id="rId10" Type="http://schemas.openxmlformats.org/officeDocument/2006/relationships/image" Target="../media/image13.svg"/><Relationship Id="rId4" Type="http://schemas.openxmlformats.org/officeDocument/2006/relationships/image" Target="../media/image10.png"/><Relationship Id="rId9"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0.png"/><Relationship Id="rId1" Type="http://schemas.openxmlformats.org/officeDocument/2006/relationships/slideLayout" Target="../slideLayouts/slideLayout4.xml"/><Relationship Id="rId4" Type="http://schemas.openxmlformats.org/officeDocument/2006/relationships/image" Target="../media/image13.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78.png"/><Relationship Id="rId1" Type="http://schemas.openxmlformats.org/officeDocument/2006/relationships/slideLayout" Target="../slideLayouts/slideLayout4.xml"/><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3.sv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microsoft.com/office/2007/relationships/hdphoto" Target="../media/hdphoto1.wdp"/><Relationship Id="rId11" Type="http://schemas.openxmlformats.org/officeDocument/2006/relationships/image" Target="../media/image330.png"/><Relationship Id="rId5" Type="http://schemas.openxmlformats.org/officeDocument/2006/relationships/image" Target="../media/image8.png"/><Relationship Id="rId15" Type="http://schemas.openxmlformats.org/officeDocument/2006/relationships/image" Target="../media/image15.svg"/><Relationship Id="rId10" Type="http://schemas.openxmlformats.org/officeDocument/2006/relationships/image" Target="../media/image320.png"/><Relationship Id="rId4" Type="http://schemas.openxmlformats.org/officeDocument/2006/relationships/image" Target="../media/image7.svg"/><Relationship Id="rId9" Type="http://schemas.openxmlformats.org/officeDocument/2006/relationships/image" Target="../media/image11.png"/><Relationship Id="rId1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en-US" dirty="0"/>
              <a:t>Aircraft Design Advanced </a:t>
            </a:r>
            <a:br>
              <a:rPr lang="en-US" dirty="0"/>
            </a:br>
            <a:r>
              <a:rPr lang="en-US" sz="1800" dirty="0"/>
              <a:t>Meric Taneri</a:t>
            </a:r>
            <a:br>
              <a:rPr lang="en-US" sz="1800" dirty="0"/>
            </a:br>
            <a:endParaRPr lang="en-US" sz="1800" dirty="0"/>
          </a:p>
        </p:txBody>
      </p:sp>
      <p:sp>
        <p:nvSpPr>
          <p:cNvPr id="7" name="Rectangle 6"/>
          <p:cNvSpPr/>
          <p:nvPr/>
        </p:nvSpPr>
        <p:spPr>
          <a:xfrm>
            <a:off x="480180" y="3226203"/>
            <a:ext cx="5831807" cy="2577629"/>
          </a:xfrm>
          <a:prstGeom prst="rect">
            <a:avLst/>
          </a:prstGeom>
        </p:spPr>
        <p:txBody>
          <a:bodyPr wrap="square">
            <a:spAutoFit/>
          </a:bodyPr>
          <a:lstStyle/>
          <a:p>
            <a:pPr marL="342900" marR="0" lvl="0" indent="-342900" algn="l" defTabSz="914400" rtl="0" eaLnBrk="1" fontAlgn="base" latinLnBrk="0" hangingPunct="1">
              <a:lnSpc>
                <a:spcPct val="100000"/>
              </a:lnSpc>
              <a:spcBef>
                <a:spcPct val="0"/>
              </a:spcBef>
              <a:spcAft>
                <a:spcPts val="300"/>
              </a:spcAft>
              <a:buClrTx/>
              <a:buSzTx/>
              <a:buFont typeface="+mj-lt"/>
              <a:buAutoNum type="arabicPeriod"/>
              <a:tabLst/>
              <a:defRPr/>
            </a:pPr>
            <a:r>
              <a:rPr kumimoji="0" lang="en-US" sz="1800" b="1" i="0" u="none" strike="noStrike" kern="1200" cap="none" spc="0" normalizeH="0" baseline="0" noProof="0" dirty="0">
                <a:ln>
                  <a:noFill/>
                </a:ln>
                <a:solidFill>
                  <a:schemeClr val="bg2"/>
                </a:solidFill>
                <a:effectLst/>
                <a:uLnTx/>
                <a:uFillTx/>
                <a:latin typeface="Arial" charset="0"/>
                <a:ea typeface="+mn-ea"/>
                <a:cs typeface="Arial" charset="0"/>
              </a:rPr>
              <a:t>Radical Aircraft Concepts</a:t>
            </a:r>
          </a:p>
          <a:p>
            <a:pPr marL="342900" marR="0" lvl="0" indent="-342900" algn="l" defTabSz="914400" rtl="0" eaLnBrk="1" fontAlgn="base" latinLnBrk="0" hangingPunct="1">
              <a:lnSpc>
                <a:spcPct val="100000"/>
              </a:lnSpc>
              <a:spcBef>
                <a:spcPct val="0"/>
              </a:spcBef>
              <a:spcAft>
                <a:spcPts val="300"/>
              </a:spcAft>
              <a:buClrTx/>
              <a:buSzTx/>
              <a:buFont typeface="+mj-lt"/>
              <a:buAutoNum type="arabicPeriod"/>
              <a:tabLst/>
              <a:defRPr/>
            </a:pPr>
            <a:r>
              <a:rPr kumimoji="0" lang="en-US" sz="1800" b="1" i="0" u="none" strike="noStrike" kern="1200" cap="none" spc="0" normalizeH="0" baseline="0" noProof="0" dirty="0">
                <a:ln>
                  <a:noFill/>
                </a:ln>
                <a:solidFill>
                  <a:srgbClr val="DAD7CB"/>
                </a:solidFill>
                <a:effectLst/>
                <a:uLnTx/>
                <a:uFillTx/>
                <a:latin typeface="Arial" charset="0"/>
                <a:ea typeface="+mn-ea"/>
                <a:cs typeface="Arial" charset="0"/>
              </a:rPr>
              <a:t>Aircraft Design Frameworks </a:t>
            </a:r>
          </a:p>
          <a:p>
            <a:pPr marR="0" lvl="0" algn="l" defTabSz="914400" rtl="0" eaLnBrk="1" fontAlgn="base" latinLnBrk="0" hangingPunct="1">
              <a:lnSpc>
                <a:spcPct val="100000"/>
              </a:lnSpc>
              <a:spcBef>
                <a:spcPct val="0"/>
              </a:spcBef>
              <a:spcAft>
                <a:spcPts val="300"/>
              </a:spcAft>
              <a:buClrTx/>
              <a:buSzTx/>
              <a:tabLst/>
              <a:defRPr/>
            </a:pPr>
            <a:r>
              <a:rPr lang="en-US" b="1" dirty="0">
                <a:solidFill>
                  <a:schemeClr val="tx2"/>
                </a:solidFill>
                <a:latin typeface="Arial" charset="0"/>
                <a:cs typeface="Arial" charset="0"/>
              </a:rPr>
              <a:t>UNICADO</a:t>
            </a:r>
            <a:endParaRPr kumimoji="0" lang="en-US" b="1" i="0" u="none" strike="noStrike" kern="1200" cap="none" spc="0" normalizeH="0" baseline="0" noProof="0" dirty="0">
              <a:ln>
                <a:noFill/>
              </a:ln>
              <a:solidFill>
                <a:schemeClr val="tx2"/>
              </a:solidFill>
              <a:effectLst/>
              <a:uLnTx/>
              <a:uFillTx/>
              <a:latin typeface="Arial" charset="0"/>
              <a:cs typeface="Arial" charset="0"/>
            </a:endParaRPr>
          </a:p>
          <a:p>
            <a:pPr marL="342900" marR="0" lvl="0" indent="-342900" algn="l" defTabSz="914400" rtl="0" eaLnBrk="1" fontAlgn="base" latinLnBrk="0" hangingPunct="1">
              <a:lnSpc>
                <a:spcPct val="100000"/>
              </a:lnSpc>
              <a:spcBef>
                <a:spcPct val="0"/>
              </a:spcBef>
              <a:spcAft>
                <a:spcPts val="300"/>
              </a:spcAft>
              <a:buClrTx/>
              <a:buSzTx/>
              <a:buFont typeface="+mj-lt"/>
              <a:buAutoNum type="arabicPeriod" startAt="3"/>
              <a:tabLst/>
              <a:defRPr/>
            </a:pPr>
            <a:r>
              <a:rPr kumimoji="0" lang="en-US" sz="1800" b="1" i="0" u="none" strike="noStrike" kern="1200" cap="none" spc="0" normalizeH="0" baseline="0" noProof="0" dirty="0">
                <a:ln>
                  <a:noFill/>
                </a:ln>
                <a:solidFill>
                  <a:srgbClr val="DAD7CB"/>
                </a:solidFill>
                <a:effectLst/>
                <a:uLnTx/>
                <a:uFillTx/>
                <a:latin typeface="Arial" charset="0"/>
                <a:ea typeface="+mn-ea"/>
                <a:cs typeface="Arial" charset="0"/>
              </a:rPr>
              <a:t>Full and Hybrid Electric Aircraft</a:t>
            </a:r>
          </a:p>
          <a:p>
            <a:pPr marL="342900" marR="0" lvl="0" indent="-342900" algn="l" defTabSz="914400" rtl="0" eaLnBrk="1" fontAlgn="base" latinLnBrk="0" hangingPunct="1">
              <a:lnSpc>
                <a:spcPct val="100000"/>
              </a:lnSpc>
              <a:spcBef>
                <a:spcPct val="0"/>
              </a:spcBef>
              <a:spcAft>
                <a:spcPts val="300"/>
              </a:spcAft>
              <a:buClrTx/>
              <a:buSzTx/>
              <a:buFont typeface="+mj-lt"/>
              <a:buAutoNum type="arabicPeriod" startAt="3"/>
              <a:tabLst/>
              <a:defRPr/>
            </a:pPr>
            <a:r>
              <a:rPr kumimoji="0" lang="en-US" sz="1800" b="1" i="0" u="none" strike="noStrike" kern="1200" cap="none" spc="0" normalizeH="0" baseline="0" noProof="0" dirty="0">
                <a:ln>
                  <a:noFill/>
                </a:ln>
                <a:solidFill>
                  <a:srgbClr val="DAD7CB"/>
                </a:solidFill>
                <a:effectLst/>
                <a:uLnTx/>
                <a:uFillTx/>
                <a:latin typeface="Arial" charset="0"/>
                <a:ea typeface="+mn-ea"/>
                <a:cs typeface="Arial" charset="0"/>
              </a:rPr>
              <a:t>Hydrogen Aircraft</a:t>
            </a:r>
          </a:p>
          <a:p>
            <a:pPr marL="342900" marR="0" lvl="0" indent="-342900" algn="l" defTabSz="914400" rtl="0" eaLnBrk="1" fontAlgn="base" latinLnBrk="0" hangingPunct="1">
              <a:lnSpc>
                <a:spcPct val="100000"/>
              </a:lnSpc>
              <a:spcBef>
                <a:spcPct val="0"/>
              </a:spcBef>
              <a:spcAft>
                <a:spcPts val="300"/>
              </a:spcAft>
              <a:buClrTx/>
              <a:buSzTx/>
              <a:buFont typeface="+mj-lt"/>
              <a:buAutoNum type="arabicPeriod" startAt="3"/>
              <a:tabLst/>
              <a:defRPr/>
            </a:pPr>
            <a:r>
              <a:rPr kumimoji="0" lang="en-US" sz="1800" b="1" i="0" u="none" strike="noStrike" kern="1200" cap="none" spc="0" normalizeH="0" baseline="0" noProof="0" dirty="0">
                <a:ln>
                  <a:noFill/>
                </a:ln>
                <a:solidFill>
                  <a:srgbClr val="DAD7CB"/>
                </a:solidFill>
                <a:effectLst/>
                <a:uLnTx/>
                <a:uFillTx/>
                <a:latin typeface="Arial" charset="0"/>
                <a:ea typeface="+mn-ea"/>
                <a:cs typeface="Arial" charset="0"/>
              </a:rPr>
              <a:t>Unconventional Configurations</a:t>
            </a:r>
          </a:p>
          <a:p>
            <a:pPr marL="342900" marR="0" lvl="0" indent="-342900" algn="l" defTabSz="914400" rtl="0" eaLnBrk="1" fontAlgn="base" latinLnBrk="0" hangingPunct="1">
              <a:lnSpc>
                <a:spcPct val="100000"/>
              </a:lnSpc>
              <a:spcBef>
                <a:spcPct val="0"/>
              </a:spcBef>
              <a:spcAft>
                <a:spcPts val="300"/>
              </a:spcAft>
              <a:buClrTx/>
              <a:buSzTx/>
              <a:buFont typeface="+mj-lt"/>
              <a:buAutoNum type="arabicPeriod" startAt="3"/>
              <a:tabLst/>
              <a:defRPr/>
            </a:pPr>
            <a:r>
              <a:rPr kumimoji="0" lang="en-US" sz="1800" b="1" i="0" u="none" strike="noStrike" kern="1200" cap="none" spc="0" normalizeH="0" baseline="0" noProof="0" dirty="0">
                <a:ln>
                  <a:noFill/>
                </a:ln>
                <a:solidFill>
                  <a:srgbClr val="DAD7CB"/>
                </a:solidFill>
                <a:effectLst/>
                <a:uLnTx/>
                <a:uFillTx/>
                <a:latin typeface="Arial" charset="0"/>
                <a:ea typeface="+mn-ea"/>
                <a:cs typeface="Arial" charset="0"/>
              </a:rPr>
              <a:t>Design Evaluation and Life Cycle Assessment</a:t>
            </a:r>
          </a:p>
          <a:p>
            <a:pPr marL="342900" marR="0" lvl="0" indent="-342900" algn="l" defTabSz="914400" rtl="0" eaLnBrk="1" fontAlgn="base" latinLnBrk="0" hangingPunct="1">
              <a:lnSpc>
                <a:spcPct val="100000"/>
              </a:lnSpc>
              <a:spcBef>
                <a:spcPct val="0"/>
              </a:spcBef>
              <a:spcAft>
                <a:spcPts val="300"/>
              </a:spcAft>
              <a:buClrTx/>
              <a:buSzTx/>
              <a:buFont typeface="+mj-lt"/>
              <a:buAutoNum type="arabicPeriod" startAt="3"/>
              <a:tabLst/>
              <a:defRPr/>
            </a:pPr>
            <a:r>
              <a:rPr kumimoji="0" lang="en-US" sz="1800" b="1" i="0" u="none" strike="noStrike" kern="1200" cap="none" spc="0" normalizeH="0" baseline="0" noProof="0" dirty="0">
                <a:ln>
                  <a:noFill/>
                </a:ln>
                <a:solidFill>
                  <a:srgbClr val="DAD7CB"/>
                </a:solidFill>
                <a:effectLst/>
                <a:uLnTx/>
                <a:uFillTx/>
                <a:latin typeface="Arial" charset="0"/>
                <a:ea typeface="+mn-ea"/>
                <a:cs typeface="Arial" charset="0"/>
              </a:rPr>
              <a:t>Fleet and Network, Operations</a:t>
            </a:r>
          </a:p>
        </p:txBody>
      </p:sp>
      <p:pic>
        <p:nvPicPr>
          <p:cNvPr id="2" name="Grafik 1" descr="Ein Bild, das Stift, Büroausstattung, Darstellung enthält.&#10;&#10;KI-generierte Inhalte können fehlerhaft sein.">
            <a:extLst>
              <a:ext uri="{FF2B5EF4-FFF2-40B4-BE49-F238E27FC236}">
                <a16:creationId xmlns:a16="http://schemas.microsoft.com/office/drawing/2014/main" id="{72D12C22-4A84-D96C-168D-8C0EF74B53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9457" y="3150264"/>
            <a:ext cx="4100357" cy="2633691"/>
          </a:xfrm>
          <a:prstGeom prst="rect">
            <a:avLst/>
          </a:prstGeom>
        </p:spPr>
      </p:pic>
    </p:spTree>
    <p:extLst>
      <p:ext uri="{BB962C8B-B14F-4D97-AF65-F5344CB8AC3E}">
        <p14:creationId xmlns:p14="http://schemas.microsoft.com/office/powerpoint/2010/main" val="240779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21F208-164D-49FE-966A-C8F06A704AF9}"/>
              </a:ext>
            </a:extLst>
          </p:cNvPr>
          <p:cNvSpPr>
            <a:spLocks noGrp="1"/>
          </p:cNvSpPr>
          <p:nvPr>
            <p:ph idx="1"/>
          </p:nvPr>
        </p:nvSpPr>
        <p:spPr>
          <a:xfrm>
            <a:off x="4396101" y="1828800"/>
            <a:ext cx="7118568" cy="1170595"/>
          </a:xfrm>
        </p:spPr>
        <p:txBody>
          <a:bodyPr/>
          <a:lstStyle/>
          <a:p>
            <a:r>
              <a:rPr lang="en-US" dirty="0"/>
              <a:t>A “quick” rundown of component design cluster</a:t>
            </a:r>
          </a:p>
          <a:p>
            <a:r>
              <a:rPr lang="en-US" dirty="0"/>
              <a:t>Some information about the Aircraft XML file and configurations</a:t>
            </a:r>
          </a:p>
          <a:p>
            <a:r>
              <a:rPr lang="en-US" dirty="0"/>
              <a:t>Challenges of Component Design</a:t>
            </a:r>
          </a:p>
        </p:txBody>
      </p:sp>
      <p:sp>
        <p:nvSpPr>
          <p:cNvPr id="3" name="Title 2">
            <a:extLst>
              <a:ext uri="{FF2B5EF4-FFF2-40B4-BE49-F238E27FC236}">
                <a16:creationId xmlns:a16="http://schemas.microsoft.com/office/drawing/2014/main" id="{D59F23CE-61E3-4CA8-A55A-9F4A5D83A47A}"/>
              </a:ext>
            </a:extLst>
          </p:cNvPr>
          <p:cNvSpPr>
            <a:spLocks noGrp="1"/>
          </p:cNvSpPr>
          <p:nvPr>
            <p:ph type="title"/>
          </p:nvPr>
        </p:nvSpPr>
        <p:spPr/>
        <p:txBody>
          <a:bodyPr/>
          <a:lstStyle/>
          <a:p>
            <a:r>
              <a:rPr lang="en-US" dirty="0"/>
              <a:t>Previously on UNICADO</a:t>
            </a:r>
          </a:p>
        </p:txBody>
      </p:sp>
      <p:pic>
        <p:nvPicPr>
          <p:cNvPr id="27" name="Content Placeholder 4">
            <a:extLst>
              <a:ext uri="{FF2B5EF4-FFF2-40B4-BE49-F238E27FC236}">
                <a16:creationId xmlns:a16="http://schemas.microsoft.com/office/drawing/2014/main" id="{1DA38F6C-0792-4C04-83FD-7E674B0CAA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sp>
        <p:nvSpPr>
          <p:cNvPr id="28" name="Rectangle: Rounded Corners 27">
            <a:extLst>
              <a:ext uri="{FF2B5EF4-FFF2-40B4-BE49-F238E27FC236}">
                <a16:creationId xmlns:a16="http://schemas.microsoft.com/office/drawing/2014/main" id="{84211877-E8DA-4862-BC83-A058AD32F2E5}"/>
              </a:ext>
            </a:extLst>
          </p:cNvPr>
          <p:cNvSpPr/>
          <p:nvPr/>
        </p:nvSpPr>
        <p:spPr>
          <a:xfrm>
            <a:off x="680420" y="2999395"/>
            <a:ext cx="2744705" cy="1097280"/>
          </a:xfrm>
          <a:prstGeom prst="roundRect">
            <a:avLst>
              <a:gd name="adj" fmla="val 13981"/>
            </a:avLst>
          </a:prstGeom>
          <a:solidFill>
            <a:srgbClr val="FFC000">
              <a:alpha val="3019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endParaRPr lang="en-US" b="1" dirty="0">
              <a:solidFill>
                <a:schemeClr val="bg1"/>
              </a:solidFill>
            </a:endParaRPr>
          </a:p>
        </p:txBody>
      </p:sp>
      <p:sp>
        <p:nvSpPr>
          <p:cNvPr id="29" name="Rectangle: Rounded Corners 28">
            <a:extLst>
              <a:ext uri="{FF2B5EF4-FFF2-40B4-BE49-F238E27FC236}">
                <a16:creationId xmlns:a16="http://schemas.microsoft.com/office/drawing/2014/main" id="{B2F17778-14AC-4811-A44D-2D2BB8876463}"/>
              </a:ext>
            </a:extLst>
          </p:cNvPr>
          <p:cNvSpPr/>
          <p:nvPr/>
        </p:nvSpPr>
        <p:spPr>
          <a:xfrm>
            <a:off x="1350341" y="2911468"/>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Component Design</a:t>
            </a:r>
          </a:p>
        </p:txBody>
      </p:sp>
      <p:sp>
        <p:nvSpPr>
          <p:cNvPr id="32" name="Content Placeholder 1">
            <a:extLst>
              <a:ext uri="{FF2B5EF4-FFF2-40B4-BE49-F238E27FC236}">
                <a16:creationId xmlns:a16="http://schemas.microsoft.com/office/drawing/2014/main" id="{6039184E-9CF9-438F-97A0-DE3E01ED3C85}"/>
              </a:ext>
            </a:extLst>
          </p:cNvPr>
          <p:cNvSpPr txBox="1">
            <a:spLocks/>
          </p:cNvSpPr>
          <p:nvPr/>
        </p:nvSpPr>
        <p:spPr bwMode="auto">
          <a:xfrm>
            <a:off x="4393012" y="3304195"/>
            <a:ext cx="7118568" cy="117059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60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6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buNone/>
            </a:pPr>
            <a:r>
              <a:rPr lang="en-US" b="1" dirty="0"/>
              <a:t>Today is going to be all about design analysis and the convergence loop</a:t>
            </a:r>
          </a:p>
          <a:p>
            <a:pPr marL="0" indent="0" defTabSz="914400">
              <a:buNone/>
            </a:pPr>
            <a:endParaRPr lang="en-US" dirty="0"/>
          </a:p>
          <a:p>
            <a:pPr marL="0" indent="0" defTabSz="914400">
              <a:buNone/>
            </a:pPr>
            <a:r>
              <a:rPr lang="en-US" dirty="0"/>
              <a:t>Design evaluation will be covered at later lectures throughout the semester.</a:t>
            </a:r>
          </a:p>
        </p:txBody>
      </p:sp>
    </p:spTree>
    <p:extLst>
      <p:ext uri="{BB962C8B-B14F-4D97-AF65-F5344CB8AC3E}">
        <p14:creationId xmlns:p14="http://schemas.microsoft.com/office/powerpoint/2010/main" val="380148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0" end="0"/>
                                            </p:txEl>
                                          </p:spTgt>
                                        </p:tgtEl>
                                        <p:attrNameLst>
                                          <p:attrName>style.visibility</p:attrName>
                                        </p:attrNameLst>
                                      </p:cBhvr>
                                      <p:to>
                                        <p:strVal val="visible"/>
                                      </p:to>
                                    </p:set>
                                    <p:animEffect transition="in" filter="fade">
                                      <p:cBhvr>
                                        <p:cTn id="22" dur="500"/>
                                        <p:tgtEl>
                                          <p:spTgt spid="3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2" end="2"/>
                                            </p:txEl>
                                          </p:spTgt>
                                        </p:tgtEl>
                                        <p:attrNameLst>
                                          <p:attrName>style.visibility</p:attrName>
                                        </p:attrNameLst>
                                      </p:cBhvr>
                                      <p:to>
                                        <p:strVal val="visible"/>
                                      </p:to>
                                    </p:set>
                                    <p:animEffect transition="in" filter="fade">
                                      <p:cBhvr>
                                        <p:cTn id="27"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2D02BF-D7AB-439A-960F-254D3FFA6B2B}"/>
              </a:ext>
            </a:extLst>
          </p:cNvPr>
          <p:cNvSpPr>
            <a:spLocks noGrp="1"/>
          </p:cNvSpPr>
          <p:nvPr>
            <p:ph type="title"/>
          </p:nvPr>
        </p:nvSpPr>
        <p:spPr>
          <a:xfrm>
            <a:off x="677336" y="914400"/>
            <a:ext cx="10837333" cy="609600"/>
          </a:xfrm>
        </p:spPr>
        <p:txBody>
          <a:bodyPr/>
          <a:lstStyle/>
          <a:p>
            <a:r>
              <a:rPr lang="en-US" dirty="0"/>
              <a:t>Design Analysis and Convergence Loop</a:t>
            </a:r>
          </a:p>
        </p:txBody>
      </p:sp>
      <p:pic>
        <p:nvPicPr>
          <p:cNvPr id="4" name="Content Placeholder 4">
            <a:extLst>
              <a:ext uri="{FF2B5EF4-FFF2-40B4-BE49-F238E27FC236}">
                <a16:creationId xmlns:a16="http://schemas.microsoft.com/office/drawing/2014/main" id="{92CEB987-A5A9-4B88-B6E2-4C84CC9D38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sp>
        <p:nvSpPr>
          <p:cNvPr id="6" name="Rectangle 5">
            <a:extLst>
              <a:ext uri="{FF2B5EF4-FFF2-40B4-BE49-F238E27FC236}">
                <a16:creationId xmlns:a16="http://schemas.microsoft.com/office/drawing/2014/main" id="{A1464DAD-1829-442C-8A3A-228660EE35FB}"/>
              </a:ext>
            </a:extLst>
          </p:cNvPr>
          <p:cNvSpPr/>
          <p:nvPr/>
        </p:nvSpPr>
        <p:spPr>
          <a:xfrm>
            <a:off x="5355836" y="4315309"/>
            <a:ext cx="1516068"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Aircraft Concept</a:t>
            </a:r>
          </a:p>
        </p:txBody>
      </p:sp>
      <p:grpSp>
        <p:nvGrpSpPr>
          <p:cNvPr id="7" name="Group 6">
            <a:extLst>
              <a:ext uri="{FF2B5EF4-FFF2-40B4-BE49-F238E27FC236}">
                <a16:creationId xmlns:a16="http://schemas.microsoft.com/office/drawing/2014/main" id="{AB68854D-3D47-4E22-A87D-D331C2C3918E}"/>
              </a:ext>
            </a:extLst>
          </p:cNvPr>
          <p:cNvGrpSpPr/>
          <p:nvPr/>
        </p:nvGrpSpPr>
        <p:grpSpPr>
          <a:xfrm>
            <a:off x="5355836" y="2144206"/>
            <a:ext cx="1585745" cy="2179382"/>
            <a:chOff x="497216" y="1905640"/>
            <a:chExt cx="1498387" cy="2059321"/>
          </a:xfrm>
        </p:grpSpPr>
        <p:sp>
          <p:nvSpPr>
            <p:cNvPr id="8" name="Cube 7">
              <a:extLst>
                <a:ext uri="{FF2B5EF4-FFF2-40B4-BE49-F238E27FC236}">
                  <a16:creationId xmlns:a16="http://schemas.microsoft.com/office/drawing/2014/main" id="{A8351BD0-82BB-4C2F-9F6A-881F079D3E8A}"/>
                </a:ext>
              </a:extLst>
            </p:cNvPr>
            <p:cNvSpPr/>
            <p:nvPr/>
          </p:nvSpPr>
          <p:spPr>
            <a:xfrm>
              <a:off x="497216" y="1905640"/>
              <a:ext cx="1498387" cy="2059321"/>
            </a:xfrm>
            <a:prstGeom prst="cube">
              <a:avLst>
                <a:gd name="adj" fmla="val 5775"/>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FE6C3806-A6B0-476F-922D-B81C67058DA2}"/>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0155" b="88742" l="10486" r="82609">
                          <a14:foregroundMark x1="70332" y1="12804" x2="70332" y2="12804"/>
                          <a14:foregroundMark x1="74169" y1="10155" x2="74169" y2="10155"/>
                          <a14:foregroundMark x1="79540" y1="65342" x2="79540" y2="65342"/>
                          <a14:foregroundMark x1="82609" y1="70640" x2="82609" y2="70640"/>
                          <a14:foregroundMark x1="13555" y1="76380" x2="13555" y2="76380"/>
                          <a14:foregroundMark x1="33504" y1="82561" x2="33504" y2="82561"/>
                          <a14:foregroundMark x1="36061" y1="85651" x2="36061" y2="85651"/>
                          <a14:foregroundMark x1="38875" y1="88742" x2="38875" y2="88742"/>
                          <a14:foregroundMark x1="10486" y1="34658" x2="10486" y2="34658"/>
                        </a14:backgroundRemoval>
                      </a14:imgEffect>
                      <a14:imgEffect>
                        <a14:sharpenSoften amount="-50000"/>
                      </a14:imgEffect>
                      <a14:imgEffect>
                        <a14:saturation sat="0"/>
                      </a14:imgEffect>
                      <a14:imgEffect>
                        <a14:brightnessContrast bright="20000" contrast="40000"/>
                      </a14:imgEffect>
                    </a14:imgLayer>
                  </a14:imgProps>
                </a:ext>
              </a:extLst>
            </a:blip>
            <a:srcRect l="6635" t="8194" r="12720" b="9700"/>
            <a:stretch/>
          </p:blipFill>
          <p:spPr>
            <a:xfrm>
              <a:off x="589310" y="2358254"/>
              <a:ext cx="1296199" cy="1528926"/>
            </a:xfrm>
            <a:prstGeom prst="rect">
              <a:avLst/>
            </a:prstGeom>
          </p:spPr>
        </p:pic>
      </p:grpSp>
      <p:sp>
        <p:nvSpPr>
          <p:cNvPr id="10" name="Rectangle 9">
            <a:extLst>
              <a:ext uri="{FF2B5EF4-FFF2-40B4-BE49-F238E27FC236}">
                <a16:creationId xmlns:a16="http://schemas.microsoft.com/office/drawing/2014/main" id="{04085EEE-9F9D-4BF8-9294-00DA6762667A}"/>
              </a:ext>
            </a:extLst>
          </p:cNvPr>
          <p:cNvSpPr/>
          <p:nvPr/>
        </p:nvSpPr>
        <p:spPr>
          <a:xfrm>
            <a:off x="5520974" y="2322322"/>
            <a:ext cx="1236420"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Component Design</a:t>
            </a:r>
          </a:p>
        </p:txBody>
      </p:sp>
      <p:sp>
        <p:nvSpPr>
          <p:cNvPr id="11" name="Arrow: Down 10">
            <a:extLst>
              <a:ext uri="{FF2B5EF4-FFF2-40B4-BE49-F238E27FC236}">
                <a16:creationId xmlns:a16="http://schemas.microsoft.com/office/drawing/2014/main" id="{82427DF4-AF99-45E1-B72B-39B278345A91}"/>
              </a:ext>
            </a:extLst>
          </p:cNvPr>
          <p:cNvSpPr/>
          <p:nvPr/>
        </p:nvSpPr>
        <p:spPr>
          <a:xfrm rot="16200000">
            <a:off x="4962075" y="3477490"/>
            <a:ext cx="376957" cy="209707"/>
          </a:xfrm>
          <a:prstGeom prst="downArrow">
            <a:avLst/>
          </a:prstGeom>
          <a:solidFill>
            <a:srgbClr val="0000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1582E3EB-3F1F-417C-900B-AE7603E28A67}"/>
              </a:ext>
            </a:extLst>
          </p:cNvPr>
          <p:cNvSpPr/>
          <p:nvPr/>
        </p:nvSpPr>
        <p:spPr>
          <a:xfrm rot="16200000">
            <a:off x="4962075" y="2739417"/>
            <a:ext cx="376957" cy="209707"/>
          </a:xfrm>
          <a:prstGeom prst="downArrow">
            <a:avLst/>
          </a:prstGeom>
          <a:solidFill>
            <a:srgbClr val="0000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8B8DD4-FBBF-4E15-A9F3-E397E9119287}"/>
              </a:ext>
            </a:extLst>
          </p:cNvPr>
          <p:cNvSpPr/>
          <p:nvPr/>
        </p:nvSpPr>
        <p:spPr>
          <a:xfrm>
            <a:off x="5359844" y="4976364"/>
            <a:ext cx="1508053" cy="487681"/>
          </a:xfrm>
          <a:prstGeom prst="rect">
            <a:avLst/>
          </a:prstGeom>
          <a:solidFill>
            <a:srgbClr val="0000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Weight and Balance Analysis</a:t>
            </a:r>
          </a:p>
        </p:txBody>
      </p:sp>
      <p:pic>
        <p:nvPicPr>
          <p:cNvPr id="14" name="Picture 13">
            <a:extLst>
              <a:ext uri="{FF2B5EF4-FFF2-40B4-BE49-F238E27FC236}">
                <a16:creationId xmlns:a16="http://schemas.microsoft.com/office/drawing/2014/main" id="{69A8058E-9D4A-4ACB-936C-8DB6BBEE74CA}"/>
              </a:ext>
            </a:extLst>
          </p:cNvPr>
          <p:cNvPicPr>
            <a:picLocks noChangeAspect="1"/>
          </p:cNvPicPr>
          <p:nvPr/>
        </p:nvPicPr>
        <p:blipFill rotWithShape="1">
          <a:blip r:embed="rId6"/>
          <a:srcRect l="4957" t="8739" r="4628" b="8371"/>
          <a:stretch/>
        </p:blipFill>
        <p:spPr>
          <a:xfrm>
            <a:off x="7223662" y="4933764"/>
            <a:ext cx="1090400" cy="575443"/>
          </a:xfrm>
          <a:prstGeom prst="rect">
            <a:avLst/>
          </a:prstGeom>
          <a:ln w="12700">
            <a:solidFill>
              <a:schemeClr val="tx1"/>
            </a:solidFill>
          </a:ln>
        </p:spPr>
      </p:pic>
      <p:cxnSp>
        <p:nvCxnSpPr>
          <p:cNvPr id="15" name="Straight Arrow Connector 14">
            <a:extLst>
              <a:ext uri="{FF2B5EF4-FFF2-40B4-BE49-F238E27FC236}">
                <a16:creationId xmlns:a16="http://schemas.microsoft.com/office/drawing/2014/main" id="{A7A19E32-E7FD-44D4-92A3-06DECA570A12}"/>
              </a:ext>
            </a:extLst>
          </p:cNvPr>
          <p:cNvCxnSpPr>
            <a:cxnSpLocks/>
            <a:stCxn id="13" idx="3"/>
            <a:endCxn id="14" idx="1"/>
          </p:cNvCxnSpPr>
          <p:nvPr/>
        </p:nvCxnSpPr>
        <p:spPr>
          <a:xfrm>
            <a:off x="6867897" y="5220205"/>
            <a:ext cx="355765" cy="128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E6A9E3-D626-448E-B28C-E4B9446DDAE3}"/>
              </a:ext>
            </a:extLst>
          </p:cNvPr>
          <p:cNvCxnSpPr>
            <a:cxnSpLocks/>
            <a:stCxn id="6" idx="2"/>
            <a:endCxn id="13" idx="0"/>
          </p:cNvCxnSpPr>
          <p:nvPr/>
        </p:nvCxnSpPr>
        <p:spPr>
          <a:xfrm>
            <a:off x="6113870" y="4616195"/>
            <a:ext cx="1" cy="3601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1E36F12F-34A6-4DE9-8A9F-F627D288FADD}"/>
              </a:ext>
            </a:extLst>
          </p:cNvPr>
          <p:cNvPicPr>
            <a:picLocks noChangeAspect="1"/>
          </p:cNvPicPr>
          <p:nvPr/>
        </p:nvPicPr>
        <p:blipFill rotWithShape="1">
          <a:blip r:embed="rId7"/>
          <a:srcRect l="10365" t="3183" r="4010" b="70802"/>
          <a:stretch/>
        </p:blipFill>
        <p:spPr>
          <a:xfrm>
            <a:off x="7223663" y="2693827"/>
            <a:ext cx="1053838" cy="410625"/>
          </a:xfrm>
          <a:prstGeom prst="rect">
            <a:avLst/>
          </a:prstGeom>
          <a:solidFill>
            <a:srgbClr val="00447E"/>
          </a:solidFill>
          <a:ln w="12700">
            <a:solidFill>
              <a:schemeClr val="tx1"/>
            </a:solidFill>
          </a:ln>
        </p:spPr>
      </p:pic>
      <p:pic>
        <p:nvPicPr>
          <p:cNvPr id="18" name="Picture 17">
            <a:extLst>
              <a:ext uri="{FF2B5EF4-FFF2-40B4-BE49-F238E27FC236}">
                <a16:creationId xmlns:a16="http://schemas.microsoft.com/office/drawing/2014/main" id="{16DA6284-BBEC-4BD1-95C2-D2398B0B3D32}"/>
              </a:ext>
            </a:extLst>
          </p:cNvPr>
          <p:cNvPicPr>
            <a:picLocks noChangeAspect="1"/>
          </p:cNvPicPr>
          <p:nvPr/>
        </p:nvPicPr>
        <p:blipFill rotWithShape="1">
          <a:blip r:embed="rId8"/>
          <a:srcRect l="6596" t="33475" r="4339" b="1831"/>
          <a:stretch/>
        </p:blipFill>
        <p:spPr>
          <a:xfrm>
            <a:off x="7223662" y="3609742"/>
            <a:ext cx="1057449" cy="1034789"/>
          </a:xfrm>
          <a:prstGeom prst="rect">
            <a:avLst/>
          </a:prstGeom>
          <a:ln w="12700">
            <a:solidFill>
              <a:schemeClr val="tx1"/>
            </a:solidFill>
          </a:ln>
        </p:spPr>
      </p:pic>
      <p:cxnSp>
        <p:nvCxnSpPr>
          <p:cNvPr id="19" name="Straight Arrow Connector 18">
            <a:extLst>
              <a:ext uri="{FF2B5EF4-FFF2-40B4-BE49-F238E27FC236}">
                <a16:creationId xmlns:a16="http://schemas.microsoft.com/office/drawing/2014/main" id="{82ACBAEB-A4E0-4080-8581-A28068E89788}"/>
              </a:ext>
            </a:extLst>
          </p:cNvPr>
          <p:cNvCxnSpPr>
            <a:cxnSpLocks/>
            <a:endCxn id="18" idx="1"/>
          </p:cNvCxnSpPr>
          <p:nvPr/>
        </p:nvCxnSpPr>
        <p:spPr>
          <a:xfrm>
            <a:off x="6945193" y="4126972"/>
            <a:ext cx="278469" cy="1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845B878-4E2E-4E2A-9A68-16BDEE30FDBA}"/>
              </a:ext>
            </a:extLst>
          </p:cNvPr>
          <p:cNvCxnSpPr>
            <a:cxnSpLocks/>
            <a:endCxn id="17" idx="1"/>
          </p:cNvCxnSpPr>
          <p:nvPr/>
        </p:nvCxnSpPr>
        <p:spPr>
          <a:xfrm>
            <a:off x="6941581" y="2899140"/>
            <a:ext cx="2820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0CD7B88E-07FC-40DB-A8BA-D22A812FA91E}"/>
              </a:ext>
            </a:extLst>
          </p:cNvPr>
          <p:cNvCxnSpPr>
            <a:cxnSpLocks/>
          </p:cNvCxnSpPr>
          <p:nvPr/>
        </p:nvCxnSpPr>
        <p:spPr>
          <a:xfrm flipV="1">
            <a:off x="8311133" y="4359461"/>
            <a:ext cx="422746" cy="822960"/>
          </a:xfrm>
          <a:prstGeom prst="bentConnector3">
            <a:avLst>
              <a:gd name="adj1" fmla="val 5901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BF5800D1-20F9-4F6F-A201-212A70448564}"/>
              </a:ext>
            </a:extLst>
          </p:cNvPr>
          <p:cNvCxnSpPr>
            <a:cxnSpLocks/>
            <a:stCxn id="26" idx="3"/>
            <a:endCxn id="27" idx="3"/>
          </p:cNvCxnSpPr>
          <p:nvPr/>
        </p:nvCxnSpPr>
        <p:spPr>
          <a:xfrm flipH="1">
            <a:off x="11387403" y="2587914"/>
            <a:ext cx="124177" cy="1459114"/>
          </a:xfrm>
          <a:prstGeom prst="bentConnector3">
            <a:avLst>
              <a:gd name="adj1" fmla="val -9895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BE3C50E-64CB-4A57-8A01-DF49E640DCFA}"/>
              </a:ext>
            </a:extLst>
          </p:cNvPr>
          <p:cNvCxnSpPr>
            <a:cxnSpLocks/>
          </p:cNvCxnSpPr>
          <p:nvPr/>
        </p:nvCxnSpPr>
        <p:spPr>
          <a:xfrm rot="5400000" flipH="1" flipV="1">
            <a:off x="8240176" y="2901670"/>
            <a:ext cx="822960" cy="195451"/>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F298609F-A88F-472F-BE8B-F40616830E7C}"/>
              </a:ext>
            </a:extLst>
          </p:cNvPr>
          <p:cNvCxnSpPr>
            <a:cxnSpLocks/>
          </p:cNvCxnSpPr>
          <p:nvPr/>
        </p:nvCxnSpPr>
        <p:spPr>
          <a:xfrm rot="16200000" flipH="1">
            <a:off x="8279609" y="3618955"/>
            <a:ext cx="731520" cy="18288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3C81701-7B63-448A-84FF-FEB737FDE38D}"/>
              </a:ext>
            </a:extLst>
          </p:cNvPr>
          <p:cNvCxnSpPr/>
          <p:nvPr/>
        </p:nvCxnSpPr>
        <p:spPr>
          <a:xfrm>
            <a:off x="8399988" y="3493508"/>
            <a:ext cx="153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1">
                <a:extLst>
                  <a:ext uri="{FF2B5EF4-FFF2-40B4-BE49-F238E27FC236}">
                    <a16:creationId xmlns:a16="http://schemas.microsoft.com/office/drawing/2014/main" id="{E1CC9BCE-3D2B-4A08-B6A5-590B46BB8B5A}"/>
                  </a:ext>
                </a:extLst>
              </p:cNvPr>
              <p:cNvSpPr txBox="1">
                <a:spLocks/>
              </p:cNvSpPr>
              <p:nvPr/>
            </p:nvSpPr>
            <p:spPr>
              <a:xfrm>
                <a:off x="10771851" y="2382409"/>
                <a:ext cx="739729" cy="411010"/>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𝑇</m:t>
                          </m:r>
                        </m:e>
                        <m:sub>
                          <m:r>
                            <a:rPr lang="en-US" sz="1200" i="1" dirty="0">
                              <a:solidFill>
                                <a:schemeClr val="tx1"/>
                              </a:solidFill>
                              <a:latin typeface="Cambria Math" panose="02040503050406030204" pitchFamily="18" charset="0"/>
                            </a:rPr>
                            <m:t>𝑆𝐿</m:t>
                          </m:r>
                        </m:sub>
                      </m:sSub>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
                    </m:oMathParaPr>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𝑇𝑂</m:t>
                          </m:r>
                        </m:sub>
                      </m:sSub>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𝑆</m:t>
                          </m:r>
                        </m:e>
                        <m:sub>
                          <m:r>
                            <a:rPr lang="en-US" sz="1200" i="1" dirty="0">
                              <a:solidFill>
                                <a:schemeClr val="tx1"/>
                              </a:solidFill>
                              <a:latin typeface="Cambria Math" panose="02040503050406030204" pitchFamily="18" charset="0"/>
                            </a:rPr>
                            <m:t>𝑅𝑒𝑓</m:t>
                          </m:r>
                        </m:sub>
                      </m:sSub>
                    </m:oMath>
                  </m:oMathPara>
                </a14:m>
                <a:endParaRPr lang="en-US" sz="1400" dirty="0">
                  <a:solidFill>
                    <a:schemeClr val="tx1"/>
                  </a:solidFill>
                </a:endParaRPr>
              </a:p>
            </p:txBody>
          </p:sp>
        </mc:Choice>
        <mc:Fallback xmlns="">
          <p:sp>
            <p:nvSpPr>
              <p:cNvPr id="26" name="Text Placeholder 1">
                <a:extLst>
                  <a:ext uri="{FF2B5EF4-FFF2-40B4-BE49-F238E27FC236}">
                    <a16:creationId xmlns:a16="http://schemas.microsoft.com/office/drawing/2014/main" id="{E1CC9BCE-3D2B-4A08-B6A5-590B46BB8B5A}"/>
                  </a:ext>
                </a:extLst>
              </p:cNvPr>
              <p:cNvSpPr txBox="1">
                <a:spLocks noRot="1" noChangeAspect="1" noMove="1" noResize="1" noEditPoints="1" noAdjustHandles="1" noChangeArrowheads="1" noChangeShapeType="1" noTextEdit="1"/>
              </p:cNvSpPr>
              <p:nvPr/>
            </p:nvSpPr>
            <p:spPr>
              <a:xfrm>
                <a:off x="10771851" y="2382409"/>
                <a:ext cx="739729" cy="411010"/>
              </a:xfrm>
              <a:prstGeom prst="rect">
                <a:avLst/>
              </a:prstGeom>
              <a:blipFill>
                <a:blip r:embed="rId9"/>
                <a:stretch>
                  <a:fillRect l="-2439" b="-4348"/>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 Placeholder 1">
                <a:extLst>
                  <a:ext uri="{FF2B5EF4-FFF2-40B4-BE49-F238E27FC236}">
                    <a16:creationId xmlns:a16="http://schemas.microsoft.com/office/drawing/2014/main" id="{705D9DE8-DCA3-4FCE-8436-287C629CAA0A}"/>
                  </a:ext>
                </a:extLst>
              </p:cNvPr>
              <p:cNvSpPr txBox="1">
                <a:spLocks/>
              </p:cNvSpPr>
              <p:nvPr/>
            </p:nvSpPr>
            <p:spPr>
              <a:xfrm>
                <a:off x="10896027" y="3663574"/>
                <a:ext cx="491376" cy="766907"/>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𝑊</m:t>
                          </m:r>
                        </m:e>
                        <m:sub>
                          <m:r>
                            <a:rPr lang="en-US" sz="1200" b="0" i="1" smtClean="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𝑊</m:t>
                          </m:r>
                        </m:e>
                        <m:sub>
                          <m:r>
                            <a:rPr lang="en-US" sz="1200" b="0" i="1" dirty="0" smtClean="0">
                              <a:solidFill>
                                <a:schemeClr val="tx1"/>
                              </a:solidFill>
                              <a:latin typeface="Cambria Math" panose="02040503050406030204" pitchFamily="18" charset="0"/>
                            </a:rPr>
                            <m:t>𝐸</m:t>
                          </m:r>
                        </m:sub>
                      </m:sSub>
                    </m:oMath>
                  </m:oMathPara>
                </a14:m>
                <a:endParaRPr lang="en-US" sz="1200" b="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smtClean="0">
                              <a:solidFill>
                                <a:schemeClr val="tx1"/>
                              </a:solidFill>
                              <a:latin typeface="Cambria Math" panose="02040503050406030204" pitchFamily="18" charset="0"/>
                            </a:rPr>
                            <m:t>𝐹</m:t>
                          </m:r>
                        </m:sub>
                      </m:sSub>
                    </m:oMath>
                  </m:oMathPara>
                </a14:m>
                <a:endParaRPr lang="en-US" sz="1200" i="1" dirty="0">
                  <a:solidFill>
                    <a:schemeClr val="tx1"/>
                  </a:solidFill>
                  <a:latin typeface="Cambria Math" panose="02040503050406030204" pitchFamily="18" charset="0"/>
                </a:endParaRPr>
              </a:p>
              <a:p>
                <a:pPr marL="0" indent="0" algn="ctr">
                  <a:buNone/>
                </a:pPr>
                <a14:m>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𝑃</m:t>
                        </m:r>
                      </m:sub>
                    </m:sSub>
                  </m:oMath>
                </a14:m>
                <a:r>
                  <a:rPr lang="en-US" sz="1200" dirty="0">
                    <a:solidFill>
                      <a:schemeClr val="tx1"/>
                    </a:solidFill>
                  </a:rPr>
                  <a:t> </a:t>
                </a:r>
              </a:p>
            </p:txBody>
          </p:sp>
        </mc:Choice>
        <mc:Fallback xmlns="">
          <p:sp>
            <p:nvSpPr>
              <p:cNvPr id="27" name="Text Placeholder 1">
                <a:extLst>
                  <a:ext uri="{FF2B5EF4-FFF2-40B4-BE49-F238E27FC236}">
                    <a16:creationId xmlns:a16="http://schemas.microsoft.com/office/drawing/2014/main" id="{705D9DE8-DCA3-4FCE-8436-287C629CAA0A}"/>
                  </a:ext>
                </a:extLst>
              </p:cNvPr>
              <p:cNvSpPr txBox="1">
                <a:spLocks noRot="1" noChangeAspect="1" noMove="1" noResize="1" noEditPoints="1" noAdjustHandles="1" noChangeArrowheads="1" noChangeShapeType="1" noTextEdit="1"/>
              </p:cNvSpPr>
              <p:nvPr/>
            </p:nvSpPr>
            <p:spPr>
              <a:xfrm>
                <a:off x="10896027" y="3663574"/>
                <a:ext cx="491376" cy="766907"/>
              </a:xfrm>
              <a:prstGeom prst="rect">
                <a:avLst/>
              </a:prstGeom>
              <a:blipFill>
                <a:blip r:embed="rId10"/>
                <a:stretch>
                  <a:fillRect/>
                </a:stretch>
              </a:blipFill>
              <a:ln>
                <a:solidFill>
                  <a:schemeClr val="tx1"/>
                </a:solidFill>
              </a:ln>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6971B545-73D5-42E2-9E5D-BD0FA3552629}"/>
              </a:ext>
            </a:extLst>
          </p:cNvPr>
          <p:cNvCxnSpPr>
            <a:cxnSpLocks/>
            <a:endCxn id="26" idx="1"/>
          </p:cNvCxnSpPr>
          <p:nvPr/>
        </p:nvCxnSpPr>
        <p:spPr>
          <a:xfrm>
            <a:off x="10550457" y="2587914"/>
            <a:ext cx="221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2D5BE05-99D1-4705-8FDD-6A39D80A586C}"/>
              </a:ext>
            </a:extLst>
          </p:cNvPr>
          <p:cNvCxnSpPr>
            <a:cxnSpLocks/>
            <a:endCxn id="27" idx="1"/>
          </p:cNvCxnSpPr>
          <p:nvPr/>
        </p:nvCxnSpPr>
        <p:spPr>
          <a:xfrm flipV="1">
            <a:off x="10550457" y="4047028"/>
            <a:ext cx="345570"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95CEA357-D9FD-4EA8-BD9B-14FA754A1D99}"/>
              </a:ext>
            </a:extLst>
          </p:cNvPr>
          <p:cNvCxnSpPr>
            <a:cxnSpLocks/>
            <a:endCxn id="8" idx="0"/>
          </p:cNvCxnSpPr>
          <p:nvPr/>
        </p:nvCxnSpPr>
        <p:spPr>
          <a:xfrm rot="10800000">
            <a:off x="6194497" y="2144206"/>
            <a:ext cx="5441614" cy="1223346"/>
          </a:xfrm>
          <a:prstGeom prst="bentConnector4">
            <a:avLst>
              <a:gd name="adj1" fmla="val -3076"/>
              <a:gd name="adj2" fmla="val 16252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815DAB0-50CB-488A-8032-427796FB20EE}"/>
              </a:ext>
            </a:extLst>
          </p:cNvPr>
          <p:cNvCxnSpPr>
            <a:cxnSpLocks/>
          </p:cNvCxnSpPr>
          <p:nvPr/>
        </p:nvCxnSpPr>
        <p:spPr>
          <a:xfrm flipV="1">
            <a:off x="9845835" y="4617490"/>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7C27611-EDFE-4962-9EFB-A586DCEFECE5}"/>
              </a:ext>
            </a:extLst>
          </p:cNvPr>
          <p:cNvSpPr txBox="1"/>
          <p:nvPr/>
        </p:nvSpPr>
        <p:spPr>
          <a:xfrm>
            <a:off x="9226915" y="5075782"/>
            <a:ext cx="1237839" cy="338554"/>
          </a:xfrm>
          <a:prstGeom prst="rect">
            <a:avLst/>
          </a:prstGeom>
          <a:noFill/>
          <a:ln>
            <a:solidFill>
              <a:schemeClr val="tx1"/>
            </a:solidFill>
          </a:ln>
        </p:spPr>
        <p:txBody>
          <a:bodyPr wrap="square" rtlCol="0">
            <a:spAutoFit/>
          </a:bodyPr>
          <a:lstStyle/>
          <a:p>
            <a:pPr algn="ctr"/>
            <a:r>
              <a:rPr lang="en-US" sz="800" b="1" dirty="0"/>
              <a:t>Mission Performance Requirements</a:t>
            </a:r>
          </a:p>
        </p:txBody>
      </p:sp>
      <p:cxnSp>
        <p:nvCxnSpPr>
          <p:cNvPr id="33" name="Straight Arrow Connector 32">
            <a:extLst>
              <a:ext uri="{FF2B5EF4-FFF2-40B4-BE49-F238E27FC236}">
                <a16:creationId xmlns:a16="http://schemas.microsoft.com/office/drawing/2014/main" id="{FFB0A38F-65A9-4424-8038-3CCD594B1A85}"/>
              </a:ext>
            </a:extLst>
          </p:cNvPr>
          <p:cNvCxnSpPr>
            <a:cxnSpLocks/>
            <a:stCxn id="35" idx="2"/>
          </p:cNvCxnSpPr>
          <p:nvPr/>
        </p:nvCxnSpPr>
        <p:spPr>
          <a:xfrm>
            <a:off x="9644732" y="1890502"/>
            <a:ext cx="0" cy="16209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9F44476-C246-4C57-977E-3B64D9ACFF5B}"/>
              </a:ext>
            </a:extLst>
          </p:cNvPr>
          <p:cNvSpPr txBox="1"/>
          <p:nvPr/>
        </p:nvSpPr>
        <p:spPr>
          <a:xfrm>
            <a:off x="9025812" y="1551948"/>
            <a:ext cx="1237839" cy="338554"/>
          </a:xfrm>
          <a:prstGeom prst="rect">
            <a:avLst/>
          </a:prstGeom>
          <a:solidFill>
            <a:srgbClr val="003B6F"/>
          </a:solidFill>
          <a:ln>
            <a:solidFill>
              <a:schemeClr val="tx1"/>
            </a:solidFill>
          </a:ln>
        </p:spPr>
        <p:txBody>
          <a:bodyPr wrap="square" rtlCol="0">
            <a:spAutoFit/>
          </a:bodyPr>
          <a:lstStyle/>
          <a:p>
            <a:pPr algn="ctr"/>
            <a:r>
              <a:rPr lang="en-US" sz="800" b="1" dirty="0">
                <a:solidFill>
                  <a:schemeClr val="bg1"/>
                </a:solidFill>
              </a:rPr>
              <a:t>Point Performance Requirements</a:t>
            </a:r>
          </a:p>
        </p:txBody>
      </p:sp>
      <p:cxnSp>
        <p:nvCxnSpPr>
          <p:cNvPr id="36" name="Connector: Elbow 35">
            <a:extLst>
              <a:ext uri="{FF2B5EF4-FFF2-40B4-BE49-F238E27FC236}">
                <a16:creationId xmlns:a16="http://schemas.microsoft.com/office/drawing/2014/main" id="{2C27BD38-EEC6-4156-AAC6-DF75E68B382E}"/>
              </a:ext>
            </a:extLst>
          </p:cNvPr>
          <p:cNvCxnSpPr>
            <a:cxnSpLocks/>
            <a:stCxn id="17" idx="3"/>
            <a:endCxn id="18" idx="3"/>
          </p:cNvCxnSpPr>
          <p:nvPr/>
        </p:nvCxnSpPr>
        <p:spPr>
          <a:xfrm>
            <a:off x="8277501" y="2899140"/>
            <a:ext cx="3610" cy="1227997"/>
          </a:xfrm>
          <a:prstGeom prst="bentConnector3">
            <a:avLst>
              <a:gd name="adj1" fmla="val 359601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302C3A82-6A23-43DF-9FE2-052A552C7B1A}"/>
              </a:ext>
            </a:extLst>
          </p:cNvPr>
          <p:cNvGrpSpPr/>
          <p:nvPr/>
        </p:nvGrpSpPr>
        <p:grpSpPr>
          <a:xfrm>
            <a:off x="8749382" y="2059631"/>
            <a:ext cx="1827215" cy="1092529"/>
            <a:chOff x="9533697" y="3022896"/>
            <a:chExt cx="1948963" cy="1092529"/>
          </a:xfrm>
        </p:grpSpPr>
        <p:grpSp>
          <p:nvGrpSpPr>
            <p:cNvPr id="38" name="Group 37">
              <a:extLst>
                <a:ext uri="{FF2B5EF4-FFF2-40B4-BE49-F238E27FC236}">
                  <a16:creationId xmlns:a16="http://schemas.microsoft.com/office/drawing/2014/main" id="{EAAE9F4D-3205-4F77-B1E7-290E49AB23D0}"/>
                </a:ext>
              </a:extLst>
            </p:cNvPr>
            <p:cNvGrpSpPr/>
            <p:nvPr/>
          </p:nvGrpSpPr>
          <p:grpSpPr>
            <a:xfrm>
              <a:off x="9533697" y="3022896"/>
              <a:ext cx="1948963" cy="1092529"/>
              <a:chOff x="9533698" y="2966337"/>
              <a:chExt cx="1805906" cy="1724075"/>
            </a:xfrm>
            <a:solidFill>
              <a:srgbClr val="C0C0C0"/>
            </a:solidFill>
          </p:grpSpPr>
          <p:sp>
            <p:nvSpPr>
              <p:cNvPr id="40" name="Cube 39">
                <a:extLst>
                  <a:ext uri="{FF2B5EF4-FFF2-40B4-BE49-F238E27FC236}">
                    <a16:creationId xmlns:a16="http://schemas.microsoft.com/office/drawing/2014/main" id="{C9EBE6E8-3183-4C42-BBF5-BD4B98D1BC80}"/>
                  </a:ext>
                </a:extLst>
              </p:cNvPr>
              <p:cNvSpPr/>
              <p:nvPr/>
            </p:nvSpPr>
            <p:spPr>
              <a:xfrm>
                <a:off x="9533698"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EB9EBE77-4926-43E6-9FB8-0A1048F8D262}"/>
                  </a:ext>
                </a:extLst>
              </p:cNvPr>
              <p:cNvSpPr/>
              <p:nvPr/>
            </p:nvSpPr>
            <p:spPr>
              <a:xfrm>
                <a:off x="9598549" y="3236788"/>
                <a:ext cx="1647420" cy="406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Constraint Analysis</a:t>
                </a:r>
              </a:p>
            </p:txBody>
          </p:sp>
        </p:grpSp>
        <p:pic>
          <p:nvPicPr>
            <p:cNvPr id="39" name="Graphic 38">
              <a:extLst>
                <a:ext uri="{FF2B5EF4-FFF2-40B4-BE49-F238E27FC236}">
                  <a16:creationId xmlns:a16="http://schemas.microsoft.com/office/drawing/2014/main" id="{915B70CB-02E2-45E7-8A7B-29BA78D393E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754881" y="3427878"/>
              <a:ext cx="1385180" cy="639839"/>
            </a:xfrm>
            <a:prstGeom prst="rect">
              <a:avLst/>
            </a:prstGeom>
          </p:spPr>
        </p:pic>
      </p:grpSp>
      <p:grpSp>
        <p:nvGrpSpPr>
          <p:cNvPr id="42" name="Group 41">
            <a:extLst>
              <a:ext uri="{FF2B5EF4-FFF2-40B4-BE49-F238E27FC236}">
                <a16:creationId xmlns:a16="http://schemas.microsoft.com/office/drawing/2014/main" id="{94ED78E6-25D8-4004-86DB-930CAA0ED272}"/>
              </a:ext>
            </a:extLst>
          </p:cNvPr>
          <p:cNvGrpSpPr/>
          <p:nvPr/>
        </p:nvGrpSpPr>
        <p:grpSpPr>
          <a:xfrm>
            <a:off x="8736808" y="3519087"/>
            <a:ext cx="1835049" cy="1091781"/>
            <a:chOff x="8985516" y="3499112"/>
            <a:chExt cx="1835049" cy="1091781"/>
          </a:xfrm>
        </p:grpSpPr>
        <p:grpSp>
          <p:nvGrpSpPr>
            <p:cNvPr id="43" name="Group 42">
              <a:extLst>
                <a:ext uri="{FF2B5EF4-FFF2-40B4-BE49-F238E27FC236}">
                  <a16:creationId xmlns:a16="http://schemas.microsoft.com/office/drawing/2014/main" id="{BE9BFCC2-8E54-49D1-971E-765A11F94C78}"/>
                </a:ext>
              </a:extLst>
            </p:cNvPr>
            <p:cNvGrpSpPr/>
            <p:nvPr/>
          </p:nvGrpSpPr>
          <p:grpSpPr>
            <a:xfrm>
              <a:off x="8985516" y="3499112"/>
              <a:ext cx="1835049" cy="1091781"/>
              <a:chOff x="9533697" y="2966337"/>
              <a:chExt cx="1805906" cy="1724075"/>
            </a:xfrm>
            <a:solidFill>
              <a:srgbClr val="C0C079"/>
            </a:solidFill>
          </p:grpSpPr>
          <p:sp>
            <p:nvSpPr>
              <p:cNvPr id="45" name="Cube 44">
                <a:extLst>
                  <a:ext uri="{FF2B5EF4-FFF2-40B4-BE49-F238E27FC236}">
                    <a16:creationId xmlns:a16="http://schemas.microsoft.com/office/drawing/2014/main" id="{95CEE163-3BC4-4146-A3EB-98AC820A3754}"/>
                  </a:ext>
                </a:extLst>
              </p:cNvPr>
              <p:cNvSpPr/>
              <p:nvPr/>
            </p:nvSpPr>
            <p:spPr>
              <a:xfrm>
                <a:off x="9533697"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9C57477-B271-444D-A598-8F44B19C7B55}"/>
                  </a:ext>
                </a:extLst>
              </p:cNvPr>
              <p:cNvSpPr/>
              <p:nvPr/>
            </p:nvSpPr>
            <p:spPr>
              <a:xfrm>
                <a:off x="9598547" y="3242865"/>
                <a:ext cx="1544884" cy="4065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Mission Analysis</a:t>
                </a:r>
              </a:p>
            </p:txBody>
          </p:sp>
        </p:grpSp>
        <p:pic>
          <p:nvPicPr>
            <p:cNvPr id="44" name="Graphic 43">
              <a:extLst>
                <a:ext uri="{FF2B5EF4-FFF2-40B4-BE49-F238E27FC236}">
                  <a16:creationId xmlns:a16="http://schemas.microsoft.com/office/drawing/2014/main" id="{35B01EE1-792E-4399-A97D-5FD6E1F8A83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33664" y="3941409"/>
              <a:ext cx="1114960" cy="613187"/>
            </a:xfrm>
            <a:prstGeom prst="rect">
              <a:avLst/>
            </a:prstGeom>
          </p:spPr>
        </p:pic>
      </p:grpSp>
      <p:cxnSp>
        <p:nvCxnSpPr>
          <p:cNvPr id="47" name="Straight Arrow Connector 46">
            <a:extLst>
              <a:ext uri="{FF2B5EF4-FFF2-40B4-BE49-F238E27FC236}">
                <a16:creationId xmlns:a16="http://schemas.microsoft.com/office/drawing/2014/main" id="{9DE92F05-D645-48F4-BBD9-2977D007B029}"/>
              </a:ext>
            </a:extLst>
          </p:cNvPr>
          <p:cNvCxnSpPr>
            <a:cxnSpLocks/>
          </p:cNvCxnSpPr>
          <p:nvPr/>
        </p:nvCxnSpPr>
        <p:spPr>
          <a:xfrm flipV="1">
            <a:off x="9644732" y="3146986"/>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6C66B70-4F9E-4DEE-B5E1-62D77B680D4B}"/>
              </a:ext>
            </a:extLst>
          </p:cNvPr>
          <p:cNvSpPr txBox="1"/>
          <p:nvPr/>
        </p:nvSpPr>
        <p:spPr>
          <a:xfrm>
            <a:off x="9025812" y="3229938"/>
            <a:ext cx="1237839" cy="215444"/>
          </a:xfrm>
          <a:prstGeom prst="rect">
            <a:avLst/>
          </a:prstGeom>
          <a:solidFill>
            <a:srgbClr val="00447E"/>
          </a:solidFill>
          <a:ln>
            <a:solidFill>
              <a:schemeClr val="tx1"/>
            </a:solidFill>
          </a:ln>
        </p:spPr>
        <p:txBody>
          <a:bodyPr wrap="square" rtlCol="0">
            <a:spAutoFit/>
          </a:bodyPr>
          <a:lstStyle/>
          <a:p>
            <a:pPr algn="ctr"/>
            <a:r>
              <a:rPr lang="en-US" sz="800" b="1" dirty="0">
                <a:solidFill>
                  <a:schemeClr val="bg1"/>
                </a:solidFill>
              </a:rPr>
              <a:t>Weight fractions</a:t>
            </a:r>
          </a:p>
        </p:txBody>
      </p:sp>
      <p:sp>
        <p:nvSpPr>
          <p:cNvPr id="49" name="Rectangle 48">
            <a:extLst>
              <a:ext uri="{FF2B5EF4-FFF2-40B4-BE49-F238E27FC236}">
                <a16:creationId xmlns:a16="http://schemas.microsoft.com/office/drawing/2014/main" id="{9D661B9D-B0D7-4A9E-B7DE-F3E9A64DC317}"/>
              </a:ext>
            </a:extLst>
          </p:cNvPr>
          <p:cNvSpPr/>
          <p:nvPr/>
        </p:nvSpPr>
        <p:spPr>
          <a:xfrm>
            <a:off x="4181877" y="3410876"/>
            <a:ext cx="731837"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TLARs</a:t>
            </a:r>
          </a:p>
        </p:txBody>
      </p:sp>
      <p:sp>
        <p:nvSpPr>
          <p:cNvPr id="50" name="Rectangle 49">
            <a:extLst>
              <a:ext uri="{FF2B5EF4-FFF2-40B4-BE49-F238E27FC236}">
                <a16:creationId xmlns:a16="http://schemas.microsoft.com/office/drawing/2014/main" id="{0CE7CDEF-C4B2-4828-BF1D-3BE5EBF11DCD}"/>
              </a:ext>
            </a:extLst>
          </p:cNvPr>
          <p:cNvSpPr/>
          <p:nvPr/>
        </p:nvSpPr>
        <p:spPr>
          <a:xfrm>
            <a:off x="4063606" y="2672803"/>
            <a:ext cx="958360"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Design Choices</a:t>
            </a:r>
          </a:p>
        </p:txBody>
      </p:sp>
      <p:sp>
        <p:nvSpPr>
          <p:cNvPr id="51" name="Rectangle: Rounded Corners 50">
            <a:extLst>
              <a:ext uri="{FF2B5EF4-FFF2-40B4-BE49-F238E27FC236}">
                <a16:creationId xmlns:a16="http://schemas.microsoft.com/office/drawing/2014/main" id="{08E95C5C-E0F9-465E-A50B-D2AA28A892C8}"/>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Tree>
    <p:extLst>
      <p:ext uri="{BB962C8B-B14F-4D97-AF65-F5344CB8AC3E}">
        <p14:creationId xmlns:p14="http://schemas.microsoft.com/office/powerpoint/2010/main" val="376109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par>
                                <p:cTn id="75" presetID="10" presetClass="entr" presetSubtype="0" fill="hold"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00"/>
                                        <p:tgtEl>
                                          <p:spTgt spid="36"/>
                                        </p:tgtEl>
                                      </p:cBhvr>
                                    </p:animEffect>
                                  </p:childTnLst>
                                </p:cTn>
                              </p:par>
                              <p:par>
                                <p:cTn id="78" presetID="10" presetClass="entr" presetSubtype="0" fill="hold" nodeType="with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500"/>
                                        <p:tgtEl>
                                          <p:spTgt spid="37"/>
                                        </p:tgtEl>
                                      </p:cBhvr>
                                    </p:animEffect>
                                  </p:childTnLst>
                                </p:cTn>
                              </p:par>
                              <p:par>
                                <p:cTn id="81" presetID="10" presetClass="entr" presetSubtype="0" fill="hold"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500"/>
                                        <p:tgtEl>
                                          <p:spTgt spid="42"/>
                                        </p:tgtEl>
                                      </p:cBhvr>
                                    </p:animEffect>
                                  </p:childTnLst>
                                </p:cTn>
                              </p:par>
                              <p:par>
                                <p:cTn id="84" presetID="10" presetClass="entr" presetSubtype="0" fill="hold"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5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500"/>
                                        <p:tgtEl>
                                          <p:spTgt spid="4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500"/>
                                        <p:tgtEl>
                                          <p:spTgt spid="2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par>
                                <p:cTn id="101" presetID="10" presetClass="entr" presetSubtype="0" fill="hold" nodeType="with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500"/>
                                        <p:tgtEl>
                                          <p:spTgt spid="28"/>
                                        </p:tgtEl>
                                      </p:cBhvr>
                                    </p:animEffect>
                                  </p:childTnLst>
                                </p:cTn>
                              </p:par>
                              <p:par>
                                <p:cTn id="104" presetID="10" presetClass="entr" presetSubtype="0" fill="hold" nodeType="with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par>
                                <p:cTn id="107" presetID="10" presetClass="entr" presetSubtype="0" fill="hold" nodeType="with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P spid="12" grpId="0" animBg="1"/>
      <p:bldP spid="13" grpId="0" animBg="1"/>
      <p:bldP spid="26" grpId="0" animBg="1"/>
      <p:bldP spid="27" grpId="0" animBg="1"/>
      <p:bldP spid="32" grpId="0" animBg="1"/>
      <p:bldP spid="35" grpId="0" animBg="1"/>
      <p:bldP spid="48" grpId="0" animBg="1"/>
      <p:bldP spid="49" grpId="0"/>
      <p:bldP spid="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Design Analysis</a:t>
            </a:r>
          </a:p>
        </p:txBody>
      </p:sp>
      <p:pic>
        <p:nvPicPr>
          <p:cNvPr id="30" name="Content Placeholder 4">
            <a:extLst>
              <a:ext uri="{FF2B5EF4-FFF2-40B4-BE49-F238E27FC236}">
                <a16:creationId xmlns:a16="http://schemas.microsoft.com/office/drawing/2014/main" id="{A710D3C1-6F29-4DFF-82B8-7B91E97E8E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sp>
        <p:nvSpPr>
          <p:cNvPr id="42" name="Content Placeholder 1">
            <a:extLst>
              <a:ext uri="{FF2B5EF4-FFF2-40B4-BE49-F238E27FC236}">
                <a16:creationId xmlns:a16="http://schemas.microsoft.com/office/drawing/2014/main" id="{4238195F-77A7-4706-8213-D2CA057D7A26}"/>
              </a:ext>
            </a:extLst>
          </p:cNvPr>
          <p:cNvSpPr txBox="1">
            <a:spLocks/>
          </p:cNvSpPr>
          <p:nvPr/>
        </p:nvSpPr>
        <p:spPr bwMode="auto">
          <a:xfrm>
            <a:off x="4290060" y="1828800"/>
            <a:ext cx="7701915" cy="23922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35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defTabSz="914400"/>
            <a:r>
              <a:rPr lang="en-US" sz="1600" dirty="0"/>
              <a:t>Analyzes the current state of the design</a:t>
            </a:r>
          </a:p>
          <a:p>
            <a:pPr defTabSz="914400"/>
            <a:endParaRPr lang="en-US" sz="1600" dirty="0"/>
          </a:p>
          <a:p>
            <a:pPr defTabSz="914400"/>
            <a:r>
              <a:rPr lang="en-US" sz="1600" dirty="0"/>
              <a:t>Where snowball effects and trends are realized</a:t>
            </a:r>
          </a:p>
          <a:p>
            <a:pPr defTabSz="914400"/>
            <a:endParaRPr lang="en-US" sz="1600" dirty="0"/>
          </a:p>
          <a:p>
            <a:pPr defTabSz="914400"/>
            <a:r>
              <a:rPr lang="en-US" sz="1600" dirty="0"/>
              <a:t>Where assumptions and documentations become crucial</a:t>
            </a:r>
          </a:p>
          <a:p>
            <a:pPr defTabSz="914400"/>
            <a:endParaRPr lang="en-US" sz="1600" dirty="0"/>
          </a:p>
          <a:p>
            <a:pPr defTabSz="914400"/>
            <a:r>
              <a:rPr lang="en-US" sz="1600" dirty="0"/>
              <a:t>Where robustness becomes an issue</a:t>
            </a:r>
          </a:p>
        </p:txBody>
      </p:sp>
      <p:sp>
        <p:nvSpPr>
          <p:cNvPr id="17" name="Rectangle: Rounded Corners 16">
            <a:extLst>
              <a:ext uri="{FF2B5EF4-FFF2-40B4-BE49-F238E27FC236}">
                <a16:creationId xmlns:a16="http://schemas.microsoft.com/office/drawing/2014/main" id="{A5D52EA6-3E09-460C-A95C-B95EBC73D213}"/>
              </a:ext>
            </a:extLst>
          </p:cNvPr>
          <p:cNvSpPr/>
          <p:nvPr/>
        </p:nvSpPr>
        <p:spPr>
          <a:xfrm>
            <a:off x="1350341" y="4221075"/>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Design Analysis</a:t>
            </a:r>
          </a:p>
        </p:txBody>
      </p:sp>
      <p:sp>
        <p:nvSpPr>
          <p:cNvPr id="7" name="Rectangle: Rounded Corners 6">
            <a:extLst>
              <a:ext uri="{FF2B5EF4-FFF2-40B4-BE49-F238E27FC236}">
                <a16:creationId xmlns:a16="http://schemas.microsoft.com/office/drawing/2014/main" id="{7C72D77F-525B-49DA-8034-EF698BB4A817}"/>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
        <p:nvSpPr>
          <p:cNvPr id="8" name="Rectangle: Rounded Corners 7">
            <a:extLst>
              <a:ext uri="{FF2B5EF4-FFF2-40B4-BE49-F238E27FC236}">
                <a16:creationId xmlns:a16="http://schemas.microsoft.com/office/drawing/2014/main" id="{74807DDD-74DE-4352-AB69-19CF2D61FF70}"/>
              </a:ext>
            </a:extLst>
          </p:cNvPr>
          <p:cNvSpPr/>
          <p:nvPr/>
        </p:nvSpPr>
        <p:spPr>
          <a:xfrm>
            <a:off x="4290059" y="4221075"/>
            <a:ext cx="7224609" cy="2055739"/>
          </a:xfrm>
          <a:prstGeom prst="roundRect">
            <a:avLst>
              <a:gd name="adj" fmla="val 4255"/>
            </a:avLst>
          </a:prstGeom>
          <a:solidFill>
            <a:srgbClr val="003359"/>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dirty="0">
                <a:solidFill>
                  <a:schemeClr val="bg1"/>
                </a:solidFill>
              </a:rPr>
              <a:t>Three objectives:</a:t>
            </a:r>
          </a:p>
          <a:p>
            <a:endParaRPr lang="en-US" sz="1600" b="1" dirty="0">
              <a:solidFill>
                <a:schemeClr val="bg1"/>
              </a:solidFill>
            </a:endParaRPr>
          </a:p>
          <a:p>
            <a:r>
              <a:rPr lang="en-US" sz="1600" b="1" dirty="0">
                <a:solidFill>
                  <a:schemeClr val="bg1"/>
                </a:solidFill>
              </a:rPr>
              <a:t>Capture fundamental phenomena</a:t>
            </a:r>
          </a:p>
          <a:p>
            <a:endParaRPr lang="en-US" sz="1600" b="1" dirty="0">
              <a:solidFill>
                <a:schemeClr val="bg1"/>
              </a:solidFill>
            </a:endParaRPr>
          </a:p>
          <a:p>
            <a:r>
              <a:rPr lang="en-US" sz="1600" b="1" dirty="0">
                <a:solidFill>
                  <a:schemeClr val="bg1"/>
                </a:solidFill>
              </a:rPr>
              <a:t>Allow integration of higher fidelity analysis tools to capture additional effects </a:t>
            </a:r>
          </a:p>
          <a:p>
            <a:endParaRPr lang="en-US" sz="1600" b="1" dirty="0">
              <a:solidFill>
                <a:schemeClr val="bg1"/>
              </a:solidFill>
            </a:endParaRPr>
          </a:p>
          <a:p>
            <a:r>
              <a:rPr lang="en-US" sz="1600" b="1" dirty="0">
                <a:solidFill>
                  <a:schemeClr val="bg1"/>
                </a:solidFill>
              </a:rPr>
              <a:t>Documentation</a:t>
            </a:r>
          </a:p>
        </p:txBody>
      </p:sp>
    </p:spTree>
    <p:extLst>
      <p:ext uri="{BB962C8B-B14F-4D97-AF65-F5344CB8AC3E}">
        <p14:creationId xmlns:p14="http://schemas.microsoft.com/office/powerpoint/2010/main" val="26480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pic>
        <p:nvPicPr>
          <p:cNvPr id="30" name="Content Placeholder 4">
            <a:extLst>
              <a:ext uri="{FF2B5EF4-FFF2-40B4-BE49-F238E27FC236}">
                <a16:creationId xmlns:a16="http://schemas.microsoft.com/office/drawing/2014/main" id="{A710D3C1-6F29-4DFF-82B8-7B91E97E8E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sp>
        <p:nvSpPr>
          <p:cNvPr id="42" name="Content Placeholder 1">
            <a:extLst>
              <a:ext uri="{FF2B5EF4-FFF2-40B4-BE49-F238E27FC236}">
                <a16:creationId xmlns:a16="http://schemas.microsoft.com/office/drawing/2014/main" id="{4238195F-77A7-4706-8213-D2CA057D7A26}"/>
              </a:ext>
            </a:extLst>
          </p:cNvPr>
          <p:cNvSpPr txBox="1">
            <a:spLocks/>
          </p:cNvSpPr>
          <p:nvPr/>
        </p:nvSpPr>
        <p:spPr bwMode="auto">
          <a:xfrm>
            <a:off x="4290060" y="1828800"/>
            <a:ext cx="7701915" cy="76630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35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buNone/>
            </a:pPr>
            <a:r>
              <a:rPr lang="en-US" sz="1600" dirty="0"/>
              <a:t>Let’s do an example functional breakdown</a:t>
            </a:r>
          </a:p>
          <a:p>
            <a:pPr defTabSz="914400"/>
            <a:r>
              <a:rPr lang="en-US" sz="1600" dirty="0"/>
              <a:t>What do I need from an “aerodynamic analysis” tool?</a:t>
            </a:r>
          </a:p>
          <a:p>
            <a:pPr marL="0" lvl="1" indent="0" defTabSz="914400">
              <a:buNone/>
            </a:pPr>
            <a:endParaRPr lang="en-US" sz="1600" dirty="0"/>
          </a:p>
        </p:txBody>
      </p:sp>
      <p:sp>
        <p:nvSpPr>
          <p:cNvPr id="17" name="Rectangle: Rounded Corners 16">
            <a:extLst>
              <a:ext uri="{FF2B5EF4-FFF2-40B4-BE49-F238E27FC236}">
                <a16:creationId xmlns:a16="http://schemas.microsoft.com/office/drawing/2014/main" id="{A5D52EA6-3E09-460C-A95C-B95EBC73D213}"/>
              </a:ext>
            </a:extLst>
          </p:cNvPr>
          <p:cNvSpPr/>
          <p:nvPr/>
        </p:nvSpPr>
        <p:spPr>
          <a:xfrm>
            <a:off x="1350341" y="4221075"/>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Design Analysis</a:t>
            </a:r>
          </a:p>
        </p:txBody>
      </p:sp>
      <p:sp>
        <p:nvSpPr>
          <p:cNvPr id="18" name="Rectangle: Rounded Corners 17">
            <a:extLst>
              <a:ext uri="{FF2B5EF4-FFF2-40B4-BE49-F238E27FC236}">
                <a16:creationId xmlns:a16="http://schemas.microsoft.com/office/drawing/2014/main" id="{99AEDD06-9E14-49FD-927A-CA24A2680F06}"/>
              </a:ext>
            </a:extLst>
          </p:cNvPr>
          <p:cNvSpPr/>
          <p:nvPr/>
        </p:nvSpPr>
        <p:spPr>
          <a:xfrm>
            <a:off x="2069277" y="4476848"/>
            <a:ext cx="1280160" cy="201168"/>
          </a:xfrm>
          <a:prstGeom prst="roundRect">
            <a:avLst>
              <a:gd name="adj" fmla="val 19189"/>
            </a:avLst>
          </a:prstGeom>
          <a:solidFill>
            <a:srgbClr val="FFC000">
              <a:alpha val="3019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endParaRPr lang="en-US" b="1" dirty="0">
              <a:solidFill>
                <a:schemeClr val="bg1"/>
              </a:solidFill>
            </a:endParaRPr>
          </a:p>
        </p:txBody>
      </p:sp>
      <p:sp>
        <p:nvSpPr>
          <p:cNvPr id="19" name="Rectangle: Rounded Corners 18">
            <a:extLst>
              <a:ext uri="{FF2B5EF4-FFF2-40B4-BE49-F238E27FC236}">
                <a16:creationId xmlns:a16="http://schemas.microsoft.com/office/drawing/2014/main" id="{CE47FF01-9403-4C3D-80C8-0D63873AFC09}"/>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mc:AlternateContent xmlns:mc="http://schemas.openxmlformats.org/markup-compatibility/2006" xmlns:a14="http://schemas.microsoft.com/office/drawing/2010/main">
        <mc:Choice Requires="a14">
          <p:sp>
            <p:nvSpPr>
              <p:cNvPr id="21" name="Rectangle: Rounded Corners 20">
                <a:extLst>
                  <a:ext uri="{FF2B5EF4-FFF2-40B4-BE49-F238E27FC236}">
                    <a16:creationId xmlns:a16="http://schemas.microsoft.com/office/drawing/2014/main" id="{9175B199-A8B8-4649-8D58-16C70AB06E55}"/>
                  </a:ext>
                </a:extLst>
              </p:cNvPr>
              <p:cNvSpPr/>
              <p:nvPr/>
            </p:nvSpPr>
            <p:spPr>
              <a:xfrm>
                <a:off x="4290060" y="2912938"/>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𝐶</m:t>
                        </m:r>
                      </m:e>
                      <m:sub>
                        <m:r>
                          <m:rPr>
                            <m:sty m:val="p"/>
                          </m:rPr>
                          <a:rPr lang="en-US" sz="1100" b="0" i="0" smtClean="0">
                            <a:solidFill>
                              <a:schemeClr val="tx1"/>
                            </a:solidFill>
                            <a:latin typeface="Cambria Math" panose="02040503050406030204" pitchFamily="18" charset="0"/>
                          </a:rPr>
                          <m:t>D</m:t>
                        </m:r>
                      </m:sub>
                    </m:sSub>
                  </m:oMath>
                </a14:m>
                <a:endParaRPr lang="en-US" sz="1100" dirty="0">
                  <a:solidFill>
                    <a:schemeClr val="tx1"/>
                  </a:solidFill>
                </a:endParaRPr>
              </a:p>
            </p:txBody>
          </p:sp>
        </mc:Choice>
        <mc:Fallback xmlns="">
          <p:sp>
            <p:nvSpPr>
              <p:cNvPr id="21" name="Rectangle: Rounded Corners 20">
                <a:extLst>
                  <a:ext uri="{FF2B5EF4-FFF2-40B4-BE49-F238E27FC236}">
                    <a16:creationId xmlns:a16="http://schemas.microsoft.com/office/drawing/2014/main" id="{9175B199-A8B8-4649-8D58-16C70AB06E55}"/>
                  </a:ext>
                </a:extLst>
              </p:cNvPr>
              <p:cNvSpPr>
                <a:spLocks noRot="1" noChangeAspect="1" noMove="1" noResize="1" noEditPoints="1" noAdjustHandles="1" noChangeArrowheads="1" noChangeShapeType="1" noTextEdit="1"/>
              </p:cNvSpPr>
              <p:nvPr/>
            </p:nvSpPr>
            <p:spPr>
              <a:xfrm>
                <a:off x="4290060" y="2912938"/>
                <a:ext cx="1744674" cy="238200"/>
              </a:xfrm>
              <a:prstGeom prst="roundRect">
                <a:avLst/>
              </a:prstGeom>
              <a:blipFill>
                <a:blip r:embed="rId4"/>
                <a:stretch>
                  <a:fillRect t="-7500" b="-17500"/>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Rounded Corners 44">
                <a:extLst>
                  <a:ext uri="{FF2B5EF4-FFF2-40B4-BE49-F238E27FC236}">
                    <a16:creationId xmlns:a16="http://schemas.microsoft.com/office/drawing/2014/main" id="{75B90875-FB84-41CC-813C-DD8C51564792}"/>
                  </a:ext>
                </a:extLst>
              </p:cNvPr>
              <p:cNvSpPr/>
              <p:nvPr/>
            </p:nvSpPr>
            <p:spPr>
              <a:xfrm>
                <a:off x="6469864" y="2914358"/>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𝐶</m:t>
                        </m:r>
                      </m:e>
                      <m:sub>
                        <m:r>
                          <a:rPr lang="en-US" sz="1100" b="0" i="1" smtClean="0">
                            <a:solidFill>
                              <a:schemeClr val="tx1"/>
                            </a:solidFill>
                            <a:latin typeface="Cambria Math" panose="02040503050406030204" pitchFamily="18" charset="0"/>
                          </a:rPr>
                          <m:t>𝐷𝑖</m:t>
                        </m:r>
                      </m:sub>
                    </m:sSub>
                  </m:oMath>
                </a14:m>
                <a:endParaRPr lang="en-US" sz="1100" dirty="0">
                  <a:solidFill>
                    <a:schemeClr val="tx1"/>
                  </a:solidFill>
                </a:endParaRPr>
              </a:p>
            </p:txBody>
          </p:sp>
        </mc:Choice>
        <mc:Fallback xmlns="">
          <p:sp>
            <p:nvSpPr>
              <p:cNvPr id="45" name="Rectangle: Rounded Corners 44">
                <a:extLst>
                  <a:ext uri="{FF2B5EF4-FFF2-40B4-BE49-F238E27FC236}">
                    <a16:creationId xmlns:a16="http://schemas.microsoft.com/office/drawing/2014/main" id="{75B90875-FB84-41CC-813C-DD8C51564792}"/>
                  </a:ext>
                </a:extLst>
              </p:cNvPr>
              <p:cNvSpPr>
                <a:spLocks noRot="1" noChangeAspect="1" noMove="1" noResize="1" noEditPoints="1" noAdjustHandles="1" noChangeArrowheads="1" noChangeShapeType="1" noTextEdit="1"/>
              </p:cNvSpPr>
              <p:nvPr/>
            </p:nvSpPr>
            <p:spPr>
              <a:xfrm>
                <a:off x="6469864" y="2914358"/>
                <a:ext cx="1744674" cy="238200"/>
              </a:xfrm>
              <a:prstGeom prst="roundRect">
                <a:avLst/>
              </a:prstGeom>
              <a:blipFill>
                <a:blip r:embed="rId5"/>
                <a:stretch>
                  <a:fillRect t="-7500" b="-17500"/>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Rounded Corners 46">
                <a:extLst>
                  <a:ext uri="{FF2B5EF4-FFF2-40B4-BE49-F238E27FC236}">
                    <a16:creationId xmlns:a16="http://schemas.microsoft.com/office/drawing/2014/main" id="{4941EAB5-D5AE-4C05-9232-85D0ADA15542}"/>
                  </a:ext>
                </a:extLst>
              </p:cNvPr>
              <p:cNvSpPr/>
              <p:nvPr/>
            </p:nvSpPr>
            <p:spPr>
              <a:xfrm>
                <a:off x="6469864" y="342900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𝐶</m:t>
                        </m:r>
                      </m:e>
                      <m:sub>
                        <m:r>
                          <a:rPr lang="en-US" sz="1100" b="0" i="1" smtClean="0">
                            <a:solidFill>
                              <a:schemeClr val="tx1"/>
                            </a:solidFill>
                            <a:latin typeface="Cambria Math" panose="02040503050406030204" pitchFamily="18" charset="0"/>
                          </a:rPr>
                          <m:t>𝐷</m:t>
                        </m:r>
                        <m:r>
                          <a:rPr lang="en-US" sz="1100" b="0" i="1" smtClean="0">
                            <a:solidFill>
                              <a:schemeClr val="tx1"/>
                            </a:solidFill>
                            <a:latin typeface="Cambria Math" panose="02040503050406030204" pitchFamily="18" charset="0"/>
                          </a:rPr>
                          <m:t>0</m:t>
                        </m:r>
                      </m:sub>
                    </m:sSub>
                  </m:oMath>
                </a14:m>
                <a:endParaRPr lang="en-US" sz="1100" dirty="0">
                  <a:solidFill>
                    <a:schemeClr val="tx1"/>
                  </a:solidFill>
                </a:endParaRPr>
              </a:p>
            </p:txBody>
          </p:sp>
        </mc:Choice>
        <mc:Fallback xmlns="">
          <p:sp>
            <p:nvSpPr>
              <p:cNvPr id="47" name="Rectangle: Rounded Corners 46">
                <a:extLst>
                  <a:ext uri="{FF2B5EF4-FFF2-40B4-BE49-F238E27FC236}">
                    <a16:creationId xmlns:a16="http://schemas.microsoft.com/office/drawing/2014/main" id="{4941EAB5-D5AE-4C05-9232-85D0ADA15542}"/>
                  </a:ext>
                </a:extLst>
              </p:cNvPr>
              <p:cNvSpPr>
                <a:spLocks noRot="1" noChangeAspect="1" noMove="1" noResize="1" noEditPoints="1" noAdjustHandles="1" noChangeArrowheads="1" noChangeShapeType="1" noTextEdit="1"/>
              </p:cNvSpPr>
              <p:nvPr/>
            </p:nvSpPr>
            <p:spPr>
              <a:xfrm>
                <a:off x="6469864" y="3429000"/>
                <a:ext cx="1744674" cy="238200"/>
              </a:xfrm>
              <a:prstGeom prst="roundRect">
                <a:avLst/>
              </a:prstGeom>
              <a:blipFill>
                <a:blip r:embed="rId6"/>
                <a:stretch>
                  <a:fillRect t="-7500" b="-17500"/>
                </a:stretch>
              </a:blipFill>
              <a:ln w="6350">
                <a:solidFill>
                  <a:schemeClr val="tx1"/>
                </a:solidFill>
              </a:ln>
            </p:spPr>
            <p:txBody>
              <a:bodyPr/>
              <a:lstStyle/>
              <a:p>
                <a:r>
                  <a:rPr lang="en-US">
                    <a:noFill/>
                  </a:rPr>
                  <a:t> </a:t>
                </a:r>
              </a:p>
            </p:txBody>
          </p:sp>
        </mc:Fallback>
      </mc:AlternateContent>
      <p:cxnSp>
        <p:nvCxnSpPr>
          <p:cNvPr id="4" name="Connector: Elbow 3">
            <a:extLst>
              <a:ext uri="{FF2B5EF4-FFF2-40B4-BE49-F238E27FC236}">
                <a16:creationId xmlns:a16="http://schemas.microsoft.com/office/drawing/2014/main" id="{D844F013-3C2B-43A9-863F-A82EA5566AB1}"/>
              </a:ext>
            </a:extLst>
          </p:cNvPr>
          <p:cNvCxnSpPr>
            <a:stCxn id="21" idx="3"/>
            <a:endCxn id="45" idx="1"/>
          </p:cNvCxnSpPr>
          <p:nvPr/>
        </p:nvCxnSpPr>
        <p:spPr>
          <a:xfrm>
            <a:off x="6034734" y="3032038"/>
            <a:ext cx="435130" cy="142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40E36520-A7BC-43D5-8382-B5BDA33A5356}"/>
              </a:ext>
            </a:extLst>
          </p:cNvPr>
          <p:cNvCxnSpPr>
            <a:cxnSpLocks/>
            <a:stCxn id="21" idx="3"/>
            <a:endCxn id="47" idx="1"/>
          </p:cNvCxnSpPr>
          <p:nvPr/>
        </p:nvCxnSpPr>
        <p:spPr>
          <a:xfrm>
            <a:off x="6034734" y="3032038"/>
            <a:ext cx="435130" cy="51606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angle: Rounded Corners 54">
                <a:extLst>
                  <a:ext uri="{FF2B5EF4-FFF2-40B4-BE49-F238E27FC236}">
                    <a16:creationId xmlns:a16="http://schemas.microsoft.com/office/drawing/2014/main" id="{70FA583F-A989-4385-AC99-E84B89283DDD}"/>
                  </a:ext>
                </a:extLst>
              </p:cNvPr>
              <p:cNvSpPr/>
              <p:nvPr/>
            </p:nvSpPr>
            <p:spPr>
              <a:xfrm>
                <a:off x="8649668" y="342900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i="1">
                            <a:solidFill>
                              <a:schemeClr val="tx1"/>
                            </a:solidFill>
                            <a:latin typeface="Cambria Math" panose="02040503050406030204" pitchFamily="18" charset="0"/>
                          </a:rPr>
                        </m:ctrlPr>
                      </m:sSubPr>
                      <m:e>
                        <m:r>
                          <a:rPr lang="en-US" sz="1100" i="1">
                            <a:solidFill>
                              <a:schemeClr val="tx1"/>
                            </a:solidFill>
                            <a:latin typeface="Cambria Math" panose="02040503050406030204" pitchFamily="18" charset="0"/>
                          </a:rPr>
                          <m:t>𝐶</m:t>
                        </m:r>
                      </m:e>
                      <m:sub>
                        <m:r>
                          <a:rPr lang="en-US" sz="1100" b="0" i="1" smtClean="0">
                            <a:solidFill>
                              <a:schemeClr val="tx1"/>
                            </a:solidFill>
                            <a:latin typeface="Cambria Math" panose="02040503050406030204" pitchFamily="18" charset="0"/>
                          </a:rPr>
                          <m:t>𝑓</m:t>
                        </m:r>
                      </m:sub>
                    </m:sSub>
                  </m:oMath>
                </a14:m>
                <a:endParaRPr lang="en-US" sz="1100" dirty="0">
                  <a:solidFill>
                    <a:schemeClr val="tx1"/>
                  </a:solidFill>
                </a:endParaRPr>
              </a:p>
            </p:txBody>
          </p:sp>
        </mc:Choice>
        <mc:Fallback xmlns="">
          <p:sp>
            <p:nvSpPr>
              <p:cNvPr id="55" name="Rectangle: Rounded Corners 54">
                <a:extLst>
                  <a:ext uri="{FF2B5EF4-FFF2-40B4-BE49-F238E27FC236}">
                    <a16:creationId xmlns:a16="http://schemas.microsoft.com/office/drawing/2014/main" id="{70FA583F-A989-4385-AC99-E84B89283DDD}"/>
                  </a:ext>
                </a:extLst>
              </p:cNvPr>
              <p:cNvSpPr>
                <a:spLocks noRot="1" noChangeAspect="1" noMove="1" noResize="1" noEditPoints="1" noAdjustHandles="1" noChangeArrowheads="1" noChangeShapeType="1" noTextEdit="1"/>
              </p:cNvSpPr>
              <p:nvPr/>
            </p:nvSpPr>
            <p:spPr>
              <a:xfrm>
                <a:off x="8649668" y="3429000"/>
                <a:ext cx="1744674" cy="238200"/>
              </a:xfrm>
              <a:prstGeom prst="roundRect">
                <a:avLst/>
              </a:prstGeom>
              <a:blipFill>
                <a:blip r:embed="rId7"/>
                <a:stretch>
                  <a:fillRect t="-10000" b="-15000"/>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Rounded Corners 55">
                <a:extLst>
                  <a:ext uri="{FF2B5EF4-FFF2-40B4-BE49-F238E27FC236}">
                    <a16:creationId xmlns:a16="http://schemas.microsoft.com/office/drawing/2014/main" id="{2F6BC158-A05A-47D0-AC3B-F8FA24EAEEBB}"/>
                  </a:ext>
                </a:extLst>
              </p:cNvPr>
              <p:cNvSpPr/>
              <p:nvPr/>
            </p:nvSpPr>
            <p:spPr>
              <a:xfrm>
                <a:off x="8649668" y="3982875"/>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i="1">
                            <a:solidFill>
                              <a:schemeClr val="tx1"/>
                            </a:solidFill>
                            <a:latin typeface="Cambria Math" panose="02040503050406030204" pitchFamily="18" charset="0"/>
                          </a:rPr>
                        </m:ctrlPr>
                      </m:sSubPr>
                      <m:e>
                        <m:r>
                          <a:rPr lang="en-US" sz="1100" i="1">
                            <a:solidFill>
                              <a:schemeClr val="tx1"/>
                            </a:solidFill>
                            <a:latin typeface="Cambria Math" panose="02040503050406030204" pitchFamily="18" charset="0"/>
                          </a:rPr>
                          <m:t>𝐶</m:t>
                        </m:r>
                      </m:e>
                      <m:sub>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𝐷</m:t>
                            </m:r>
                          </m:e>
                          <m:sub>
                            <m:r>
                              <a:rPr lang="en-US" sz="1100" b="0" i="1" smtClean="0">
                                <a:solidFill>
                                  <a:schemeClr val="tx1"/>
                                </a:solidFill>
                                <a:latin typeface="Cambria Math" panose="02040503050406030204" pitchFamily="18" charset="0"/>
                              </a:rPr>
                              <m:t>𝑓𝑖</m:t>
                            </m:r>
                          </m:sub>
                        </m:sSub>
                      </m:sub>
                    </m:sSub>
                  </m:oMath>
                </a14:m>
                <a:endParaRPr lang="en-US" sz="1100" dirty="0">
                  <a:solidFill>
                    <a:schemeClr val="tx1"/>
                  </a:solidFill>
                </a:endParaRPr>
              </a:p>
            </p:txBody>
          </p:sp>
        </mc:Choice>
        <mc:Fallback xmlns="">
          <p:sp>
            <p:nvSpPr>
              <p:cNvPr id="56" name="Rectangle: Rounded Corners 55">
                <a:extLst>
                  <a:ext uri="{FF2B5EF4-FFF2-40B4-BE49-F238E27FC236}">
                    <a16:creationId xmlns:a16="http://schemas.microsoft.com/office/drawing/2014/main" id="{2F6BC158-A05A-47D0-AC3B-F8FA24EAEEBB}"/>
                  </a:ext>
                </a:extLst>
              </p:cNvPr>
              <p:cNvSpPr>
                <a:spLocks noRot="1" noChangeAspect="1" noMove="1" noResize="1" noEditPoints="1" noAdjustHandles="1" noChangeArrowheads="1" noChangeShapeType="1" noTextEdit="1"/>
              </p:cNvSpPr>
              <p:nvPr/>
            </p:nvSpPr>
            <p:spPr>
              <a:xfrm>
                <a:off x="8649668" y="3982875"/>
                <a:ext cx="1744674" cy="238200"/>
              </a:xfrm>
              <a:prstGeom prst="roundRect">
                <a:avLst/>
              </a:prstGeom>
              <a:blipFill>
                <a:blip r:embed="rId8"/>
                <a:stretch>
                  <a:fillRect t="-12500" b="-12500"/>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Rounded Corners 57">
                <a:extLst>
                  <a:ext uri="{FF2B5EF4-FFF2-40B4-BE49-F238E27FC236}">
                    <a16:creationId xmlns:a16="http://schemas.microsoft.com/office/drawing/2014/main" id="{00BF1E8C-159A-4715-A396-17442FC0BF85}"/>
                  </a:ext>
                </a:extLst>
              </p:cNvPr>
              <p:cNvSpPr/>
              <p:nvPr/>
            </p:nvSpPr>
            <p:spPr>
              <a:xfrm>
                <a:off x="8649668" y="453675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i="1">
                            <a:solidFill>
                              <a:schemeClr val="tx1"/>
                            </a:solidFill>
                            <a:latin typeface="Cambria Math" panose="02040503050406030204" pitchFamily="18" charset="0"/>
                          </a:rPr>
                        </m:ctrlPr>
                      </m:sSubPr>
                      <m:e>
                        <m:r>
                          <a:rPr lang="en-US" sz="1100" i="1">
                            <a:solidFill>
                              <a:schemeClr val="tx1"/>
                            </a:solidFill>
                            <a:latin typeface="Cambria Math" panose="02040503050406030204" pitchFamily="18" charset="0"/>
                          </a:rPr>
                          <m:t>𝐶</m:t>
                        </m:r>
                      </m:e>
                      <m:sub>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𝐷</m:t>
                            </m:r>
                          </m:e>
                          <m:sub>
                            <m:r>
                              <a:rPr lang="en-US" sz="1100" b="0" i="1" smtClean="0">
                                <a:solidFill>
                                  <a:schemeClr val="tx1"/>
                                </a:solidFill>
                                <a:latin typeface="Cambria Math" panose="02040503050406030204" pitchFamily="18" charset="0"/>
                              </a:rPr>
                              <m:t>𝑤𝑎𝑣𝑒</m:t>
                            </m:r>
                          </m:sub>
                        </m:sSub>
                      </m:sub>
                    </m:sSub>
                  </m:oMath>
                </a14:m>
                <a:endParaRPr lang="en-US" sz="1100" dirty="0">
                  <a:solidFill>
                    <a:schemeClr val="tx1"/>
                  </a:solidFill>
                </a:endParaRPr>
              </a:p>
            </p:txBody>
          </p:sp>
        </mc:Choice>
        <mc:Fallback xmlns="">
          <p:sp>
            <p:nvSpPr>
              <p:cNvPr id="58" name="Rectangle: Rounded Corners 57">
                <a:extLst>
                  <a:ext uri="{FF2B5EF4-FFF2-40B4-BE49-F238E27FC236}">
                    <a16:creationId xmlns:a16="http://schemas.microsoft.com/office/drawing/2014/main" id="{00BF1E8C-159A-4715-A396-17442FC0BF85}"/>
                  </a:ext>
                </a:extLst>
              </p:cNvPr>
              <p:cNvSpPr>
                <a:spLocks noRot="1" noChangeAspect="1" noMove="1" noResize="1" noEditPoints="1" noAdjustHandles="1" noChangeArrowheads="1" noChangeShapeType="1" noTextEdit="1"/>
              </p:cNvSpPr>
              <p:nvPr/>
            </p:nvSpPr>
            <p:spPr>
              <a:xfrm>
                <a:off x="8649668" y="4536750"/>
                <a:ext cx="1744674" cy="238200"/>
              </a:xfrm>
              <a:prstGeom prst="roundRect">
                <a:avLst/>
              </a:prstGeom>
              <a:blipFill>
                <a:blip r:embed="rId9"/>
                <a:stretch>
                  <a:fillRect t="-10000" b="-15000"/>
                </a:stretch>
              </a:blipFill>
              <a:ln w="6350">
                <a:solidFill>
                  <a:schemeClr val="tx1"/>
                </a:solidFill>
              </a:ln>
            </p:spPr>
            <p:txBody>
              <a:bodyPr/>
              <a:lstStyle/>
              <a:p>
                <a:r>
                  <a:rPr lang="en-US">
                    <a:noFill/>
                  </a:rPr>
                  <a:t> </a:t>
                </a:r>
              </a:p>
            </p:txBody>
          </p:sp>
        </mc:Fallback>
      </mc:AlternateContent>
      <p:cxnSp>
        <p:nvCxnSpPr>
          <p:cNvPr id="59" name="Connector: Elbow 58">
            <a:extLst>
              <a:ext uri="{FF2B5EF4-FFF2-40B4-BE49-F238E27FC236}">
                <a16:creationId xmlns:a16="http://schemas.microsoft.com/office/drawing/2014/main" id="{A9DD9B83-6FC4-4E43-805F-B879DF51388D}"/>
              </a:ext>
            </a:extLst>
          </p:cNvPr>
          <p:cNvCxnSpPr>
            <a:cxnSpLocks/>
            <a:stCxn id="47" idx="3"/>
            <a:endCxn id="55" idx="1"/>
          </p:cNvCxnSpPr>
          <p:nvPr/>
        </p:nvCxnSpPr>
        <p:spPr>
          <a:xfrm>
            <a:off x="8214538" y="3548100"/>
            <a:ext cx="435130" cy="12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FC376D31-DF35-4CFB-A39E-CDBC608F9201}"/>
              </a:ext>
            </a:extLst>
          </p:cNvPr>
          <p:cNvCxnSpPr>
            <a:cxnSpLocks/>
            <a:stCxn id="47" idx="3"/>
            <a:endCxn id="56" idx="1"/>
          </p:cNvCxnSpPr>
          <p:nvPr/>
        </p:nvCxnSpPr>
        <p:spPr>
          <a:xfrm>
            <a:off x="8214538" y="3548100"/>
            <a:ext cx="435130" cy="55387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CF16B473-74CD-4566-921E-80747309413B}"/>
              </a:ext>
            </a:extLst>
          </p:cNvPr>
          <p:cNvCxnSpPr>
            <a:cxnSpLocks/>
            <a:stCxn id="47" idx="3"/>
            <a:endCxn id="58" idx="1"/>
          </p:cNvCxnSpPr>
          <p:nvPr/>
        </p:nvCxnSpPr>
        <p:spPr>
          <a:xfrm>
            <a:off x="8214538" y="3548100"/>
            <a:ext cx="435130" cy="110775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Rectangle: Rounded Corners 74">
                <a:extLst>
                  <a:ext uri="{FF2B5EF4-FFF2-40B4-BE49-F238E27FC236}">
                    <a16:creationId xmlns:a16="http://schemas.microsoft.com/office/drawing/2014/main" id="{6FEBBF09-7874-425E-831C-A33E6AB3810D}"/>
                  </a:ext>
                </a:extLst>
              </p:cNvPr>
              <p:cNvSpPr/>
              <p:nvPr/>
            </p:nvSpPr>
            <p:spPr>
              <a:xfrm>
                <a:off x="4290060" y="3442423"/>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𝐶</m:t>
                        </m:r>
                      </m:e>
                      <m:sub>
                        <m:r>
                          <m:rPr>
                            <m:sty m:val="p"/>
                          </m:rPr>
                          <a:rPr lang="en-US" sz="1100" b="0" i="0" smtClean="0">
                            <a:solidFill>
                              <a:schemeClr val="tx1"/>
                            </a:solidFill>
                            <a:latin typeface="Cambria Math" panose="02040503050406030204" pitchFamily="18" charset="0"/>
                          </a:rPr>
                          <m:t>L</m:t>
                        </m:r>
                      </m:sub>
                    </m:sSub>
                  </m:oMath>
                </a14:m>
                <a:endParaRPr lang="en-US" sz="1100" dirty="0">
                  <a:solidFill>
                    <a:schemeClr val="tx1"/>
                  </a:solidFill>
                </a:endParaRPr>
              </a:p>
            </p:txBody>
          </p:sp>
        </mc:Choice>
        <mc:Fallback xmlns="">
          <p:sp>
            <p:nvSpPr>
              <p:cNvPr id="75" name="Rectangle: Rounded Corners 74">
                <a:extLst>
                  <a:ext uri="{FF2B5EF4-FFF2-40B4-BE49-F238E27FC236}">
                    <a16:creationId xmlns:a16="http://schemas.microsoft.com/office/drawing/2014/main" id="{6FEBBF09-7874-425E-831C-A33E6AB3810D}"/>
                  </a:ext>
                </a:extLst>
              </p:cNvPr>
              <p:cNvSpPr>
                <a:spLocks noRot="1" noChangeAspect="1" noMove="1" noResize="1" noEditPoints="1" noAdjustHandles="1" noChangeArrowheads="1" noChangeShapeType="1" noTextEdit="1"/>
              </p:cNvSpPr>
              <p:nvPr/>
            </p:nvSpPr>
            <p:spPr>
              <a:xfrm>
                <a:off x="4290060" y="3442423"/>
                <a:ext cx="1744674" cy="238200"/>
              </a:xfrm>
              <a:prstGeom prst="roundRect">
                <a:avLst/>
              </a:prstGeom>
              <a:blipFill>
                <a:blip r:embed="rId10"/>
                <a:stretch>
                  <a:fillRect t="-7500" b="-17500"/>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Rectangle: Rounded Corners 75">
                <a:extLst>
                  <a:ext uri="{FF2B5EF4-FFF2-40B4-BE49-F238E27FC236}">
                    <a16:creationId xmlns:a16="http://schemas.microsoft.com/office/drawing/2014/main" id="{3A0A4318-CB28-44C8-956F-AE614C8DDF08}"/>
                  </a:ext>
                </a:extLst>
              </p:cNvPr>
              <p:cNvSpPr/>
              <p:nvPr/>
            </p:nvSpPr>
            <p:spPr>
              <a:xfrm>
                <a:off x="4290060" y="3968624"/>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Calculate </a:t>
                </a:r>
                <a14:m>
                  <m:oMath xmlns:m="http://schemas.openxmlformats.org/officeDocument/2006/math">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𝐶</m:t>
                        </m:r>
                      </m:e>
                      <m:sub>
                        <m:r>
                          <m:rPr>
                            <m:sty m:val="p"/>
                          </m:rPr>
                          <a:rPr lang="en-US" sz="1100" b="0" i="0" smtClean="0">
                            <a:solidFill>
                              <a:schemeClr val="tx1"/>
                            </a:solidFill>
                            <a:latin typeface="Cambria Math" panose="02040503050406030204" pitchFamily="18" charset="0"/>
                          </a:rPr>
                          <m:t>M</m:t>
                        </m:r>
                      </m:sub>
                    </m:sSub>
                  </m:oMath>
                </a14:m>
                <a:endParaRPr lang="en-US" sz="1100" dirty="0">
                  <a:solidFill>
                    <a:schemeClr val="tx1"/>
                  </a:solidFill>
                </a:endParaRPr>
              </a:p>
            </p:txBody>
          </p:sp>
        </mc:Choice>
        <mc:Fallback xmlns="">
          <p:sp>
            <p:nvSpPr>
              <p:cNvPr id="76" name="Rectangle: Rounded Corners 75">
                <a:extLst>
                  <a:ext uri="{FF2B5EF4-FFF2-40B4-BE49-F238E27FC236}">
                    <a16:creationId xmlns:a16="http://schemas.microsoft.com/office/drawing/2014/main" id="{3A0A4318-CB28-44C8-956F-AE614C8DDF08}"/>
                  </a:ext>
                </a:extLst>
              </p:cNvPr>
              <p:cNvSpPr>
                <a:spLocks noRot="1" noChangeAspect="1" noMove="1" noResize="1" noEditPoints="1" noAdjustHandles="1" noChangeArrowheads="1" noChangeShapeType="1" noTextEdit="1"/>
              </p:cNvSpPr>
              <p:nvPr/>
            </p:nvSpPr>
            <p:spPr>
              <a:xfrm>
                <a:off x="4290060" y="3968624"/>
                <a:ext cx="1744674" cy="238200"/>
              </a:xfrm>
              <a:prstGeom prst="roundRect">
                <a:avLst/>
              </a:prstGeom>
              <a:blipFill>
                <a:blip r:embed="rId11"/>
                <a:stretch>
                  <a:fillRect t="-7500" b="-17500"/>
                </a:stretch>
              </a:blipFill>
              <a:ln w="6350">
                <a:solidFill>
                  <a:schemeClr val="tx1"/>
                </a:solidFill>
              </a:ln>
            </p:spPr>
            <p:txBody>
              <a:bodyPr/>
              <a:lstStyle/>
              <a:p>
                <a:r>
                  <a:rPr lang="en-US">
                    <a:noFill/>
                  </a:rPr>
                  <a:t> </a:t>
                </a:r>
              </a:p>
            </p:txBody>
          </p:sp>
        </mc:Fallback>
      </mc:AlternateContent>
      <p:sp>
        <p:nvSpPr>
          <p:cNvPr id="80" name="Rectangle: Rounded Corners 79">
            <a:extLst>
              <a:ext uri="{FF2B5EF4-FFF2-40B4-BE49-F238E27FC236}">
                <a16:creationId xmlns:a16="http://schemas.microsoft.com/office/drawing/2014/main" id="{5E532F96-B623-4F1E-8D3D-3C040BDA407C}"/>
              </a:ext>
            </a:extLst>
          </p:cNvPr>
          <p:cNvSpPr/>
          <p:nvPr/>
        </p:nvSpPr>
        <p:spPr>
          <a:xfrm>
            <a:off x="4290060" y="534066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Create polar</a:t>
            </a:r>
          </a:p>
        </p:txBody>
      </p:sp>
      <p:sp>
        <p:nvSpPr>
          <p:cNvPr id="81" name="Rectangle: Rounded Corners 80">
            <a:extLst>
              <a:ext uri="{FF2B5EF4-FFF2-40B4-BE49-F238E27FC236}">
                <a16:creationId xmlns:a16="http://schemas.microsoft.com/office/drawing/2014/main" id="{C49FA263-5DA8-4D68-83FF-C4E81B7D8703}"/>
              </a:ext>
            </a:extLst>
          </p:cNvPr>
          <p:cNvSpPr/>
          <p:nvPr/>
        </p:nvSpPr>
        <p:spPr>
          <a:xfrm>
            <a:off x="4290060" y="571929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Store polar</a:t>
            </a:r>
          </a:p>
        </p:txBody>
      </p:sp>
      <p:sp>
        <p:nvSpPr>
          <p:cNvPr id="83" name="Rectangle: Rounded Corners 82">
            <a:extLst>
              <a:ext uri="{FF2B5EF4-FFF2-40B4-BE49-F238E27FC236}">
                <a16:creationId xmlns:a16="http://schemas.microsoft.com/office/drawing/2014/main" id="{46C3A954-0FE0-4A79-AFDD-1DE520FE59F3}"/>
              </a:ext>
            </a:extLst>
          </p:cNvPr>
          <p:cNvSpPr/>
          <p:nvPr/>
        </p:nvSpPr>
        <p:spPr>
          <a:xfrm>
            <a:off x="4290060" y="458340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Read A/C geometry</a:t>
            </a:r>
          </a:p>
        </p:txBody>
      </p:sp>
      <p:sp>
        <p:nvSpPr>
          <p:cNvPr id="84" name="Rectangle: Rounded Corners 83">
            <a:extLst>
              <a:ext uri="{FF2B5EF4-FFF2-40B4-BE49-F238E27FC236}">
                <a16:creationId xmlns:a16="http://schemas.microsoft.com/office/drawing/2014/main" id="{5513F117-97ED-466C-856D-C34FAD204F12}"/>
              </a:ext>
            </a:extLst>
          </p:cNvPr>
          <p:cNvSpPr/>
          <p:nvPr/>
        </p:nvSpPr>
        <p:spPr>
          <a:xfrm>
            <a:off x="4290060" y="4962030"/>
            <a:ext cx="1744674" cy="2382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Do trim</a:t>
            </a:r>
          </a:p>
        </p:txBody>
      </p:sp>
    </p:spTree>
    <p:extLst>
      <p:ext uri="{BB962C8B-B14F-4D97-AF65-F5344CB8AC3E}">
        <p14:creationId xmlns:p14="http://schemas.microsoft.com/office/powerpoint/2010/main" val="399625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500"/>
                                        <p:tgtEl>
                                          <p:spTgt spid="7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500"/>
                                        <p:tgtEl>
                                          <p:spTgt spid="47"/>
                                        </p:tgtEl>
                                      </p:cBhvr>
                                    </p:animEffect>
                                  </p:childTnLst>
                                </p:cTn>
                              </p:par>
                              <p:par>
                                <p:cTn id="22" presetID="10"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500"/>
                                        <p:tgtEl>
                                          <p:spTgt spid="5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animEffect transition="in" filter="fade">
                                      <p:cBhvr>
                                        <p:cTn id="35" dur="500"/>
                                        <p:tgtEl>
                                          <p:spTgt spid="5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500"/>
                                        <p:tgtEl>
                                          <p:spTgt spid="58"/>
                                        </p:tgtEl>
                                      </p:cBhvr>
                                    </p:animEffect>
                                  </p:childTnLst>
                                </p:cTn>
                              </p:par>
                              <p:par>
                                <p:cTn id="39" presetID="10" presetClass="entr" presetSubtype="0"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fade">
                                      <p:cBhvr>
                                        <p:cTn id="41" dur="500"/>
                                        <p:tgtEl>
                                          <p:spTgt spid="59"/>
                                        </p:tgtEl>
                                      </p:cBhvr>
                                    </p:animEffect>
                                  </p:childTnLst>
                                </p:cTn>
                              </p:par>
                              <p:par>
                                <p:cTn id="42" presetID="10" presetClass="entr" presetSubtype="0" fill="hold" nodeType="withEffect">
                                  <p:stCondLst>
                                    <p:cond delay="0"/>
                                  </p:stCondLst>
                                  <p:childTnLst>
                                    <p:set>
                                      <p:cBhvr>
                                        <p:cTn id="43" dur="1" fill="hold">
                                          <p:stCondLst>
                                            <p:cond delay="0"/>
                                          </p:stCondLst>
                                        </p:cTn>
                                        <p:tgtEl>
                                          <p:spTgt spid="69"/>
                                        </p:tgtEl>
                                        <p:attrNameLst>
                                          <p:attrName>style.visibility</p:attrName>
                                        </p:attrNameLst>
                                      </p:cBhvr>
                                      <p:to>
                                        <p:strVal val="visible"/>
                                      </p:to>
                                    </p:set>
                                    <p:animEffect transition="in" filter="fade">
                                      <p:cBhvr>
                                        <p:cTn id="44" dur="500"/>
                                        <p:tgtEl>
                                          <p:spTgt spid="69"/>
                                        </p:tgtEl>
                                      </p:cBhvr>
                                    </p:animEffect>
                                  </p:childTnLst>
                                </p:cTn>
                              </p:par>
                              <p:par>
                                <p:cTn id="45" presetID="10" presetClass="entr" presetSubtype="0" fill="hold" nodeType="withEffect">
                                  <p:stCondLst>
                                    <p:cond delay="0"/>
                                  </p:stCondLst>
                                  <p:childTnLst>
                                    <p:set>
                                      <p:cBhvr>
                                        <p:cTn id="46" dur="1" fill="hold">
                                          <p:stCondLst>
                                            <p:cond delay="0"/>
                                          </p:stCondLst>
                                        </p:cTn>
                                        <p:tgtEl>
                                          <p:spTgt spid="72"/>
                                        </p:tgtEl>
                                        <p:attrNameLst>
                                          <p:attrName>style.visibility</p:attrName>
                                        </p:attrNameLst>
                                      </p:cBhvr>
                                      <p:to>
                                        <p:strVal val="visible"/>
                                      </p:to>
                                    </p:set>
                                    <p:animEffect transition="in" filter="fade">
                                      <p:cBhvr>
                                        <p:cTn id="47" dur="500"/>
                                        <p:tgtEl>
                                          <p:spTgt spid="7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fade">
                                      <p:cBhvr>
                                        <p:cTn id="52" dur="500"/>
                                        <p:tgtEl>
                                          <p:spTgt spid="8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84"/>
                                        </p:tgtEl>
                                        <p:attrNameLst>
                                          <p:attrName>style.visibility</p:attrName>
                                        </p:attrNameLst>
                                      </p:cBhvr>
                                      <p:to>
                                        <p:strVal val="visible"/>
                                      </p:to>
                                    </p:set>
                                    <p:animEffect transition="in" filter="fade">
                                      <p:cBhvr>
                                        <p:cTn id="57" dur="500"/>
                                        <p:tgtEl>
                                          <p:spTgt spid="8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80"/>
                                        </p:tgtEl>
                                        <p:attrNameLst>
                                          <p:attrName>style.visibility</p:attrName>
                                        </p:attrNameLst>
                                      </p:cBhvr>
                                      <p:to>
                                        <p:strVal val="visible"/>
                                      </p:to>
                                    </p:set>
                                    <p:animEffect transition="in" filter="fade">
                                      <p:cBhvr>
                                        <p:cTn id="62" dur="500"/>
                                        <p:tgtEl>
                                          <p:spTgt spid="8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fade">
                                      <p:cBhvr>
                                        <p:cTn id="6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5" grpId="0" animBg="1"/>
      <p:bldP spid="47" grpId="0" animBg="1"/>
      <p:bldP spid="55" grpId="0" animBg="1"/>
      <p:bldP spid="56" grpId="0" animBg="1"/>
      <p:bldP spid="58" grpId="0" animBg="1"/>
      <p:bldP spid="75" grpId="0" animBg="1"/>
      <p:bldP spid="76" grpId="0" animBg="1"/>
      <p:bldP spid="80" grpId="0" animBg="1"/>
      <p:bldP spid="81" grpId="0" animBg="1"/>
      <p:bldP spid="83" grpId="0" animBg="1"/>
      <p:bldP spid="8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pic>
        <p:nvPicPr>
          <p:cNvPr id="30" name="Content Placeholder 4">
            <a:extLst>
              <a:ext uri="{FF2B5EF4-FFF2-40B4-BE49-F238E27FC236}">
                <a16:creationId xmlns:a16="http://schemas.microsoft.com/office/drawing/2014/main" id="{A710D3C1-6F29-4DFF-82B8-7B91E97E8E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sp>
        <p:nvSpPr>
          <p:cNvPr id="42" name="Content Placeholder 1">
            <a:extLst>
              <a:ext uri="{FF2B5EF4-FFF2-40B4-BE49-F238E27FC236}">
                <a16:creationId xmlns:a16="http://schemas.microsoft.com/office/drawing/2014/main" id="{4238195F-77A7-4706-8213-D2CA057D7A26}"/>
              </a:ext>
            </a:extLst>
          </p:cNvPr>
          <p:cNvSpPr txBox="1">
            <a:spLocks/>
          </p:cNvSpPr>
          <p:nvPr/>
        </p:nvSpPr>
        <p:spPr bwMode="auto">
          <a:xfrm>
            <a:off x="4290060" y="1828799"/>
            <a:ext cx="7701915" cy="454304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35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defTabSz="914400"/>
            <a:r>
              <a:rPr lang="en-US" sz="1600" dirty="0"/>
              <a:t>Here is a list of tools and methods that are available for doing Aerodynamic Analysis – some are in UNICADO</a:t>
            </a:r>
          </a:p>
          <a:p>
            <a:pPr defTabSz="914400"/>
            <a:endParaRPr lang="en-US" sz="1600" dirty="0"/>
          </a:p>
          <a:p>
            <a:pPr defTabSz="914400"/>
            <a:endParaRPr lang="en-US" sz="1600" dirty="0"/>
          </a:p>
          <a:p>
            <a:pPr defTabSz="914400"/>
            <a:endParaRPr lang="en-US" sz="1600" dirty="0"/>
          </a:p>
          <a:p>
            <a:pPr defTabSz="914400"/>
            <a:endParaRPr lang="en-US" sz="1600" dirty="0"/>
          </a:p>
          <a:p>
            <a:pPr defTabSz="914400"/>
            <a:endParaRPr lang="en-US" sz="1600" dirty="0"/>
          </a:p>
          <a:p>
            <a:pPr defTabSz="914400"/>
            <a:endParaRPr lang="en-US" sz="1600" dirty="0"/>
          </a:p>
          <a:p>
            <a:pPr defTabSz="914400"/>
            <a:endParaRPr lang="en-US" sz="1600" dirty="0"/>
          </a:p>
          <a:p>
            <a:pPr defTabSz="914400"/>
            <a:endParaRPr lang="en-US" sz="1600" dirty="0"/>
          </a:p>
          <a:p>
            <a:pPr defTabSz="914400"/>
            <a:endParaRPr lang="en-US" sz="1600" dirty="0"/>
          </a:p>
          <a:p>
            <a:pPr defTabSz="914400"/>
            <a:endParaRPr lang="en-US" sz="1600" dirty="0"/>
          </a:p>
          <a:p>
            <a:pPr defTabSz="914400"/>
            <a:r>
              <a:rPr lang="en-US" sz="1600" dirty="0"/>
              <a:t>UNICADO uses the Lifting Line Version 3.1 developed by Karl Heinz </a:t>
            </a:r>
            <a:r>
              <a:rPr lang="en-US" sz="1600" dirty="0" err="1"/>
              <a:t>Horstmann</a:t>
            </a:r>
            <a:endParaRPr lang="en-US" sz="1600" dirty="0"/>
          </a:p>
          <a:p>
            <a:pPr defTabSz="914400"/>
            <a:r>
              <a:rPr lang="en-US" sz="1600" dirty="0"/>
              <a:t>Integration of AVL is in progress</a:t>
            </a:r>
          </a:p>
          <a:p>
            <a:pPr defTabSz="914400"/>
            <a:r>
              <a:rPr lang="en-US" sz="1600" dirty="0" err="1"/>
              <a:t>Polhamus</a:t>
            </a:r>
            <a:r>
              <a:rPr lang="en-US" sz="1600" dirty="0"/>
              <a:t> (from Aircraft Design Basics) can be integrated</a:t>
            </a:r>
          </a:p>
        </p:txBody>
      </p:sp>
      <p:sp>
        <p:nvSpPr>
          <p:cNvPr id="17" name="Rectangle: Rounded Corners 16">
            <a:extLst>
              <a:ext uri="{FF2B5EF4-FFF2-40B4-BE49-F238E27FC236}">
                <a16:creationId xmlns:a16="http://schemas.microsoft.com/office/drawing/2014/main" id="{A5D52EA6-3E09-460C-A95C-B95EBC73D213}"/>
              </a:ext>
            </a:extLst>
          </p:cNvPr>
          <p:cNvSpPr/>
          <p:nvPr/>
        </p:nvSpPr>
        <p:spPr>
          <a:xfrm>
            <a:off x="1350341" y="4221075"/>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Design Analysis</a:t>
            </a:r>
          </a:p>
        </p:txBody>
      </p:sp>
      <p:sp>
        <p:nvSpPr>
          <p:cNvPr id="18" name="Rectangle: Rounded Corners 17">
            <a:extLst>
              <a:ext uri="{FF2B5EF4-FFF2-40B4-BE49-F238E27FC236}">
                <a16:creationId xmlns:a16="http://schemas.microsoft.com/office/drawing/2014/main" id="{EE46A239-FF8D-4D23-8634-D8C7D0AF29D3}"/>
              </a:ext>
            </a:extLst>
          </p:cNvPr>
          <p:cNvSpPr/>
          <p:nvPr/>
        </p:nvSpPr>
        <p:spPr>
          <a:xfrm>
            <a:off x="2069277" y="4476848"/>
            <a:ext cx="1280160" cy="201168"/>
          </a:xfrm>
          <a:prstGeom prst="roundRect">
            <a:avLst>
              <a:gd name="adj" fmla="val 19189"/>
            </a:avLst>
          </a:prstGeom>
          <a:solidFill>
            <a:srgbClr val="FFC000">
              <a:alpha val="3019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endParaRPr lang="en-US" b="1" dirty="0">
              <a:solidFill>
                <a:schemeClr val="bg1"/>
              </a:solidFill>
            </a:endParaRPr>
          </a:p>
        </p:txBody>
      </p:sp>
      <p:sp>
        <p:nvSpPr>
          <p:cNvPr id="19" name="Rectangle: Rounded Corners 18">
            <a:extLst>
              <a:ext uri="{FF2B5EF4-FFF2-40B4-BE49-F238E27FC236}">
                <a16:creationId xmlns:a16="http://schemas.microsoft.com/office/drawing/2014/main" id="{634A689A-FB79-45F3-9C5D-9D93D54DB5F2}"/>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
        <p:nvSpPr>
          <p:cNvPr id="20" name="Geschweifte Klammer links 24">
            <a:extLst>
              <a:ext uri="{FF2B5EF4-FFF2-40B4-BE49-F238E27FC236}">
                <a16:creationId xmlns:a16="http://schemas.microsoft.com/office/drawing/2014/main" id="{CFBE98C1-F0EB-431E-8055-B7C6FE04A7FF}"/>
              </a:ext>
            </a:extLst>
          </p:cNvPr>
          <p:cNvSpPr/>
          <p:nvPr/>
        </p:nvSpPr>
        <p:spPr>
          <a:xfrm>
            <a:off x="5416546" y="2681473"/>
            <a:ext cx="80441" cy="2448000"/>
          </a:xfrm>
          <a:prstGeom prst="leftBrace">
            <a:avLst/>
          </a:prstGeom>
          <a:solidFill>
            <a:schemeClr val="bg1"/>
          </a:solidFill>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solidFill>
                <a:srgbClr val="000000"/>
              </a:solidFill>
            </a:endParaRPr>
          </a:p>
        </p:txBody>
      </p:sp>
      <p:sp>
        <p:nvSpPr>
          <p:cNvPr id="21" name="Textfeld 25">
            <a:extLst>
              <a:ext uri="{FF2B5EF4-FFF2-40B4-BE49-F238E27FC236}">
                <a16:creationId xmlns:a16="http://schemas.microsoft.com/office/drawing/2014/main" id="{3C66E8C6-AA7B-4CD0-ABF5-61E5963ADB3A}"/>
              </a:ext>
            </a:extLst>
          </p:cNvPr>
          <p:cNvSpPr txBox="1"/>
          <p:nvPr/>
        </p:nvSpPr>
        <p:spPr>
          <a:xfrm>
            <a:off x="4299317" y="3809645"/>
            <a:ext cx="1117229" cy="191656"/>
          </a:xfrm>
          <a:prstGeom prst="rect">
            <a:avLst/>
          </a:prstGeom>
          <a:noFill/>
        </p:spPr>
        <p:txBody>
          <a:bodyPr wrap="square" lIns="0" tIns="0" rIns="0" bIns="0" rtlCol="0">
            <a:spAutoFit/>
          </a:bodyPr>
          <a:lstStyle/>
          <a:p>
            <a:pPr algn="l">
              <a:lnSpc>
                <a:spcPct val="114000"/>
              </a:lnSpc>
            </a:pPr>
            <a:r>
              <a:rPr lang="de-DE" sz="1200" b="1" dirty="0" err="1">
                <a:solidFill>
                  <a:srgbClr val="000000"/>
                </a:solidFill>
                <a:latin typeface="+mn-lt"/>
              </a:rPr>
              <a:t>Aerodynamics</a:t>
            </a:r>
            <a:endParaRPr lang="de-DE" sz="1200" b="1" dirty="0">
              <a:solidFill>
                <a:srgbClr val="000000"/>
              </a:solidFill>
              <a:latin typeface="+mn-lt"/>
            </a:endParaRPr>
          </a:p>
        </p:txBody>
      </p:sp>
      <p:sp>
        <p:nvSpPr>
          <p:cNvPr id="22" name="Textfeld 26">
            <a:extLst>
              <a:ext uri="{FF2B5EF4-FFF2-40B4-BE49-F238E27FC236}">
                <a16:creationId xmlns:a16="http://schemas.microsoft.com/office/drawing/2014/main" id="{37223B76-FF54-4D37-855F-A7AAD7B2EFAE}"/>
              </a:ext>
            </a:extLst>
          </p:cNvPr>
          <p:cNvSpPr txBox="1"/>
          <p:nvPr/>
        </p:nvSpPr>
        <p:spPr>
          <a:xfrm>
            <a:off x="5569433" y="4047830"/>
            <a:ext cx="1239973"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err="1">
                <a:solidFill>
                  <a:srgbClr val="000000"/>
                </a:solidFill>
              </a:rPr>
              <a:t>XFoil</a:t>
            </a:r>
            <a:r>
              <a:rPr lang="de-DE" sz="1200" dirty="0">
                <a:solidFill>
                  <a:srgbClr val="000000"/>
                </a:solidFill>
              </a:rPr>
              <a:t> (</a:t>
            </a:r>
            <a:r>
              <a:rPr lang="de-DE" sz="1200" i="1" dirty="0" err="1">
                <a:solidFill>
                  <a:srgbClr val="000000"/>
                </a:solidFill>
              </a:rPr>
              <a:t>Drela</a:t>
            </a:r>
            <a:r>
              <a:rPr lang="de-DE" sz="1200" dirty="0">
                <a:solidFill>
                  <a:srgbClr val="000000"/>
                </a:solidFill>
              </a:rPr>
              <a:t>)</a:t>
            </a:r>
            <a:endParaRPr lang="en-US" sz="1200" dirty="0" err="1">
              <a:solidFill>
                <a:srgbClr val="000000"/>
              </a:solidFill>
            </a:endParaRPr>
          </a:p>
        </p:txBody>
      </p:sp>
      <p:sp>
        <p:nvSpPr>
          <p:cNvPr id="23" name="Textfeld 29">
            <a:extLst>
              <a:ext uri="{FF2B5EF4-FFF2-40B4-BE49-F238E27FC236}">
                <a16:creationId xmlns:a16="http://schemas.microsoft.com/office/drawing/2014/main" id="{06B76E02-B838-4670-A612-246362C48AF3}"/>
              </a:ext>
            </a:extLst>
          </p:cNvPr>
          <p:cNvSpPr txBox="1"/>
          <p:nvPr/>
        </p:nvSpPr>
        <p:spPr>
          <a:xfrm>
            <a:off x="5569432" y="4317119"/>
            <a:ext cx="1352116"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err="1">
                <a:solidFill>
                  <a:srgbClr val="000000"/>
                </a:solidFill>
              </a:rPr>
              <a:t>Xrotor</a:t>
            </a:r>
            <a:r>
              <a:rPr lang="de-DE" sz="1200" dirty="0">
                <a:solidFill>
                  <a:srgbClr val="000000"/>
                </a:solidFill>
              </a:rPr>
              <a:t> (</a:t>
            </a:r>
            <a:r>
              <a:rPr lang="de-DE" sz="1200" i="1" dirty="0" err="1">
                <a:solidFill>
                  <a:srgbClr val="000000"/>
                </a:solidFill>
              </a:rPr>
              <a:t>Drela</a:t>
            </a:r>
            <a:r>
              <a:rPr lang="de-DE" sz="1200" dirty="0">
                <a:solidFill>
                  <a:srgbClr val="000000"/>
                </a:solidFill>
              </a:rPr>
              <a:t>)</a:t>
            </a:r>
            <a:endParaRPr lang="en-US" sz="1200" dirty="0" err="1">
              <a:solidFill>
                <a:srgbClr val="000000"/>
              </a:solidFill>
            </a:endParaRPr>
          </a:p>
        </p:txBody>
      </p:sp>
      <p:sp>
        <p:nvSpPr>
          <p:cNvPr id="24" name="Textfeld 30">
            <a:extLst>
              <a:ext uri="{FF2B5EF4-FFF2-40B4-BE49-F238E27FC236}">
                <a16:creationId xmlns:a16="http://schemas.microsoft.com/office/drawing/2014/main" id="{EE1274BF-0AEC-41F1-9CDA-F413EA7DB949}"/>
              </a:ext>
            </a:extLst>
          </p:cNvPr>
          <p:cNvSpPr txBox="1"/>
          <p:nvPr/>
        </p:nvSpPr>
        <p:spPr>
          <a:xfrm>
            <a:off x="5560807" y="4874357"/>
            <a:ext cx="4562584"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a:solidFill>
                  <a:srgbClr val="000000"/>
                </a:solidFill>
              </a:rPr>
              <a:t>PAWAT – </a:t>
            </a:r>
            <a:r>
              <a:rPr lang="de-DE" sz="1200" dirty="0" err="1">
                <a:solidFill>
                  <a:srgbClr val="000000"/>
                </a:solidFill>
              </a:rPr>
              <a:t>propeller</a:t>
            </a:r>
            <a:r>
              <a:rPr lang="de-DE" sz="1200" dirty="0">
                <a:solidFill>
                  <a:srgbClr val="000000"/>
                </a:solidFill>
              </a:rPr>
              <a:t> and </a:t>
            </a:r>
            <a:r>
              <a:rPr lang="de-DE" sz="1200" dirty="0" err="1">
                <a:solidFill>
                  <a:srgbClr val="000000"/>
                </a:solidFill>
              </a:rPr>
              <a:t>wing</a:t>
            </a:r>
            <a:r>
              <a:rPr lang="de-DE" sz="1200" dirty="0">
                <a:solidFill>
                  <a:srgbClr val="000000"/>
                </a:solidFill>
              </a:rPr>
              <a:t> </a:t>
            </a:r>
            <a:r>
              <a:rPr lang="de-DE" sz="1200" dirty="0" err="1">
                <a:solidFill>
                  <a:srgbClr val="000000"/>
                </a:solidFill>
              </a:rPr>
              <a:t>aerodynamics</a:t>
            </a:r>
            <a:r>
              <a:rPr lang="de-DE" sz="1200" dirty="0">
                <a:solidFill>
                  <a:srgbClr val="000000"/>
                </a:solidFill>
              </a:rPr>
              <a:t> </a:t>
            </a:r>
            <a:r>
              <a:rPr lang="de-DE" sz="1200" dirty="0" err="1">
                <a:solidFill>
                  <a:srgbClr val="000000"/>
                </a:solidFill>
              </a:rPr>
              <a:t>tool</a:t>
            </a:r>
            <a:r>
              <a:rPr lang="de-DE" sz="1200" dirty="0">
                <a:solidFill>
                  <a:srgbClr val="000000"/>
                </a:solidFill>
              </a:rPr>
              <a:t> (</a:t>
            </a:r>
            <a:r>
              <a:rPr lang="de-DE" sz="1200" i="1" dirty="0">
                <a:solidFill>
                  <a:srgbClr val="000000"/>
                </a:solidFill>
              </a:rPr>
              <a:t>in-house: Steiner</a:t>
            </a:r>
            <a:r>
              <a:rPr lang="de-DE" sz="1200" dirty="0">
                <a:solidFill>
                  <a:srgbClr val="000000"/>
                </a:solidFill>
              </a:rPr>
              <a:t>)</a:t>
            </a:r>
            <a:endParaRPr lang="en-US" sz="1200" dirty="0" err="1">
              <a:solidFill>
                <a:srgbClr val="000000"/>
              </a:solidFill>
            </a:endParaRPr>
          </a:p>
        </p:txBody>
      </p:sp>
      <p:sp>
        <p:nvSpPr>
          <p:cNvPr id="25" name="Textfeld 34">
            <a:extLst>
              <a:ext uri="{FF2B5EF4-FFF2-40B4-BE49-F238E27FC236}">
                <a16:creationId xmlns:a16="http://schemas.microsoft.com/office/drawing/2014/main" id="{8D81771B-08E3-4F63-AA4F-455740F11ACC}"/>
              </a:ext>
            </a:extLst>
          </p:cNvPr>
          <p:cNvSpPr txBox="1"/>
          <p:nvPr/>
        </p:nvSpPr>
        <p:spPr>
          <a:xfrm>
            <a:off x="5569431" y="4586408"/>
            <a:ext cx="946720"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a:solidFill>
                  <a:srgbClr val="000000"/>
                </a:solidFill>
              </a:rPr>
              <a:t>AVL </a:t>
            </a:r>
            <a:r>
              <a:rPr lang="de-DE" sz="1200" i="1" dirty="0">
                <a:solidFill>
                  <a:srgbClr val="000000"/>
                </a:solidFill>
              </a:rPr>
              <a:t>(</a:t>
            </a:r>
            <a:r>
              <a:rPr lang="de-DE" sz="1200" i="1" dirty="0" err="1">
                <a:solidFill>
                  <a:srgbClr val="000000"/>
                </a:solidFill>
              </a:rPr>
              <a:t>Drela</a:t>
            </a:r>
            <a:r>
              <a:rPr lang="de-DE" sz="1200" i="1" dirty="0">
                <a:solidFill>
                  <a:srgbClr val="000000"/>
                </a:solidFill>
              </a:rPr>
              <a:t>)</a:t>
            </a:r>
            <a:endParaRPr lang="en-US" sz="1200" i="1" dirty="0" err="1">
              <a:solidFill>
                <a:srgbClr val="000000"/>
              </a:solidFill>
            </a:endParaRPr>
          </a:p>
        </p:txBody>
      </p:sp>
      <p:sp>
        <p:nvSpPr>
          <p:cNvPr id="44" name="Textfeld 50">
            <a:extLst>
              <a:ext uri="{FF2B5EF4-FFF2-40B4-BE49-F238E27FC236}">
                <a16:creationId xmlns:a16="http://schemas.microsoft.com/office/drawing/2014/main" id="{08AD0E7F-0D90-4FB5-83F8-28BFB6463C9D}"/>
              </a:ext>
            </a:extLst>
          </p:cNvPr>
          <p:cNvSpPr txBox="1"/>
          <p:nvPr/>
        </p:nvSpPr>
        <p:spPr>
          <a:xfrm>
            <a:off x="5556929" y="3522952"/>
            <a:ext cx="5064119" cy="191719"/>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a:solidFill>
                  <a:srgbClr val="000000"/>
                </a:solidFill>
              </a:rPr>
              <a:t>Lift </a:t>
            </a:r>
            <a:r>
              <a:rPr lang="de-DE" sz="1200" dirty="0" err="1">
                <a:solidFill>
                  <a:srgbClr val="000000"/>
                </a:solidFill>
              </a:rPr>
              <a:t>curve</a:t>
            </a:r>
            <a:r>
              <a:rPr lang="de-DE" sz="1200" dirty="0">
                <a:solidFill>
                  <a:srgbClr val="000000"/>
                </a:solidFill>
              </a:rPr>
              <a:t> </a:t>
            </a:r>
            <a:r>
              <a:rPr lang="de-DE" sz="1200" dirty="0" err="1">
                <a:solidFill>
                  <a:srgbClr val="000000"/>
                </a:solidFill>
              </a:rPr>
              <a:t>slope</a:t>
            </a:r>
            <a:r>
              <a:rPr lang="de-DE" sz="1200" dirty="0">
                <a:solidFill>
                  <a:srgbClr val="000000"/>
                </a:solidFill>
              </a:rPr>
              <a:t> </a:t>
            </a:r>
            <a:r>
              <a:rPr lang="de-DE" sz="1200" dirty="0" err="1">
                <a:solidFill>
                  <a:srgbClr val="000000"/>
                </a:solidFill>
              </a:rPr>
              <a:t>calculation</a:t>
            </a:r>
            <a:r>
              <a:rPr lang="de-DE" sz="1200" dirty="0">
                <a:solidFill>
                  <a:srgbClr val="000000"/>
                </a:solidFill>
              </a:rPr>
              <a:t> </a:t>
            </a:r>
            <a:r>
              <a:rPr lang="de-DE" sz="1200" i="1" dirty="0">
                <a:solidFill>
                  <a:srgbClr val="000000"/>
                </a:solidFill>
              </a:rPr>
              <a:t>(</a:t>
            </a:r>
            <a:r>
              <a:rPr lang="de-DE" sz="1200" i="1" dirty="0" err="1">
                <a:solidFill>
                  <a:srgbClr val="000000"/>
                </a:solidFill>
              </a:rPr>
              <a:t>Polhamus</a:t>
            </a:r>
            <a:r>
              <a:rPr lang="de-DE" sz="1200" i="1" dirty="0">
                <a:solidFill>
                  <a:srgbClr val="000000"/>
                </a:solidFill>
              </a:rPr>
              <a:t>, </a:t>
            </a:r>
            <a:r>
              <a:rPr lang="de-DE" sz="1200" i="1" dirty="0" err="1">
                <a:solidFill>
                  <a:srgbClr val="000000"/>
                </a:solidFill>
              </a:rPr>
              <a:t>slender</a:t>
            </a:r>
            <a:r>
              <a:rPr lang="de-DE" sz="1200" i="1" dirty="0">
                <a:solidFill>
                  <a:srgbClr val="000000"/>
                </a:solidFill>
              </a:rPr>
              <a:t> </a:t>
            </a:r>
            <a:r>
              <a:rPr lang="de-DE" sz="1200" i="1" dirty="0" err="1">
                <a:solidFill>
                  <a:srgbClr val="000000"/>
                </a:solidFill>
              </a:rPr>
              <a:t>body</a:t>
            </a:r>
            <a:r>
              <a:rPr lang="de-DE" sz="1200" i="1" dirty="0">
                <a:solidFill>
                  <a:srgbClr val="000000"/>
                </a:solidFill>
              </a:rPr>
              <a:t>, </a:t>
            </a:r>
            <a:r>
              <a:rPr lang="de-DE" sz="1200" i="1" dirty="0" err="1">
                <a:solidFill>
                  <a:srgbClr val="000000"/>
                </a:solidFill>
              </a:rPr>
              <a:t>lifting</a:t>
            </a:r>
            <a:r>
              <a:rPr lang="de-DE" sz="1200" i="1" dirty="0">
                <a:solidFill>
                  <a:srgbClr val="000000"/>
                </a:solidFill>
              </a:rPr>
              <a:t> </a:t>
            </a:r>
            <a:r>
              <a:rPr lang="de-DE" sz="1200" i="1" dirty="0" err="1">
                <a:solidFill>
                  <a:srgbClr val="000000"/>
                </a:solidFill>
              </a:rPr>
              <a:t>line</a:t>
            </a:r>
            <a:r>
              <a:rPr lang="de-DE" sz="1200" i="1" dirty="0">
                <a:solidFill>
                  <a:srgbClr val="000000"/>
                </a:solidFill>
              </a:rPr>
              <a:t>, </a:t>
            </a:r>
            <a:r>
              <a:rPr lang="de-DE" sz="1200" i="1" dirty="0" err="1">
                <a:solidFill>
                  <a:srgbClr val="000000"/>
                </a:solidFill>
              </a:rPr>
              <a:t>Ackeret</a:t>
            </a:r>
            <a:r>
              <a:rPr lang="de-DE" sz="1200" i="1" dirty="0">
                <a:solidFill>
                  <a:srgbClr val="000000"/>
                </a:solidFill>
              </a:rPr>
              <a:t>)</a:t>
            </a:r>
            <a:endParaRPr lang="en-US" sz="1200" i="1" dirty="0" err="1">
              <a:solidFill>
                <a:srgbClr val="000000"/>
              </a:solidFill>
            </a:endParaRPr>
          </a:p>
        </p:txBody>
      </p:sp>
      <p:sp>
        <p:nvSpPr>
          <p:cNvPr id="46" name="Textfeld 55">
            <a:extLst>
              <a:ext uri="{FF2B5EF4-FFF2-40B4-BE49-F238E27FC236}">
                <a16:creationId xmlns:a16="http://schemas.microsoft.com/office/drawing/2014/main" id="{4B846029-AF7D-414B-AB1F-1368A714EB55}"/>
              </a:ext>
            </a:extLst>
          </p:cNvPr>
          <p:cNvSpPr txBox="1"/>
          <p:nvPr/>
        </p:nvSpPr>
        <p:spPr>
          <a:xfrm>
            <a:off x="5556929" y="2719654"/>
            <a:ext cx="5064119"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a:solidFill>
                  <a:srgbClr val="000000"/>
                </a:solidFill>
              </a:rPr>
              <a:t>Drag </a:t>
            </a:r>
            <a:r>
              <a:rPr lang="de-DE" sz="1200" dirty="0" err="1">
                <a:solidFill>
                  <a:srgbClr val="000000"/>
                </a:solidFill>
              </a:rPr>
              <a:t>component</a:t>
            </a:r>
            <a:r>
              <a:rPr lang="de-DE" sz="1200" dirty="0">
                <a:solidFill>
                  <a:srgbClr val="000000"/>
                </a:solidFill>
              </a:rPr>
              <a:t> </a:t>
            </a:r>
            <a:r>
              <a:rPr lang="de-DE" sz="1200" dirty="0" err="1">
                <a:solidFill>
                  <a:srgbClr val="000000"/>
                </a:solidFill>
              </a:rPr>
              <a:t>build-up</a:t>
            </a:r>
            <a:r>
              <a:rPr lang="de-DE" sz="1200" dirty="0">
                <a:solidFill>
                  <a:srgbClr val="000000"/>
                </a:solidFill>
              </a:rPr>
              <a:t> </a:t>
            </a:r>
            <a:r>
              <a:rPr lang="de-DE" sz="1200" dirty="0" err="1">
                <a:solidFill>
                  <a:srgbClr val="000000"/>
                </a:solidFill>
              </a:rPr>
              <a:t>method</a:t>
            </a:r>
            <a:r>
              <a:rPr lang="de-DE" sz="1200" dirty="0">
                <a:solidFill>
                  <a:srgbClr val="000000"/>
                </a:solidFill>
              </a:rPr>
              <a:t> </a:t>
            </a:r>
            <a:r>
              <a:rPr lang="de-DE" sz="1200" i="1" dirty="0">
                <a:solidFill>
                  <a:srgbClr val="000000"/>
                </a:solidFill>
              </a:rPr>
              <a:t>(</a:t>
            </a:r>
            <a:r>
              <a:rPr lang="de-DE" sz="1200" i="1" dirty="0" err="1">
                <a:solidFill>
                  <a:srgbClr val="000000"/>
                </a:solidFill>
              </a:rPr>
              <a:t>Raymer</a:t>
            </a:r>
            <a:r>
              <a:rPr lang="de-DE" sz="1200" i="1" dirty="0">
                <a:solidFill>
                  <a:srgbClr val="000000"/>
                </a:solidFill>
              </a:rPr>
              <a:t>)</a:t>
            </a:r>
            <a:endParaRPr lang="en-US" sz="1200" i="1" dirty="0" err="1">
              <a:solidFill>
                <a:srgbClr val="000000"/>
              </a:solidFill>
            </a:endParaRPr>
          </a:p>
        </p:txBody>
      </p:sp>
      <p:sp>
        <p:nvSpPr>
          <p:cNvPr id="48" name="Textfeld 63">
            <a:extLst>
              <a:ext uri="{FF2B5EF4-FFF2-40B4-BE49-F238E27FC236}">
                <a16:creationId xmlns:a16="http://schemas.microsoft.com/office/drawing/2014/main" id="{6EA84704-A0A1-45F1-B4A4-936FF9E9B114}"/>
              </a:ext>
            </a:extLst>
          </p:cNvPr>
          <p:cNvSpPr txBox="1"/>
          <p:nvPr/>
        </p:nvSpPr>
        <p:spPr>
          <a:xfrm>
            <a:off x="5563295" y="2978653"/>
            <a:ext cx="5064119"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err="1">
                <a:solidFill>
                  <a:srgbClr val="000000"/>
                </a:solidFill>
              </a:rPr>
              <a:t>Equivalent</a:t>
            </a:r>
            <a:r>
              <a:rPr lang="de-DE" sz="1200" dirty="0">
                <a:solidFill>
                  <a:srgbClr val="000000"/>
                </a:solidFill>
              </a:rPr>
              <a:t> </a:t>
            </a:r>
            <a:r>
              <a:rPr lang="de-DE" sz="1200" dirty="0" err="1">
                <a:solidFill>
                  <a:srgbClr val="000000"/>
                </a:solidFill>
              </a:rPr>
              <a:t>skin</a:t>
            </a:r>
            <a:r>
              <a:rPr lang="de-DE" sz="1200" dirty="0">
                <a:solidFill>
                  <a:srgbClr val="000000"/>
                </a:solidFill>
              </a:rPr>
              <a:t> </a:t>
            </a:r>
            <a:r>
              <a:rPr lang="de-DE" sz="1200" dirty="0" err="1">
                <a:solidFill>
                  <a:srgbClr val="000000"/>
                </a:solidFill>
              </a:rPr>
              <a:t>friction</a:t>
            </a:r>
            <a:r>
              <a:rPr lang="de-DE" sz="1200" dirty="0">
                <a:solidFill>
                  <a:srgbClr val="000000"/>
                </a:solidFill>
              </a:rPr>
              <a:t> </a:t>
            </a:r>
            <a:r>
              <a:rPr lang="de-DE" sz="1200" dirty="0" err="1">
                <a:solidFill>
                  <a:srgbClr val="000000"/>
                </a:solidFill>
              </a:rPr>
              <a:t>method</a:t>
            </a:r>
            <a:r>
              <a:rPr lang="de-DE" sz="1200" dirty="0">
                <a:solidFill>
                  <a:srgbClr val="000000"/>
                </a:solidFill>
              </a:rPr>
              <a:t> </a:t>
            </a:r>
            <a:r>
              <a:rPr lang="de-DE" sz="1200" i="1" dirty="0">
                <a:solidFill>
                  <a:srgbClr val="000000"/>
                </a:solidFill>
              </a:rPr>
              <a:t>(</a:t>
            </a:r>
            <a:r>
              <a:rPr lang="de-DE" sz="1200" i="1" dirty="0" err="1">
                <a:solidFill>
                  <a:srgbClr val="000000"/>
                </a:solidFill>
              </a:rPr>
              <a:t>Raymer</a:t>
            </a:r>
            <a:r>
              <a:rPr lang="de-DE" sz="1200" i="1" dirty="0">
                <a:solidFill>
                  <a:srgbClr val="000000"/>
                </a:solidFill>
              </a:rPr>
              <a:t>)</a:t>
            </a:r>
            <a:endParaRPr lang="en-US" sz="1200" i="1" dirty="0" err="1">
              <a:solidFill>
                <a:srgbClr val="000000"/>
              </a:solidFill>
            </a:endParaRPr>
          </a:p>
        </p:txBody>
      </p:sp>
      <p:sp>
        <p:nvSpPr>
          <p:cNvPr id="49" name="Textfeld 64">
            <a:extLst>
              <a:ext uri="{FF2B5EF4-FFF2-40B4-BE49-F238E27FC236}">
                <a16:creationId xmlns:a16="http://schemas.microsoft.com/office/drawing/2014/main" id="{3A842DBA-83F9-4F64-8F50-CA6BBFE90F5F}"/>
              </a:ext>
            </a:extLst>
          </p:cNvPr>
          <p:cNvSpPr txBox="1"/>
          <p:nvPr/>
        </p:nvSpPr>
        <p:spPr>
          <a:xfrm>
            <a:off x="5564366" y="3265803"/>
            <a:ext cx="5064119"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err="1">
                <a:solidFill>
                  <a:srgbClr val="000000"/>
                </a:solidFill>
              </a:rPr>
              <a:t>Transsonic</a:t>
            </a:r>
            <a:r>
              <a:rPr lang="de-DE" sz="1200" dirty="0">
                <a:solidFill>
                  <a:srgbClr val="000000"/>
                </a:solidFill>
              </a:rPr>
              <a:t> </a:t>
            </a:r>
            <a:r>
              <a:rPr lang="de-DE" sz="1200" dirty="0" err="1">
                <a:solidFill>
                  <a:srgbClr val="000000"/>
                </a:solidFill>
              </a:rPr>
              <a:t>wave</a:t>
            </a:r>
            <a:r>
              <a:rPr lang="de-DE" sz="1200" dirty="0">
                <a:solidFill>
                  <a:srgbClr val="000000"/>
                </a:solidFill>
              </a:rPr>
              <a:t> </a:t>
            </a:r>
            <a:r>
              <a:rPr lang="de-DE" sz="1200" dirty="0" err="1">
                <a:solidFill>
                  <a:srgbClr val="000000"/>
                </a:solidFill>
              </a:rPr>
              <a:t>drag</a:t>
            </a:r>
            <a:r>
              <a:rPr lang="de-DE" sz="1200" dirty="0">
                <a:solidFill>
                  <a:srgbClr val="000000"/>
                </a:solidFill>
              </a:rPr>
              <a:t> </a:t>
            </a:r>
            <a:r>
              <a:rPr lang="de-DE" sz="1200" dirty="0" err="1">
                <a:solidFill>
                  <a:srgbClr val="000000"/>
                </a:solidFill>
              </a:rPr>
              <a:t>increase</a:t>
            </a:r>
            <a:r>
              <a:rPr lang="de-DE" sz="1200" dirty="0">
                <a:solidFill>
                  <a:srgbClr val="000000"/>
                </a:solidFill>
              </a:rPr>
              <a:t> </a:t>
            </a:r>
            <a:r>
              <a:rPr lang="de-DE" sz="1200" dirty="0" err="1">
                <a:solidFill>
                  <a:srgbClr val="000000"/>
                </a:solidFill>
              </a:rPr>
              <a:t>estimation</a:t>
            </a:r>
            <a:r>
              <a:rPr lang="de-DE" sz="1200" dirty="0">
                <a:solidFill>
                  <a:srgbClr val="000000"/>
                </a:solidFill>
              </a:rPr>
              <a:t> </a:t>
            </a:r>
            <a:r>
              <a:rPr lang="de-DE" sz="1200" i="1" dirty="0">
                <a:solidFill>
                  <a:srgbClr val="000000"/>
                </a:solidFill>
              </a:rPr>
              <a:t>(Malone &amp; Mason)</a:t>
            </a:r>
            <a:endParaRPr lang="en-US" sz="1200" i="1" dirty="0" err="1">
              <a:solidFill>
                <a:srgbClr val="000000"/>
              </a:solidFill>
            </a:endParaRPr>
          </a:p>
        </p:txBody>
      </p:sp>
      <p:sp>
        <p:nvSpPr>
          <p:cNvPr id="52" name="Textfeld 67">
            <a:extLst>
              <a:ext uri="{FF2B5EF4-FFF2-40B4-BE49-F238E27FC236}">
                <a16:creationId xmlns:a16="http://schemas.microsoft.com/office/drawing/2014/main" id="{B9F9F4B3-4800-4207-BB93-044A0EA90056}"/>
              </a:ext>
            </a:extLst>
          </p:cNvPr>
          <p:cNvSpPr txBox="1"/>
          <p:nvPr/>
        </p:nvSpPr>
        <p:spPr>
          <a:xfrm>
            <a:off x="5563295" y="3785327"/>
            <a:ext cx="5064119" cy="191847"/>
          </a:xfrm>
          <a:prstGeom prst="rect">
            <a:avLst/>
          </a:prstGeom>
          <a:solidFill>
            <a:schemeClr val="bg1"/>
          </a:solidFill>
          <a:ln>
            <a:solidFill>
              <a:schemeClr val="bg1"/>
            </a:solidFill>
          </a:ln>
        </p:spPr>
        <p:txBody>
          <a:bodyPr wrap="square" lIns="0" tIns="0" rIns="0" bIns="0" rtlCol="0">
            <a:spAutoFit/>
          </a:bodyPr>
          <a:lstStyle/>
          <a:p>
            <a:pPr algn="l">
              <a:lnSpc>
                <a:spcPct val="114000"/>
              </a:lnSpc>
            </a:pPr>
            <a:r>
              <a:rPr lang="de-DE" sz="1200" dirty="0">
                <a:solidFill>
                  <a:srgbClr val="000000"/>
                </a:solidFill>
              </a:rPr>
              <a:t>Oswald </a:t>
            </a:r>
            <a:r>
              <a:rPr lang="de-DE" sz="1200" dirty="0" err="1">
                <a:solidFill>
                  <a:srgbClr val="000000"/>
                </a:solidFill>
              </a:rPr>
              <a:t>factor</a:t>
            </a:r>
            <a:r>
              <a:rPr lang="de-DE" sz="1200" dirty="0">
                <a:solidFill>
                  <a:srgbClr val="000000"/>
                </a:solidFill>
              </a:rPr>
              <a:t> </a:t>
            </a:r>
            <a:r>
              <a:rPr lang="de-DE" sz="1200" dirty="0" err="1">
                <a:solidFill>
                  <a:srgbClr val="000000"/>
                </a:solidFill>
              </a:rPr>
              <a:t>estimation</a:t>
            </a:r>
            <a:r>
              <a:rPr lang="de-DE" sz="1200" dirty="0">
                <a:solidFill>
                  <a:srgbClr val="000000"/>
                </a:solidFill>
              </a:rPr>
              <a:t> </a:t>
            </a:r>
            <a:r>
              <a:rPr lang="de-DE" sz="1200" i="1" dirty="0">
                <a:solidFill>
                  <a:srgbClr val="000000"/>
                </a:solidFill>
              </a:rPr>
              <a:t>(</a:t>
            </a:r>
            <a:r>
              <a:rPr lang="de-DE" sz="1200" i="1" dirty="0" err="1">
                <a:solidFill>
                  <a:srgbClr val="000000"/>
                </a:solidFill>
              </a:rPr>
              <a:t>Nita</a:t>
            </a:r>
            <a:r>
              <a:rPr lang="de-DE" sz="1200" i="1" dirty="0">
                <a:solidFill>
                  <a:srgbClr val="000000"/>
                </a:solidFill>
              </a:rPr>
              <a:t> &amp; Scholz)</a:t>
            </a:r>
            <a:endParaRPr lang="en-US" sz="1200" i="1" dirty="0" err="1">
              <a:solidFill>
                <a:srgbClr val="000000"/>
              </a:solidFill>
            </a:endParaRPr>
          </a:p>
        </p:txBody>
      </p:sp>
    </p:spTree>
    <p:extLst>
      <p:ext uri="{BB962C8B-B14F-4D97-AF65-F5344CB8AC3E}">
        <p14:creationId xmlns:p14="http://schemas.microsoft.com/office/powerpoint/2010/main" val="849627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fade">
                                      <p:cBhvr>
                                        <p:cTn id="34" dur="500"/>
                                        <p:tgtEl>
                                          <p:spTgt spid="4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2">
                                            <p:txEl>
                                              <p:pRg st="11" end="11"/>
                                            </p:txEl>
                                          </p:spTgt>
                                        </p:tgtEl>
                                        <p:attrNameLst>
                                          <p:attrName>style.visibility</p:attrName>
                                        </p:attrNameLst>
                                      </p:cBhvr>
                                      <p:to>
                                        <p:strVal val="visible"/>
                                      </p:to>
                                    </p:set>
                                    <p:animEffect transition="in" filter="fade">
                                      <p:cBhvr>
                                        <p:cTn id="42" dur="500"/>
                                        <p:tgtEl>
                                          <p:spTgt spid="42">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42">
                                            <p:txEl>
                                              <p:pRg st="12" end="12"/>
                                            </p:txEl>
                                          </p:spTgt>
                                        </p:tgtEl>
                                        <p:attrNameLst>
                                          <p:attrName>style.visibility</p:attrName>
                                        </p:attrNameLst>
                                      </p:cBhvr>
                                      <p:to>
                                        <p:strVal val="visible"/>
                                      </p:to>
                                    </p:set>
                                    <p:animEffect transition="in" filter="fade">
                                      <p:cBhvr>
                                        <p:cTn id="45" dur="500"/>
                                        <p:tgtEl>
                                          <p:spTgt spid="42">
                                            <p:txEl>
                                              <p:pRg st="12" end="1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2">
                                            <p:txEl>
                                              <p:pRg st="13" end="13"/>
                                            </p:txEl>
                                          </p:spTgt>
                                        </p:tgtEl>
                                        <p:attrNameLst>
                                          <p:attrName>style.visibility</p:attrName>
                                        </p:attrNameLst>
                                      </p:cBhvr>
                                      <p:to>
                                        <p:strVal val="visible"/>
                                      </p:to>
                                    </p:set>
                                    <p:animEffect transition="in" filter="fade">
                                      <p:cBhvr>
                                        <p:cTn id="48" dur="500"/>
                                        <p:tgtEl>
                                          <p:spTgt spid="4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animBg="1"/>
      <p:bldP spid="23" grpId="0" animBg="1"/>
      <p:bldP spid="24" grpId="0" animBg="1"/>
      <p:bldP spid="25" grpId="0" animBg="1"/>
      <p:bldP spid="44" grpId="0" animBg="1"/>
      <p:bldP spid="46" grpId="0" animBg="1"/>
      <p:bldP spid="48" grpId="0" animBg="1"/>
      <p:bldP spid="49" grpId="0" animBg="1"/>
      <p:bldP spid="5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sp>
        <p:nvSpPr>
          <p:cNvPr id="16" name="Content Placeholder 1">
            <a:extLst>
              <a:ext uri="{FF2B5EF4-FFF2-40B4-BE49-F238E27FC236}">
                <a16:creationId xmlns:a16="http://schemas.microsoft.com/office/drawing/2014/main" id="{3D08BCAE-948A-4AF4-887E-D571E58FF531}"/>
              </a:ext>
            </a:extLst>
          </p:cNvPr>
          <p:cNvSpPr>
            <a:spLocks noGrp="1"/>
          </p:cNvSpPr>
          <p:nvPr>
            <p:ph idx="1"/>
          </p:nvPr>
        </p:nvSpPr>
        <p:spPr>
          <a:xfrm>
            <a:off x="677337" y="1828800"/>
            <a:ext cx="4633804" cy="4343400"/>
          </a:xfrm>
        </p:spPr>
        <p:txBody>
          <a:bodyPr/>
          <a:lstStyle/>
          <a:p>
            <a:pPr marL="0" indent="0">
              <a:buNone/>
            </a:pPr>
            <a:r>
              <a:rPr lang="en-US" b="1" dirty="0" err="1"/>
              <a:t>Lifting_Line</a:t>
            </a:r>
            <a:r>
              <a:rPr lang="en-US" b="1" dirty="0"/>
              <a:t> – Assumptions </a:t>
            </a:r>
            <a:endParaRPr lang="en-US" sz="1350" b="1" dirty="0">
              <a:latin typeface="Arial (body)"/>
            </a:endParaRPr>
          </a:p>
          <a:p>
            <a:pPr lvl="2"/>
            <a:r>
              <a:rPr lang="en-US" sz="1350" b="1" dirty="0">
                <a:latin typeface="Arial (body)"/>
              </a:rPr>
              <a:t>Potential-theoretical</a:t>
            </a:r>
            <a:r>
              <a:rPr lang="en-US" sz="1350" dirty="0">
                <a:latin typeface="Arial (body)"/>
              </a:rPr>
              <a:t> procedure for the case of a </a:t>
            </a:r>
          </a:p>
          <a:p>
            <a:pPr lvl="4"/>
            <a:r>
              <a:rPr lang="en-US" sz="1350" b="1" dirty="0">
                <a:latin typeface="Arial (body)"/>
              </a:rPr>
              <a:t>smooth</a:t>
            </a:r>
            <a:r>
              <a:rPr lang="en-US" sz="1350" dirty="0">
                <a:latin typeface="Arial (body)"/>
              </a:rPr>
              <a:t>, </a:t>
            </a:r>
          </a:p>
          <a:p>
            <a:pPr lvl="4"/>
            <a:r>
              <a:rPr lang="en-US" sz="1350" b="1" dirty="0">
                <a:latin typeface="Arial (body)"/>
              </a:rPr>
              <a:t>incompressible</a:t>
            </a:r>
            <a:r>
              <a:rPr lang="en-US" sz="1350" dirty="0">
                <a:latin typeface="Arial (body)"/>
              </a:rPr>
              <a:t> flows,</a:t>
            </a:r>
          </a:p>
          <a:p>
            <a:pPr lvl="4"/>
            <a:r>
              <a:rPr lang="en-US" sz="1350" dirty="0">
                <a:latin typeface="Arial (body)"/>
              </a:rPr>
              <a:t>assuming that the </a:t>
            </a:r>
            <a:r>
              <a:rPr lang="en-US" sz="1350" b="1" dirty="0">
                <a:latin typeface="Arial (body)"/>
              </a:rPr>
              <a:t>airfoil</a:t>
            </a:r>
            <a:r>
              <a:rPr lang="en-US" sz="1350" dirty="0">
                <a:latin typeface="Arial (body)"/>
              </a:rPr>
              <a:t> profiles are </a:t>
            </a:r>
            <a:r>
              <a:rPr lang="en-US" sz="1350" b="1" dirty="0">
                <a:latin typeface="Arial (body)"/>
              </a:rPr>
              <a:t>thin</a:t>
            </a:r>
            <a:r>
              <a:rPr lang="en-US" sz="1350" dirty="0">
                <a:latin typeface="Arial (body)"/>
              </a:rPr>
              <a:t> and able to be modelled by </a:t>
            </a:r>
            <a:r>
              <a:rPr lang="en-US" sz="1350" b="1" dirty="0">
                <a:latin typeface="Arial (body)"/>
              </a:rPr>
              <a:t>flat plates</a:t>
            </a:r>
          </a:p>
          <a:p>
            <a:pPr lvl="4"/>
            <a:endParaRPr lang="en-US" sz="1350" dirty="0">
              <a:latin typeface="Arial (body)"/>
            </a:endParaRPr>
          </a:p>
          <a:p>
            <a:pPr lvl="2"/>
            <a:r>
              <a:rPr lang="en-US" sz="1350" dirty="0">
                <a:latin typeface="Arial (body)"/>
              </a:rPr>
              <a:t>An </a:t>
            </a:r>
            <a:r>
              <a:rPr lang="en-US" sz="1350" b="1" dirty="0">
                <a:latin typeface="Arial (body)"/>
              </a:rPr>
              <a:t>inviscid</a:t>
            </a:r>
            <a:r>
              <a:rPr lang="en-US" sz="1350" dirty="0">
                <a:latin typeface="Arial (body)"/>
              </a:rPr>
              <a:t>, </a:t>
            </a:r>
            <a:r>
              <a:rPr lang="en-US" sz="1350" b="1" dirty="0">
                <a:latin typeface="Arial (body)"/>
              </a:rPr>
              <a:t>irrotational</a:t>
            </a:r>
            <a:r>
              <a:rPr lang="en-US" sz="1350" dirty="0">
                <a:latin typeface="Arial (body)"/>
              </a:rPr>
              <a:t> and </a:t>
            </a:r>
            <a:r>
              <a:rPr lang="en-US" sz="1350" b="1" dirty="0">
                <a:latin typeface="Arial (body)"/>
              </a:rPr>
              <a:t>steady flow </a:t>
            </a:r>
            <a:r>
              <a:rPr lang="en-US" sz="1350" dirty="0">
                <a:latin typeface="Arial (body)"/>
              </a:rPr>
              <a:t>around a wing is modeled by the distribution of a system of singularities over the wing and the superposition of this system with the undisturbed incoming flow</a:t>
            </a:r>
          </a:p>
          <a:p>
            <a:pPr lvl="2"/>
            <a:endParaRPr lang="en-US" sz="1350" dirty="0">
              <a:latin typeface="Arial (body)"/>
            </a:endParaRPr>
          </a:p>
          <a:p>
            <a:pPr lvl="2"/>
            <a:r>
              <a:rPr lang="en-US" sz="1350" dirty="0">
                <a:latin typeface="Arial (body)"/>
              </a:rPr>
              <a:t>If necessary, a </a:t>
            </a:r>
            <a:r>
              <a:rPr lang="en-US" sz="1350" b="1" dirty="0">
                <a:latin typeface="Arial (body)"/>
              </a:rPr>
              <a:t>compressibility correction </a:t>
            </a:r>
            <a:r>
              <a:rPr lang="en-US" sz="1350" dirty="0">
                <a:latin typeface="Arial (body)"/>
              </a:rPr>
              <a:t>(</a:t>
            </a:r>
            <a:r>
              <a:rPr lang="en-US" sz="1350" b="1" dirty="0" err="1">
                <a:latin typeface="Arial (body)"/>
              </a:rPr>
              <a:t>Göthert</a:t>
            </a:r>
            <a:r>
              <a:rPr lang="en-US" sz="1350" dirty="0">
                <a:latin typeface="Arial (body)"/>
              </a:rPr>
              <a:t>) with the appropriate geometric modifications can be switched on</a:t>
            </a:r>
          </a:p>
          <a:p>
            <a:pPr marL="228600" indent="-228600">
              <a:buFont typeface="+mj-lt"/>
              <a:buAutoNum type="arabicPeriod"/>
            </a:pPr>
            <a:endParaRPr lang="en-US" sz="1200" dirty="0">
              <a:latin typeface="Arial (body)"/>
            </a:endParaRPr>
          </a:p>
          <a:p>
            <a:endParaRPr lang="en-US" dirty="0"/>
          </a:p>
          <a:p>
            <a:pPr marL="0" indent="0">
              <a:buNone/>
            </a:pPr>
            <a:endParaRPr lang="en-US" dirty="0">
              <a:solidFill>
                <a:schemeClr val="bg2"/>
              </a:solidFill>
            </a:endParaRPr>
          </a:p>
          <a:p>
            <a:endParaRPr lang="en-US" dirty="0"/>
          </a:p>
        </p:txBody>
      </p:sp>
      <p:sp>
        <p:nvSpPr>
          <p:cNvPr id="17" name="Content Placeholder 1">
            <a:extLst>
              <a:ext uri="{FF2B5EF4-FFF2-40B4-BE49-F238E27FC236}">
                <a16:creationId xmlns:a16="http://schemas.microsoft.com/office/drawing/2014/main" id="{C0B566BA-E2F9-4836-BE86-61AB4DCE8E24}"/>
              </a:ext>
            </a:extLst>
          </p:cNvPr>
          <p:cNvSpPr txBox="1">
            <a:spLocks/>
          </p:cNvSpPr>
          <p:nvPr/>
        </p:nvSpPr>
        <p:spPr bwMode="auto">
          <a:xfrm>
            <a:off x="6096000" y="1828800"/>
            <a:ext cx="4633804" cy="434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35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buNone/>
            </a:pPr>
            <a:r>
              <a:rPr lang="en-US" sz="1600" b="1" dirty="0"/>
              <a:t>Vortex Lattice (AVL) – Assumptions </a:t>
            </a:r>
            <a:endParaRPr lang="en-US" sz="1600" b="1" dirty="0">
              <a:latin typeface="Arial (body)"/>
            </a:endParaRPr>
          </a:p>
          <a:p>
            <a:pPr lvl="2" defTabSz="914400"/>
            <a:r>
              <a:rPr lang="en-US" sz="1350" dirty="0">
                <a:latin typeface="Arial (body)"/>
              </a:rPr>
              <a:t>Best suited for aerodynamic configurations which consist mainly of:</a:t>
            </a:r>
          </a:p>
          <a:p>
            <a:pPr lvl="4" defTabSz="914400"/>
            <a:r>
              <a:rPr lang="en-US" sz="1350" b="1" dirty="0">
                <a:latin typeface="Arial (body)"/>
              </a:rPr>
              <a:t>thin lifting surfaces</a:t>
            </a:r>
          </a:p>
          <a:p>
            <a:pPr lvl="4" defTabSz="914400"/>
            <a:r>
              <a:rPr lang="en-US" sz="1350" dirty="0">
                <a:latin typeface="Arial (body)"/>
              </a:rPr>
              <a:t>at </a:t>
            </a:r>
            <a:r>
              <a:rPr lang="en-US" sz="1350" b="1" dirty="0">
                <a:latin typeface="Arial (body)"/>
              </a:rPr>
              <a:t>small angles of attack </a:t>
            </a:r>
          </a:p>
          <a:p>
            <a:pPr lvl="4" defTabSz="914400"/>
            <a:r>
              <a:rPr lang="en-US" sz="1350" dirty="0">
                <a:latin typeface="Arial (body)"/>
              </a:rPr>
              <a:t>at </a:t>
            </a:r>
            <a:r>
              <a:rPr lang="en-US" sz="1350" b="1" dirty="0">
                <a:latin typeface="Arial (body)"/>
              </a:rPr>
              <a:t>small angles of sideslip</a:t>
            </a:r>
          </a:p>
          <a:p>
            <a:pPr lvl="4" defTabSz="914400"/>
            <a:endParaRPr lang="en-US" sz="1350" dirty="0">
              <a:latin typeface="Arial (body)"/>
            </a:endParaRPr>
          </a:p>
          <a:p>
            <a:pPr lvl="2" defTabSz="914400"/>
            <a:r>
              <a:rPr lang="en-US" sz="1350" dirty="0">
                <a:latin typeface="Arial (body)"/>
              </a:rPr>
              <a:t>Assumes </a:t>
            </a:r>
            <a:r>
              <a:rPr lang="en-US" sz="1350" b="1" dirty="0">
                <a:latin typeface="Arial (body)"/>
              </a:rPr>
              <a:t>quasi-steady flow</a:t>
            </a:r>
            <a:r>
              <a:rPr lang="en-US" sz="1350" dirty="0">
                <a:latin typeface="Arial (body)"/>
              </a:rPr>
              <a:t>, meaning that unsteady vorticity shedding is neglected. </a:t>
            </a:r>
          </a:p>
          <a:p>
            <a:pPr marL="132159" lvl="2" indent="0" defTabSz="914400">
              <a:buNone/>
            </a:pPr>
            <a:endParaRPr lang="en-US" sz="1350" dirty="0">
              <a:latin typeface="Arial (body)"/>
            </a:endParaRPr>
          </a:p>
          <a:p>
            <a:pPr lvl="2" defTabSz="914400"/>
            <a:r>
              <a:rPr lang="en-US" sz="1350" b="1" dirty="0">
                <a:latin typeface="Arial (body)"/>
              </a:rPr>
              <a:t>Compressibility</a:t>
            </a:r>
            <a:r>
              <a:rPr lang="en-US" sz="1350" dirty="0">
                <a:latin typeface="Arial (body)"/>
              </a:rPr>
              <a:t> is treated in AVL using the classical </a:t>
            </a:r>
            <a:r>
              <a:rPr lang="en-US" sz="1350" b="1" dirty="0">
                <a:latin typeface="Arial (body)"/>
              </a:rPr>
              <a:t>Prandtl-</a:t>
            </a:r>
            <a:r>
              <a:rPr lang="en-US" sz="1350" b="1" dirty="0" err="1">
                <a:latin typeface="Arial (body)"/>
              </a:rPr>
              <a:t>Glauert</a:t>
            </a:r>
            <a:r>
              <a:rPr lang="en-US" sz="1350" b="1" dirty="0">
                <a:latin typeface="Arial (body)"/>
              </a:rPr>
              <a:t> </a:t>
            </a:r>
            <a:r>
              <a:rPr lang="en-US" sz="1350" dirty="0">
                <a:latin typeface="Arial (body)"/>
              </a:rPr>
              <a:t>(PG) </a:t>
            </a:r>
            <a:r>
              <a:rPr lang="en-US" sz="1350" b="1" dirty="0">
                <a:latin typeface="Arial (body)"/>
              </a:rPr>
              <a:t>transformation</a:t>
            </a:r>
          </a:p>
          <a:p>
            <a:pPr marL="228600" indent="-228600" defTabSz="914400">
              <a:buFont typeface="+mj-lt"/>
              <a:buAutoNum type="arabicPeriod"/>
            </a:pPr>
            <a:endParaRPr lang="en-US" sz="1200" dirty="0">
              <a:latin typeface="Arial (body)"/>
            </a:endParaRPr>
          </a:p>
          <a:p>
            <a:pPr defTabSz="914400"/>
            <a:endParaRPr lang="en-US" dirty="0"/>
          </a:p>
          <a:p>
            <a:pPr marL="0" indent="0" defTabSz="914400">
              <a:buFont typeface="Wingdings" panose="05000000000000000000" pitchFamily="2" charset="2"/>
              <a:buNone/>
            </a:pPr>
            <a:endParaRPr lang="en-US" dirty="0">
              <a:solidFill>
                <a:schemeClr val="bg2"/>
              </a:solidFill>
            </a:endParaRPr>
          </a:p>
          <a:p>
            <a:pPr defTabSz="914400"/>
            <a:endParaRPr lang="en-US" dirty="0"/>
          </a:p>
        </p:txBody>
      </p:sp>
      <p:pic>
        <p:nvPicPr>
          <p:cNvPr id="8" name="Picture 7">
            <a:extLst>
              <a:ext uri="{FF2B5EF4-FFF2-40B4-BE49-F238E27FC236}">
                <a16:creationId xmlns:a16="http://schemas.microsoft.com/office/drawing/2014/main" id="{B39C63CA-CF2F-481F-995E-E1016ADB4687}"/>
              </a:ext>
            </a:extLst>
          </p:cNvPr>
          <p:cNvPicPr>
            <a:picLocks noChangeAspect="1"/>
          </p:cNvPicPr>
          <p:nvPr/>
        </p:nvPicPr>
        <p:blipFill>
          <a:blip r:embed="rId2"/>
          <a:stretch>
            <a:fillRect/>
          </a:stretch>
        </p:blipFill>
        <p:spPr>
          <a:xfrm>
            <a:off x="6096000" y="2625326"/>
            <a:ext cx="1616618" cy="803892"/>
          </a:xfrm>
          <a:prstGeom prst="rect">
            <a:avLst/>
          </a:prstGeom>
          <a:ln>
            <a:solidFill>
              <a:schemeClr val="tx1"/>
            </a:solidFill>
          </a:ln>
        </p:spPr>
      </p:pic>
      <p:pic>
        <p:nvPicPr>
          <p:cNvPr id="9" name="Picture 8">
            <a:extLst>
              <a:ext uri="{FF2B5EF4-FFF2-40B4-BE49-F238E27FC236}">
                <a16:creationId xmlns:a16="http://schemas.microsoft.com/office/drawing/2014/main" id="{462921C4-7C0D-4D5D-86B4-B00431AFEC33}"/>
              </a:ext>
            </a:extLst>
          </p:cNvPr>
          <p:cNvPicPr>
            <a:picLocks noChangeAspect="1"/>
          </p:cNvPicPr>
          <p:nvPr/>
        </p:nvPicPr>
        <p:blipFill>
          <a:blip r:embed="rId3"/>
          <a:stretch>
            <a:fillRect/>
          </a:stretch>
        </p:blipFill>
        <p:spPr>
          <a:xfrm>
            <a:off x="6579076" y="3109486"/>
            <a:ext cx="3753173" cy="1651616"/>
          </a:xfrm>
          <a:prstGeom prst="rect">
            <a:avLst/>
          </a:prstGeom>
          <a:ln>
            <a:solidFill>
              <a:schemeClr val="tx1"/>
            </a:solidFill>
          </a:ln>
        </p:spPr>
      </p:pic>
      <p:pic>
        <p:nvPicPr>
          <p:cNvPr id="10" name="Picture 9">
            <a:extLst>
              <a:ext uri="{FF2B5EF4-FFF2-40B4-BE49-F238E27FC236}">
                <a16:creationId xmlns:a16="http://schemas.microsoft.com/office/drawing/2014/main" id="{AADB6F05-EA02-4AC7-B5E7-C9A0D2E04A4C}"/>
              </a:ext>
            </a:extLst>
          </p:cNvPr>
          <p:cNvPicPr>
            <a:picLocks noChangeAspect="1"/>
          </p:cNvPicPr>
          <p:nvPr/>
        </p:nvPicPr>
        <p:blipFill>
          <a:blip r:embed="rId4"/>
          <a:stretch>
            <a:fillRect/>
          </a:stretch>
        </p:blipFill>
        <p:spPr>
          <a:xfrm>
            <a:off x="7058809" y="4091069"/>
            <a:ext cx="4484102" cy="1197055"/>
          </a:xfrm>
          <a:prstGeom prst="rect">
            <a:avLst/>
          </a:prstGeom>
          <a:ln>
            <a:solidFill>
              <a:schemeClr val="tx1"/>
            </a:solidFill>
          </a:ln>
        </p:spPr>
      </p:pic>
    </p:spTree>
    <p:extLst>
      <p:ext uri="{BB962C8B-B14F-4D97-AF65-F5344CB8AC3E}">
        <p14:creationId xmlns:p14="http://schemas.microsoft.com/office/powerpoint/2010/main" val="287892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500"/>
                                        <p:tgtEl>
                                          <p:spTgt spid="1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xEl>
                                              <p:pRg st="2" end="2"/>
                                            </p:txEl>
                                          </p:spTgt>
                                        </p:tgtEl>
                                        <p:attrNameLst>
                                          <p:attrName>style.visibility</p:attrName>
                                        </p:attrNameLst>
                                      </p:cBhvr>
                                      <p:to>
                                        <p:strVal val="visible"/>
                                      </p:to>
                                    </p:set>
                                    <p:animEffect transition="in" filter="fade">
                                      <p:cBhvr>
                                        <p:cTn id="10" dur="500"/>
                                        <p:tgtEl>
                                          <p:spTgt spid="1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fade">
                                      <p:cBhvr>
                                        <p:cTn id="13" dur="500"/>
                                        <p:tgtEl>
                                          <p:spTgt spid="1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xEl>
                                              <p:pRg st="4" end="4"/>
                                            </p:txEl>
                                          </p:spTgt>
                                        </p:tgtEl>
                                        <p:attrNameLst>
                                          <p:attrName>style.visibility</p:attrName>
                                        </p:attrNameLst>
                                      </p:cBhvr>
                                      <p:to>
                                        <p:strVal val="visible"/>
                                      </p:to>
                                    </p:set>
                                    <p:animEffect transition="in" filter="fade">
                                      <p:cBhvr>
                                        <p:cTn id="16" dur="500"/>
                                        <p:tgtEl>
                                          <p:spTgt spid="16">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xEl>
                                              <p:pRg st="6" end="6"/>
                                            </p:txEl>
                                          </p:spTgt>
                                        </p:tgtEl>
                                        <p:attrNameLst>
                                          <p:attrName>style.visibility</p:attrName>
                                        </p:attrNameLst>
                                      </p:cBhvr>
                                      <p:to>
                                        <p:strVal val="visible"/>
                                      </p:to>
                                    </p:set>
                                    <p:animEffect transition="in" filter="fade">
                                      <p:cBhvr>
                                        <p:cTn id="21" dur="500"/>
                                        <p:tgtEl>
                                          <p:spTgt spid="16">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xEl>
                                              <p:pRg st="8" end="8"/>
                                            </p:txEl>
                                          </p:spTgt>
                                        </p:tgtEl>
                                        <p:attrNameLst>
                                          <p:attrName>style.visibility</p:attrName>
                                        </p:attrNameLst>
                                      </p:cBhvr>
                                      <p:to>
                                        <p:strVal val="visible"/>
                                      </p:to>
                                    </p:set>
                                    <p:animEffect transition="in" filter="fade">
                                      <p:cBhvr>
                                        <p:cTn id="26" dur="500"/>
                                        <p:tgtEl>
                                          <p:spTgt spid="16">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
                                            <p:txEl>
                                              <p:pRg st="1" end="1"/>
                                            </p:txEl>
                                          </p:spTgt>
                                        </p:tgtEl>
                                        <p:attrNameLst>
                                          <p:attrName>style.visibility</p:attrName>
                                        </p:attrNameLst>
                                      </p:cBhvr>
                                      <p:to>
                                        <p:strVal val="visible"/>
                                      </p:to>
                                    </p:set>
                                    <p:animEffect transition="in" filter="fade">
                                      <p:cBhvr>
                                        <p:cTn id="31" dur="500"/>
                                        <p:tgtEl>
                                          <p:spTgt spid="17">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xEl>
                                              <p:pRg st="2" end="2"/>
                                            </p:txEl>
                                          </p:spTgt>
                                        </p:tgtEl>
                                        <p:attrNameLst>
                                          <p:attrName>style.visibility</p:attrName>
                                        </p:attrNameLst>
                                      </p:cBhvr>
                                      <p:to>
                                        <p:strVal val="visible"/>
                                      </p:to>
                                    </p:set>
                                    <p:animEffect transition="in" filter="fade">
                                      <p:cBhvr>
                                        <p:cTn id="34" dur="500"/>
                                        <p:tgtEl>
                                          <p:spTgt spid="17">
                                            <p:txEl>
                                              <p:pRg st="2" end="2"/>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xEl>
                                              <p:pRg st="3" end="3"/>
                                            </p:txEl>
                                          </p:spTgt>
                                        </p:tgtEl>
                                        <p:attrNameLst>
                                          <p:attrName>style.visibility</p:attrName>
                                        </p:attrNameLst>
                                      </p:cBhvr>
                                      <p:to>
                                        <p:strVal val="visible"/>
                                      </p:to>
                                    </p:set>
                                    <p:animEffect transition="in" filter="fade">
                                      <p:cBhvr>
                                        <p:cTn id="37" dur="500"/>
                                        <p:tgtEl>
                                          <p:spTgt spid="17">
                                            <p:txEl>
                                              <p:pRg st="3" end="3"/>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xEl>
                                              <p:pRg st="4" end="4"/>
                                            </p:txEl>
                                          </p:spTgt>
                                        </p:tgtEl>
                                        <p:attrNameLst>
                                          <p:attrName>style.visibility</p:attrName>
                                        </p:attrNameLst>
                                      </p:cBhvr>
                                      <p:to>
                                        <p:strVal val="visible"/>
                                      </p:to>
                                    </p:set>
                                    <p:animEffect transition="in" filter="fade">
                                      <p:cBhvr>
                                        <p:cTn id="40" dur="500"/>
                                        <p:tgtEl>
                                          <p:spTgt spid="17">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7">
                                            <p:txEl>
                                              <p:pRg st="6" end="6"/>
                                            </p:txEl>
                                          </p:spTgt>
                                        </p:tgtEl>
                                        <p:attrNameLst>
                                          <p:attrName>style.visibility</p:attrName>
                                        </p:attrNameLst>
                                      </p:cBhvr>
                                      <p:to>
                                        <p:strVal val="visible"/>
                                      </p:to>
                                    </p:set>
                                    <p:animEffect transition="in" filter="fade">
                                      <p:cBhvr>
                                        <p:cTn id="45" dur="500"/>
                                        <p:tgtEl>
                                          <p:spTgt spid="17">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
                                            <p:txEl>
                                              <p:pRg st="8" end="8"/>
                                            </p:txEl>
                                          </p:spTgt>
                                        </p:tgtEl>
                                        <p:attrNameLst>
                                          <p:attrName>style.visibility</p:attrName>
                                        </p:attrNameLst>
                                      </p:cBhvr>
                                      <p:to>
                                        <p:strVal val="visible"/>
                                      </p:to>
                                    </p:set>
                                    <p:animEffect transition="in" filter="fade">
                                      <p:cBhvr>
                                        <p:cTn id="50" dur="500"/>
                                        <p:tgtEl>
                                          <p:spTgt spid="17">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sp>
        <p:nvSpPr>
          <p:cNvPr id="25" name="Content Placeholder 1">
            <a:extLst>
              <a:ext uri="{FF2B5EF4-FFF2-40B4-BE49-F238E27FC236}">
                <a16:creationId xmlns:a16="http://schemas.microsoft.com/office/drawing/2014/main" id="{9A194AF1-968C-426C-A4A7-087AF9DC68F9}"/>
              </a:ext>
            </a:extLst>
          </p:cNvPr>
          <p:cNvSpPr>
            <a:spLocks noGrp="1"/>
          </p:cNvSpPr>
          <p:nvPr>
            <p:ph idx="1"/>
          </p:nvPr>
        </p:nvSpPr>
        <p:spPr>
          <a:xfrm>
            <a:off x="677337" y="1828799"/>
            <a:ext cx="10837332" cy="4114801"/>
          </a:xfrm>
        </p:spPr>
        <p:txBody>
          <a:bodyPr/>
          <a:lstStyle/>
          <a:p>
            <a:pPr marL="0" indent="0">
              <a:buNone/>
            </a:pPr>
            <a:r>
              <a:rPr lang="en-US" dirty="0">
                <a:latin typeface="Arial (body)"/>
              </a:rPr>
              <a:t>Questions:</a:t>
            </a:r>
          </a:p>
          <a:p>
            <a:r>
              <a:rPr lang="en-US" dirty="0">
                <a:latin typeface="Arial (body)"/>
              </a:rPr>
              <a:t>Are the assumptions checked? </a:t>
            </a:r>
            <a:endParaRPr lang="en-US" dirty="0">
              <a:latin typeface="Arial (body)"/>
              <a:sym typeface="Wingdings" panose="05000000000000000000" pitchFamily="2" charset="2"/>
            </a:endParaRPr>
          </a:p>
          <a:p>
            <a:pPr lvl="2"/>
            <a:r>
              <a:rPr lang="en-US" dirty="0">
                <a:latin typeface="Arial (body)"/>
                <a:sym typeface="Wingdings" panose="05000000000000000000" pitchFamily="2" charset="2"/>
              </a:rPr>
              <a:t>They should be checked</a:t>
            </a:r>
          </a:p>
          <a:p>
            <a:pPr lvl="2"/>
            <a:endParaRPr lang="en-US" dirty="0">
              <a:latin typeface="Arial (body)"/>
              <a:sym typeface="Wingdings" panose="05000000000000000000" pitchFamily="2" charset="2"/>
            </a:endParaRPr>
          </a:p>
          <a:p>
            <a:r>
              <a:rPr lang="en-US" dirty="0">
                <a:latin typeface="Arial (body)"/>
                <a:sym typeface="Wingdings" panose="05000000000000000000" pitchFamily="2" charset="2"/>
              </a:rPr>
              <a:t>What if the configuration does not comply with the assumptions</a:t>
            </a:r>
          </a:p>
          <a:p>
            <a:pPr lvl="2"/>
            <a:r>
              <a:rPr lang="en-US" dirty="0">
                <a:latin typeface="Arial (body)"/>
              </a:rPr>
              <a:t>Throw a warning message to inform the user or,</a:t>
            </a:r>
          </a:p>
          <a:p>
            <a:pPr lvl="2"/>
            <a:r>
              <a:rPr lang="en-US" dirty="0">
                <a:latin typeface="Arial (body)"/>
              </a:rPr>
              <a:t>Create an internal procedure to make the correction</a:t>
            </a:r>
          </a:p>
          <a:p>
            <a:pPr lvl="4"/>
            <a:r>
              <a:rPr lang="en-US" dirty="0">
                <a:latin typeface="Arial (body)"/>
              </a:rPr>
              <a:t>Do not make the correction to get to a number, make the correction to get the phenomena</a:t>
            </a:r>
          </a:p>
          <a:p>
            <a:pPr lvl="4"/>
            <a:endParaRPr lang="en-US" dirty="0">
              <a:latin typeface="Arial (body)"/>
            </a:endParaRPr>
          </a:p>
          <a:p>
            <a:r>
              <a:rPr lang="en-US" dirty="0">
                <a:latin typeface="Arial (body)"/>
              </a:rPr>
              <a:t>Can all the functions be fulfilled with just AVL or </a:t>
            </a:r>
            <a:r>
              <a:rPr lang="en-US" dirty="0" err="1">
                <a:latin typeface="Arial (body)"/>
              </a:rPr>
              <a:t>Lifting_Line</a:t>
            </a:r>
            <a:r>
              <a:rPr lang="en-US" dirty="0">
                <a:latin typeface="Arial (body)"/>
              </a:rPr>
              <a:t>?</a:t>
            </a:r>
          </a:p>
        </p:txBody>
      </p:sp>
    </p:spTree>
    <p:extLst>
      <p:ext uri="{BB962C8B-B14F-4D97-AF65-F5344CB8AC3E}">
        <p14:creationId xmlns:p14="http://schemas.microsoft.com/office/powerpoint/2010/main" val="3645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1" end="1"/>
                                            </p:txEl>
                                          </p:spTgt>
                                        </p:tgtEl>
                                        <p:attrNameLst>
                                          <p:attrName>style.visibility</p:attrName>
                                        </p:attrNameLst>
                                      </p:cBhvr>
                                      <p:to>
                                        <p:strVal val="visible"/>
                                      </p:to>
                                    </p:set>
                                    <p:animEffect transition="in" filter="fade">
                                      <p:cBhvr>
                                        <p:cTn id="7" dur="500"/>
                                        <p:tgtEl>
                                          <p:spTgt spid="2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xEl>
                                              <p:pRg st="2" end="2"/>
                                            </p:txEl>
                                          </p:spTgt>
                                        </p:tgtEl>
                                        <p:attrNameLst>
                                          <p:attrName>style.visibility</p:attrName>
                                        </p:attrNameLst>
                                      </p:cBhvr>
                                      <p:to>
                                        <p:strVal val="visible"/>
                                      </p:to>
                                    </p:set>
                                    <p:animEffect transition="in" filter="fade">
                                      <p:cBhvr>
                                        <p:cTn id="12" dur="500"/>
                                        <p:tgtEl>
                                          <p:spTgt spid="2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4" end="4"/>
                                            </p:txEl>
                                          </p:spTgt>
                                        </p:tgtEl>
                                        <p:attrNameLst>
                                          <p:attrName>style.visibility</p:attrName>
                                        </p:attrNameLst>
                                      </p:cBhvr>
                                      <p:to>
                                        <p:strVal val="visible"/>
                                      </p:to>
                                    </p:set>
                                    <p:animEffect transition="in" filter="fade">
                                      <p:cBhvr>
                                        <p:cTn id="17" dur="500"/>
                                        <p:tgtEl>
                                          <p:spTgt spid="2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xEl>
                                              <p:pRg st="5" end="5"/>
                                            </p:txEl>
                                          </p:spTgt>
                                        </p:tgtEl>
                                        <p:attrNameLst>
                                          <p:attrName>style.visibility</p:attrName>
                                        </p:attrNameLst>
                                      </p:cBhvr>
                                      <p:to>
                                        <p:strVal val="visible"/>
                                      </p:to>
                                    </p:set>
                                    <p:animEffect transition="in" filter="fade">
                                      <p:cBhvr>
                                        <p:cTn id="22" dur="500"/>
                                        <p:tgtEl>
                                          <p:spTgt spid="25">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xEl>
                                              <p:pRg st="6" end="6"/>
                                            </p:txEl>
                                          </p:spTgt>
                                        </p:tgtEl>
                                        <p:attrNameLst>
                                          <p:attrName>style.visibility</p:attrName>
                                        </p:attrNameLst>
                                      </p:cBhvr>
                                      <p:to>
                                        <p:strVal val="visible"/>
                                      </p:to>
                                    </p:set>
                                    <p:animEffect transition="in" filter="fade">
                                      <p:cBhvr>
                                        <p:cTn id="25" dur="500"/>
                                        <p:tgtEl>
                                          <p:spTgt spid="25">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xEl>
                                              <p:pRg st="7" end="7"/>
                                            </p:txEl>
                                          </p:spTgt>
                                        </p:tgtEl>
                                        <p:attrNameLst>
                                          <p:attrName>style.visibility</p:attrName>
                                        </p:attrNameLst>
                                      </p:cBhvr>
                                      <p:to>
                                        <p:strVal val="visible"/>
                                      </p:to>
                                    </p:set>
                                    <p:animEffect transition="in" filter="fade">
                                      <p:cBhvr>
                                        <p:cTn id="28" dur="500"/>
                                        <p:tgtEl>
                                          <p:spTgt spid="25">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5">
                                            <p:txEl>
                                              <p:pRg st="9" end="9"/>
                                            </p:txEl>
                                          </p:spTgt>
                                        </p:tgtEl>
                                        <p:attrNameLst>
                                          <p:attrName>style.visibility</p:attrName>
                                        </p:attrNameLst>
                                      </p:cBhvr>
                                      <p:to>
                                        <p:strVal val="visible"/>
                                      </p:to>
                                    </p:set>
                                    <p:animEffect transition="in" filter="fade">
                                      <p:cBhvr>
                                        <p:cTn id="33" dur="500"/>
                                        <p:tgtEl>
                                          <p:spTgt spid="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pic>
        <p:nvPicPr>
          <p:cNvPr id="30" name="Content Placeholder 4">
            <a:extLst>
              <a:ext uri="{FF2B5EF4-FFF2-40B4-BE49-F238E27FC236}">
                <a16:creationId xmlns:a16="http://schemas.microsoft.com/office/drawing/2014/main" id="{A710D3C1-6F29-4DFF-82B8-7B91E97E8E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677336" y="1568197"/>
            <a:ext cx="3048844" cy="4543043"/>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42" name="Content Placeholder 1">
                <a:extLst>
                  <a:ext uri="{FF2B5EF4-FFF2-40B4-BE49-F238E27FC236}">
                    <a16:creationId xmlns:a16="http://schemas.microsoft.com/office/drawing/2014/main" id="{4238195F-77A7-4706-8213-D2CA057D7A26}"/>
                  </a:ext>
                </a:extLst>
              </p:cNvPr>
              <p:cNvSpPr txBox="1">
                <a:spLocks/>
              </p:cNvSpPr>
              <p:nvPr/>
            </p:nvSpPr>
            <p:spPr bwMode="auto">
              <a:xfrm>
                <a:off x="4290060" y="1568197"/>
                <a:ext cx="7701915" cy="454304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35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buNone/>
                </a:pPr>
                <a:r>
                  <a:rPr lang="en-US" sz="1600" dirty="0"/>
                  <a:t>What does </a:t>
                </a:r>
                <a:r>
                  <a:rPr lang="en-US" sz="1600" dirty="0" err="1"/>
                  <a:t>Lifting_Line</a:t>
                </a:r>
                <a:r>
                  <a:rPr lang="en-US" sz="1600" dirty="0"/>
                  <a:t> give us?</a:t>
                </a:r>
              </a:p>
              <a:p>
                <a:pPr defTabSz="914400"/>
                <a14:m>
                  <m:oMath xmlns:m="http://schemas.openxmlformats.org/officeDocument/2006/math">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𝐶</m:t>
                        </m:r>
                      </m:e>
                      <m:sub>
                        <m:r>
                          <a:rPr lang="en-US" sz="1600" i="1">
                            <a:solidFill>
                              <a:schemeClr val="tx1"/>
                            </a:solidFill>
                            <a:latin typeface="Cambria Math" panose="02040503050406030204" pitchFamily="18" charset="0"/>
                          </a:rPr>
                          <m:t>𝐷𝑖</m:t>
                        </m:r>
                      </m:sub>
                    </m:sSub>
                    <m:r>
                      <a:rPr lang="en-US" sz="1600" b="0" i="1" smtClean="0">
                        <a:solidFill>
                          <a:schemeClr val="tx1"/>
                        </a:solidFill>
                        <a:latin typeface="Cambria Math" panose="02040503050406030204" pitchFamily="18" charset="0"/>
                      </a:rPr>
                      <m:t>, </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𝐶</m:t>
                        </m:r>
                      </m:e>
                      <m:sub>
                        <m:r>
                          <a:rPr lang="en-US" sz="1600" b="0" i="1" smtClean="0">
                            <a:solidFill>
                              <a:schemeClr val="tx1"/>
                            </a:solidFill>
                            <a:latin typeface="Cambria Math" panose="02040503050406030204" pitchFamily="18" charset="0"/>
                          </a:rPr>
                          <m:t>𝐿</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𝐶</m:t>
                        </m:r>
                      </m:e>
                      <m:sub>
                        <m:r>
                          <a:rPr lang="en-US" sz="1600" b="0" i="1" smtClean="0">
                            <a:solidFill>
                              <a:schemeClr val="tx1"/>
                            </a:solidFill>
                            <a:latin typeface="Cambria Math" panose="02040503050406030204" pitchFamily="18" charset="0"/>
                          </a:rPr>
                          <m:t>𝑀</m:t>
                        </m:r>
                      </m:sub>
                    </m:sSub>
                  </m:oMath>
                </a14:m>
                <a:r>
                  <a:rPr lang="en-US" sz="1600" i="1" dirty="0"/>
                  <a:t> </a:t>
                </a:r>
                <a:r>
                  <a:rPr lang="en-US" sz="1600" dirty="0"/>
                  <a:t>of the lifting surfaces under the following limitations</a:t>
                </a:r>
              </a:p>
              <a:p>
                <a:pPr lvl="3" defTabSz="914400"/>
                <a:r>
                  <a:rPr lang="en-US" sz="1600" dirty="0"/>
                  <a:t>Linearization and the neglect of the viscous properties</a:t>
                </a:r>
              </a:p>
              <a:p>
                <a:pPr lvl="3" defTabSz="914400"/>
                <a:r>
                  <a:rPr lang="en-US" sz="1600" dirty="0" err="1"/>
                  <a:t>Göthert</a:t>
                </a:r>
                <a:r>
                  <a:rPr lang="en-US" sz="1600" dirty="0"/>
                  <a:t> incorporates only the effects of pure subsonic flows around thin airfoils</a:t>
                </a:r>
              </a:p>
              <a:p>
                <a:pPr lvl="3" defTabSz="914400"/>
                <a:r>
                  <a:rPr lang="en-US" sz="1600" dirty="0"/>
                  <a:t>Transonic speed range lead to increasing in-accuracy here</a:t>
                </a:r>
              </a:p>
              <a:p>
                <a:pPr lvl="3" defTabSz="914400"/>
                <a:endParaRPr lang="en-US" sz="1600" dirty="0"/>
              </a:p>
              <a:p>
                <a:pPr marL="0" indent="0" defTabSz="914400">
                  <a:buNone/>
                </a:pPr>
                <a:r>
                  <a:rPr lang="en-US" sz="1600" dirty="0"/>
                  <a:t>We need another method than the one implemented in </a:t>
                </a:r>
                <a:r>
                  <a:rPr lang="en-US" sz="1600" dirty="0" err="1"/>
                  <a:t>Lifting_Line</a:t>
                </a:r>
                <a:r>
                  <a:rPr lang="en-US" sz="1600" dirty="0"/>
                  <a:t> to capture compressibility and we still need to get </a:t>
                </a:r>
                <a14:m>
                  <m:oMath xmlns:m="http://schemas.openxmlformats.org/officeDocument/2006/math">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𝐶</m:t>
                        </m:r>
                      </m:e>
                      <m:sub>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0</m:t>
                        </m:r>
                      </m:sub>
                    </m:sSub>
                  </m:oMath>
                </a14:m>
                <a:r>
                  <a:rPr lang="en-US" sz="1600" dirty="0"/>
                  <a:t> of the aircraft</a:t>
                </a:r>
              </a:p>
              <a:p>
                <a:pPr>
                  <a:lnSpc>
                    <a:spcPct val="114000"/>
                  </a:lnSpc>
                </a:pPr>
                <a:r>
                  <a:rPr lang="de-DE" sz="1600" dirty="0" err="1">
                    <a:solidFill>
                      <a:srgbClr val="000000"/>
                    </a:solidFill>
                  </a:rPr>
                  <a:t>Transsonic</a:t>
                </a:r>
                <a:r>
                  <a:rPr lang="de-DE" sz="1600" dirty="0">
                    <a:solidFill>
                      <a:srgbClr val="000000"/>
                    </a:solidFill>
                  </a:rPr>
                  <a:t> </a:t>
                </a:r>
                <a:r>
                  <a:rPr lang="de-DE" sz="1600" dirty="0" err="1">
                    <a:solidFill>
                      <a:srgbClr val="000000"/>
                    </a:solidFill>
                  </a:rPr>
                  <a:t>wave</a:t>
                </a:r>
                <a:r>
                  <a:rPr lang="de-DE" sz="1600" dirty="0">
                    <a:solidFill>
                      <a:srgbClr val="000000"/>
                    </a:solidFill>
                  </a:rPr>
                  <a:t> </a:t>
                </a:r>
                <a:r>
                  <a:rPr lang="de-DE" sz="1600" dirty="0" err="1">
                    <a:solidFill>
                      <a:srgbClr val="000000"/>
                    </a:solidFill>
                  </a:rPr>
                  <a:t>drag</a:t>
                </a:r>
                <a:r>
                  <a:rPr lang="de-DE" sz="1600" dirty="0">
                    <a:solidFill>
                      <a:srgbClr val="000000"/>
                    </a:solidFill>
                  </a:rPr>
                  <a:t> </a:t>
                </a:r>
                <a:r>
                  <a:rPr lang="de-DE" sz="1600" dirty="0" err="1">
                    <a:solidFill>
                      <a:srgbClr val="000000"/>
                    </a:solidFill>
                  </a:rPr>
                  <a:t>increase</a:t>
                </a:r>
                <a:r>
                  <a:rPr lang="de-DE" sz="1600" dirty="0">
                    <a:solidFill>
                      <a:srgbClr val="000000"/>
                    </a:solidFill>
                  </a:rPr>
                  <a:t> </a:t>
                </a:r>
                <a:r>
                  <a:rPr lang="de-DE" sz="1600" dirty="0" err="1">
                    <a:solidFill>
                      <a:srgbClr val="000000"/>
                    </a:solidFill>
                  </a:rPr>
                  <a:t>estimation</a:t>
                </a:r>
                <a:r>
                  <a:rPr lang="de-DE" sz="1600" dirty="0">
                    <a:solidFill>
                      <a:srgbClr val="000000"/>
                    </a:solidFill>
                  </a:rPr>
                  <a:t> </a:t>
                </a:r>
                <a:r>
                  <a:rPr lang="de-DE" sz="1600" i="1" dirty="0">
                    <a:solidFill>
                      <a:srgbClr val="000000"/>
                    </a:solidFill>
                  </a:rPr>
                  <a:t>(Malone &amp; Mason)</a:t>
                </a:r>
              </a:p>
              <a:p>
                <a:pPr>
                  <a:lnSpc>
                    <a:spcPct val="114000"/>
                  </a:lnSpc>
                </a:pPr>
                <a:r>
                  <a:rPr lang="de-DE" sz="1600" dirty="0">
                    <a:solidFill>
                      <a:srgbClr val="000000"/>
                    </a:solidFill>
                  </a:rPr>
                  <a:t>Drag </a:t>
                </a:r>
                <a:r>
                  <a:rPr lang="de-DE" sz="1600" dirty="0" err="1">
                    <a:solidFill>
                      <a:srgbClr val="000000"/>
                    </a:solidFill>
                  </a:rPr>
                  <a:t>component</a:t>
                </a:r>
                <a:r>
                  <a:rPr lang="de-DE" sz="1600" dirty="0">
                    <a:solidFill>
                      <a:srgbClr val="000000"/>
                    </a:solidFill>
                  </a:rPr>
                  <a:t> </a:t>
                </a:r>
                <a:r>
                  <a:rPr lang="de-DE" sz="1600" dirty="0" err="1">
                    <a:solidFill>
                      <a:srgbClr val="000000"/>
                    </a:solidFill>
                  </a:rPr>
                  <a:t>build-up</a:t>
                </a:r>
                <a:r>
                  <a:rPr lang="de-DE" sz="1600" dirty="0">
                    <a:solidFill>
                      <a:srgbClr val="000000"/>
                    </a:solidFill>
                  </a:rPr>
                  <a:t> </a:t>
                </a:r>
                <a:r>
                  <a:rPr lang="de-DE" sz="1600" dirty="0" err="1">
                    <a:solidFill>
                      <a:srgbClr val="000000"/>
                    </a:solidFill>
                  </a:rPr>
                  <a:t>method</a:t>
                </a:r>
                <a:r>
                  <a:rPr lang="de-DE" sz="1600" dirty="0">
                    <a:solidFill>
                      <a:srgbClr val="000000"/>
                    </a:solidFill>
                  </a:rPr>
                  <a:t> </a:t>
                </a:r>
                <a:r>
                  <a:rPr lang="de-DE" sz="1600" i="1" dirty="0">
                    <a:solidFill>
                      <a:srgbClr val="000000"/>
                    </a:solidFill>
                  </a:rPr>
                  <a:t>(</a:t>
                </a:r>
                <a:r>
                  <a:rPr lang="de-DE" sz="1600" i="1" dirty="0" err="1">
                    <a:solidFill>
                      <a:srgbClr val="000000"/>
                    </a:solidFill>
                  </a:rPr>
                  <a:t>Raymer</a:t>
                </a:r>
                <a:r>
                  <a:rPr lang="de-DE" sz="1600" i="1" dirty="0">
                    <a:solidFill>
                      <a:srgbClr val="000000"/>
                    </a:solidFill>
                  </a:rPr>
                  <a:t>)</a:t>
                </a:r>
              </a:p>
              <a:p>
                <a:pPr>
                  <a:lnSpc>
                    <a:spcPct val="114000"/>
                  </a:lnSpc>
                </a:pPr>
                <a:r>
                  <a:rPr lang="de-DE" sz="1600" dirty="0">
                    <a:solidFill>
                      <a:srgbClr val="000000"/>
                    </a:solidFill>
                  </a:rPr>
                  <a:t>Compressibility: Prandtl-</a:t>
                </a:r>
                <a:r>
                  <a:rPr lang="de-DE" sz="1600" dirty="0" err="1">
                    <a:solidFill>
                      <a:srgbClr val="000000"/>
                    </a:solidFill>
                  </a:rPr>
                  <a:t>Glauert</a:t>
                </a:r>
                <a:r>
                  <a:rPr lang="de-DE" sz="1600" dirty="0">
                    <a:solidFill>
                      <a:srgbClr val="000000"/>
                    </a:solidFill>
                  </a:rPr>
                  <a:t> </a:t>
                </a:r>
                <a:r>
                  <a:rPr lang="de-DE" sz="1600" dirty="0" err="1">
                    <a:solidFill>
                      <a:srgbClr val="000000"/>
                    </a:solidFill>
                  </a:rPr>
                  <a:t>transformation</a:t>
                </a:r>
                <a:endParaRPr lang="de-DE" sz="1600" dirty="0">
                  <a:solidFill>
                    <a:srgbClr val="000000"/>
                  </a:solidFill>
                </a:endParaRPr>
              </a:p>
              <a:p>
                <a:pPr>
                  <a:lnSpc>
                    <a:spcPct val="114000"/>
                  </a:lnSpc>
                </a:pPr>
                <a:r>
                  <a:rPr lang="de-DE" sz="1600" dirty="0" err="1">
                    <a:solidFill>
                      <a:srgbClr val="000000"/>
                    </a:solidFill>
                  </a:rPr>
                  <a:t>Trim</a:t>
                </a:r>
                <a:r>
                  <a:rPr lang="de-DE" sz="1600" dirty="0">
                    <a:solidFill>
                      <a:srgbClr val="000000"/>
                    </a:solidFill>
                  </a:rPr>
                  <a:t> </a:t>
                </a:r>
                <a:r>
                  <a:rPr lang="de-DE" sz="1600" dirty="0" err="1">
                    <a:solidFill>
                      <a:srgbClr val="000000"/>
                    </a:solidFill>
                  </a:rPr>
                  <a:t>with</a:t>
                </a:r>
                <a:r>
                  <a:rPr lang="de-DE" sz="1600" dirty="0">
                    <a:solidFill>
                      <a:srgbClr val="000000"/>
                    </a:solidFill>
                  </a:rPr>
                  <a:t> linear </a:t>
                </a:r>
                <a:r>
                  <a:rPr lang="de-DE" sz="1600" dirty="0" err="1">
                    <a:solidFill>
                      <a:srgbClr val="000000"/>
                    </a:solidFill>
                  </a:rPr>
                  <a:t>interpolation</a:t>
                </a:r>
                <a:endParaRPr lang="en-US" sz="1600" dirty="0">
                  <a:solidFill>
                    <a:srgbClr val="000000"/>
                  </a:solidFill>
                </a:endParaRPr>
              </a:p>
              <a:p>
                <a:pPr>
                  <a:lnSpc>
                    <a:spcPct val="114000"/>
                  </a:lnSpc>
                </a:pPr>
                <a:endParaRPr lang="en-US" sz="1600" i="1" dirty="0">
                  <a:solidFill>
                    <a:srgbClr val="000000"/>
                  </a:solidFill>
                </a:endParaRPr>
              </a:p>
              <a:p>
                <a:pPr marL="0" indent="0" defTabSz="914400">
                  <a:buNone/>
                </a:pPr>
                <a:endParaRPr lang="en-US" sz="1600" dirty="0"/>
              </a:p>
            </p:txBody>
          </p:sp>
        </mc:Choice>
        <mc:Fallback xmlns="">
          <p:sp>
            <p:nvSpPr>
              <p:cNvPr id="42" name="Content Placeholder 1">
                <a:extLst>
                  <a:ext uri="{FF2B5EF4-FFF2-40B4-BE49-F238E27FC236}">
                    <a16:creationId xmlns:a16="http://schemas.microsoft.com/office/drawing/2014/main" id="{4238195F-77A7-4706-8213-D2CA057D7A26}"/>
                  </a:ext>
                </a:extLst>
              </p:cNvPr>
              <p:cNvSpPr txBox="1">
                <a:spLocks noRot="1" noChangeAspect="1" noMove="1" noResize="1" noEditPoints="1" noAdjustHandles="1" noChangeArrowheads="1" noChangeShapeType="1" noTextEdit="1"/>
              </p:cNvSpPr>
              <p:nvPr/>
            </p:nvSpPr>
            <p:spPr bwMode="auto">
              <a:xfrm>
                <a:off x="4290060" y="1568197"/>
                <a:ext cx="7701915" cy="4543043"/>
              </a:xfrm>
              <a:prstGeom prst="rect">
                <a:avLst/>
              </a:prstGeom>
              <a:blipFill>
                <a:blip r:embed="rId5"/>
                <a:stretch>
                  <a:fillRect l="-1663" t="-536"/>
                </a:stretch>
              </a:blipFill>
              <a:ln w="9525">
                <a:noFill/>
                <a:miter lim="800000"/>
                <a:headEnd/>
                <a:tailEnd/>
              </a:ln>
            </p:spPr>
            <p:txBody>
              <a:bodyPr/>
              <a:lstStyle/>
              <a:p>
                <a:r>
                  <a:rPr lang="en-US">
                    <a:noFill/>
                  </a:rPr>
                  <a:t> </a:t>
                </a:r>
              </a:p>
            </p:txBody>
          </p:sp>
        </mc:Fallback>
      </mc:AlternateContent>
      <p:sp>
        <p:nvSpPr>
          <p:cNvPr id="17" name="Rectangle: Rounded Corners 16">
            <a:extLst>
              <a:ext uri="{FF2B5EF4-FFF2-40B4-BE49-F238E27FC236}">
                <a16:creationId xmlns:a16="http://schemas.microsoft.com/office/drawing/2014/main" id="{A5D52EA6-3E09-460C-A95C-B95EBC73D213}"/>
              </a:ext>
            </a:extLst>
          </p:cNvPr>
          <p:cNvSpPr/>
          <p:nvPr/>
        </p:nvSpPr>
        <p:spPr>
          <a:xfrm>
            <a:off x="1350341" y="4221075"/>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Design Analysis</a:t>
            </a:r>
          </a:p>
        </p:txBody>
      </p:sp>
      <p:sp>
        <p:nvSpPr>
          <p:cNvPr id="18" name="Rectangle: Rounded Corners 17">
            <a:extLst>
              <a:ext uri="{FF2B5EF4-FFF2-40B4-BE49-F238E27FC236}">
                <a16:creationId xmlns:a16="http://schemas.microsoft.com/office/drawing/2014/main" id="{99AEDD06-9E14-49FD-927A-CA24A2680F06}"/>
              </a:ext>
            </a:extLst>
          </p:cNvPr>
          <p:cNvSpPr/>
          <p:nvPr/>
        </p:nvSpPr>
        <p:spPr>
          <a:xfrm>
            <a:off x="2069277" y="4476848"/>
            <a:ext cx="1280160" cy="201168"/>
          </a:xfrm>
          <a:prstGeom prst="roundRect">
            <a:avLst>
              <a:gd name="adj" fmla="val 19189"/>
            </a:avLst>
          </a:prstGeom>
          <a:solidFill>
            <a:srgbClr val="FFC000">
              <a:alpha val="3019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endParaRPr lang="en-US" b="1" dirty="0">
              <a:solidFill>
                <a:schemeClr val="bg1"/>
              </a:solidFill>
            </a:endParaRPr>
          </a:p>
        </p:txBody>
      </p:sp>
      <p:sp>
        <p:nvSpPr>
          <p:cNvPr id="19" name="Rectangle: Rounded Corners 18">
            <a:extLst>
              <a:ext uri="{FF2B5EF4-FFF2-40B4-BE49-F238E27FC236}">
                <a16:creationId xmlns:a16="http://schemas.microsoft.com/office/drawing/2014/main" id="{CE47FF01-9403-4C3D-80C8-0D63873AFC09}"/>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Tree>
    <p:extLst>
      <p:ext uri="{BB962C8B-B14F-4D97-AF65-F5344CB8AC3E}">
        <p14:creationId xmlns:p14="http://schemas.microsoft.com/office/powerpoint/2010/main" val="193425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xEl>
                                              <p:pRg st="1" end="1"/>
                                            </p:txEl>
                                          </p:spTgt>
                                        </p:tgtEl>
                                        <p:attrNameLst>
                                          <p:attrName>style.visibility</p:attrName>
                                        </p:attrNameLst>
                                      </p:cBhvr>
                                      <p:to>
                                        <p:strVal val="visible"/>
                                      </p:to>
                                    </p:set>
                                    <p:animEffect transition="in" filter="fade">
                                      <p:cBhvr>
                                        <p:cTn id="7" dur="500"/>
                                        <p:tgtEl>
                                          <p:spTgt spid="4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2">
                                            <p:txEl>
                                              <p:pRg st="2" end="2"/>
                                            </p:txEl>
                                          </p:spTgt>
                                        </p:tgtEl>
                                        <p:attrNameLst>
                                          <p:attrName>style.visibility</p:attrName>
                                        </p:attrNameLst>
                                      </p:cBhvr>
                                      <p:to>
                                        <p:strVal val="visible"/>
                                      </p:to>
                                    </p:set>
                                    <p:animEffect transition="in" filter="fade">
                                      <p:cBhvr>
                                        <p:cTn id="10" dur="500"/>
                                        <p:tgtEl>
                                          <p:spTgt spid="4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2">
                                            <p:txEl>
                                              <p:pRg st="3" end="3"/>
                                            </p:txEl>
                                          </p:spTgt>
                                        </p:tgtEl>
                                        <p:attrNameLst>
                                          <p:attrName>style.visibility</p:attrName>
                                        </p:attrNameLst>
                                      </p:cBhvr>
                                      <p:to>
                                        <p:strVal val="visible"/>
                                      </p:to>
                                    </p:set>
                                    <p:animEffect transition="in" filter="fade">
                                      <p:cBhvr>
                                        <p:cTn id="13" dur="500"/>
                                        <p:tgtEl>
                                          <p:spTgt spid="4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2">
                                            <p:txEl>
                                              <p:pRg st="4" end="4"/>
                                            </p:txEl>
                                          </p:spTgt>
                                        </p:tgtEl>
                                        <p:attrNameLst>
                                          <p:attrName>style.visibility</p:attrName>
                                        </p:attrNameLst>
                                      </p:cBhvr>
                                      <p:to>
                                        <p:strVal val="visible"/>
                                      </p:to>
                                    </p:set>
                                    <p:animEffect transition="in" filter="fade">
                                      <p:cBhvr>
                                        <p:cTn id="16" dur="500"/>
                                        <p:tgtEl>
                                          <p:spTgt spid="4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2">
                                            <p:txEl>
                                              <p:pRg st="6" end="6"/>
                                            </p:txEl>
                                          </p:spTgt>
                                        </p:tgtEl>
                                        <p:attrNameLst>
                                          <p:attrName>style.visibility</p:attrName>
                                        </p:attrNameLst>
                                      </p:cBhvr>
                                      <p:to>
                                        <p:strVal val="visible"/>
                                      </p:to>
                                    </p:set>
                                    <p:animEffect transition="in" filter="fade">
                                      <p:cBhvr>
                                        <p:cTn id="21" dur="500"/>
                                        <p:tgtEl>
                                          <p:spTgt spid="42">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2">
                                            <p:txEl>
                                              <p:pRg st="7" end="7"/>
                                            </p:txEl>
                                          </p:spTgt>
                                        </p:tgtEl>
                                        <p:attrNameLst>
                                          <p:attrName>style.visibility</p:attrName>
                                        </p:attrNameLst>
                                      </p:cBhvr>
                                      <p:to>
                                        <p:strVal val="visible"/>
                                      </p:to>
                                    </p:set>
                                    <p:animEffect transition="in" filter="fade">
                                      <p:cBhvr>
                                        <p:cTn id="26" dur="500"/>
                                        <p:tgtEl>
                                          <p:spTgt spid="42">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2">
                                            <p:txEl>
                                              <p:pRg st="8" end="8"/>
                                            </p:txEl>
                                          </p:spTgt>
                                        </p:tgtEl>
                                        <p:attrNameLst>
                                          <p:attrName>style.visibility</p:attrName>
                                        </p:attrNameLst>
                                      </p:cBhvr>
                                      <p:to>
                                        <p:strVal val="visible"/>
                                      </p:to>
                                    </p:set>
                                    <p:animEffect transition="in" filter="fade">
                                      <p:cBhvr>
                                        <p:cTn id="29" dur="500"/>
                                        <p:tgtEl>
                                          <p:spTgt spid="42">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xEl>
                                              <p:pRg st="9" end="9"/>
                                            </p:txEl>
                                          </p:spTgt>
                                        </p:tgtEl>
                                        <p:attrNameLst>
                                          <p:attrName>style.visibility</p:attrName>
                                        </p:attrNameLst>
                                      </p:cBhvr>
                                      <p:to>
                                        <p:strVal val="visible"/>
                                      </p:to>
                                    </p:set>
                                    <p:animEffect transition="in" filter="fade">
                                      <p:cBhvr>
                                        <p:cTn id="32" dur="500"/>
                                        <p:tgtEl>
                                          <p:spTgt spid="42">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2">
                                            <p:txEl>
                                              <p:pRg st="10" end="10"/>
                                            </p:txEl>
                                          </p:spTgt>
                                        </p:tgtEl>
                                        <p:attrNameLst>
                                          <p:attrName>style.visibility</p:attrName>
                                        </p:attrNameLst>
                                      </p:cBhvr>
                                      <p:to>
                                        <p:strVal val="visible"/>
                                      </p:to>
                                    </p:set>
                                    <p:animEffect transition="in" filter="fade">
                                      <p:cBhvr>
                                        <p:cTn id="35" dur="500"/>
                                        <p:tgtEl>
                                          <p:spTgt spid="4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sp>
        <p:nvSpPr>
          <p:cNvPr id="25" name="Content Placeholder 1">
            <a:extLst>
              <a:ext uri="{FF2B5EF4-FFF2-40B4-BE49-F238E27FC236}">
                <a16:creationId xmlns:a16="http://schemas.microsoft.com/office/drawing/2014/main" id="{9A194AF1-968C-426C-A4A7-087AF9DC68F9}"/>
              </a:ext>
            </a:extLst>
          </p:cNvPr>
          <p:cNvSpPr>
            <a:spLocks noGrp="1"/>
          </p:cNvSpPr>
          <p:nvPr>
            <p:ph idx="1"/>
          </p:nvPr>
        </p:nvSpPr>
        <p:spPr>
          <a:xfrm>
            <a:off x="677337" y="1828799"/>
            <a:ext cx="10837332" cy="914391"/>
          </a:xfrm>
        </p:spPr>
        <p:txBody>
          <a:bodyPr/>
          <a:lstStyle/>
          <a:p>
            <a:pPr marL="0" indent="0">
              <a:buNone/>
            </a:pPr>
            <a:r>
              <a:rPr lang="en-US" dirty="0">
                <a:latin typeface="Arial (body)"/>
              </a:rPr>
              <a:t>Component Build-up Method from Aircraft Design Basics: Is applied within the design environment</a:t>
            </a:r>
          </a:p>
          <a:p>
            <a:pPr marL="0" indent="0">
              <a:buNone/>
            </a:pPr>
            <a:r>
              <a:rPr lang="en-US" dirty="0">
                <a:latin typeface="Arial (body)"/>
              </a:rPr>
              <a:t>Why? Because you can get the trends and snowball effects even with these “very simple” equations</a:t>
            </a:r>
          </a:p>
          <a:p>
            <a:pPr marL="0" indent="0">
              <a:buNone/>
            </a:pPr>
            <a:r>
              <a:rPr lang="en-US" dirty="0">
                <a:latin typeface="Arial (body)"/>
              </a:rPr>
              <a:t>+ You can use these methods on “segments” rather than the whole surface to make them more “complex”</a:t>
            </a:r>
          </a:p>
        </p:txBody>
      </p:sp>
      <p:pic>
        <p:nvPicPr>
          <p:cNvPr id="2" name="Picture 1">
            <a:extLst>
              <a:ext uri="{FF2B5EF4-FFF2-40B4-BE49-F238E27FC236}">
                <a16:creationId xmlns:a16="http://schemas.microsoft.com/office/drawing/2014/main" id="{76ED958D-4CFC-419E-9C18-756C14E23016}"/>
              </a:ext>
            </a:extLst>
          </p:cNvPr>
          <p:cNvPicPr>
            <a:picLocks noChangeAspect="1"/>
          </p:cNvPicPr>
          <p:nvPr/>
        </p:nvPicPr>
        <p:blipFill>
          <a:blip r:embed="rId2"/>
          <a:stretch>
            <a:fillRect/>
          </a:stretch>
        </p:blipFill>
        <p:spPr>
          <a:xfrm>
            <a:off x="568101" y="2743199"/>
            <a:ext cx="6214533" cy="3495675"/>
          </a:xfrm>
          <a:prstGeom prst="rect">
            <a:avLst/>
          </a:prstGeom>
        </p:spPr>
      </p:pic>
      <p:pic>
        <p:nvPicPr>
          <p:cNvPr id="4" name="Picture 3">
            <a:extLst>
              <a:ext uri="{FF2B5EF4-FFF2-40B4-BE49-F238E27FC236}">
                <a16:creationId xmlns:a16="http://schemas.microsoft.com/office/drawing/2014/main" id="{DC64D6B0-8FF2-4593-9EF6-DFEC0239D3E1}"/>
              </a:ext>
            </a:extLst>
          </p:cNvPr>
          <p:cNvPicPr>
            <a:picLocks noChangeAspect="1"/>
          </p:cNvPicPr>
          <p:nvPr/>
        </p:nvPicPr>
        <p:blipFill>
          <a:blip r:embed="rId3"/>
          <a:stretch>
            <a:fillRect/>
          </a:stretch>
        </p:blipFill>
        <p:spPr>
          <a:xfrm>
            <a:off x="2181856" y="2743195"/>
            <a:ext cx="6214533" cy="3495675"/>
          </a:xfrm>
          <a:prstGeom prst="rect">
            <a:avLst/>
          </a:prstGeom>
        </p:spPr>
      </p:pic>
      <p:pic>
        <p:nvPicPr>
          <p:cNvPr id="5" name="Picture 4">
            <a:extLst>
              <a:ext uri="{FF2B5EF4-FFF2-40B4-BE49-F238E27FC236}">
                <a16:creationId xmlns:a16="http://schemas.microsoft.com/office/drawing/2014/main" id="{28D6320A-A770-49A1-BD1E-7305BD7D0968}"/>
              </a:ext>
            </a:extLst>
          </p:cNvPr>
          <p:cNvPicPr>
            <a:picLocks noChangeAspect="1"/>
          </p:cNvPicPr>
          <p:nvPr/>
        </p:nvPicPr>
        <p:blipFill>
          <a:blip r:embed="rId4"/>
          <a:stretch>
            <a:fillRect/>
          </a:stretch>
        </p:blipFill>
        <p:spPr>
          <a:xfrm>
            <a:off x="3795611" y="2743197"/>
            <a:ext cx="6214533" cy="3495675"/>
          </a:xfrm>
          <a:prstGeom prst="rect">
            <a:avLst/>
          </a:prstGeom>
        </p:spPr>
      </p:pic>
      <p:pic>
        <p:nvPicPr>
          <p:cNvPr id="6" name="Picture 5">
            <a:extLst>
              <a:ext uri="{FF2B5EF4-FFF2-40B4-BE49-F238E27FC236}">
                <a16:creationId xmlns:a16="http://schemas.microsoft.com/office/drawing/2014/main" id="{3B534B92-4282-46F8-8F48-BEDC507FE193}"/>
              </a:ext>
            </a:extLst>
          </p:cNvPr>
          <p:cNvPicPr>
            <a:picLocks noChangeAspect="1"/>
          </p:cNvPicPr>
          <p:nvPr/>
        </p:nvPicPr>
        <p:blipFill>
          <a:blip r:embed="rId5"/>
          <a:stretch>
            <a:fillRect/>
          </a:stretch>
        </p:blipFill>
        <p:spPr>
          <a:xfrm>
            <a:off x="5409367" y="2743200"/>
            <a:ext cx="6214532" cy="3495674"/>
          </a:xfrm>
          <a:prstGeom prst="rect">
            <a:avLst/>
          </a:prstGeom>
        </p:spPr>
      </p:pic>
    </p:spTree>
    <p:extLst>
      <p:ext uri="{BB962C8B-B14F-4D97-AF65-F5344CB8AC3E}">
        <p14:creationId xmlns:p14="http://schemas.microsoft.com/office/powerpoint/2010/main" val="393011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2" end="2"/>
                                            </p:txEl>
                                          </p:spTgt>
                                        </p:tgtEl>
                                        <p:attrNameLst>
                                          <p:attrName>style.visibility</p:attrName>
                                        </p:attrNameLst>
                                      </p:cBhvr>
                                      <p:to>
                                        <p:strVal val="visible"/>
                                      </p:to>
                                    </p:set>
                                    <p:animEffect transition="in" filter="fade">
                                      <p:cBhvr>
                                        <p:cTn id="7" dur="500"/>
                                        <p:tgtEl>
                                          <p:spTgt spid="2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Aerodynamic Analysis</a:t>
            </a:r>
          </a:p>
        </p:txBody>
      </p:sp>
      <p:sp>
        <p:nvSpPr>
          <p:cNvPr id="16" name="Content Placeholder 1">
            <a:extLst>
              <a:ext uri="{FF2B5EF4-FFF2-40B4-BE49-F238E27FC236}">
                <a16:creationId xmlns:a16="http://schemas.microsoft.com/office/drawing/2014/main" id="{3D08BCAE-948A-4AF4-887E-D571E58FF531}"/>
              </a:ext>
            </a:extLst>
          </p:cNvPr>
          <p:cNvSpPr>
            <a:spLocks noGrp="1"/>
          </p:cNvSpPr>
          <p:nvPr>
            <p:ph idx="1"/>
          </p:nvPr>
        </p:nvSpPr>
        <p:spPr>
          <a:xfrm>
            <a:off x="677336" y="1828800"/>
            <a:ext cx="10837333" cy="4343400"/>
          </a:xfrm>
        </p:spPr>
        <p:txBody>
          <a:bodyPr/>
          <a:lstStyle/>
          <a:p>
            <a:pPr marL="0" indent="0">
              <a:buNone/>
            </a:pPr>
            <a:r>
              <a:rPr lang="en-US" b="1" dirty="0"/>
              <a:t>Main challenge</a:t>
            </a:r>
          </a:p>
          <a:p>
            <a:r>
              <a:rPr lang="en-US" dirty="0"/>
              <a:t>Capturing assumptions and conditions under which the equations and methods are applied</a:t>
            </a:r>
          </a:p>
          <a:p>
            <a:endParaRPr lang="en-US" dirty="0"/>
          </a:p>
          <a:p>
            <a:r>
              <a:rPr lang="en-US" dirty="0"/>
              <a:t>In UNICADO aerodynamic analysis, there is a “one method to rule them all” approach meaning that a single method is implemented and applied to all conditions and configurations without any documentation</a:t>
            </a:r>
          </a:p>
          <a:p>
            <a:endParaRPr lang="en-US" dirty="0"/>
          </a:p>
          <a:p>
            <a:endParaRPr lang="en-US" dirty="0"/>
          </a:p>
          <a:p>
            <a:endParaRPr lang="en-US" dirty="0"/>
          </a:p>
          <a:p>
            <a:endParaRPr lang="en-US" dirty="0"/>
          </a:p>
          <a:p>
            <a:r>
              <a:rPr lang="en-US" dirty="0"/>
              <a:t>A good documentation example would be USAF STABILITY AND CONTROL, DATCOM ADB072483</a:t>
            </a:r>
          </a:p>
          <a:p>
            <a:pPr lvl="3"/>
            <a:r>
              <a:rPr lang="en-US" dirty="0"/>
              <a:t>3134 pages of pure documentation</a:t>
            </a:r>
          </a:p>
          <a:p>
            <a:endParaRPr lang="en-US" dirty="0"/>
          </a:p>
          <a:p>
            <a:endParaRPr lang="en-US" dirty="0"/>
          </a:p>
        </p:txBody>
      </p:sp>
      <p:sp>
        <p:nvSpPr>
          <p:cNvPr id="24" name="Rectangle: Rounded Corners 23">
            <a:extLst>
              <a:ext uri="{FF2B5EF4-FFF2-40B4-BE49-F238E27FC236}">
                <a16:creationId xmlns:a16="http://schemas.microsoft.com/office/drawing/2014/main" id="{E618A783-A62C-49C5-A384-CFB0CD11E983}"/>
              </a:ext>
            </a:extLst>
          </p:cNvPr>
          <p:cNvSpPr/>
          <p:nvPr/>
        </p:nvSpPr>
        <p:spPr>
          <a:xfrm>
            <a:off x="677754" y="3494867"/>
            <a:ext cx="10836915" cy="937647"/>
          </a:xfrm>
          <a:prstGeom prst="roundRect">
            <a:avLst>
              <a:gd name="adj" fmla="val 4255"/>
            </a:avLst>
          </a:prstGeom>
          <a:solidFill>
            <a:srgbClr val="003359"/>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dirty="0">
                <a:solidFill>
                  <a:schemeClr val="bg1"/>
                </a:solidFill>
              </a:rPr>
              <a:t>Always make sure to check the </a:t>
            </a:r>
            <a:r>
              <a:rPr lang="en-US" sz="1600" b="1" dirty="0">
                <a:solidFill>
                  <a:srgbClr val="FF0000"/>
                </a:solidFill>
              </a:rPr>
              <a:t>assumptions</a:t>
            </a:r>
            <a:r>
              <a:rPr lang="en-US" sz="1600" b="1" dirty="0">
                <a:solidFill>
                  <a:schemeClr val="bg1"/>
                </a:solidFill>
              </a:rPr>
              <a:t> and </a:t>
            </a:r>
            <a:r>
              <a:rPr lang="en-US" sz="1600" b="1" dirty="0">
                <a:solidFill>
                  <a:srgbClr val="FF0000"/>
                </a:solidFill>
              </a:rPr>
              <a:t>limitations</a:t>
            </a:r>
            <a:r>
              <a:rPr lang="en-US" sz="1600" b="1" dirty="0">
                <a:solidFill>
                  <a:schemeClr val="bg1"/>
                </a:solidFill>
              </a:rPr>
              <a:t> of tools that you implement</a:t>
            </a:r>
          </a:p>
          <a:p>
            <a:r>
              <a:rPr lang="en-US" sz="1600" b="1" dirty="0">
                <a:solidFill>
                  <a:schemeClr val="bg1"/>
                </a:solidFill>
              </a:rPr>
              <a:t>Make sure to </a:t>
            </a:r>
            <a:r>
              <a:rPr lang="en-US" sz="1600" b="1" dirty="0">
                <a:solidFill>
                  <a:srgbClr val="FF0000"/>
                </a:solidFill>
              </a:rPr>
              <a:t>document</a:t>
            </a:r>
            <a:r>
              <a:rPr lang="en-US" sz="1600" b="1" dirty="0">
                <a:solidFill>
                  <a:schemeClr val="bg1"/>
                </a:solidFill>
              </a:rPr>
              <a:t> these for the users</a:t>
            </a:r>
          </a:p>
          <a:p>
            <a:r>
              <a:rPr lang="en-US" sz="1600" b="1" dirty="0">
                <a:solidFill>
                  <a:schemeClr val="bg1"/>
                </a:solidFill>
              </a:rPr>
              <a:t>Add </a:t>
            </a:r>
            <a:r>
              <a:rPr lang="en-US" sz="1600" b="1" dirty="0">
                <a:solidFill>
                  <a:srgbClr val="FF0000"/>
                </a:solidFill>
              </a:rPr>
              <a:t>references</a:t>
            </a:r>
            <a:r>
              <a:rPr lang="en-US" sz="1600" b="1" dirty="0">
                <a:solidFill>
                  <a:schemeClr val="bg1"/>
                </a:solidFill>
              </a:rPr>
              <a:t> to the material that you are using</a:t>
            </a:r>
          </a:p>
        </p:txBody>
      </p:sp>
    </p:spTree>
    <p:extLst>
      <p:ext uri="{BB962C8B-B14F-4D97-AF65-F5344CB8AC3E}">
        <p14:creationId xmlns:p14="http://schemas.microsoft.com/office/powerpoint/2010/main" val="132086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8" end="8"/>
                                            </p:txEl>
                                          </p:spTgt>
                                        </p:tgtEl>
                                        <p:attrNameLst>
                                          <p:attrName>style.visibility</p:attrName>
                                        </p:attrNameLst>
                                      </p:cBhvr>
                                      <p:to>
                                        <p:strVal val="visible"/>
                                      </p:to>
                                    </p:set>
                                    <p:animEffect transition="in" filter="fade">
                                      <p:cBhvr>
                                        <p:cTn id="12" dur="500"/>
                                        <p:tgtEl>
                                          <p:spTgt spid="16">
                                            <p:txEl>
                                              <p:pRg st="8" end="8"/>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xEl>
                                              <p:pRg st="9" end="9"/>
                                            </p:txEl>
                                          </p:spTgt>
                                        </p:tgtEl>
                                        <p:attrNameLst>
                                          <p:attrName>style.visibility</p:attrName>
                                        </p:attrNameLst>
                                      </p:cBhvr>
                                      <p:to>
                                        <p:strVal val="visible"/>
                                      </p:to>
                                    </p:set>
                                    <p:animEffect transition="in" filter="fade">
                                      <p:cBhvr>
                                        <p:cTn id="15" dur="500"/>
                                        <p:tgtEl>
                                          <p:spTgt spid="1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890E0C-D96F-4918-ACA7-D75C1B2E5C1E}"/>
              </a:ext>
            </a:extLst>
          </p:cNvPr>
          <p:cNvPicPr>
            <a:picLocks noChangeAspect="1"/>
          </p:cNvPicPr>
          <p:nvPr/>
        </p:nvPicPr>
        <p:blipFill>
          <a:blip r:embed="rId3"/>
          <a:stretch>
            <a:fillRect/>
          </a:stretch>
        </p:blipFill>
        <p:spPr>
          <a:xfrm>
            <a:off x="2187555" y="620656"/>
            <a:ext cx="7816888" cy="5229954"/>
          </a:xfrm>
          <a:prstGeom prst="rect">
            <a:avLst/>
          </a:prstGeom>
        </p:spPr>
      </p:pic>
      <p:sp>
        <p:nvSpPr>
          <p:cNvPr id="6" name="Content Placeholder 1">
            <a:extLst>
              <a:ext uri="{FF2B5EF4-FFF2-40B4-BE49-F238E27FC236}">
                <a16:creationId xmlns:a16="http://schemas.microsoft.com/office/drawing/2014/main" id="{0EB20CF9-D65E-428F-8B72-5AC4BB1B038F}"/>
              </a:ext>
            </a:extLst>
          </p:cNvPr>
          <p:cNvSpPr>
            <a:spLocks noGrp="1"/>
          </p:cNvSpPr>
          <p:nvPr>
            <p:ph idx="1"/>
          </p:nvPr>
        </p:nvSpPr>
        <p:spPr>
          <a:xfrm>
            <a:off x="3104325" y="5850610"/>
            <a:ext cx="5983350" cy="139485"/>
          </a:xfrm>
        </p:spPr>
        <p:txBody>
          <a:bodyPr/>
          <a:lstStyle/>
          <a:p>
            <a:pPr marL="0" indent="0">
              <a:buNone/>
            </a:pPr>
            <a:r>
              <a:rPr lang="en-US" sz="700" b="1" dirty="0"/>
              <a:t>Source</a:t>
            </a:r>
            <a:r>
              <a:rPr lang="en-US" sz="700" dirty="0"/>
              <a:t>: R. D. </a:t>
            </a:r>
            <a:r>
              <a:rPr lang="en-US" sz="700" dirty="0" err="1"/>
              <a:t>Finck</a:t>
            </a:r>
            <a:r>
              <a:rPr lang="en-US" sz="700" dirty="0"/>
              <a:t>, USAF STABILITY AND CONTROL DATCOM, McDonnell Douglas Corporation Douglas Aircraft Division, 1978, Section 1, 1-7</a:t>
            </a:r>
          </a:p>
        </p:txBody>
      </p:sp>
    </p:spTree>
    <p:extLst>
      <p:ext uri="{BB962C8B-B14F-4D97-AF65-F5344CB8AC3E}">
        <p14:creationId xmlns:p14="http://schemas.microsoft.com/office/powerpoint/2010/main" val="3033722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2D02BF-D7AB-439A-960F-254D3FFA6B2B}"/>
              </a:ext>
            </a:extLst>
          </p:cNvPr>
          <p:cNvSpPr>
            <a:spLocks noGrp="1"/>
          </p:cNvSpPr>
          <p:nvPr>
            <p:ph type="title"/>
          </p:nvPr>
        </p:nvSpPr>
        <p:spPr/>
        <p:txBody>
          <a:bodyPr/>
          <a:lstStyle/>
          <a:p>
            <a:r>
              <a:rPr lang="en-US" dirty="0"/>
              <a:t>Mission Analysis</a:t>
            </a:r>
          </a:p>
        </p:txBody>
      </p:sp>
      <p:pic>
        <p:nvPicPr>
          <p:cNvPr id="4" name="Content Placeholder 4">
            <a:extLst>
              <a:ext uri="{FF2B5EF4-FFF2-40B4-BE49-F238E27FC236}">
                <a16:creationId xmlns:a16="http://schemas.microsoft.com/office/drawing/2014/main" id="{92CEB987-A5A9-4B88-B6E2-4C84CC9D38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pic>
        <p:nvPicPr>
          <p:cNvPr id="14" name="Picture 13">
            <a:extLst>
              <a:ext uri="{FF2B5EF4-FFF2-40B4-BE49-F238E27FC236}">
                <a16:creationId xmlns:a16="http://schemas.microsoft.com/office/drawing/2014/main" id="{69A8058E-9D4A-4ACB-936C-8DB6BBEE74CA}"/>
              </a:ext>
            </a:extLst>
          </p:cNvPr>
          <p:cNvPicPr>
            <a:picLocks noChangeAspect="1"/>
          </p:cNvPicPr>
          <p:nvPr/>
        </p:nvPicPr>
        <p:blipFill rotWithShape="1">
          <a:blip r:embed="rId4"/>
          <a:srcRect l="4957" t="8739" r="4628" b="8371"/>
          <a:stretch/>
        </p:blipFill>
        <p:spPr>
          <a:xfrm>
            <a:off x="7223662" y="4933764"/>
            <a:ext cx="1090400" cy="575443"/>
          </a:xfrm>
          <a:prstGeom prst="rect">
            <a:avLst/>
          </a:prstGeom>
          <a:ln w="12700">
            <a:solidFill>
              <a:schemeClr val="tx1"/>
            </a:solidFill>
          </a:ln>
        </p:spPr>
      </p:pic>
      <p:pic>
        <p:nvPicPr>
          <p:cNvPr id="17" name="Picture 16">
            <a:extLst>
              <a:ext uri="{FF2B5EF4-FFF2-40B4-BE49-F238E27FC236}">
                <a16:creationId xmlns:a16="http://schemas.microsoft.com/office/drawing/2014/main" id="{1E36F12F-34A6-4DE9-8A9F-F627D288FADD}"/>
              </a:ext>
            </a:extLst>
          </p:cNvPr>
          <p:cNvPicPr>
            <a:picLocks noChangeAspect="1"/>
          </p:cNvPicPr>
          <p:nvPr/>
        </p:nvPicPr>
        <p:blipFill rotWithShape="1">
          <a:blip r:embed="rId5"/>
          <a:srcRect l="10365" t="3183" r="4010" b="70802"/>
          <a:stretch/>
        </p:blipFill>
        <p:spPr>
          <a:xfrm>
            <a:off x="7223663" y="2693827"/>
            <a:ext cx="1053838" cy="410625"/>
          </a:xfrm>
          <a:prstGeom prst="rect">
            <a:avLst/>
          </a:prstGeom>
          <a:solidFill>
            <a:srgbClr val="00447E"/>
          </a:solidFill>
          <a:ln w="12700">
            <a:solidFill>
              <a:schemeClr val="tx1"/>
            </a:solidFill>
          </a:ln>
        </p:spPr>
      </p:pic>
      <p:pic>
        <p:nvPicPr>
          <p:cNvPr id="18" name="Picture 17">
            <a:extLst>
              <a:ext uri="{FF2B5EF4-FFF2-40B4-BE49-F238E27FC236}">
                <a16:creationId xmlns:a16="http://schemas.microsoft.com/office/drawing/2014/main" id="{16DA6284-BBEC-4BD1-95C2-D2398B0B3D32}"/>
              </a:ext>
            </a:extLst>
          </p:cNvPr>
          <p:cNvPicPr>
            <a:picLocks noChangeAspect="1"/>
          </p:cNvPicPr>
          <p:nvPr/>
        </p:nvPicPr>
        <p:blipFill rotWithShape="1">
          <a:blip r:embed="rId6"/>
          <a:srcRect l="6596" t="33475" r="4339" b="1831"/>
          <a:stretch/>
        </p:blipFill>
        <p:spPr>
          <a:xfrm>
            <a:off x="7223662" y="3609742"/>
            <a:ext cx="1057449" cy="1034789"/>
          </a:xfrm>
          <a:prstGeom prst="rect">
            <a:avLst/>
          </a:prstGeom>
          <a:ln w="12700">
            <a:solidFill>
              <a:schemeClr val="tx1"/>
            </a:solidFill>
          </a:ln>
        </p:spPr>
      </p:pic>
      <p:cxnSp>
        <p:nvCxnSpPr>
          <p:cNvPr id="21" name="Connector: Elbow 20">
            <a:extLst>
              <a:ext uri="{FF2B5EF4-FFF2-40B4-BE49-F238E27FC236}">
                <a16:creationId xmlns:a16="http://schemas.microsoft.com/office/drawing/2014/main" id="{0CD7B88E-07FC-40DB-A8BA-D22A812FA91E}"/>
              </a:ext>
            </a:extLst>
          </p:cNvPr>
          <p:cNvCxnSpPr>
            <a:cxnSpLocks/>
          </p:cNvCxnSpPr>
          <p:nvPr/>
        </p:nvCxnSpPr>
        <p:spPr>
          <a:xfrm flipV="1">
            <a:off x="8311133" y="4359461"/>
            <a:ext cx="422746" cy="822960"/>
          </a:xfrm>
          <a:prstGeom prst="bentConnector3">
            <a:avLst>
              <a:gd name="adj1" fmla="val 5901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F298609F-A88F-472F-BE8B-F40616830E7C}"/>
              </a:ext>
            </a:extLst>
          </p:cNvPr>
          <p:cNvCxnSpPr>
            <a:cxnSpLocks/>
          </p:cNvCxnSpPr>
          <p:nvPr/>
        </p:nvCxnSpPr>
        <p:spPr>
          <a:xfrm rot="16200000" flipH="1">
            <a:off x="8354046" y="3693391"/>
            <a:ext cx="582647" cy="182880"/>
          </a:xfrm>
          <a:prstGeom prst="bentConnector3">
            <a:avLst>
              <a:gd name="adj1" fmla="val 10027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3C81701-7B63-448A-84FF-FEB737FDE38D}"/>
              </a:ext>
            </a:extLst>
          </p:cNvPr>
          <p:cNvCxnSpPr/>
          <p:nvPr/>
        </p:nvCxnSpPr>
        <p:spPr>
          <a:xfrm>
            <a:off x="8399988" y="3493508"/>
            <a:ext cx="153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 Placeholder 1">
                <a:extLst>
                  <a:ext uri="{FF2B5EF4-FFF2-40B4-BE49-F238E27FC236}">
                    <a16:creationId xmlns:a16="http://schemas.microsoft.com/office/drawing/2014/main" id="{705D9DE8-DCA3-4FCE-8436-287C629CAA0A}"/>
                  </a:ext>
                </a:extLst>
              </p:cNvPr>
              <p:cNvSpPr txBox="1">
                <a:spLocks/>
              </p:cNvSpPr>
              <p:nvPr/>
            </p:nvSpPr>
            <p:spPr>
              <a:xfrm>
                <a:off x="10896027" y="3663574"/>
                <a:ext cx="491376" cy="766907"/>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𝑊</m:t>
                          </m:r>
                        </m:e>
                        <m:sub>
                          <m:r>
                            <a:rPr lang="en-US" sz="1200" b="0" i="1" smtClean="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𝑊</m:t>
                          </m:r>
                        </m:e>
                        <m:sub>
                          <m:r>
                            <a:rPr lang="en-US" sz="1200" b="0" i="1" dirty="0" smtClean="0">
                              <a:solidFill>
                                <a:schemeClr val="tx1"/>
                              </a:solidFill>
                              <a:latin typeface="Cambria Math" panose="02040503050406030204" pitchFamily="18" charset="0"/>
                            </a:rPr>
                            <m:t>𝐸</m:t>
                          </m:r>
                        </m:sub>
                      </m:sSub>
                    </m:oMath>
                  </m:oMathPara>
                </a14:m>
                <a:endParaRPr lang="en-US" sz="1200" b="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smtClean="0">
                              <a:solidFill>
                                <a:schemeClr val="tx1"/>
                              </a:solidFill>
                              <a:latin typeface="Cambria Math" panose="02040503050406030204" pitchFamily="18" charset="0"/>
                            </a:rPr>
                            <m:t>𝐹</m:t>
                          </m:r>
                        </m:sub>
                      </m:sSub>
                    </m:oMath>
                  </m:oMathPara>
                </a14:m>
                <a:endParaRPr lang="en-US" sz="1200" i="1" dirty="0">
                  <a:solidFill>
                    <a:schemeClr val="tx1"/>
                  </a:solidFill>
                  <a:latin typeface="Cambria Math" panose="02040503050406030204" pitchFamily="18" charset="0"/>
                </a:endParaRPr>
              </a:p>
              <a:p>
                <a:pPr marL="0" indent="0" algn="ctr">
                  <a:buNone/>
                </a:pPr>
                <a14:m>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𝑃</m:t>
                        </m:r>
                      </m:sub>
                    </m:sSub>
                  </m:oMath>
                </a14:m>
                <a:r>
                  <a:rPr lang="en-US" sz="1200" dirty="0">
                    <a:solidFill>
                      <a:schemeClr val="tx1"/>
                    </a:solidFill>
                  </a:rPr>
                  <a:t> </a:t>
                </a:r>
              </a:p>
            </p:txBody>
          </p:sp>
        </mc:Choice>
        <mc:Fallback xmlns="">
          <p:sp>
            <p:nvSpPr>
              <p:cNvPr id="27" name="Text Placeholder 1">
                <a:extLst>
                  <a:ext uri="{FF2B5EF4-FFF2-40B4-BE49-F238E27FC236}">
                    <a16:creationId xmlns:a16="http://schemas.microsoft.com/office/drawing/2014/main" id="{705D9DE8-DCA3-4FCE-8436-287C629CAA0A}"/>
                  </a:ext>
                </a:extLst>
              </p:cNvPr>
              <p:cNvSpPr txBox="1">
                <a:spLocks noRot="1" noChangeAspect="1" noMove="1" noResize="1" noEditPoints="1" noAdjustHandles="1" noChangeArrowheads="1" noChangeShapeType="1" noTextEdit="1"/>
              </p:cNvSpPr>
              <p:nvPr/>
            </p:nvSpPr>
            <p:spPr>
              <a:xfrm>
                <a:off x="10896027" y="3663574"/>
                <a:ext cx="491376" cy="766907"/>
              </a:xfrm>
              <a:prstGeom prst="rect">
                <a:avLst/>
              </a:prstGeom>
              <a:blipFill>
                <a:blip r:embed="rId9"/>
                <a:stretch>
                  <a:fillRect/>
                </a:stretch>
              </a:blipFill>
              <a:ln>
                <a:solidFill>
                  <a:schemeClr val="tx1"/>
                </a:solidFill>
              </a:ln>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42D5BE05-99D1-4705-8FDD-6A39D80A586C}"/>
              </a:ext>
            </a:extLst>
          </p:cNvPr>
          <p:cNvCxnSpPr>
            <a:cxnSpLocks/>
            <a:endCxn id="27" idx="1"/>
          </p:cNvCxnSpPr>
          <p:nvPr/>
        </p:nvCxnSpPr>
        <p:spPr>
          <a:xfrm flipV="1">
            <a:off x="10550457" y="4047028"/>
            <a:ext cx="345570"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815DAB0-50CB-488A-8032-427796FB20EE}"/>
              </a:ext>
            </a:extLst>
          </p:cNvPr>
          <p:cNvCxnSpPr>
            <a:cxnSpLocks/>
          </p:cNvCxnSpPr>
          <p:nvPr/>
        </p:nvCxnSpPr>
        <p:spPr>
          <a:xfrm flipV="1">
            <a:off x="9845835" y="4617490"/>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7C27611-EDFE-4962-9EFB-A586DCEFECE5}"/>
              </a:ext>
            </a:extLst>
          </p:cNvPr>
          <p:cNvSpPr txBox="1"/>
          <p:nvPr/>
        </p:nvSpPr>
        <p:spPr>
          <a:xfrm>
            <a:off x="9226915" y="5075782"/>
            <a:ext cx="1237839" cy="338554"/>
          </a:xfrm>
          <a:prstGeom prst="rect">
            <a:avLst/>
          </a:prstGeom>
          <a:noFill/>
          <a:ln>
            <a:solidFill>
              <a:schemeClr val="tx1"/>
            </a:solidFill>
          </a:ln>
        </p:spPr>
        <p:txBody>
          <a:bodyPr wrap="square" rtlCol="0">
            <a:spAutoFit/>
          </a:bodyPr>
          <a:lstStyle/>
          <a:p>
            <a:pPr algn="ctr"/>
            <a:r>
              <a:rPr lang="en-US" sz="800" b="1" dirty="0"/>
              <a:t>Mission Performance Requirements</a:t>
            </a:r>
          </a:p>
        </p:txBody>
      </p:sp>
      <p:cxnSp>
        <p:nvCxnSpPr>
          <p:cNvPr id="36" name="Connector: Elbow 35">
            <a:extLst>
              <a:ext uri="{FF2B5EF4-FFF2-40B4-BE49-F238E27FC236}">
                <a16:creationId xmlns:a16="http://schemas.microsoft.com/office/drawing/2014/main" id="{2C27BD38-EEC6-4156-AAC6-DF75E68B382E}"/>
              </a:ext>
            </a:extLst>
          </p:cNvPr>
          <p:cNvCxnSpPr>
            <a:cxnSpLocks/>
            <a:stCxn id="17" idx="3"/>
            <a:endCxn id="18" idx="3"/>
          </p:cNvCxnSpPr>
          <p:nvPr/>
        </p:nvCxnSpPr>
        <p:spPr>
          <a:xfrm>
            <a:off x="8277501" y="2899140"/>
            <a:ext cx="3610" cy="1227997"/>
          </a:xfrm>
          <a:prstGeom prst="bentConnector3">
            <a:avLst>
              <a:gd name="adj1" fmla="val 359601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94ED78E6-25D8-4004-86DB-930CAA0ED272}"/>
              </a:ext>
            </a:extLst>
          </p:cNvPr>
          <p:cNvGrpSpPr/>
          <p:nvPr/>
        </p:nvGrpSpPr>
        <p:grpSpPr>
          <a:xfrm>
            <a:off x="8736808" y="3519087"/>
            <a:ext cx="1835049" cy="1091781"/>
            <a:chOff x="8985516" y="3499112"/>
            <a:chExt cx="1835049" cy="1091781"/>
          </a:xfrm>
        </p:grpSpPr>
        <p:grpSp>
          <p:nvGrpSpPr>
            <p:cNvPr id="43" name="Group 42">
              <a:extLst>
                <a:ext uri="{FF2B5EF4-FFF2-40B4-BE49-F238E27FC236}">
                  <a16:creationId xmlns:a16="http://schemas.microsoft.com/office/drawing/2014/main" id="{BE9BFCC2-8E54-49D1-971E-765A11F94C78}"/>
                </a:ext>
              </a:extLst>
            </p:cNvPr>
            <p:cNvGrpSpPr/>
            <p:nvPr/>
          </p:nvGrpSpPr>
          <p:grpSpPr>
            <a:xfrm>
              <a:off x="8985516" y="3499112"/>
              <a:ext cx="1835049" cy="1091781"/>
              <a:chOff x="9533697" y="2966337"/>
              <a:chExt cx="1805906" cy="1724075"/>
            </a:xfrm>
            <a:solidFill>
              <a:srgbClr val="C0C079"/>
            </a:solidFill>
          </p:grpSpPr>
          <p:sp>
            <p:nvSpPr>
              <p:cNvPr id="45" name="Cube 44">
                <a:extLst>
                  <a:ext uri="{FF2B5EF4-FFF2-40B4-BE49-F238E27FC236}">
                    <a16:creationId xmlns:a16="http://schemas.microsoft.com/office/drawing/2014/main" id="{95CEE163-3BC4-4146-A3EB-98AC820A3754}"/>
                  </a:ext>
                </a:extLst>
              </p:cNvPr>
              <p:cNvSpPr/>
              <p:nvPr/>
            </p:nvSpPr>
            <p:spPr>
              <a:xfrm>
                <a:off x="9533697"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9C57477-B271-444D-A598-8F44B19C7B55}"/>
                  </a:ext>
                </a:extLst>
              </p:cNvPr>
              <p:cNvSpPr/>
              <p:nvPr/>
            </p:nvSpPr>
            <p:spPr>
              <a:xfrm>
                <a:off x="9598547" y="3242865"/>
                <a:ext cx="1544884" cy="4065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Mission Analysis</a:t>
                </a:r>
              </a:p>
            </p:txBody>
          </p:sp>
        </p:grpSp>
        <p:pic>
          <p:nvPicPr>
            <p:cNvPr id="44" name="Graphic 43">
              <a:extLst>
                <a:ext uri="{FF2B5EF4-FFF2-40B4-BE49-F238E27FC236}">
                  <a16:creationId xmlns:a16="http://schemas.microsoft.com/office/drawing/2014/main" id="{35B01EE1-792E-4399-A97D-5FD6E1F8A83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33664" y="3941409"/>
              <a:ext cx="1114960" cy="613187"/>
            </a:xfrm>
            <a:prstGeom prst="rect">
              <a:avLst/>
            </a:prstGeom>
          </p:spPr>
        </p:pic>
      </p:grpSp>
      <p:cxnSp>
        <p:nvCxnSpPr>
          <p:cNvPr id="47" name="Straight Arrow Connector 46">
            <a:extLst>
              <a:ext uri="{FF2B5EF4-FFF2-40B4-BE49-F238E27FC236}">
                <a16:creationId xmlns:a16="http://schemas.microsoft.com/office/drawing/2014/main" id="{9DE92F05-D645-48F4-BBD9-2977D007B029}"/>
              </a:ext>
            </a:extLst>
          </p:cNvPr>
          <p:cNvCxnSpPr>
            <a:cxnSpLocks/>
          </p:cNvCxnSpPr>
          <p:nvPr/>
        </p:nvCxnSpPr>
        <p:spPr>
          <a:xfrm flipV="1">
            <a:off x="9644732" y="3146986"/>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6C66B70-4F9E-4DEE-B5E1-62D77B680D4B}"/>
              </a:ext>
            </a:extLst>
          </p:cNvPr>
          <p:cNvSpPr txBox="1"/>
          <p:nvPr/>
        </p:nvSpPr>
        <p:spPr>
          <a:xfrm>
            <a:off x="9023516" y="2931542"/>
            <a:ext cx="1237839" cy="215444"/>
          </a:xfrm>
          <a:prstGeom prst="rect">
            <a:avLst/>
          </a:prstGeom>
          <a:solidFill>
            <a:srgbClr val="00447E"/>
          </a:solidFill>
          <a:ln>
            <a:solidFill>
              <a:schemeClr val="tx1"/>
            </a:solidFill>
          </a:ln>
        </p:spPr>
        <p:txBody>
          <a:bodyPr wrap="square" rtlCol="0">
            <a:spAutoFit/>
          </a:bodyPr>
          <a:lstStyle/>
          <a:p>
            <a:pPr algn="ctr"/>
            <a:r>
              <a:rPr lang="en-US" sz="800" b="1" dirty="0">
                <a:solidFill>
                  <a:schemeClr val="bg1"/>
                </a:solidFill>
              </a:rPr>
              <a:t>Weight fractions</a:t>
            </a:r>
          </a:p>
        </p:txBody>
      </p:sp>
      <p:sp>
        <p:nvSpPr>
          <p:cNvPr id="37" name="Rectangle: Rounded Corners 36">
            <a:extLst>
              <a:ext uri="{FF2B5EF4-FFF2-40B4-BE49-F238E27FC236}">
                <a16:creationId xmlns:a16="http://schemas.microsoft.com/office/drawing/2014/main" id="{4C93A86E-67D4-4561-BE1E-78704D3A11A9}"/>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
        <p:nvSpPr>
          <p:cNvPr id="38" name="Rectangle: Rounded Corners 37">
            <a:extLst>
              <a:ext uri="{FF2B5EF4-FFF2-40B4-BE49-F238E27FC236}">
                <a16:creationId xmlns:a16="http://schemas.microsoft.com/office/drawing/2014/main" id="{9FDA3001-89F7-4F86-A1FE-4F91B15D561B}"/>
              </a:ext>
            </a:extLst>
          </p:cNvPr>
          <p:cNvSpPr/>
          <p:nvPr/>
        </p:nvSpPr>
        <p:spPr>
          <a:xfrm>
            <a:off x="1350341" y="4221075"/>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Design Analysis</a:t>
            </a:r>
          </a:p>
        </p:txBody>
      </p:sp>
      <p:sp>
        <p:nvSpPr>
          <p:cNvPr id="39" name="Rectangle: Rounded Corners 38">
            <a:extLst>
              <a:ext uri="{FF2B5EF4-FFF2-40B4-BE49-F238E27FC236}">
                <a16:creationId xmlns:a16="http://schemas.microsoft.com/office/drawing/2014/main" id="{6F4364F9-D507-4460-9477-9A8F041E85F8}"/>
              </a:ext>
            </a:extLst>
          </p:cNvPr>
          <p:cNvSpPr/>
          <p:nvPr/>
        </p:nvSpPr>
        <p:spPr>
          <a:xfrm>
            <a:off x="752322" y="4724270"/>
            <a:ext cx="1280160" cy="201168"/>
          </a:xfrm>
          <a:prstGeom prst="roundRect">
            <a:avLst>
              <a:gd name="adj" fmla="val 19189"/>
            </a:avLst>
          </a:prstGeom>
          <a:solidFill>
            <a:srgbClr val="FFC000">
              <a:alpha val="3019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endParaRPr lang="en-US" b="1" dirty="0">
              <a:solidFill>
                <a:schemeClr val="bg1"/>
              </a:solidFill>
            </a:endParaRPr>
          </a:p>
        </p:txBody>
      </p:sp>
    </p:spTree>
    <p:extLst>
      <p:ext uri="{BB962C8B-B14F-4D97-AF65-F5344CB8AC3E}">
        <p14:creationId xmlns:p14="http://schemas.microsoft.com/office/powerpoint/2010/main" val="89486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Mission Analysis</a:t>
            </a:r>
          </a:p>
        </p:txBody>
      </p:sp>
      <p:sp>
        <p:nvSpPr>
          <p:cNvPr id="30" name="Content Placeholder 1">
            <a:extLst>
              <a:ext uri="{FF2B5EF4-FFF2-40B4-BE49-F238E27FC236}">
                <a16:creationId xmlns:a16="http://schemas.microsoft.com/office/drawing/2014/main" id="{C3115E99-07D9-405E-9C98-85FDD8E6306F}"/>
              </a:ext>
            </a:extLst>
          </p:cNvPr>
          <p:cNvSpPr>
            <a:spLocks noGrp="1"/>
          </p:cNvSpPr>
          <p:nvPr>
            <p:ph idx="1"/>
          </p:nvPr>
        </p:nvSpPr>
        <p:spPr>
          <a:xfrm>
            <a:off x="677337" y="1828799"/>
            <a:ext cx="10837332" cy="4343399"/>
          </a:xfrm>
        </p:spPr>
        <p:txBody>
          <a:bodyPr/>
          <a:lstStyle/>
          <a:p>
            <a:pPr marL="0" indent="0">
              <a:buNone/>
            </a:pPr>
            <a:r>
              <a:rPr lang="en-US" b="1" dirty="0"/>
              <a:t>Challenges of Mission Analysis</a:t>
            </a:r>
          </a:p>
          <a:p>
            <a:pPr marL="0" indent="0">
              <a:buNone/>
            </a:pPr>
            <a:endParaRPr lang="en-US" b="1" dirty="0"/>
          </a:p>
          <a:p>
            <a:r>
              <a:rPr lang="en-US" dirty="0"/>
              <a:t>The mission analysis shall create a mission from </a:t>
            </a:r>
            <a:r>
              <a:rPr lang="en-US" b="1" dirty="0"/>
              <a:t>Top Level Aircraft Requirements </a:t>
            </a:r>
            <a:r>
              <a:rPr lang="en-US" dirty="0"/>
              <a:t>and </a:t>
            </a:r>
            <a:r>
              <a:rPr lang="en-US" b="1" dirty="0"/>
              <a:t>Mission Requirements</a:t>
            </a:r>
          </a:p>
          <a:p>
            <a:pPr lvl="4"/>
            <a:r>
              <a:rPr lang="en-US" dirty="0"/>
              <a:t>The mission profile might not be given in some cases</a:t>
            </a:r>
          </a:p>
          <a:p>
            <a:pPr lvl="4"/>
            <a:r>
              <a:rPr lang="en-US" dirty="0"/>
              <a:t>A </a:t>
            </a:r>
            <a:r>
              <a:rPr lang="en-US" b="1" dirty="0"/>
              <a:t>design mission </a:t>
            </a:r>
            <a:r>
              <a:rPr lang="en-US" dirty="0"/>
              <a:t>that fits the requirements must be automatically generated to get the </a:t>
            </a:r>
            <a:r>
              <a:rPr lang="en-US" b="1" dirty="0"/>
              <a:t>mass properties </a:t>
            </a:r>
            <a:r>
              <a:rPr lang="en-US" dirty="0"/>
              <a:t>of the aircraft</a:t>
            </a:r>
          </a:p>
          <a:p>
            <a:pPr lvl="4"/>
            <a:endParaRPr lang="en-US" dirty="0"/>
          </a:p>
          <a:p>
            <a:r>
              <a:rPr lang="en-US" dirty="0"/>
              <a:t>Putting mission analysis in a </a:t>
            </a:r>
            <a:r>
              <a:rPr lang="en-US" b="1" dirty="0"/>
              <a:t>convergence loop </a:t>
            </a:r>
            <a:r>
              <a:rPr lang="en-US" dirty="0"/>
              <a:t>comes with additional challenges</a:t>
            </a:r>
          </a:p>
          <a:p>
            <a:pPr lvl="4"/>
            <a:r>
              <a:rPr lang="en-US" dirty="0"/>
              <a:t>The convergence loop requires the </a:t>
            </a:r>
            <a:r>
              <a:rPr lang="en-US" b="1" dirty="0"/>
              <a:t>mass properties </a:t>
            </a:r>
            <a:r>
              <a:rPr lang="en-US" dirty="0"/>
              <a:t>in each </a:t>
            </a:r>
            <a:r>
              <a:rPr lang="en-US" b="1" dirty="0"/>
              <a:t>iteration</a:t>
            </a:r>
          </a:p>
          <a:p>
            <a:pPr lvl="4"/>
            <a:r>
              <a:rPr lang="en-US" dirty="0"/>
              <a:t>This means that the tool must be able to</a:t>
            </a:r>
            <a:r>
              <a:rPr lang="en-US" b="1" dirty="0"/>
              <a:t> handle “infeasible” configurations</a:t>
            </a:r>
          </a:p>
          <a:p>
            <a:pPr lvl="4"/>
            <a:r>
              <a:rPr lang="en-US" dirty="0"/>
              <a:t>The tool must also provide </a:t>
            </a:r>
            <a:r>
              <a:rPr lang="en-US" b="1" dirty="0"/>
              <a:t>enough complexity </a:t>
            </a:r>
            <a:r>
              <a:rPr lang="en-US" dirty="0"/>
              <a:t>to capture the </a:t>
            </a:r>
            <a:r>
              <a:rPr lang="en-US" b="1" dirty="0"/>
              <a:t>snowball effects</a:t>
            </a:r>
          </a:p>
          <a:p>
            <a:endParaRPr lang="en-US" b="1" dirty="0"/>
          </a:p>
          <a:p>
            <a:r>
              <a:rPr lang="en-US" dirty="0"/>
              <a:t>Increased granularity and doing optimization comes with increased runtime</a:t>
            </a:r>
          </a:p>
        </p:txBody>
      </p:sp>
      <mc:AlternateContent xmlns:mc="http://schemas.openxmlformats.org/markup-compatibility/2006" xmlns:a14="http://schemas.microsoft.com/office/drawing/2010/main">
        <mc:Choice Requires="a14">
          <p:sp>
            <p:nvSpPr>
              <p:cNvPr id="5" name="Text Placeholder 1">
                <a:extLst>
                  <a:ext uri="{FF2B5EF4-FFF2-40B4-BE49-F238E27FC236}">
                    <a16:creationId xmlns:a16="http://schemas.microsoft.com/office/drawing/2014/main" id="{B6BD8853-A265-467A-8C37-169A9F10A164}"/>
                  </a:ext>
                </a:extLst>
              </p:cNvPr>
              <p:cNvSpPr txBox="1">
                <a:spLocks/>
              </p:cNvSpPr>
              <p:nvPr/>
            </p:nvSpPr>
            <p:spPr>
              <a:xfrm>
                <a:off x="11244175" y="4359996"/>
                <a:ext cx="491376" cy="766907"/>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𝑊</m:t>
                          </m:r>
                        </m:e>
                        <m:sub>
                          <m:r>
                            <a:rPr lang="en-US" sz="1200" b="0" i="1" smtClean="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𝑊</m:t>
                          </m:r>
                        </m:e>
                        <m:sub>
                          <m:r>
                            <a:rPr lang="en-US" sz="1200" b="0" i="1" dirty="0" smtClean="0">
                              <a:solidFill>
                                <a:schemeClr val="tx1"/>
                              </a:solidFill>
                              <a:latin typeface="Cambria Math" panose="02040503050406030204" pitchFamily="18" charset="0"/>
                            </a:rPr>
                            <m:t>𝐸</m:t>
                          </m:r>
                        </m:sub>
                      </m:sSub>
                    </m:oMath>
                  </m:oMathPara>
                </a14:m>
                <a:endParaRPr lang="en-US" sz="1200" b="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smtClean="0">
                              <a:solidFill>
                                <a:schemeClr val="tx1"/>
                              </a:solidFill>
                              <a:latin typeface="Cambria Math" panose="02040503050406030204" pitchFamily="18" charset="0"/>
                            </a:rPr>
                            <m:t>𝐹</m:t>
                          </m:r>
                        </m:sub>
                      </m:sSub>
                    </m:oMath>
                  </m:oMathPara>
                </a14:m>
                <a:endParaRPr lang="en-US" sz="1200" i="1" dirty="0">
                  <a:solidFill>
                    <a:schemeClr val="tx1"/>
                  </a:solidFill>
                  <a:latin typeface="Cambria Math" panose="02040503050406030204" pitchFamily="18" charset="0"/>
                </a:endParaRPr>
              </a:p>
              <a:p>
                <a:pPr marL="0" indent="0" algn="ctr">
                  <a:buNone/>
                </a:pPr>
                <a14:m>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𝑃</m:t>
                        </m:r>
                      </m:sub>
                    </m:sSub>
                  </m:oMath>
                </a14:m>
                <a:r>
                  <a:rPr lang="en-US" sz="1200" dirty="0">
                    <a:solidFill>
                      <a:schemeClr val="tx1"/>
                    </a:solidFill>
                  </a:rPr>
                  <a:t> </a:t>
                </a:r>
              </a:p>
            </p:txBody>
          </p:sp>
        </mc:Choice>
        <mc:Fallback xmlns="">
          <p:sp>
            <p:nvSpPr>
              <p:cNvPr id="5" name="Text Placeholder 1">
                <a:extLst>
                  <a:ext uri="{FF2B5EF4-FFF2-40B4-BE49-F238E27FC236}">
                    <a16:creationId xmlns:a16="http://schemas.microsoft.com/office/drawing/2014/main" id="{B6BD8853-A265-467A-8C37-169A9F10A164}"/>
                  </a:ext>
                </a:extLst>
              </p:cNvPr>
              <p:cNvSpPr txBox="1">
                <a:spLocks noRot="1" noChangeAspect="1" noMove="1" noResize="1" noEditPoints="1" noAdjustHandles="1" noChangeArrowheads="1" noChangeShapeType="1" noTextEdit="1"/>
              </p:cNvSpPr>
              <p:nvPr/>
            </p:nvSpPr>
            <p:spPr>
              <a:xfrm>
                <a:off x="11244175" y="4359996"/>
                <a:ext cx="491376" cy="766907"/>
              </a:xfrm>
              <a:prstGeom prst="rect">
                <a:avLst/>
              </a:prstGeom>
              <a:blipFill>
                <a:blip r:embed="rId3"/>
                <a:stretch>
                  <a:fillRect/>
                </a:stretch>
              </a:blipFill>
              <a:ln>
                <a:solidFill>
                  <a:schemeClr val="tx1"/>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5957BD93-168C-4429-B445-6BBD240D709E}"/>
              </a:ext>
            </a:extLst>
          </p:cNvPr>
          <p:cNvCxnSpPr>
            <a:cxnSpLocks/>
            <a:endCxn id="5" idx="1"/>
          </p:cNvCxnSpPr>
          <p:nvPr/>
        </p:nvCxnSpPr>
        <p:spPr>
          <a:xfrm flipV="1">
            <a:off x="10898605" y="4743450"/>
            <a:ext cx="345570"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E5F08F43-496A-4131-A784-D4E7E2ADBEB6}"/>
              </a:ext>
            </a:extLst>
          </p:cNvPr>
          <p:cNvGrpSpPr/>
          <p:nvPr/>
        </p:nvGrpSpPr>
        <p:grpSpPr>
          <a:xfrm>
            <a:off x="9084956" y="4215509"/>
            <a:ext cx="1835049" cy="1091781"/>
            <a:chOff x="8985516" y="3499112"/>
            <a:chExt cx="1835049" cy="1091781"/>
          </a:xfrm>
        </p:grpSpPr>
        <p:grpSp>
          <p:nvGrpSpPr>
            <p:cNvPr id="8" name="Group 7">
              <a:extLst>
                <a:ext uri="{FF2B5EF4-FFF2-40B4-BE49-F238E27FC236}">
                  <a16:creationId xmlns:a16="http://schemas.microsoft.com/office/drawing/2014/main" id="{5D51E66F-698E-4A61-BEBB-E3A3B6F6D681}"/>
                </a:ext>
              </a:extLst>
            </p:cNvPr>
            <p:cNvGrpSpPr/>
            <p:nvPr/>
          </p:nvGrpSpPr>
          <p:grpSpPr>
            <a:xfrm>
              <a:off x="8985516" y="3499112"/>
              <a:ext cx="1835049" cy="1091781"/>
              <a:chOff x="9533697" y="2966337"/>
              <a:chExt cx="1805906" cy="1724075"/>
            </a:xfrm>
            <a:solidFill>
              <a:srgbClr val="C0C079"/>
            </a:solidFill>
          </p:grpSpPr>
          <p:sp>
            <p:nvSpPr>
              <p:cNvPr id="10" name="Cube 9">
                <a:extLst>
                  <a:ext uri="{FF2B5EF4-FFF2-40B4-BE49-F238E27FC236}">
                    <a16:creationId xmlns:a16="http://schemas.microsoft.com/office/drawing/2014/main" id="{0D387DB3-5BD7-4DCC-A084-4CABD00E6F00}"/>
                  </a:ext>
                </a:extLst>
              </p:cNvPr>
              <p:cNvSpPr/>
              <p:nvPr/>
            </p:nvSpPr>
            <p:spPr>
              <a:xfrm>
                <a:off x="9533697"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56B77E7-132A-43EF-82A2-FE5BD78310F0}"/>
                  </a:ext>
                </a:extLst>
              </p:cNvPr>
              <p:cNvSpPr/>
              <p:nvPr/>
            </p:nvSpPr>
            <p:spPr>
              <a:xfrm>
                <a:off x="9598547" y="3242865"/>
                <a:ext cx="1544884" cy="4065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Mission Analysis</a:t>
                </a:r>
              </a:p>
            </p:txBody>
          </p:sp>
        </p:grpSp>
        <p:pic>
          <p:nvPicPr>
            <p:cNvPr id="9" name="Graphic 8">
              <a:extLst>
                <a:ext uri="{FF2B5EF4-FFF2-40B4-BE49-F238E27FC236}">
                  <a16:creationId xmlns:a16="http://schemas.microsoft.com/office/drawing/2014/main" id="{8A5898D7-957C-4505-B525-172FD20460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33664" y="3941409"/>
              <a:ext cx="1114960" cy="613187"/>
            </a:xfrm>
            <a:prstGeom prst="rect">
              <a:avLst/>
            </a:prstGeom>
          </p:spPr>
        </p:pic>
      </p:grpSp>
    </p:spTree>
    <p:extLst>
      <p:ext uri="{BB962C8B-B14F-4D97-AF65-F5344CB8AC3E}">
        <p14:creationId xmlns:p14="http://schemas.microsoft.com/office/powerpoint/2010/main" val="357159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
                                            <p:txEl>
                                              <p:pRg st="6" end="6"/>
                                            </p:txEl>
                                          </p:spTgt>
                                        </p:tgtEl>
                                        <p:attrNameLst>
                                          <p:attrName>style.visibility</p:attrName>
                                        </p:attrNameLst>
                                      </p:cBhvr>
                                      <p:to>
                                        <p:strVal val="visible"/>
                                      </p:to>
                                    </p:set>
                                    <p:animEffect transition="in" filter="fade">
                                      <p:cBhvr>
                                        <p:cTn id="18" dur="500"/>
                                        <p:tgtEl>
                                          <p:spTgt spid="30">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0">
                                            <p:txEl>
                                              <p:pRg st="7" end="7"/>
                                            </p:txEl>
                                          </p:spTgt>
                                        </p:tgtEl>
                                        <p:attrNameLst>
                                          <p:attrName>style.visibility</p:attrName>
                                        </p:attrNameLst>
                                      </p:cBhvr>
                                      <p:to>
                                        <p:strVal val="visible"/>
                                      </p:to>
                                    </p:set>
                                    <p:animEffect transition="in" filter="fade">
                                      <p:cBhvr>
                                        <p:cTn id="21" dur="500"/>
                                        <p:tgtEl>
                                          <p:spTgt spid="30">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0">
                                            <p:txEl>
                                              <p:pRg st="8" end="8"/>
                                            </p:txEl>
                                          </p:spTgt>
                                        </p:tgtEl>
                                        <p:attrNameLst>
                                          <p:attrName>style.visibility</p:attrName>
                                        </p:attrNameLst>
                                      </p:cBhvr>
                                      <p:to>
                                        <p:strVal val="visible"/>
                                      </p:to>
                                    </p:set>
                                    <p:animEffect transition="in" filter="fade">
                                      <p:cBhvr>
                                        <p:cTn id="24" dur="500"/>
                                        <p:tgtEl>
                                          <p:spTgt spid="30">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0">
                                            <p:txEl>
                                              <p:pRg st="9" end="9"/>
                                            </p:txEl>
                                          </p:spTgt>
                                        </p:tgtEl>
                                        <p:attrNameLst>
                                          <p:attrName>style.visibility</p:attrName>
                                        </p:attrNameLst>
                                      </p:cBhvr>
                                      <p:to>
                                        <p:strVal val="visible"/>
                                      </p:to>
                                    </p:set>
                                    <p:animEffect transition="in" filter="fade">
                                      <p:cBhvr>
                                        <p:cTn id="27" dur="500"/>
                                        <p:tgtEl>
                                          <p:spTgt spid="30">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xEl>
                                              <p:pRg st="11" end="11"/>
                                            </p:txEl>
                                          </p:spTgt>
                                        </p:tgtEl>
                                        <p:attrNameLst>
                                          <p:attrName>style.visibility</p:attrName>
                                        </p:attrNameLst>
                                      </p:cBhvr>
                                      <p:to>
                                        <p:strVal val="visible"/>
                                      </p:to>
                                    </p:set>
                                    <p:animEffect transition="in" filter="fade">
                                      <p:cBhvr>
                                        <p:cTn id="32" dur="500"/>
                                        <p:tgtEl>
                                          <p:spTgt spid="3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Mission Analysis</a:t>
            </a:r>
          </a:p>
        </p:txBody>
      </p:sp>
      <p:sp>
        <p:nvSpPr>
          <p:cNvPr id="30" name="Content Placeholder 1">
            <a:extLst>
              <a:ext uri="{FF2B5EF4-FFF2-40B4-BE49-F238E27FC236}">
                <a16:creationId xmlns:a16="http://schemas.microsoft.com/office/drawing/2014/main" id="{C3115E99-07D9-405E-9C98-85FDD8E6306F}"/>
              </a:ext>
            </a:extLst>
          </p:cNvPr>
          <p:cNvSpPr>
            <a:spLocks noGrp="1"/>
          </p:cNvSpPr>
          <p:nvPr>
            <p:ph idx="1"/>
          </p:nvPr>
        </p:nvSpPr>
        <p:spPr>
          <a:xfrm>
            <a:off x="677337" y="1828800"/>
            <a:ext cx="6847414" cy="4114800"/>
          </a:xfrm>
        </p:spPr>
        <p:txBody>
          <a:bodyPr/>
          <a:lstStyle/>
          <a:p>
            <a:pPr marL="0" indent="0">
              <a:buNone/>
            </a:pPr>
            <a:r>
              <a:rPr lang="en-US" dirty="0"/>
              <a:t>There are two Mission Analysis tools in UNICADO which take two approaches</a:t>
            </a:r>
          </a:p>
          <a:p>
            <a:pPr marL="0" indent="0">
              <a:buNone/>
            </a:pPr>
            <a:endParaRPr lang="en-US" dirty="0"/>
          </a:p>
          <a:p>
            <a:pPr marL="0" indent="0">
              <a:buNone/>
            </a:pPr>
            <a:r>
              <a:rPr lang="en-US" b="1" dirty="0"/>
              <a:t>DEFAULT</a:t>
            </a:r>
            <a:r>
              <a:rPr lang="en-US" dirty="0"/>
              <a:t> Approach</a:t>
            </a:r>
          </a:p>
          <a:p>
            <a:pPr marL="0" indent="0">
              <a:buNone/>
            </a:pPr>
            <a:endParaRPr lang="en-US" b="1" dirty="0"/>
          </a:p>
          <a:p>
            <a:r>
              <a:rPr lang="en-US" dirty="0"/>
              <a:t>Mission is created in detail based on the TLARs and Mission Requirements</a:t>
            </a:r>
          </a:p>
          <a:p>
            <a:endParaRPr lang="en-US" b="1" dirty="0"/>
          </a:p>
          <a:p>
            <a:r>
              <a:rPr lang="en-US" dirty="0"/>
              <a:t>Operating conditions and flight conditions are calculated at each step of the segment</a:t>
            </a:r>
          </a:p>
          <a:p>
            <a:endParaRPr lang="en-US" dirty="0"/>
          </a:p>
          <a:p>
            <a:r>
              <a:rPr lang="en-US" dirty="0"/>
              <a:t>Changes the conditions iteratively until the required end conditions of the steps are reached</a:t>
            </a:r>
          </a:p>
        </p:txBody>
      </p:sp>
      <p:sp>
        <p:nvSpPr>
          <p:cNvPr id="33" name="Content Placeholder 1">
            <a:extLst>
              <a:ext uri="{FF2B5EF4-FFF2-40B4-BE49-F238E27FC236}">
                <a16:creationId xmlns:a16="http://schemas.microsoft.com/office/drawing/2014/main" id="{0B87F278-C81E-49EB-ADEE-E6DBC0AD8DF4}"/>
              </a:ext>
            </a:extLst>
          </p:cNvPr>
          <p:cNvSpPr txBox="1">
            <a:spLocks/>
          </p:cNvSpPr>
          <p:nvPr/>
        </p:nvSpPr>
        <p:spPr bwMode="auto">
          <a:xfrm>
            <a:off x="8162925" y="1828800"/>
            <a:ext cx="3351744" cy="434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60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6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buNone/>
            </a:pPr>
            <a:r>
              <a:rPr lang="en-US" dirty="0"/>
              <a:t>Possible segments:</a:t>
            </a:r>
          </a:p>
          <a:p>
            <a:pPr defTabSz="914400"/>
            <a:r>
              <a:rPr lang="en-US" sz="1400" dirty="0"/>
              <a:t>takeoff</a:t>
            </a:r>
          </a:p>
          <a:p>
            <a:pPr defTabSz="914400"/>
            <a:r>
              <a:rPr lang="en-US" sz="1400" dirty="0"/>
              <a:t>climb</a:t>
            </a:r>
          </a:p>
          <a:p>
            <a:pPr defTabSz="914400"/>
            <a:r>
              <a:rPr lang="en-US" sz="1400" dirty="0" err="1"/>
              <a:t>climb_to_cruise</a:t>
            </a:r>
            <a:endParaRPr lang="en-US" sz="1400" dirty="0"/>
          </a:p>
          <a:p>
            <a:pPr defTabSz="914400"/>
            <a:r>
              <a:rPr lang="en-US" sz="1400" dirty="0" err="1"/>
              <a:t>climb_to_ceiling</a:t>
            </a:r>
            <a:endParaRPr lang="en-US" sz="1400" dirty="0"/>
          </a:p>
          <a:p>
            <a:pPr defTabSz="914400"/>
            <a:r>
              <a:rPr lang="en-US" sz="1400" dirty="0" err="1"/>
              <a:t>change_flight_level_constant_ROC</a:t>
            </a:r>
            <a:endParaRPr lang="en-US" sz="1400" dirty="0"/>
          </a:p>
          <a:p>
            <a:pPr defTabSz="914400"/>
            <a:r>
              <a:rPr lang="en-US" sz="1400" dirty="0"/>
              <a:t>accelerate</a:t>
            </a:r>
          </a:p>
          <a:p>
            <a:pPr defTabSz="914400"/>
            <a:r>
              <a:rPr lang="en-US" sz="1400" dirty="0" err="1"/>
              <a:t>change_speed</a:t>
            </a:r>
            <a:endParaRPr lang="en-US" sz="1400" dirty="0"/>
          </a:p>
          <a:p>
            <a:pPr defTabSz="914400"/>
            <a:r>
              <a:rPr lang="en-US" sz="1400" dirty="0" err="1"/>
              <a:t>change_speed_to_CAS</a:t>
            </a:r>
            <a:endParaRPr lang="en-US" sz="1400" dirty="0"/>
          </a:p>
          <a:p>
            <a:pPr defTabSz="914400"/>
            <a:r>
              <a:rPr lang="en-US" sz="1400" dirty="0" err="1"/>
              <a:t>change_speed_to_Mach</a:t>
            </a:r>
            <a:endParaRPr lang="en-US" sz="1400" dirty="0"/>
          </a:p>
          <a:p>
            <a:pPr defTabSz="914400"/>
            <a:r>
              <a:rPr lang="en-US" sz="1400" dirty="0"/>
              <a:t>cruise</a:t>
            </a:r>
          </a:p>
          <a:p>
            <a:pPr defTabSz="914400"/>
            <a:r>
              <a:rPr lang="en-US" sz="1400" dirty="0" err="1"/>
              <a:t>descend_to_approach</a:t>
            </a:r>
            <a:endParaRPr lang="en-US" sz="1400" dirty="0"/>
          </a:p>
          <a:p>
            <a:pPr defTabSz="914400"/>
            <a:r>
              <a:rPr lang="en-US" sz="1400" dirty="0"/>
              <a:t>descend</a:t>
            </a:r>
          </a:p>
          <a:p>
            <a:pPr defTabSz="914400"/>
            <a:r>
              <a:rPr lang="en-US" sz="1400" dirty="0" err="1"/>
              <a:t>level_glide_slope_interception</a:t>
            </a:r>
            <a:endParaRPr lang="en-US" sz="1400" dirty="0"/>
          </a:p>
          <a:p>
            <a:pPr defTabSz="914400"/>
            <a:r>
              <a:rPr lang="en-US" sz="1400" dirty="0"/>
              <a:t>landing</a:t>
            </a:r>
          </a:p>
          <a:p>
            <a:pPr defTabSz="914400"/>
            <a:endParaRPr lang="en-US" dirty="0"/>
          </a:p>
        </p:txBody>
      </p:sp>
    </p:spTree>
    <p:extLst>
      <p:ext uri="{BB962C8B-B14F-4D97-AF65-F5344CB8AC3E}">
        <p14:creationId xmlns:p14="http://schemas.microsoft.com/office/powerpoint/2010/main" val="41364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Mission Analysis</a:t>
            </a:r>
          </a:p>
        </p:txBody>
      </p:sp>
      <p:grpSp>
        <p:nvGrpSpPr>
          <p:cNvPr id="27" name="Gruppieren 11">
            <a:extLst>
              <a:ext uri="{FF2B5EF4-FFF2-40B4-BE49-F238E27FC236}">
                <a16:creationId xmlns:a16="http://schemas.microsoft.com/office/drawing/2014/main" id="{17DF1267-A106-4F80-A3F4-9B1EE5733E5F}"/>
              </a:ext>
            </a:extLst>
          </p:cNvPr>
          <p:cNvGrpSpPr/>
          <p:nvPr/>
        </p:nvGrpSpPr>
        <p:grpSpPr>
          <a:xfrm>
            <a:off x="8214172" y="2335509"/>
            <a:ext cx="3477963" cy="1850171"/>
            <a:chOff x="4270159" y="1686756"/>
            <a:chExt cx="3471169" cy="1846557"/>
          </a:xfrm>
        </p:grpSpPr>
        <p:cxnSp>
          <p:nvCxnSpPr>
            <p:cNvPr id="28" name="Gerader Verbinder 4">
              <a:extLst>
                <a:ext uri="{FF2B5EF4-FFF2-40B4-BE49-F238E27FC236}">
                  <a16:creationId xmlns:a16="http://schemas.microsoft.com/office/drawing/2014/main" id="{084234D9-93E2-472F-BF4E-9FA46AA7CA7F}"/>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29" name="Gruppieren 10">
              <a:extLst>
                <a:ext uri="{FF2B5EF4-FFF2-40B4-BE49-F238E27FC236}">
                  <a16:creationId xmlns:a16="http://schemas.microsoft.com/office/drawing/2014/main" id="{FB0F1E38-F69A-489A-B796-7F92BEEFB8C6}"/>
                </a:ext>
              </a:extLst>
            </p:cNvPr>
            <p:cNvGrpSpPr/>
            <p:nvPr/>
          </p:nvGrpSpPr>
          <p:grpSpPr>
            <a:xfrm>
              <a:off x="4270159" y="1686756"/>
              <a:ext cx="3471169" cy="1846557"/>
              <a:chOff x="4270159" y="1518082"/>
              <a:chExt cx="3471169" cy="2015232"/>
            </a:xfrm>
          </p:grpSpPr>
          <p:cxnSp>
            <p:nvCxnSpPr>
              <p:cNvPr id="31" name="Gerader Verbinder 6">
                <a:extLst>
                  <a:ext uri="{FF2B5EF4-FFF2-40B4-BE49-F238E27FC236}">
                    <a16:creationId xmlns:a16="http://schemas.microsoft.com/office/drawing/2014/main" id="{BC073B11-ED58-44F6-9E78-66D8C7DF3F86}"/>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32" name="Gerade Verbindung mit Pfeil 8">
                <a:extLst>
                  <a:ext uri="{FF2B5EF4-FFF2-40B4-BE49-F238E27FC236}">
                    <a16:creationId xmlns:a16="http://schemas.microsoft.com/office/drawing/2014/main" id="{1E3AD860-4EDF-4063-A7F8-E843E6113DFA}"/>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3" name="Gruppieren 59">
            <a:extLst>
              <a:ext uri="{FF2B5EF4-FFF2-40B4-BE49-F238E27FC236}">
                <a16:creationId xmlns:a16="http://schemas.microsoft.com/office/drawing/2014/main" id="{10044247-43DC-40EF-9BEF-19708BA1BBA2}"/>
              </a:ext>
            </a:extLst>
          </p:cNvPr>
          <p:cNvGrpSpPr/>
          <p:nvPr/>
        </p:nvGrpSpPr>
        <p:grpSpPr>
          <a:xfrm>
            <a:off x="8214174" y="1810718"/>
            <a:ext cx="3477918" cy="2374959"/>
            <a:chOff x="4270159" y="1686756"/>
            <a:chExt cx="3471169" cy="1846557"/>
          </a:xfrm>
        </p:grpSpPr>
        <p:cxnSp>
          <p:nvCxnSpPr>
            <p:cNvPr id="34" name="Gerader Verbinder 60">
              <a:extLst>
                <a:ext uri="{FF2B5EF4-FFF2-40B4-BE49-F238E27FC236}">
                  <a16:creationId xmlns:a16="http://schemas.microsoft.com/office/drawing/2014/main" id="{43AB0655-EE53-4A3B-9228-C3FCEAD15781}"/>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35" name="Gruppieren 61">
              <a:extLst>
                <a:ext uri="{FF2B5EF4-FFF2-40B4-BE49-F238E27FC236}">
                  <a16:creationId xmlns:a16="http://schemas.microsoft.com/office/drawing/2014/main" id="{B6C70D65-79B3-4208-A19C-86711276EB4A}"/>
                </a:ext>
              </a:extLst>
            </p:cNvPr>
            <p:cNvGrpSpPr/>
            <p:nvPr/>
          </p:nvGrpSpPr>
          <p:grpSpPr>
            <a:xfrm>
              <a:off x="4270159" y="1686756"/>
              <a:ext cx="3471169" cy="1846557"/>
              <a:chOff x="4270159" y="1518082"/>
              <a:chExt cx="3471169" cy="2015232"/>
            </a:xfrm>
          </p:grpSpPr>
          <p:cxnSp>
            <p:nvCxnSpPr>
              <p:cNvPr id="36" name="Gerader Verbinder 62">
                <a:extLst>
                  <a:ext uri="{FF2B5EF4-FFF2-40B4-BE49-F238E27FC236}">
                    <a16:creationId xmlns:a16="http://schemas.microsoft.com/office/drawing/2014/main" id="{2C72AFC2-904D-461A-9E8A-CBFF812D6B93}"/>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37" name="Gerade Verbindung mit Pfeil 63">
                <a:extLst>
                  <a:ext uri="{FF2B5EF4-FFF2-40B4-BE49-F238E27FC236}">
                    <a16:creationId xmlns:a16="http://schemas.microsoft.com/office/drawing/2014/main" id="{0F751E4B-DAE8-4D75-9F8E-D897D2E5A654}"/>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8" name="Gruppieren 64">
            <a:extLst>
              <a:ext uri="{FF2B5EF4-FFF2-40B4-BE49-F238E27FC236}">
                <a16:creationId xmlns:a16="http://schemas.microsoft.com/office/drawing/2014/main" id="{9CE2A47D-E598-4B91-A642-4DAFC479DE55}"/>
              </a:ext>
            </a:extLst>
          </p:cNvPr>
          <p:cNvGrpSpPr/>
          <p:nvPr/>
        </p:nvGrpSpPr>
        <p:grpSpPr>
          <a:xfrm>
            <a:off x="8214172" y="1390793"/>
            <a:ext cx="3477942" cy="2794883"/>
            <a:chOff x="4270159" y="1686756"/>
            <a:chExt cx="3471169" cy="1846557"/>
          </a:xfrm>
        </p:grpSpPr>
        <p:cxnSp>
          <p:nvCxnSpPr>
            <p:cNvPr id="39" name="Gerader Verbinder 65">
              <a:extLst>
                <a:ext uri="{FF2B5EF4-FFF2-40B4-BE49-F238E27FC236}">
                  <a16:creationId xmlns:a16="http://schemas.microsoft.com/office/drawing/2014/main" id="{E6BD7642-55F6-4496-B1A2-AF88D020CA01}"/>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40" name="Gruppieren 66">
              <a:extLst>
                <a:ext uri="{FF2B5EF4-FFF2-40B4-BE49-F238E27FC236}">
                  <a16:creationId xmlns:a16="http://schemas.microsoft.com/office/drawing/2014/main" id="{52065235-D386-4111-93A8-ADDDDC34A420}"/>
                </a:ext>
              </a:extLst>
            </p:cNvPr>
            <p:cNvGrpSpPr/>
            <p:nvPr/>
          </p:nvGrpSpPr>
          <p:grpSpPr>
            <a:xfrm>
              <a:off x="4270159" y="1686756"/>
              <a:ext cx="3471169" cy="1846557"/>
              <a:chOff x="4270159" y="1518082"/>
              <a:chExt cx="3471169" cy="2015232"/>
            </a:xfrm>
          </p:grpSpPr>
          <p:cxnSp>
            <p:nvCxnSpPr>
              <p:cNvPr id="41" name="Gerader Verbinder 67">
                <a:extLst>
                  <a:ext uri="{FF2B5EF4-FFF2-40B4-BE49-F238E27FC236}">
                    <a16:creationId xmlns:a16="http://schemas.microsoft.com/office/drawing/2014/main" id="{8F08DC46-089B-4106-B1AD-C77F97426931}"/>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42" name="Gerade Verbindung mit Pfeil 68">
                <a:extLst>
                  <a:ext uri="{FF2B5EF4-FFF2-40B4-BE49-F238E27FC236}">
                    <a16:creationId xmlns:a16="http://schemas.microsoft.com/office/drawing/2014/main" id="{F770B636-469B-48C1-95A1-F4E8BD69A653}"/>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43" name="Gruppieren 69">
            <a:extLst>
              <a:ext uri="{FF2B5EF4-FFF2-40B4-BE49-F238E27FC236}">
                <a16:creationId xmlns:a16="http://schemas.microsoft.com/office/drawing/2014/main" id="{8E1AA30A-CE31-4923-B34F-86F6CE8E88C4}"/>
              </a:ext>
            </a:extLst>
          </p:cNvPr>
          <p:cNvGrpSpPr/>
          <p:nvPr/>
        </p:nvGrpSpPr>
        <p:grpSpPr>
          <a:xfrm>
            <a:off x="8214161" y="1650370"/>
            <a:ext cx="3477899" cy="2535305"/>
            <a:chOff x="4270159" y="1686756"/>
            <a:chExt cx="3471169" cy="1846557"/>
          </a:xfrm>
        </p:grpSpPr>
        <p:cxnSp>
          <p:nvCxnSpPr>
            <p:cNvPr id="44" name="Gerader Verbinder 70">
              <a:extLst>
                <a:ext uri="{FF2B5EF4-FFF2-40B4-BE49-F238E27FC236}">
                  <a16:creationId xmlns:a16="http://schemas.microsoft.com/office/drawing/2014/main" id="{08EAAE43-9F87-4D4F-90FC-6D2F7D21B032}"/>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45" name="Gruppieren 71">
              <a:extLst>
                <a:ext uri="{FF2B5EF4-FFF2-40B4-BE49-F238E27FC236}">
                  <a16:creationId xmlns:a16="http://schemas.microsoft.com/office/drawing/2014/main" id="{ABEDE202-BDC3-4D98-A603-7FE0C3EE9BD7}"/>
                </a:ext>
              </a:extLst>
            </p:cNvPr>
            <p:cNvGrpSpPr/>
            <p:nvPr/>
          </p:nvGrpSpPr>
          <p:grpSpPr>
            <a:xfrm>
              <a:off x="4270159" y="1686756"/>
              <a:ext cx="3471169" cy="1846557"/>
              <a:chOff x="4270159" y="1518082"/>
              <a:chExt cx="3471169" cy="2015232"/>
            </a:xfrm>
          </p:grpSpPr>
          <p:cxnSp>
            <p:nvCxnSpPr>
              <p:cNvPr id="46" name="Gerader Verbinder 72">
                <a:extLst>
                  <a:ext uri="{FF2B5EF4-FFF2-40B4-BE49-F238E27FC236}">
                    <a16:creationId xmlns:a16="http://schemas.microsoft.com/office/drawing/2014/main" id="{105F18D3-8682-405B-B5A9-DEBC69DBCC01}"/>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47" name="Gerade Verbindung mit Pfeil 73">
                <a:extLst>
                  <a:ext uri="{FF2B5EF4-FFF2-40B4-BE49-F238E27FC236}">
                    <a16:creationId xmlns:a16="http://schemas.microsoft.com/office/drawing/2014/main" id="{175C6F85-E53E-4C71-83B4-99164AAC61BC}"/>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48" name="Gruppieren 74">
            <a:extLst>
              <a:ext uri="{FF2B5EF4-FFF2-40B4-BE49-F238E27FC236}">
                <a16:creationId xmlns:a16="http://schemas.microsoft.com/office/drawing/2014/main" id="{883F9961-85F2-4BE7-B7E6-293C99236EE5}"/>
              </a:ext>
            </a:extLst>
          </p:cNvPr>
          <p:cNvGrpSpPr/>
          <p:nvPr/>
        </p:nvGrpSpPr>
        <p:grpSpPr>
          <a:xfrm>
            <a:off x="8214130" y="1520580"/>
            <a:ext cx="3477868" cy="2665096"/>
            <a:chOff x="4270159" y="1686756"/>
            <a:chExt cx="3471169" cy="1846557"/>
          </a:xfrm>
        </p:grpSpPr>
        <p:cxnSp>
          <p:nvCxnSpPr>
            <p:cNvPr id="49" name="Gerader Verbinder 75">
              <a:extLst>
                <a:ext uri="{FF2B5EF4-FFF2-40B4-BE49-F238E27FC236}">
                  <a16:creationId xmlns:a16="http://schemas.microsoft.com/office/drawing/2014/main" id="{2309E363-B53B-4BDF-8C68-C5820234269B}"/>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50" name="Gruppieren 76">
              <a:extLst>
                <a:ext uri="{FF2B5EF4-FFF2-40B4-BE49-F238E27FC236}">
                  <a16:creationId xmlns:a16="http://schemas.microsoft.com/office/drawing/2014/main" id="{D445A73A-04FD-44F7-BB29-9A0CD9D8D8EA}"/>
                </a:ext>
              </a:extLst>
            </p:cNvPr>
            <p:cNvGrpSpPr/>
            <p:nvPr/>
          </p:nvGrpSpPr>
          <p:grpSpPr>
            <a:xfrm>
              <a:off x="4270159" y="1686756"/>
              <a:ext cx="3471169" cy="1846557"/>
              <a:chOff x="4270159" y="1518082"/>
              <a:chExt cx="3471169" cy="2015232"/>
            </a:xfrm>
          </p:grpSpPr>
          <p:cxnSp>
            <p:nvCxnSpPr>
              <p:cNvPr id="51" name="Gerader Verbinder 77">
                <a:extLst>
                  <a:ext uri="{FF2B5EF4-FFF2-40B4-BE49-F238E27FC236}">
                    <a16:creationId xmlns:a16="http://schemas.microsoft.com/office/drawing/2014/main" id="{B1CF9268-B842-4D6D-81BE-519B7B4B5772}"/>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52" name="Gerade Verbindung mit Pfeil 78">
                <a:extLst>
                  <a:ext uri="{FF2B5EF4-FFF2-40B4-BE49-F238E27FC236}">
                    <a16:creationId xmlns:a16="http://schemas.microsoft.com/office/drawing/2014/main" id="{52989224-37AB-4104-A49A-DAC466E94C6F}"/>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3" name="Gruppieren 79">
            <a:extLst>
              <a:ext uri="{FF2B5EF4-FFF2-40B4-BE49-F238E27FC236}">
                <a16:creationId xmlns:a16="http://schemas.microsoft.com/office/drawing/2014/main" id="{5BF26A53-FAE4-469A-B63E-33313A2BF55F}"/>
              </a:ext>
            </a:extLst>
          </p:cNvPr>
          <p:cNvGrpSpPr/>
          <p:nvPr/>
        </p:nvGrpSpPr>
        <p:grpSpPr>
          <a:xfrm>
            <a:off x="8214130" y="1612199"/>
            <a:ext cx="3477868" cy="2573476"/>
            <a:chOff x="4270159" y="1686756"/>
            <a:chExt cx="3471169" cy="1846557"/>
          </a:xfrm>
        </p:grpSpPr>
        <p:cxnSp>
          <p:nvCxnSpPr>
            <p:cNvPr id="54" name="Gerader Verbinder 80">
              <a:extLst>
                <a:ext uri="{FF2B5EF4-FFF2-40B4-BE49-F238E27FC236}">
                  <a16:creationId xmlns:a16="http://schemas.microsoft.com/office/drawing/2014/main" id="{64499DE5-B3D8-4B24-ABC6-DF637A794F4A}"/>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55" name="Gruppieren 81">
              <a:extLst>
                <a:ext uri="{FF2B5EF4-FFF2-40B4-BE49-F238E27FC236}">
                  <a16:creationId xmlns:a16="http://schemas.microsoft.com/office/drawing/2014/main" id="{BD410070-0CA5-4B20-9117-4FE094790184}"/>
                </a:ext>
              </a:extLst>
            </p:cNvPr>
            <p:cNvGrpSpPr/>
            <p:nvPr/>
          </p:nvGrpSpPr>
          <p:grpSpPr>
            <a:xfrm>
              <a:off x="4270159" y="1686756"/>
              <a:ext cx="3471169" cy="1846557"/>
              <a:chOff x="4270159" y="1518082"/>
              <a:chExt cx="3471169" cy="2015232"/>
            </a:xfrm>
          </p:grpSpPr>
          <p:cxnSp>
            <p:nvCxnSpPr>
              <p:cNvPr id="56" name="Gerader Verbinder 82">
                <a:extLst>
                  <a:ext uri="{FF2B5EF4-FFF2-40B4-BE49-F238E27FC236}">
                    <a16:creationId xmlns:a16="http://schemas.microsoft.com/office/drawing/2014/main" id="{5F01B738-F585-4E1D-8EFF-9AA9A90E054F}"/>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57" name="Gerade Verbindung mit Pfeil 83">
                <a:extLst>
                  <a:ext uri="{FF2B5EF4-FFF2-40B4-BE49-F238E27FC236}">
                    <a16:creationId xmlns:a16="http://schemas.microsoft.com/office/drawing/2014/main" id="{A2D4D011-55BB-43FD-8AB5-DF0BC1538F7A}"/>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8" name="Gruppieren 84">
            <a:extLst>
              <a:ext uri="{FF2B5EF4-FFF2-40B4-BE49-F238E27FC236}">
                <a16:creationId xmlns:a16="http://schemas.microsoft.com/office/drawing/2014/main" id="{8907F149-B66A-4205-8913-843089460581}"/>
              </a:ext>
            </a:extLst>
          </p:cNvPr>
          <p:cNvGrpSpPr/>
          <p:nvPr/>
        </p:nvGrpSpPr>
        <p:grpSpPr>
          <a:xfrm>
            <a:off x="8214011" y="1596935"/>
            <a:ext cx="3477865" cy="2588737"/>
            <a:chOff x="4270159" y="1686756"/>
            <a:chExt cx="3471169" cy="1846557"/>
          </a:xfrm>
        </p:grpSpPr>
        <p:cxnSp>
          <p:nvCxnSpPr>
            <p:cNvPr id="59" name="Gerader Verbinder 85">
              <a:extLst>
                <a:ext uri="{FF2B5EF4-FFF2-40B4-BE49-F238E27FC236}">
                  <a16:creationId xmlns:a16="http://schemas.microsoft.com/office/drawing/2014/main" id="{7DF21DB7-0718-4BAE-8990-322EFD71160B}"/>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60" name="Gruppieren 86">
              <a:extLst>
                <a:ext uri="{FF2B5EF4-FFF2-40B4-BE49-F238E27FC236}">
                  <a16:creationId xmlns:a16="http://schemas.microsoft.com/office/drawing/2014/main" id="{6A25DAE8-C41F-46D6-91D0-E8BC5D3FDD73}"/>
                </a:ext>
              </a:extLst>
            </p:cNvPr>
            <p:cNvGrpSpPr/>
            <p:nvPr/>
          </p:nvGrpSpPr>
          <p:grpSpPr>
            <a:xfrm>
              <a:off x="4270159" y="1686756"/>
              <a:ext cx="3471169" cy="1846557"/>
              <a:chOff x="4270159" y="1518082"/>
              <a:chExt cx="3471169" cy="2015232"/>
            </a:xfrm>
          </p:grpSpPr>
          <p:cxnSp>
            <p:nvCxnSpPr>
              <p:cNvPr id="61" name="Gerader Verbinder 87">
                <a:extLst>
                  <a:ext uri="{FF2B5EF4-FFF2-40B4-BE49-F238E27FC236}">
                    <a16:creationId xmlns:a16="http://schemas.microsoft.com/office/drawing/2014/main" id="{58291883-2034-42F1-AD43-B0BC9EB5EC86}"/>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62" name="Gerade Verbindung mit Pfeil 88">
                <a:extLst>
                  <a:ext uri="{FF2B5EF4-FFF2-40B4-BE49-F238E27FC236}">
                    <a16:creationId xmlns:a16="http://schemas.microsoft.com/office/drawing/2014/main" id="{28559E03-3C20-40F6-B676-8C2C52B9EFD6}"/>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3" name="Gruppieren 89">
            <a:extLst>
              <a:ext uri="{FF2B5EF4-FFF2-40B4-BE49-F238E27FC236}">
                <a16:creationId xmlns:a16="http://schemas.microsoft.com/office/drawing/2014/main" id="{4D5C970F-F74F-44FC-A6A0-FC63AEAF7C13}"/>
              </a:ext>
            </a:extLst>
          </p:cNvPr>
          <p:cNvGrpSpPr/>
          <p:nvPr/>
        </p:nvGrpSpPr>
        <p:grpSpPr>
          <a:xfrm>
            <a:off x="8213892" y="1617926"/>
            <a:ext cx="3478113" cy="2567744"/>
            <a:chOff x="4270159" y="1686756"/>
            <a:chExt cx="3471169" cy="1846557"/>
          </a:xfrm>
        </p:grpSpPr>
        <p:cxnSp>
          <p:nvCxnSpPr>
            <p:cNvPr id="64" name="Gerader Verbinder 90">
              <a:extLst>
                <a:ext uri="{FF2B5EF4-FFF2-40B4-BE49-F238E27FC236}">
                  <a16:creationId xmlns:a16="http://schemas.microsoft.com/office/drawing/2014/main" id="{221BF033-7AB9-4980-8088-2B4F98630263}"/>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65" name="Gruppieren 91">
              <a:extLst>
                <a:ext uri="{FF2B5EF4-FFF2-40B4-BE49-F238E27FC236}">
                  <a16:creationId xmlns:a16="http://schemas.microsoft.com/office/drawing/2014/main" id="{55362BD2-129C-4FF2-9C54-E4801D19D525}"/>
                </a:ext>
              </a:extLst>
            </p:cNvPr>
            <p:cNvGrpSpPr/>
            <p:nvPr/>
          </p:nvGrpSpPr>
          <p:grpSpPr>
            <a:xfrm>
              <a:off x="4270159" y="1686756"/>
              <a:ext cx="3471169" cy="1846557"/>
              <a:chOff x="4270159" y="1518082"/>
              <a:chExt cx="3471169" cy="2015232"/>
            </a:xfrm>
          </p:grpSpPr>
          <p:cxnSp>
            <p:nvCxnSpPr>
              <p:cNvPr id="66" name="Gerader Verbinder 92">
                <a:extLst>
                  <a:ext uri="{FF2B5EF4-FFF2-40B4-BE49-F238E27FC236}">
                    <a16:creationId xmlns:a16="http://schemas.microsoft.com/office/drawing/2014/main" id="{4A72EE4D-5170-485B-8FCC-2A229E7EABD6}"/>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67" name="Gerade Verbindung mit Pfeil 93">
                <a:extLst>
                  <a:ext uri="{FF2B5EF4-FFF2-40B4-BE49-F238E27FC236}">
                    <a16:creationId xmlns:a16="http://schemas.microsoft.com/office/drawing/2014/main" id="{272FAD9E-543E-437D-B0BE-4D0C6EF799DD}"/>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8" name="Gruppieren 94">
            <a:extLst>
              <a:ext uri="{FF2B5EF4-FFF2-40B4-BE49-F238E27FC236}">
                <a16:creationId xmlns:a16="http://schemas.microsoft.com/office/drawing/2014/main" id="{3FD9332A-D8E8-478C-BBC2-C601369FEBFC}"/>
              </a:ext>
            </a:extLst>
          </p:cNvPr>
          <p:cNvGrpSpPr/>
          <p:nvPr/>
        </p:nvGrpSpPr>
        <p:grpSpPr>
          <a:xfrm>
            <a:off x="8214038" y="1617913"/>
            <a:ext cx="3477842" cy="2562201"/>
            <a:chOff x="4270159" y="1686756"/>
            <a:chExt cx="3471169" cy="1846557"/>
          </a:xfrm>
        </p:grpSpPr>
        <p:cxnSp>
          <p:nvCxnSpPr>
            <p:cNvPr id="69" name="Gerader Verbinder 95">
              <a:extLst>
                <a:ext uri="{FF2B5EF4-FFF2-40B4-BE49-F238E27FC236}">
                  <a16:creationId xmlns:a16="http://schemas.microsoft.com/office/drawing/2014/main" id="{52600228-C900-466C-A479-BB87CB49DA51}"/>
                </a:ext>
              </a:extLst>
            </p:cNvPr>
            <p:cNvCxnSpPr/>
            <p:nvPr/>
          </p:nvCxnSpPr>
          <p:spPr>
            <a:xfrm>
              <a:off x="4270159" y="3533313"/>
              <a:ext cx="3471169" cy="0"/>
            </a:xfrm>
            <a:prstGeom prst="line">
              <a:avLst/>
            </a:prstGeom>
            <a:ln w="38100"/>
          </p:spPr>
          <p:style>
            <a:lnRef idx="3">
              <a:schemeClr val="dk1"/>
            </a:lnRef>
            <a:fillRef idx="0">
              <a:schemeClr val="dk1"/>
            </a:fillRef>
            <a:effectRef idx="2">
              <a:schemeClr val="dk1"/>
            </a:effectRef>
            <a:fontRef idx="minor">
              <a:schemeClr val="tx1"/>
            </a:fontRef>
          </p:style>
        </p:cxnSp>
        <p:grpSp>
          <p:nvGrpSpPr>
            <p:cNvPr id="70" name="Gruppieren 96">
              <a:extLst>
                <a:ext uri="{FF2B5EF4-FFF2-40B4-BE49-F238E27FC236}">
                  <a16:creationId xmlns:a16="http://schemas.microsoft.com/office/drawing/2014/main" id="{561F4B2E-B7A6-467D-A969-339A9CF42B03}"/>
                </a:ext>
              </a:extLst>
            </p:cNvPr>
            <p:cNvGrpSpPr/>
            <p:nvPr/>
          </p:nvGrpSpPr>
          <p:grpSpPr>
            <a:xfrm>
              <a:off x="4270159" y="1686756"/>
              <a:ext cx="3471169" cy="1846557"/>
              <a:chOff x="4270159" y="1518082"/>
              <a:chExt cx="3471169" cy="2015232"/>
            </a:xfrm>
          </p:grpSpPr>
          <p:cxnSp>
            <p:nvCxnSpPr>
              <p:cNvPr id="71" name="Gerader Verbinder 97">
                <a:extLst>
                  <a:ext uri="{FF2B5EF4-FFF2-40B4-BE49-F238E27FC236}">
                    <a16:creationId xmlns:a16="http://schemas.microsoft.com/office/drawing/2014/main" id="{8AFD4F0B-E9B7-4B7A-BFF8-E3FB6D5C26A3}"/>
                  </a:ext>
                </a:extLst>
              </p:cNvPr>
              <p:cNvCxnSpPr/>
              <p:nvPr/>
            </p:nvCxnSpPr>
            <p:spPr>
              <a:xfrm flipV="1">
                <a:off x="7741328" y="1518082"/>
                <a:ext cx="0" cy="2015231"/>
              </a:xfrm>
              <a:prstGeom prst="line">
                <a:avLst/>
              </a:prstGeom>
              <a:ln w="38100"/>
            </p:spPr>
            <p:style>
              <a:lnRef idx="1">
                <a:schemeClr val="dk1"/>
              </a:lnRef>
              <a:fillRef idx="0">
                <a:schemeClr val="dk1"/>
              </a:fillRef>
              <a:effectRef idx="0">
                <a:schemeClr val="dk1"/>
              </a:effectRef>
              <a:fontRef idx="minor">
                <a:schemeClr val="tx1"/>
              </a:fontRef>
            </p:style>
          </p:cxnSp>
          <p:cxnSp>
            <p:nvCxnSpPr>
              <p:cNvPr id="72" name="Gerade Verbindung mit Pfeil 98">
                <a:extLst>
                  <a:ext uri="{FF2B5EF4-FFF2-40B4-BE49-F238E27FC236}">
                    <a16:creationId xmlns:a16="http://schemas.microsoft.com/office/drawing/2014/main" id="{8228B90C-7B5F-4B3E-A8BF-BF3621D10A9C}"/>
                  </a:ext>
                </a:extLst>
              </p:cNvPr>
              <p:cNvCxnSpPr>
                <a:cxnSpLocks/>
              </p:cNvCxnSpPr>
              <p:nvPr/>
            </p:nvCxnSpPr>
            <p:spPr>
              <a:xfrm flipV="1">
                <a:off x="4270159" y="1518082"/>
                <a:ext cx="3471169" cy="20152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pic>
        <p:nvPicPr>
          <p:cNvPr id="73" name="Grafik 102">
            <a:extLst>
              <a:ext uri="{FF2B5EF4-FFF2-40B4-BE49-F238E27FC236}">
                <a16:creationId xmlns:a16="http://schemas.microsoft.com/office/drawing/2014/main" id="{F5159CBF-793A-4A20-A25D-7849358D3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28" y="1810718"/>
            <a:ext cx="8694256" cy="1717857"/>
          </a:xfrm>
          <a:prstGeom prst="rect">
            <a:avLst/>
          </a:prstGeom>
        </p:spPr>
      </p:pic>
      <p:sp>
        <p:nvSpPr>
          <p:cNvPr id="74" name="Ellipse 103">
            <a:extLst>
              <a:ext uri="{FF2B5EF4-FFF2-40B4-BE49-F238E27FC236}">
                <a16:creationId xmlns:a16="http://schemas.microsoft.com/office/drawing/2014/main" id="{FE87B205-53ED-4F65-8191-563082A6AEDF}"/>
              </a:ext>
            </a:extLst>
          </p:cNvPr>
          <p:cNvSpPr/>
          <p:nvPr/>
        </p:nvSpPr>
        <p:spPr>
          <a:xfrm>
            <a:off x="2287705" y="2163975"/>
            <a:ext cx="1832380" cy="885651"/>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sz="1804"/>
          </a:p>
        </p:txBody>
      </p:sp>
      <p:sp>
        <p:nvSpPr>
          <p:cNvPr id="75" name="Ellipse 104">
            <a:extLst>
              <a:ext uri="{FF2B5EF4-FFF2-40B4-BE49-F238E27FC236}">
                <a16:creationId xmlns:a16="http://schemas.microsoft.com/office/drawing/2014/main" id="{C6A553E6-1127-47B8-B4D2-842EACFDBDF1}"/>
              </a:ext>
            </a:extLst>
          </p:cNvPr>
          <p:cNvSpPr/>
          <p:nvPr/>
        </p:nvSpPr>
        <p:spPr>
          <a:xfrm>
            <a:off x="4221883" y="2163975"/>
            <a:ext cx="2870727" cy="885651"/>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sz="1804"/>
          </a:p>
        </p:txBody>
      </p:sp>
      <p:sp>
        <p:nvSpPr>
          <p:cNvPr id="76" name="Ellipse 105">
            <a:extLst>
              <a:ext uri="{FF2B5EF4-FFF2-40B4-BE49-F238E27FC236}">
                <a16:creationId xmlns:a16="http://schemas.microsoft.com/office/drawing/2014/main" id="{712087F1-DE53-45AF-AAB0-00F10F2F9E46}"/>
              </a:ext>
            </a:extLst>
          </p:cNvPr>
          <p:cNvSpPr/>
          <p:nvPr/>
        </p:nvSpPr>
        <p:spPr>
          <a:xfrm>
            <a:off x="821800" y="2163975"/>
            <a:ext cx="1364105" cy="885651"/>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sz="1804"/>
          </a:p>
        </p:txBody>
      </p:sp>
      <p:pic>
        <p:nvPicPr>
          <p:cNvPr id="77" name="Grafik 107" descr="Häkchen mit einfarbiger Füllung">
            <a:extLst>
              <a:ext uri="{FF2B5EF4-FFF2-40B4-BE49-F238E27FC236}">
                <a16:creationId xmlns:a16="http://schemas.microsoft.com/office/drawing/2014/main" id="{A38FC155-33C3-4051-8473-FD6E818226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13782" y="2082009"/>
            <a:ext cx="916188" cy="916188"/>
          </a:xfrm>
          <a:prstGeom prst="rect">
            <a:avLst/>
          </a:prstGeom>
        </p:spPr>
      </p:pic>
      <p:pic>
        <p:nvPicPr>
          <p:cNvPr id="78" name="Grafik 109" descr="Schließen mit einfarbiger Füllung">
            <a:extLst>
              <a:ext uri="{FF2B5EF4-FFF2-40B4-BE49-F238E27FC236}">
                <a16:creationId xmlns:a16="http://schemas.microsoft.com/office/drawing/2014/main" id="{9BA81E3C-D626-43E2-ADF4-3EBAF1E3B1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94195" y="2114457"/>
            <a:ext cx="916188" cy="916188"/>
          </a:xfrm>
          <a:prstGeom prst="rect">
            <a:avLst/>
          </a:prstGeom>
        </p:spPr>
      </p:pic>
      <p:sp>
        <p:nvSpPr>
          <p:cNvPr id="79" name="Textfeld 110">
            <a:extLst>
              <a:ext uri="{FF2B5EF4-FFF2-40B4-BE49-F238E27FC236}">
                <a16:creationId xmlns:a16="http://schemas.microsoft.com/office/drawing/2014/main" id="{9F223C82-FA9D-409F-BC6B-6F6D011EC507}"/>
              </a:ext>
            </a:extLst>
          </p:cNvPr>
          <p:cNvSpPr txBox="1"/>
          <p:nvPr/>
        </p:nvSpPr>
        <p:spPr>
          <a:xfrm>
            <a:off x="11691761" y="2891305"/>
            <a:ext cx="500242" cy="370697"/>
          </a:xfrm>
          <a:prstGeom prst="rect">
            <a:avLst/>
          </a:prstGeom>
          <a:noFill/>
        </p:spPr>
        <p:txBody>
          <a:bodyPr wrap="square" rtlCol="0">
            <a:spAutoFit/>
          </a:bodyPr>
          <a:lstStyle/>
          <a:p>
            <a:r>
              <a:rPr lang="el-GR" sz="1804" dirty="0"/>
              <a:t>Δ</a:t>
            </a:r>
            <a:r>
              <a:rPr lang="de-DE" sz="1804" dirty="0"/>
              <a:t>h</a:t>
            </a:r>
          </a:p>
        </p:txBody>
      </p:sp>
      <p:sp>
        <p:nvSpPr>
          <p:cNvPr id="80" name="Ellipse 111">
            <a:extLst>
              <a:ext uri="{FF2B5EF4-FFF2-40B4-BE49-F238E27FC236}">
                <a16:creationId xmlns:a16="http://schemas.microsoft.com/office/drawing/2014/main" id="{3A704CE8-7838-4AB3-8107-088160501863}"/>
              </a:ext>
            </a:extLst>
          </p:cNvPr>
          <p:cNvSpPr/>
          <p:nvPr/>
        </p:nvSpPr>
        <p:spPr>
          <a:xfrm>
            <a:off x="7915256" y="3222379"/>
            <a:ext cx="513234" cy="409771"/>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sz="1804"/>
          </a:p>
        </p:txBody>
      </p:sp>
      <p:sp>
        <p:nvSpPr>
          <p:cNvPr id="81" name="Ellipse 112">
            <a:extLst>
              <a:ext uri="{FF2B5EF4-FFF2-40B4-BE49-F238E27FC236}">
                <a16:creationId xmlns:a16="http://schemas.microsoft.com/office/drawing/2014/main" id="{DCF2B5EC-60D4-40D7-B115-8000DB41CD17}"/>
              </a:ext>
            </a:extLst>
          </p:cNvPr>
          <p:cNvSpPr/>
          <p:nvPr/>
        </p:nvSpPr>
        <p:spPr>
          <a:xfrm>
            <a:off x="190555" y="2401912"/>
            <a:ext cx="513234" cy="409771"/>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sz="1804"/>
          </a:p>
        </p:txBody>
      </p:sp>
      <p:sp>
        <p:nvSpPr>
          <p:cNvPr id="82" name="Content Placeholder 1">
            <a:extLst>
              <a:ext uri="{FF2B5EF4-FFF2-40B4-BE49-F238E27FC236}">
                <a16:creationId xmlns:a16="http://schemas.microsoft.com/office/drawing/2014/main" id="{89E40E7A-C160-4DC5-83C7-27589F5C8732}"/>
              </a:ext>
            </a:extLst>
          </p:cNvPr>
          <p:cNvSpPr txBox="1">
            <a:spLocks/>
          </p:cNvSpPr>
          <p:nvPr/>
        </p:nvSpPr>
        <p:spPr>
          <a:xfrm>
            <a:off x="677337" y="4420352"/>
            <a:ext cx="11014796" cy="1361324"/>
          </a:xfrm>
          <a:prstGeom prst="rect">
            <a:avLst/>
          </a:prstGeom>
        </p:spPr>
        <p:txBody>
          <a:bodyPr/>
          <a:lstStyle>
            <a:lvl1pPr algn="l" rtl="0" eaLnBrk="1" fontAlgn="base" hangingPunct="1">
              <a:lnSpc>
                <a:spcPct val="125000"/>
              </a:lnSpc>
              <a:spcBef>
                <a:spcPct val="0"/>
              </a:spcBef>
              <a:spcAft>
                <a:spcPct val="0"/>
              </a:spcAft>
              <a:defRPr sz="1500" kern="1200">
                <a:solidFill>
                  <a:schemeClr val="tx1"/>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defTabSz="914400"/>
            <a:r>
              <a:rPr lang="en-US" sz="1600" dirty="0"/>
              <a:t>What happens if the aircraft does not have enough Specific Excess Power at the current iteration?</a:t>
            </a:r>
          </a:p>
          <a:p>
            <a:pPr marL="285750" indent="-285750" defTabSz="914400">
              <a:buFontTx/>
              <a:buChar char="-"/>
            </a:pPr>
            <a:r>
              <a:rPr lang="en-US" sz="1600" dirty="0"/>
              <a:t>It gets stuck in the loop</a:t>
            </a:r>
          </a:p>
          <a:p>
            <a:pPr defTabSz="914400"/>
            <a:endParaRPr lang="en-US" sz="1600" dirty="0"/>
          </a:p>
          <a:p>
            <a:pPr defTabSz="914400"/>
            <a:r>
              <a:rPr lang="en-US" sz="1600" dirty="0"/>
              <a:t>This mode assumes that the aircraft CAN FULFILL all requirements</a:t>
            </a:r>
          </a:p>
        </p:txBody>
      </p:sp>
    </p:spTree>
    <p:extLst>
      <p:ext uri="{BB962C8B-B14F-4D97-AF65-F5344CB8AC3E}">
        <p14:creationId xmlns:p14="http://schemas.microsoft.com/office/powerpoint/2010/main" val="24136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1" nodeType="afterEffect">
                                  <p:stCondLst>
                                    <p:cond delay="500"/>
                                  </p:stCondLst>
                                  <p:childTnLst>
                                    <p:set>
                                      <p:cBhvr>
                                        <p:cTn id="9" dur="1" fill="hold">
                                          <p:stCondLst>
                                            <p:cond delay="0"/>
                                          </p:stCondLst>
                                        </p:cTn>
                                        <p:tgtEl>
                                          <p:spTgt spid="81"/>
                                        </p:tgtEl>
                                        <p:attrNameLst>
                                          <p:attrName>style.visibility</p:attrName>
                                        </p:attrNameLst>
                                      </p:cBhvr>
                                      <p:to>
                                        <p:strVal val="hidden"/>
                                      </p:to>
                                    </p:set>
                                  </p:childTnLst>
                                </p:cTn>
                              </p:par>
                              <p:par>
                                <p:cTn id="10" presetID="1" presetClass="entr" presetSubtype="0" fill="hold" grpId="0" nodeType="withEffect">
                                  <p:stCondLst>
                                    <p:cond delay="500"/>
                                  </p:stCondLst>
                                  <p:childTnLst>
                                    <p:set>
                                      <p:cBhvr>
                                        <p:cTn id="11" dur="1" fill="hold">
                                          <p:stCondLst>
                                            <p:cond delay="0"/>
                                          </p:stCondLst>
                                        </p:cTn>
                                        <p:tgtEl>
                                          <p:spTgt spid="76"/>
                                        </p:tgtEl>
                                        <p:attrNameLst>
                                          <p:attrName>style.visibility</p:attrName>
                                        </p:attrNameLst>
                                      </p:cBhvr>
                                      <p:to>
                                        <p:strVal val="visible"/>
                                      </p:to>
                                    </p:set>
                                  </p:childTnLst>
                                </p:cTn>
                              </p:par>
                            </p:childTnLst>
                          </p:cTn>
                        </p:par>
                        <p:par>
                          <p:cTn id="12" fill="hold">
                            <p:stCondLst>
                              <p:cond delay="500"/>
                            </p:stCondLst>
                            <p:childTnLst>
                              <p:par>
                                <p:cTn id="13" presetID="1" presetClass="exit" presetSubtype="0" fill="hold" grpId="1" nodeType="afterEffect">
                                  <p:stCondLst>
                                    <p:cond delay="500"/>
                                  </p:stCondLst>
                                  <p:childTnLst>
                                    <p:set>
                                      <p:cBhvr>
                                        <p:cTn id="14" dur="1" fill="hold">
                                          <p:stCondLst>
                                            <p:cond delay="0"/>
                                          </p:stCondLst>
                                        </p:cTn>
                                        <p:tgtEl>
                                          <p:spTgt spid="76"/>
                                        </p:tgtEl>
                                        <p:attrNameLst>
                                          <p:attrName>style.visibility</p:attrName>
                                        </p:attrNameLst>
                                      </p:cBhvr>
                                      <p:to>
                                        <p:strVal val="hidden"/>
                                      </p:to>
                                    </p:set>
                                  </p:childTnLst>
                                </p:cTn>
                              </p:par>
                              <p:par>
                                <p:cTn id="15" presetID="1" presetClass="entr" presetSubtype="0" fill="hold" grpId="0" nodeType="withEffect">
                                  <p:stCondLst>
                                    <p:cond delay="50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50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nodeType="withEffect">
                                  <p:stCondLst>
                                    <p:cond delay="500"/>
                                  </p:stCondLst>
                                  <p:childTnLst>
                                    <p:set>
                                      <p:cBhvr>
                                        <p:cTn id="20" dur="1" fill="hold">
                                          <p:stCondLst>
                                            <p:cond delay="0"/>
                                          </p:stCondLst>
                                        </p:cTn>
                                        <p:tgtEl>
                                          <p:spTgt spid="27"/>
                                        </p:tgtEl>
                                        <p:attrNameLst>
                                          <p:attrName>style.visibility</p:attrName>
                                        </p:attrNameLst>
                                      </p:cBhvr>
                                      <p:to>
                                        <p:strVal val="visible"/>
                                      </p:to>
                                    </p:set>
                                  </p:childTnLst>
                                </p:cTn>
                              </p:par>
                            </p:childTnLst>
                          </p:cTn>
                        </p:par>
                        <p:par>
                          <p:cTn id="21" fill="hold">
                            <p:stCondLst>
                              <p:cond delay="1000"/>
                            </p:stCondLst>
                            <p:childTnLst>
                              <p:par>
                                <p:cTn id="22" presetID="1" presetClass="exit" presetSubtype="0" fill="hold" grpId="1" nodeType="afterEffect">
                                  <p:stCondLst>
                                    <p:cond delay="500"/>
                                  </p:stCondLst>
                                  <p:childTnLst>
                                    <p:set>
                                      <p:cBhvr>
                                        <p:cTn id="23" dur="1" fill="hold">
                                          <p:stCondLst>
                                            <p:cond delay="0"/>
                                          </p:stCondLst>
                                        </p:cTn>
                                        <p:tgtEl>
                                          <p:spTgt spid="74"/>
                                        </p:tgtEl>
                                        <p:attrNameLst>
                                          <p:attrName>style.visibility</p:attrName>
                                        </p:attrNameLst>
                                      </p:cBhvr>
                                      <p:to>
                                        <p:strVal val="hidden"/>
                                      </p:to>
                                    </p:set>
                                  </p:childTnLst>
                                </p:cTn>
                              </p:par>
                              <p:par>
                                <p:cTn id="24" presetID="1" presetClass="entr" presetSubtype="0" fill="hold" grpId="0" nodeType="withEffect">
                                  <p:stCondLst>
                                    <p:cond delay="500"/>
                                  </p:stCondLst>
                                  <p:childTnLst>
                                    <p:set>
                                      <p:cBhvr>
                                        <p:cTn id="25" dur="1" fill="hold">
                                          <p:stCondLst>
                                            <p:cond delay="0"/>
                                          </p:stCondLst>
                                        </p:cTn>
                                        <p:tgtEl>
                                          <p:spTgt spid="75"/>
                                        </p:tgtEl>
                                        <p:attrNameLst>
                                          <p:attrName>style.visibility</p:attrName>
                                        </p:attrNameLst>
                                      </p:cBhvr>
                                      <p:to>
                                        <p:strVal val="visible"/>
                                      </p:to>
                                    </p:set>
                                  </p:childTnLst>
                                </p:cTn>
                              </p:par>
                            </p:childTnLst>
                          </p:cTn>
                        </p:par>
                        <p:par>
                          <p:cTn id="26" fill="hold">
                            <p:stCondLst>
                              <p:cond delay="1500"/>
                            </p:stCondLst>
                            <p:childTnLst>
                              <p:par>
                                <p:cTn id="27" presetID="1" presetClass="exit" presetSubtype="0" fill="hold" grpId="1" nodeType="afterEffect">
                                  <p:stCondLst>
                                    <p:cond delay="500"/>
                                  </p:stCondLst>
                                  <p:childTnLst>
                                    <p:set>
                                      <p:cBhvr>
                                        <p:cTn id="28" dur="1" fill="hold">
                                          <p:stCondLst>
                                            <p:cond delay="0"/>
                                          </p:stCondLst>
                                        </p:cTn>
                                        <p:tgtEl>
                                          <p:spTgt spid="75"/>
                                        </p:tgtEl>
                                        <p:attrNameLst>
                                          <p:attrName>style.visibility</p:attrName>
                                        </p:attrNameLst>
                                      </p:cBhvr>
                                      <p:to>
                                        <p:strVal val="hidden"/>
                                      </p:to>
                                    </p:set>
                                  </p:childTnLst>
                                </p:cTn>
                              </p:par>
                              <p:par>
                                <p:cTn id="29" presetID="1" presetClass="entr" presetSubtype="0" fill="hold" nodeType="withEffect">
                                  <p:stCondLst>
                                    <p:cond delay="500"/>
                                  </p:stCondLst>
                                  <p:childTnLst>
                                    <p:set>
                                      <p:cBhvr>
                                        <p:cTn id="30" dur="1" fill="hold">
                                          <p:stCondLst>
                                            <p:cond delay="0"/>
                                          </p:stCondLst>
                                        </p:cTn>
                                        <p:tgtEl>
                                          <p:spTgt spid="78"/>
                                        </p:tgtEl>
                                        <p:attrNameLst>
                                          <p:attrName>style.visibility</p:attrName>
                                        </p:attrNameLst>
                                      </p:cBhvr>
                                      <p:to>
                                        <p:strVal val="visible"/>
                                      </p:to>
                                    </p:set>
                                  </p:childTnLst>
                                </p:cTn>
                              </p:par>
                            </p:childTnLst>
                          </p:cTn>
                        </p:par>
                        <p:par>
                          <p:cTn id="31" fill="hold">
                            <p:stCondLst>
                              <p:cond delay="2000"/>
                            </p:stCondLst>
                            <p:childTnLst>
                              <p:par>
                                <p:cTn id="32" presetID="1" presetClass="exit" presetSubtype="0" fill="hold" nodeType="afterEffect">
                                  <p:stCondLst>
                                    <p:cond delay="500"/>
                                  </p:stCondLst>
                                  <p:childTnLst>
                                    <p:set>
                                      <p:cBhvr>
                                        <p:cTn id="33" dur="1" fill="hold">
                                          <p:stCondLst>
                                            <p:cond delay="0"/>
                                          </p:stCondLst>
                                        </p:cTn>
                                        <p:tgtEl>
                                          <p:spTgt spid="78"/>
                                        </p:tgtEl>
                                        <p:attrNameLst>
                                          <p:attrName>style.visibility</p:attrName>
                                        </p:attrNameLst>
                                      </p:cBhvr>
                                      <p:to>
                                        <p:strVal val="hidden"/>
                                      </p:to>
                                    </p:set>
                                  </p:childTnLst>
                                </p:cTn>
                              </p:par>
                              <p:par>
                                <p:cTn id="34" presetID="1" presetClass="entr" presetSubtype="0" fill="hold" grpId="2" nodeType="withEffect">
                                  <p:stCondLst>
                                    <p:cond delay="500"/>
                                  </p:stCondLst>
                                  <p:childTnLst>
                                    <p:set>
                                      <p:cBhvr>
                                        <p:cTn id="35" dur="1" fill="hold">
                                          <p:stCondLst>
                                            <p:cond delay="0"/>
                                          </p:stCondLst>
                                        </p:cTn>
                                        <p:tgtEl>
                                          <p:spTgt spid="76"/>
                                        </p:tgtEl>
                                        <p:attrNameLst>
                                          <p:attrName>style.visibility</p:attrName>
                                        </p:attrNameLst>
                                      </p:cBhvr>
                                      <p:to>
                                        <p:strVal val="visible"/>
                                      </p:to>
                                    </p:set>
                                  </p:childTnLst>
                                </p:cTn>
                              </p:par>
                            </p:childTnLst>
                          </p:cTn>
                        </p:par>
                        <p:par>
                          <p:cTn id="36" fill="hold">
                            <p:stCondLst>
                              <p:cond delay="2500"/>
                            </p:stCondLst>
                            <p:childTnLst>
                              <p:par>
                                <p:cTn id="37" presetID="1" presetClass="exit" presetSubtype="0" fill="hold" grpId="3" nodeType="afterEffect">
                                  <p:stCondLst>
                                    <p:cond delay="500"/>
                                  </p:stCondLst>
                                  <p:childTnLst>
                                    <p:set>
                                      <p:cBhvr>
                                        <p:cTn id="38" dur="1" fill="hold">
                                          <p:stCondLst>
                                            <p:cond delay="0"/>
                                          </p:stCondLst>
                                        </p:cTn>
                                        <p:tgtEl>
                                          <p:spTgt spid="76"/>
                                        </p:tgtEl>
                                        <p:attrNameLst>
                                          <p:attrName>style.visibility</p:attrName>
                                        </p:attrNameLst>
                                      </p:cBhvr>
                                      <p:to>
                                        <p:strVal val="hidden"/>
                                      </p:to>
                                    </p:set>
                                  </p:childTnLst>
                                </p:cTn>
                              </p:par>
                              <p:par>
                                <p:cTn id="39" presetID="1" presetClass="entr" presetSubtype="0" fill="hold" grpId="2" nodeType="withEffect">
                                  <p:stCondLst>
                                    <p:cond delay="500"/>
                                  </p:stCondLst>
                                  <p:childTnLst>
                                    <p:set>
                                      <p:cBhvr>
                                        <p:cTn id="40" dur="1" fill="hold">
                                          <p:stCondLst>
                                            <p:cond delay="0"/>
                                          </p:stCondLst>
                                        </p:cTn>
                                        <p:tgtEl>
                                          <p:spTgt spid="74"/>
                                        </p:tgtEl>
                                        <p:attrNameLst>
                                          <p:attrName>style.visibility</p:attrName>
                                        </p:attrNameLst>
                                      </p:cBhvr>
                                      <p:to>
                                        <p:strVal val="visible"/>
                                      </p:to>
                                    </p:set>
                                  </p:childTnLst>
                                </p:cTn>
                              </p:par>
                              <p:par>
                                <p:cTn id="41" presetID="1" presetClass="exit" presetSubtype="0" fill="hold" nodeType="withEffect">
                                  <p:stCondLst>
                                    <p:cond delay="500"/>
                                  </p:stCondLst>
                                  <p:childTnLst>
                                    <p:set>
                                      <p:cBhvr>
                                        <p:cTn id="42" dur="1" fill="hold">
                                          <p:stCondLst>
                                            <p:cond delay="0"/>
                                          </p:stCondLst>
                                        </p:cTn>
                                        <p:tgtEl>
                                          <p:spTgt spid="27"/>
                                        </p:tgtEl>
                                        <p:attrNameLst>
                                          <p:attrName>style.visibility</p:attrName>
                                        </p:attrNameLst>
                                      </p:cBhvr>
                                      <p:to>
                                        <p:strVal val="hidden"/>
                                      </p:to>
                                    </p:set>
                                  </p:childTnLst>
                                </p:cTn>
                              </p:par>
                              <p:par>
                                <p:cTn id="43" presetID="1" presetClass="entr" presetSubtype="0" fill="hold" nodeType="withEffect">
                                  <p:stCondLst>
                                    <p:cond delay="500"/>
                                  </p:stCondLst>
                                  <p:childTnLst>
                                    <p:set>
                                      <p:cBhvr>
                                        <p:cTn id="44" dur="1" fill="hold">
                                          <p:stCondLst>
                                            <p:cond delay="0"/>
                                          </p:stCondLst>
                                        </p:cTn>
                                        <p:tgtEl>
                                          <p:spTgt spid="33"/>
                                        </p:tgtEl>
                                        <p:attrNameLst>
                                          <p:attrName>style.visibility</p:attrName>
                                        </p:attrNameLst>
                                      </p:cBhvr>
                                      <p:to>
                                        <p:strVal val="visible"/>
                                      </p:to>
                                    </p:set>
                                  </p:childTnLst>
                                </p:cTn>
                              </p:par>
                            </p:childTnLst>
                          </p:cTn>
                        </p:par>
                        <p:par>
                          <p:cTn id="45" fill="hold">
                            <p:stCondLst>
                              <p:cond delay="3000"/>
                            </p:stCondLst>
                            <p:childTnLst>
                              <p:par>
                                <p:cTn id="46" presetID="1" presetClass="exit" presetSubtype="0" fill="hold" grpId="3" nodeType="afterEffect">
                                  <p:stCondLst>
                                    <p:cond delay="500"/>
                                  </p:stCondLst>
                                  <p:childTnLst>
                                    <p:set>
                                      <p:cBhvr>
                                        <p:cTn id="47" dur="1" fill="hold">
                                          <p:stCondLst>
                                            <p:cond delay="0"/>
                                          </p:stCondLst>
                                        </p:cTn>
                                        <p:tgtEl>
                                          <p:spTgt spid="74"/>
                                        </p:tgtEl>
                                        <p:attrNameLst>
                                          <p:attrName>style.visibility</p:attrName>
                                        </p:attrNameLst>
                                      </p:cBhvr>
                                      <p:to>
                                        <p:strVal val="hidden"/>
                                      </p:to>
                                    </p:set>
                                  </p:childTnLst>
                                </p:cTn>
                              </p:par>
                              <p:par>
                                <p:cTn id="48" presetID="1" presetClass="entr" presetSubtype="0" fill="hold" grpId="2" nodeType="withEffect">
                                  <p:stCondLst>
                                    <p:cond delay="500"/>
                                  </p:stCondLst>
                                  <p:childTnLst>
                                    <p:set>
                                      <p:cBhvr>
                                        <p:cTn id="49" dur="1" fill="hold">
                                          <p:stCondLst>
                                            <p:cond delay="0"/>
                                          </p:stCondLst>
                                        </p:cTn>
                                        <p:tgtEl>
                                          <p:spTgt spid="75"/>
                                        </p:tgtEl>
                                        <p:attrNameLst>
                                          <p:attrName>style.visibility</p:attrName>
                                        </p:attrNameLst>
                                      </p:cBhvr>
                                      <p:to>
                                        <p:strVal val="visible"/>
                                      </p:to>
                                    </p:set>
                                  </p:childTnLst>
                                </p:cTn>
                              </p:par>
                            </p:childTnLst>
                          </p:cTn>
                        </p:par>
                        <p:par>
                          <p:cTn id="50" fill="hold">
                            <p:stCondLst>
                              <p:cond delay="3500"/>
                            </p:stCondLst>
                            <p:childTnLst>
                              <p:par>
                                <p:cTn id="51" presetID="1" presetClass="exit" presetSubtype="0" fill="hold" grpId="3" nodeType="afterEffect">
                                  <p:stCondLst>
                                    <p:cond delay="500"/>
                                  </p:stCondLst>
                                  <p:childTnLst>
                                    <p:set>
                                      <p:cBhvr>
                                        <p:cTn id="52" dur="1" fill="hold">
                                          <p:stCondLst>
                                            <p:cond delay="0"/>
                                          </p:stCondLst>
                                        </p:cTn>
                                        <p:tgtEl>
                                          <p:spTgt spid="75"/>
                                        </p:tgtEl>
                                        <p:attrNameLst>
                                          <p:attrName>style.visibility</p:attrName>
                                        </p:attrNameLst>
                                      </p:cBhvr>
                                      <p:to>
                                        <p:strVal val="hidden"/>
                                      </p:to>
                                    </p:set>
                                  </p:childTnLst>
                                </p:cTn>
                              </p:par>
                              <p:par>
                                <p:cTn id="53" presetID="1" presetClass="entr" presetSubtype="0" fill="hold" nodeType="withEffect">
                                  <p:stCondLst>
                                    <p:cond delay="500"/>
                                  </p:stCondLst>
                                  <p:childTnLst>
                                    <p:set>
                                      <p:cBhvr>
                                        <p:cTn id="54" dur="1" fill="hold">
                                          <p:stCondLst>
                                            <p:cond delay="0"/>
                                          </p:stCondLst>
                                        </p:cTn>
                                        <p:tgtEl>
                                          <p:spTgt spid="78"/>
                                        </p:tgtEl>
                                        <p:attrNameLst>
                                          <p:attrName>style.visibility</p:attrName>
                                        </p:attrNameLst>
                                      </p:cBhvr>
                                      <p:to>
                                        <p:strVal val="visible"/>
                                      </p:to>
                                    </p:set>
                                  </p:childTnLst>
                                </p:cTn>
                              </p:par>
                            </p:childTnLst>
                          </p:cTn>
                        </p:par>
                        <p:par>
                          <p:cTn id="55" fill="hold">
                            <p:stCondLst>
                              <p:cond delay="4000"/>
                            </p:stCondLst>
                            <p:childTnLst>
                              <p:par>
                                <p:cTn id="56" presetID="1" presetClass="exit" presetSubtype="0" fill="hold" nodeType="afterEffect">
                                  <p:stCondLst>
                                    <p:cond delay="500"/>
                                  </p:stCondLst>
                                  <p:childTnLst>
                                    <p:set>
                                      <p:cBhvr>
                                        <p:cTn id="57" dur="1" fill="hold">
                                          <p:stCondLst>
                                            <p:cond delay="0"/>
                                          </p:stCondLst>
                                        </p:cTn>
                                        <p:tgtEl>
                                          <p:spTgt spid="78"/>
                                        </p:tgtEl>
                                        <p:attrNameLst>
                                          <p:attrName>style.visibility</p:attrName>
                                        </p:attrNameLst>
                                      </p:cBhvr>
                                      <p:to>
                                        <p:strVal val="hidden"/>
                                      </p:to>
                                    </p:set>
                                  </p:childTnLst>
                                </p:cTn>
                              </p:par>
                              <p:par>
                                <p:cTn id="58" presetID="1" presetClass="entr" presetSubtype="0" fill="hold" grpId="4" nodeType="withEffect">
                                  <p:stCondLst>
                                    <p:cond delay="500"/>
                                  </p:stCondLst>
                                  <p:childTnLst>
                                    <p:set>
                                      <p:cBhvr>
                                        <p:cTn id="59" dur="1" fill="hold">
                                          <p:stCondLst>
                                            <p:cond delay="0"/>
                                          </p:stCondLst>
                                        </p:cTn>
                                        <p:tgtEl>
                                          <p:spTgt spid="76"/>
                                        </p:tgtEl>
                                        <p:attrNameLst>
                                          <p:attrName>style.visibility</p:attrName>
                                        </p:attrNameLst>
                                      </p:cBhvr>
                                      <p:to>
                                        <p:strVal val="visible"/>
                                      </p:to>
                                    </p:set>
                                  </p:childTnLst>
                                </p:cTn>
                              </p:par>
                            </p:childTnLst>
                          </p:cTn>
                        </p:par>
                        <p:par>
                          <p:cTn id="60" fill="hold">
                            <p:stCondLst>
                              <p:cond delay="4500"/>
                            </p:stCondLst>
                            <p:childTnLst>
                              <p:par>
                                <p:cTn id="61" presetID="1" presetClass="exit" presetSubtype="0" fill="hold" grpId="5" nodeType="afterEffect">
                                  <p:stCondLst>
                                    <p:cond delay="50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grpId="4" nodeType="withEffect">
                                  <p:stCondLst>
                                    <p:cond delay="500"/>
                                  </p:stCondLst>
                                  <p:childTnLst>
                                    <p:set>
                                      <p:cBhvr>
                                        <p:cTn id="64" dur="1" fill="hold">
                                          <p:stCondLst>
                                            <p:cond delay="0"/>
                                          </p:stCondLst>
                                        </p:cTn>
                                        <p:tgtEl>
                                          <p:spTgt spid="74"/>
                                        </p:tgtEl>
                                        <p:attrNameLst>
                                          <p:attrName>style.visibility</p:attrName>
                                        </p:attrNameLst>
                                      </p:cBhvr>
                                      <p:to>
                                        <p:strVal val="visible"/>
                                      </p:to>
                                    </p:set>
                                  </p:childTnLst>
                                </p:cTn>
                              </p:par>
                              <p:par>
                                <p:cTn id="65" presetID="1" presetClass="exit" presetSubtype="0" fill="hold" nodeType="withEffect">
                                  <p:stCondLst>
                                    <p:cond delay="500"/>
                                  </p:stCondLst>
                                  <p:childTnLst>
                                    <p:set>
                                      <p:cBhvr>
                                        <p:cTn id="66" dur="1" fill="hold">
                                          <p:stCondLst>
                                            <p:cond delay="0"/>
                                          </p:stCondLst>
                                        </p:cTn>
                                        <p:tgtEl>
                                          <p:spTgt spid="33"/>
                                        </p:tgtEl>
                                        <p:attrNameLst>
                                          <p:attrName>style.visibility</p:attrName>
                                        </p:attrNameLst>
                                      </p:cBhvr>
                                      <p:to>
                                        <p:strVal val="hidden"/>
                                      </p:to>
                                    </p:set>
                                  </p:childTnLst>
                                </p:cTn>
                              </p:par>
                              <p:par>
                                <p:cTn id="67" presetID="1" presetClass="entr" presetSubtype="0" fill="hold" nodeType="withEffect">
                                  <p:stCondLst>
                                    <p:cond delay="500"/>
                                  </p:stCondLst>
                                  <p:childTnLst>
                                    <p:set>
                                      <p:cBhvr>
                                        <p:cTn id="68" dur="1" fill="hold">
                                          <p:stCondLst>
                                            <p:cond delay="0"/>
                                          </p:stCondLst>
                                        </p:cTn>
                                        <p:tgtEl>
                                          <p:spTgt spid="38"/>
                                        </p:tgtEl>
                                        <p:attrNameLst>
                                          <p:attrName>style.visibility</p:attrName>
                                        </p:attrNameLst>
                                      </p:cBhvr>
                                      <p:to>
                                        <p:strVal val="visible"/>
                                      </p:to>
                                    </p:set>
                                  </p:childTnLst>
                                </p:cTn>
                              </p:par>
                            </p:childTnLst>
                          </p:cTn>
                        </p:par>
                        <p:par>
                          <p:cTn id="69" fill="hold">
                            <p:stCondLst>
                              <p:cond delay="5000"/>
                            </p:stCondLst>
                            <p:childTnLst>
                              <p:par>
                                <p:cTn id="70" presetID="1" presetClass="exit" presetSubtype="0" fill="hold" grpId="5" nodeType="afterEffect">
                                  <p:stCondLst>
                                    <p:cond delay="500"/>
                                  </p:stCondLst>
                                  <p:childTnLst>
                                    <p:set>
                                      <p:cBhvr>
                                        <p:cTn id="71" dur="1" fill="hold">
                                          <p:stCondLst>
                                            <p:cond delay="0"/>
                                          </p:stCondLst>
                                        </p:cTn>
                                        <p:tgtEl>
                                          <p:spTgt spid="74"/>
                                        </p:tgtEl>
                                        <p:attrNameLst>
                                          <p:attrName>style.visibility</p:attrName>
                                        </p:attrNameLst>
                                      </p:cBhvr>
                                      <p:to>
                                        <p:strVal val="hidden"/>
                                      </p:to>
                                    </p:set>
                                  </p:childTnLst>
                                </p:cTn>
                              </p:par>
                              <p:par>
                                <p:cTn id="72" presetID="1" presetClass="entr" presetSubtype="0" fill="hold" grpId="4" nodeType="withEffect">
                                  <p:stCondLst>
                                    <p:cond delay="500"/>
                                  </p:stCondLst>
                                  <p:childTnLst>
                                    <p:set>
                                      <p:cBhvr>
                                        <p:cTn id="73" dur="1" fill="hold">
                                          <p:stCondLst>
                                            <p:cond delay="0"/>
                                          </p:stCondLst>
                                        </p:cTn>
                                        <p:tgtEl>
                                          <p:spTgt spid="75"/>
                                        </p:tgtEl>
                                        <p:attrNameLst>
                                          <p:attrName>style.visibility</p:attrName>
                                        </p:attrNameLst>
                                      </p:cBhvr>
                                      <p:to>
                                        <p:strVal val="visible"/>
                                      </p:to>
                                    </p:set>
                                  </p:childTnLst>
                                </p:cTn>
                              </p:par>
                            </p:childTnLst>
                          </p:cTn>
                        </p:par>
                        <p:par>
                          <p:cTn id="74" fill="hold">
                            <p:stCondLst>
                              <p:cond delay="5500"/>
                            </p:stCondLst>
                            <p:childTnLst>
                              <p:par>
                                <p:cTn id="75" presetID="1" presetClass="exit" presetSubtype="0" fill="hold" grpId="5" nodeType="afterEffect">
                                  <p:stCondLst>
                                    <p:cond delay="500"/>
                                  </p:stCondLst>
                                  <p:childTnLst>
                                    <p:set>
                                      <p:cBhvr>
                                        <p:cTn id="76" dur="1" fill="hold">
                                          <p:stCondLst>
                                            <p:cond delay="0"/>
                                          </p:stCondLst>
                                        </p:cTn>
                                        <p:tgtEl>
                                          <p:spTgt spid="75"/>
                                        </p:tgtEl>
                                        <p:attrNameLst>
                                          <p:attrName>style.visibility</p:attrName>
                                        </p:attrNameLst>
                                      </p:cBhvr>
                                      <p:to>
                                        <p:strVal val="hidden"/>
                                      </p:to>
                                    </p:set>
                                  </p:childTnLst>
                                </p:cTn>
                              </p:par>
                              <p:par>
                                <p:cTn id="77" presetID="1" presetClass="entr" presetSubtype="0" fill="hold" nodeType="withEffect">
                                  <p:stCondLst>
                                    <p:cond delay="500"/>
                                  </p:stCondLst>
                                  <p:childTnLst>
                                    <p:set>
                                      <p:cBhvr>
                                        <p:cTn id="78" dur="1" fill="hold">
                                          <p:stCondLst>
                                            <p:cond delay="0"/>
                                          </p:stCondLst>
                                        </p:cTn>
                                        <p:tgtEl>
                                          <p:spTgt spid="78"/>
                                        </p:tgtEl>
                                        <p:attrNameLst>
                                          <p:attrName>style.visibility</p:attrName>
                                        </p:attrNameLst>
                                      </p:cBhvr>
                                      <p:to>
                                        <p:strVal val="visible"/>
                                      </p:to>
                                    </p:set>
                                  </p:childTnLst>
                                </p:cTn>
                              </p:par>
                            </p:childTnLst>
                          </p:cTn>
                        </p:par>
                        <p:par>
                          <p:cTn id="79" fill="hold">
                            <p:stCondLst>
                              <p:cond delay="6000"/>
                            </p:stCondLst>
                            <p:childTnLst>
                              <p:par>
                                <p:cTn id="80" presetID="1" presetClass="exit" presetSubtype="0" fill="hold" nodeType="afterEffect">
                                  <p:stCondLst>
                                    <p:cond delay="500"/>
                                  </p:stCondLst>
                                  <p:childTnLst>
                                    <p:set>
                                      <p:cBhvr>
                                        <p:cTn id="81" dur="1" fill="hold">
                                          <p:stCondLst>
                                            <p:cond delay="0"/>
                                          </p:stCondLst>
                                        </p:cTn>
                                        <p:tgtEl>
                                          <p:spTgt spid="78"/>
                                        </p:tgtEl>
                                        <p:attrNameLst>
                                          <p:attrName>style.visibility</p:attrName>
                                        </p:attrNameLst>
                                      </p:cBhvr>
                                      <p:to>
                                        <p:strVal val="hidden"/>
                                      </p:to>
                                    </p:set>
                                  </p:childTnLst>
                                </p:cTn>
                              </p:par>
                              <p:par>
                                <p:cTn id="82" presetID="1" presetClass="entr" presetSubtype="0" fill="hold" grpId="6" nodeType="withEffect">
                                  <p:stCondLst>
                                    <p:cond delay="500"/>
                                  </p:stCondLst>
                                  <p:childTnLst>
                                    <p:set>
                                      <p:cBhvr>
                                        <p:cTn id="83" dur="1" fill="hold">
                                          <p:stCondLst>
                                            <p:cond delay="0"/>
                                          </p:stCondLst>
                                        </p:cTn>
                                        <p:tgtEl>
                                          <p:spTgt spid="76"/>
                                        </p:tgtEl>
                                        <p:attrNameLst>
                                          <p:attrName>style.visibility</p:attrName>
                                        </p:attrNameLst>
                                      </p:cBhvr>
                                      <p:to>
                                        <p:strVal val="visible"/>
                                      </p:to>
                                    </p:set>
                                  </p:childTnLst>
                                </p:cTn>
                              </p:par>
                            </p:childTnLst>
                          </p:cTn>
                        </p:par>
                        <p:par>
                          <p:cTn id="84" fill="hold">
                            <p:stCondLst>
                              <p:cond delay="6500"/>
                            </p:stCondLst>
                            <p:childTnLst>
                              <p:par>
                                <p:cTn id="85" presetID="1" presetClass="exit" presetSubtype="0" fill="hold" grpId="7" nodeType="afterEffect">
                                  <p:stCondLst>
                                    <p:cond delay="500"/>
                                  </p:stCondLst>
                                  <p:childTnLst>
                                    <p:set>
                                      <p:cBhvr>
                                        <p:cTn id="86" dur="1" fill="hold">
                                          <p:stCondLst>
                                            <p:cond delay="0"/>
                                          </p:stCondLst>
                                        </p:cTn>
                                        <p:tgtEl>
                                          <p:spTgt spid="76"/>
                                        </p:tgtEl>
                                        <p:attrNameLst>
                                          <p:attrName>style.visibility</p:attrName>
                                        </p:attrNameLst>
                                      </p:cBhvr>
                                      <p:to>
                                        <p:strVal val="hidden"/>
                                      </p:to>
                                    </p:set>
                                  </p:childTnLst>
                                </p:cTn>
                              </p:par>
                              <p:par>
                                <p:cTn id="87" presetID="1" presetClass="entr" presetSubtype="0" fill="hold" grpId="6" nodeType="withEffect">
                                  <p:stCondLst>
                                    <p:cond delay="500"/>
                                  </p:stCondLst>
                                  <p:childTnLst>
                                    <p:set>
                                      <p:cBhvr>
                                        <p:cTn id="88" dur="1" fill="hold">
                                          <p:stCondLst>
                                            <p:cond delay="0"/>
                                          </p:stCondLst>
                                        </p:cTn>
                                        <p:tgtEl>
                                          <p:spTgt spid="74"/>
                                        </p:tgtEl>
                                        <p:attrNameLst>
                                          <p:attrName>style.visibility</p:attrName>
                                        </p:attrNameLst>
                                      </p:cBhvr>
                                      <p:to>
                                        <p:strVal val="visible"/>
                                      </p:to>
                                    </p:set>
                                  </p:childTnLst>
                                </p:cTn>
                              </p:par>
                              <p:par>
                                <p:cTn id="89" presetID="1" presetClass="exit" presetSubtype="0" fill="hold" nodeType="withEffect">
                                  <p:stCondLst>
                                    <p:cond delay="500"/>
                                  </p:stCondLst>
                                  <p:childTnLst>
                                    <p:set>
                                      <p:cBhvr>
                                        <p:cTn id="90" dur="1" fill="hold">
                                          <p:stCondLst>
                                            <p:cond delay="0"/>
                                          </p:stCondLst>
                                        </p:cTn>
                                        <p:tgtEl>
                                          <p:spTgt spid="38"/>
                                        </p:tgtEl>
                                        <p:attrNameLst>
                                          <p:attrName>style.visibility</p:attrName>
                                        </p:attrNameLst>
                                      </p:cBhvr>
                                      <p:to>
                                        <p:strVal val="hidden"/>
                                      </p:to>
                                    </p:set>
                                  </p:childTnLst>
                                </p:cTn>
                              </p:par>
                              <p:par>
                                <p:cTn id="91" presetID="1" presetClass="entr" presetSubtype="0" fill="hold" nodeType="withEffect">
                                  <p:stCondLst>
                                    <p:cond delay="500"/>
                                  </p:stCondLst>
                                  <p:childTnLst>
                                    <p:set>
                                      <p:cBhvr>
                                        <p:cTn id="92" dur="1" fill="hold">
                                          <p:stCondLst>
                                            <p:cond delay="0"/>
                                          </p:stCondLst>
                                        </p:cTn>
                                        <p:tgtEl>
                                          <p:spTgt spid="43"/>
                                        </p:tgtEl>
                                        <p:attrNameLst>
                                          <p:attrName>style.visibility</p:attrName>
                                        </p:attrNameLst>
                                      </p:cBhvr>
                                      <p:to>
                                        <p:strVal val="visible"/>
                                      </p:to>
                                    </p:set>
                                  </p:childTnLst>
                                </p:cTn>
                              </p:par>
                            </p:childTnLst>
                          </p:cTn>
                        </p:par>
                        <p:par>
                          <p:cTn id="93" fill="hold">
                            <p:stCondLst>
                              <p:cond delay="7000"/>
                            </p:stCondLst>
                            <p:childTnLst>
                              <p:par>
                                <p:cTn id="94" presetID="1" presetClass="exit" presetSubtype="0" fill="hold" grpId="7" nodeType="afterEffect">
                                  <p:stCondLst>
                                    <p:cond delay="500"/>
                                  </p:stCondLst>
                                  <p:childTnLst>
                                    <p:set>
                                      <p:cBhvr>
                                        <p:cTn id="95" dur="1" fill="hold">
                                          <p:stCondLst>
                                            <p:cond delay="0"/>
                                          </p:stCondLst>
                                        </p:cTn>
                                        <p:tgtEl>
                                          <p:spTgt spid="74"/>
                                        </p:tgtEl>
                                        <p:attrNameLst>
                                          <p:attrName>style.visibility</p:attrName>
                                        </p:attrNameLst>
                                      </p:cBhvr>
                                      <p:to>
                                        <p:strVal val="hidden"/>
                                      </p:to>
                                    </p:set>
                                  </p:childTnLst>
                                </p:cTn>
                              </p:par>
                              <p:par>
                                <p:cTn id="96" presetID="1" presetClass="entr" presetSubtype="0" fill="hold" grpId="6" nodeType="withEffect">
                                  <p:stCondLst>
                                    <p:cond delay="500"/>
                                  </p:stCondLst>
                                  <p:childTnLst>
                                    <p:set>
                                      <p:cBhvr>
                                        <p:cTn id="97" dur="1" fill="hold">
                                          <p:stCondLst>
                                            <p:cond delay="0"/>
                                          </p:stCondLst>
                                        </p:cTn>
                                        <p:tgtEl>
                                          <p:spTgt spid="75"/>
                                        </p:tgtEl>
                                        <p:attrNameLst>
                                          <p:attrName>style.visibility</p:attrName>
                                        </p:attrNameLst>
                                      </p:cBhvr>
                                      <p:to>
                                        <p:strVal val="visible"/>
                                      </p:to>
                                    </p:set>
                                  </p:childTnLst>
                                </p:cTn>
                              </p:par>
                            </p:childTnLst>
                          </p:cTn>
                        </p:par>
                        <p:par>
                          <p:cTn id="98" fill="hold">
                            <p:stCondLst>
                              <p:cond delay="7500"/>
                            </p:stCondLst>
                            <p:childTnLst>
                              <p:par>
                                <p:cTn id="99" presetID="1" presetClass="exit" presetSubtype="0" fill="hold" grpId="7" nodeType="afterEffect">
                                  <p:stCondLst>
                                    <p:cond delay="500"/>
                                  </p:stCondLst>
                                  <p:childTnLst>
                                    <p:set>
                                      <p:cBhvr>
                                        <p:cTn id="100" dur="1" fill="hold">
                                          <p:stCondLst>
                                            <p:cond delay="0"/>
                                          </p:stCondLst>
                                        </p:cTn>
                                        <p:tgtEl>
                                          <p:spTgt spid="75"/>
                                        </p:tgtEl>
                                        <p:attrNameLst>
                                          <p:attrName>style.visibility</p:attrName>
                                        </p:attrNameLst>
                                      </p:cBhvr>
                                      <p:to>
                                        <p:strVal val="hidden"/>
                                      </p:to>
                                    </p:set>
                                  </p:childTnLst>
                                </p:cTn>
                              </p:par>
                              <p:par>
                                <p:cTn id="101" presetID="1" presetClass="entr" presetSubtype="0" fill="hold" nodeType="withEffect">
                                  <p:stCondLst>
                                    <p:cond delay="500"/>
                                  </p:stCondLst>
                                  <p:childTnLst>
                                    <p:set>
                                      <p:cBhvr>
                                        <p:cTn id="102" dur="1" fill="hold">
                                          <p:stCondLst>
                                            <p:cond delay="0"/>
                                          </p:stCondLst>
                                        </p:cTn>
                                        <p:tgtEl>
                                          <p:spTgt spid="78"/>
                                        </p:tgtEl>
                                        <p:attrNameLst>
                                          <p:attrName>style.visibility</p:attrName>
                                        </p:attrNameLst>
                                      </p:cBhvr>
                                      <p:to>
                                        <p:strVal val="visible"/>
                                      </p:to>
                                    </p:set>
                                  </p:childTnLst>
                                </p:cTn>
                              </p:par>
                            </p:childTnLst>
                          </p:cTn>
                        </p:par>
                        <p:par>
                          <p:cTn id="103" fill="hold">
                            <p:stCondLst>
                              <p:cond delay="8000"/>
                            </p:stCondLst>
                            <p:childTnLst>
                              <p:par>
                                <p:cTn id="104" presetID="1" presetClass="exit" presetSubtype="0" fill="hold" nodeType="afterEffect">
                                  <p:stCondLst>
                                    <p:cond delay="500"/>
                                  </p:stCondLst>
                                  <p:childTnLst>
                                    <p:set>
                                      <p:cBhvr>
                                        <p:cTn id="105" dur="1" fill="hold">
                                          <p:stCondLst>
                                            <p:cond delay="0"/>
                                          </p:stCondLst>
                                        </p:cTn>
                                        <p:tgtEl>
                                          <p:spTgt spid="78"/>
                                        </p:tgtEl>
                                        <p:attrNameLst>
                                          <p:attrName>style.visibility</p:attrName>
                                        </p:attrNameLst>
                                      </p:cBhvr>
                                      <p:to>
                                        <p:strVal val="hidden"/>
                                      </p:to>
                                    </p:set>
                                  </p:childTnLst>
                                </p:cTn>
                              </p:par>
                              <p:par>
                                <p:cTn id="106" presetID="1" presetClass="entr" presetSubtype="0" fill="hold" grpId="8" nodeType="withEffect">
                                  <p:stCondLst>
                                    <p:cond delay="500"/>
                                  </p:stCondLst>
                                  <p:childTnLst>
                                    <p:set>
                                      <p:cBhvr>
                                        <p:cTn id="107" dur="1" fill="hold">
                                          <p:stCondLst>
                                            <p:cond delay="0"/>
                                          </p:stCondLst>
                                        </p:cTn>
                                        <p:tgtEl>
                                          <p:spTgt spid="76"/>
                                        </p:tgtEl>
                                        <p:attrNameLst>
                                          <p:attrName>style.visibility</p:attrName>
                                        </p:attrNameLst>
                                      </p:cBhvr>
                                      <p:to>
                                        <p:strVal val="visible"/>
                                      </p:to>
                                    </p:set>
                                  </p:childTnLst>
                                </p:cTn>
                              </p:par>
                            </p:childTnLst>
                          </p:cTn>
                        </p:par>
                        <p:par>
                          <p:cTn id="108" fill="hold">
                            <p:stCondLst>
                              <p:cond delay="8500"/>
                            </p:stCondLst>
                            <p:childTnLst>
                              <p:par>
                                <p:cTn id="109" presetID="1" presetClass="exit" presetSubtype="0" fill="hold" grpId="9" nodeType="afterEffect">
                                  <p:stCondLst>
                                    <p:cond delay="500"/>
                                  </p:stCondLst>
                                  <p:childTnLst>
                                    <p:set>
                                      <p:cBhvr>
                                        <p:cTn id="110" dur="1" fill="hold">
                                          <p:stCondLst>
                                            <p:cond delay="0"/>
                                          </p:stCondLst>
                                        </p:cTn>
                                        <p:tgtEl>
                                          <p:spTgt spid="76"/>
                                        </p:tgtEl>
                                        <p:attrNameLst>
                                          <p:attrName>style.visibility</p:attrName>
                                        </p:attrNameLst>
                                      </p:cBhvr>
                                      <p:to>
                                        <p:strVal val="hidden"/>
                                      </p:to>
                                    </p:set>
                                  </p:childTnLst>
                                </p:cTn>
                              </p:par>
                              <p:par>
                                <p:cTn id="111" presetID="1" presetClass="entr" presetSubtype="0" fill="hold" grpId="8" nodeType="withEffect">
                                  <p:stCondLst>
                                    <p:cond delay="500"/>
                                  </p:stCondLst>
                                  <p:childTnLst>
                                    <p:set>
                                      <p:cBhvr>
                                        <p:cTn id="112" dur="1" fill="hold">
                                          <p:stCondLst>
                                            <p:cond delay="0"/>
                                          </p:stCondLst>
                                        </p:cTn>
                                        <p:tgtEl>
                                          <p:spTgt spid="74"/>
                                        </p:tgtEl>
                                        <p:attrNameLst>
                                          <p:attrName>style.visibility</p:attrName>
                                        </p:attrNameLst>
                                      </p:cBhvr>
                                      <p:to>
                                        <p:strVal val="visible"/>
                                      </p:to>
                                    </p:set>
                                  </p:childTnLst>
                                </p:cTn>
                              </p:par>
                              <p:par>
                                <p:cTn id="113" presetID="1" presetClass="exit" presetSubtype="0" fill="hold" nodeType="withEffect">
                                  <p:stCondLst>
                                    <p:cond delay="500"/>
                                  </p:stCondLst>
                                  <p:childTnLst>
                                    <p:set>
                                      <p:cBhvr>
                                        <p:cTn id="114" dur="1" fill="hold">
                                          <p:stCondLst>
                                            <p:cond delay="0"/>
                                          </p:stCondLst>
                                        </p:cTn>
                                        <p:tgtEl>
                                          <p:spTgt spid="43"/>
                                        </p:tgtEl>
                                        <p:attrNameLst>
                                          <p:attrName>style.visibility</p:attrName>
                                        </p:attrNameLst>
                                      </p:cBhvr>
                                      <p:to>
                                        <p:strVal val="hidden"/>
                                      </p:to>
                                    </p:set>
                                  </p:childTnLst>
                                </p:cTn>
                              </p:par>
                              <p:par>
                                <p:cTn id="115" presetID="1" presetClass="entr" presetSubtype="0" fill="hold" nodeType="withEffect">
                                  <p:stCondLst>
                                    <p:cond delay="500"/>
                                  </p:stCondLst>
                                  <p:childTnLst>
                                    <p:set>
                                      <p:cBhvr>
                                        <p:cTn id="116" dur="1" fill="hold">
                                          <p:stCondLst>
                                            <p:cond delay="0"/>
                                          </p:stCondLst>
                                        </p:cTn>
                                        <p:tgtEl>
                                          <p:spTgt spid="48"/>
                                        </p:tgtEl>
                                        <p:attrNameLst>
                                          <p:attrName>style.visibility</p:attrName>
                                        </p:attrNameLst>
                                      </p:cBhvr>
                                      <p:to>
                                        <p:strVal val="visible"/>
                                      </p:to>
                                    </p:set>
                                  </p:childTnLst>
                                </p:cTn>
                              </p:par>
                            </p:childTnLst>
                          </p:cTn>
                        </p:par>
                        <p:par>
                          <p:cTn id="117" fill="hold">
                            <p:stCondLst>
                              <p:cond delay="9000"/>
                            </p:stCondLst>
                            <p:childTnLst>
                              <p:par>
                                <p:cTn id="118" presetID="1" presetClass="exit" presetSubtype="0" fill="hold" grpId="9" nodeType="afterEffect">
                                  <p:stCondLst>
                                    <p:cond delay="500"/>
                                  </p:stCondLst>
                                  <p:childTnLst>
                                    <p:set>
                                      <p:cBhvr>
                                        <p:cTn id="119" dur="1" fill="hold">
                                          <p:stCondLst>
                                            <p:cond delay="0"/>
                                          </p:stCondLst>
                                        </p:cTn>
                                        <p:tgtEl>
                                          <p:spTgt spid="74"/>
                                        </p:tgtEl>
                                        <p:attrNameLst>
                                          <p:attrName>style.visibility</p:attrName>
                                        </p:attrNameLst>
                                      </p:cBhvr>
                                      <p:to>
                                        <p:strVal val="hidden"/>
                                      </p:to>
                                    </p:set>
                                  </p:childTnLst>
                                </p:cTn>
                              </p:par>
                              <p:par>
                                <p:cTn id="120" presetID="1" presetClass="entr" presetSubtype="0" fill="hold" grpId="16" nodeType="withEffect">
                                  <p:stCondLst>
                                    <p:cond delay="500"/>
                                  </p:stCondLst>
                                  <p:childTnLst>
                                    <p:set>
                                      <p:cBhvr>
                                        <p:cTn id="121" dur="1" fill="hold">
                                          <p:stCondLst>
                                            <p:cond delay="0"/>
                                          </p:stCondLst>
                                        </p:cTn>
                                        <p:tgtEl>
                                          <p:spTgt spid="75"/>
                                        </p:tgtEl>
                                        <p:attrNameLst>
                                          <p:attrName>style.visibility</p:attrName>
                                        </p:attrNameLst>
                                      </p:cBhvr>
                                      <p:to>
                                        <p:strVal val="visible"/>
                                      </p:to>
                                    </p:set>
                                  </p:childTnLst>
                                </p:cTn>
                              </p:par>
                            </p:childTnLst>
                          </p:cTn>
                        </p:par>
                        <p:par>
                          <p:cTn id="122" fill="hold">
                            <p:stCondLst>
                              <p:cond delay="9500"/>
                            </p:stCondLst>
                            <p:childTnLst>
                              <p:par>
                                <p:cTn id="123" presetID="1" presetClass="exit" presetSubtype="0" fill="hold" grpId="17" nodeType="afterEffect">
                                  <p:stCondLst>
                                    <p:cond delay="500"/>
                                  </p:stCondLst>
                                  <p:childTnLst>
                                    <p:set>
                                      <p:cBhvr>
                                        <p:cTn id="124" dur="1" fill="hold">
                                          <p:stCondLst>
                                            <p:cond delay="0"/>
                                          </p:stCondLst>
                                        </p:cTn>
                                        <p:tgtEl>
                                          <p:spTgt spid="75"/>
                                        </p:tgtEl>
                                        <p:attrNameLst>
                                          <p:attrName>style.visibility</p:attrName>
                                        </p:attrNameLst>
                                      </p:cBhvr>
                                      <p:to>
                                        <p:strVal val="hidden"/>
                                      </p:to>
                                    </p:set>
                                  </p:childTnLst>
                                </p:cTn>
                              </p:par>
                              <p:par>
                                <p:cTn id="125" presetID="1" presetClass="entr" presetSubtype="0" fill="hold" nodeType="withEffect">
                                  <p:stCondLst>
                                    <p:cond delay="500"/>
                                  </p:stCondLst>
                                  <p:childTnLst>
                                    <p:set>
                                      <p:cBhvr>
                                        <p:cTn id="126" dur="1" fill="hold">
                                          <p:stCondLst>
                                            <p:cond delay="0"/>
                                          </p:stCondLst>
                                        </p:cTn>
                                        <p:tgtEl>
                                          <p:spTgt spid="78"/>
                                        </p:tgtEl>
                                        <p:attrNameLst>
                                          <p:attrName>style.visibility</p:attrName>
                                        </p:attrNameLst>
                                      </p:cBhvr>
                                      <p:to>
                                        <p:strVal val="visible"/>
                                      </p:to>
                                    </p:set>
                                  </p:childTnLst>
                                </p:cTn>
                              </p:par>
                            </p:childTnLst>
                          </p:cTn>
                        </p:par>
                        <p:par>
                          <p:cTn id="127" fill="hold">
                            <p:stCondLst>
                              <p:cond delay="10000"/>
                            </p:stCondLst>
                            <p:childTnLst>
                              <p:par>
                                <p:cTn id="128" presetID="1" presetClass="exit" presetSubtype="0" fill="hold" nodeType="afterEffect">
                                  <p:stCondLst>
                                    <p:cond delay="500"/>
                                  </p:stCondLst>
                                  <p:childTnLst>
                                    <p:set>
                                      <p:cBhvr>
                                        <p:cTn id="129" dur="1" fill="hold">
                                          <p:stCondLst>
                                            <p:cond delay="0"/>
                                          </p:stCondLst>
                                        </p:cTn>
                                        <p:tgtEl>
                                          <p:spTgt spid="78"/>
                                        </p:tgtEl>
                                        <p:attrNameLst>
                                          <p:attrName>style.visibility</p:attrName>
                                        </p:attrNameLst>
                                      </p:cBhvr>
                                      <p:to>
                                        <p:strVal val="hidden"/>
                                      </p:to>
                                    </p:set>
                                  </p:childTnLst>
                                </p:cTn>
                              </p:par>
                              <p:par>
                                <p:cTn id="130" presetID="1" presetClass="entr" presetSubtype="0" fill="hold" grpId="10" nodeType="withEffect">
                                  <p:stCondLst>
                                    <p:cond delay="500"/>
                                  </p:stCondLst>
                                  <p:childTnLst>
                                    <p:set>
                                      <p:cBhvr>
                                        <p:cTn id="131" dur="1" fill="hold">
                                          <p:stCondLst>
                                            <p:cond delay="0"/>
                                          </p:stCondLst>
                                        </p:cTn>
                                        <p:tgtEl>
                                          <p:spTgt spid="76"/>
                                        </p:tgtEl>
                                        <p:attrNameLst>
                                          <p:attrName>style.visibility</p:attrName>
                                        </p:attrNameLst>
                                      </p:cBhvr>
                                      <p:to>
                                        <p:strVal val="visible"/>
                                      </p:to>
                                    </p:set>
                                  </p:childTnLst>
                                </p:cTn>
                              </p:par>
                            </p:childTnLst>
                          </p:cTn>
                        </p:par>
                        <p:par>
                          <p:cTn id="132" fill="hold">
                            <p:stCondLst>
                              <p:cond delay="10500"/>
                            </p:stCondLst>
                            <p:childTnLst>
                              <p:par>
                                <p:cTn id="133" presetID="1" presetClass="exit" presetSubtype="0" fill="hold" grpId="11" nodeType="afterEffect">
                                  <p:stCondLst>
                                    <p:cond delay="500"/>
                                  </p:stCondLst>
                                  <p:childTnLst>
                                    <p:set>
                                      <p:cBhvr>
                                        <p:cTn id="134" dur="1" fill="hold">
                                          <p:stCondLst>
                                            <p:cond delay="0"/>
                                          </p:stCondLst>
                                        </p:cTn>
                                        <p:tgtEl>
                                          <p:spTgt spid="76"/>
                                        </p:tgtEl>
                                        <p:attrNameLst>
                                          <p:attrName>style.visibility</p:attrName>
                                        </p:attrNameLst>
                                      </p:cBhvr>
                                      <p:to>
                                        <p:strVal val="hidden"/>
                                      </p:to>
                                    </p:set>
                                  </p:childTnLst>
                                </p:cTn>
                              </p:par>
                              <p:par>
                                <p:cTn id="135" presetID="1" presetClass="entr" presetSubtype="0" fill="hold" grpId="10" nodeType="withEffect">
                                  <p:stCondLst>
                                    <p:cond delay="500"/>
                                  </p:stCondLst>
                                  <p:childTnLst>
                                    <p:set>
                                      <p:cBhvr>
                                        <p:cTn id="136" dur="1" fill="hold">
                                          <p:stCondLst>
                                            <p:cond delay="0"/>
                                          </p:stCondLst>
                                        </p:cTn>
                                        <p:tgtEl>
                                          <p:spTgt spid="74"/>
                                        </p:tgtEl>
                                        <p:attrNameLst>
                                          <p:attrName>style.visibility</p:attrName>
                                        </p:attrNameLst>
                                      </p:cBhvr>
                                      <p:to>
                                        <p:strVal val="visible"/>
                                      </p:to>
                                    </p:set>
                                  </p:childTnLst>
                                </p:cTn>
                              </p:par>
                              <p:par>
                                <p:cTn id="137" presetID="1" presetClass="exit" presetSubtype="0" fill="hold" nodeType="withEffect">
                                  <p:stCondLst>
                                    <p:cond delay="500"/>
                                  </p:stCondLst>
                                  <p:childTnLst>
                                    <p:set>
                                      <p:cBhvr>
                                        <p:cTn id="138" dur="1" fill="hold">
                                          <p:stCondLst>
                                            <p:cond delay="0"/>
                                          </p:stCondLst>
                                        </p:cTn>
                                        <p:tgtEl>
                                          <p:spTgt spid="48"/>
                                        </p:tgtEl>
                                        <p:attrNameLst>
                                          <p:attrName>style.visibility</p:attrName>
                                        </p:attrNameLst>
                                      </p:cBhvr>
                                      <p:to>
                                        <p:strVal val="hidden"/>
                                      </p:to>
                                    </p:set>
                                  </p:childTnLst>
                                </p:cTn>
                              </p:par>
                              <p:par>
                                <p:cTn id="139" presetID="1" presetClass="entr" presetSubtype="0" fill="hold" nodeType="withEffect">
                                  <p:stCondLst>
                                    <p:cond delay="500"/>
                                  </p:stCondLst>
                                  <p:childTnLst>
                                    <p:set>
                                      <p:cBhvr>
                                        <p:cTn id="140" dur="1" fill="hold">
                                          <p:stCondLst>
                                            <p:cond delay="0"/>
                                          </p:stCondLst>
                                        </p:cTn>
                                        <p:tgtEl>
                                          <p:spTgt spid="53"/>
                                        </p:tgtEl>
                                        <p:attrNameLst>
                                          <p:attrName>style.visibility</p:attrName>
                                        </p:attrNameLst>
                                      </p:cBhvr>
                                      <p:to>
                                        <p:strVal val="visible"/>
                                      </p:to>
                                    </p:set>
                                  </p:childTnLst>
                                </p:cTn>
                              </p:par>
                            </p:childTnLst>
                          </p:cTn>
                        </p:par>
                        <p:par>
                          <p:cTn id="141" fill="hold">
                            <p:stCondLst>
                              <p:cond delay="11000"/>
                            </p:stCondLst>
                            <p:childTnLst>
                              <p:par>
                                <p:cTn id="142" presetID="1" presetClass="exit" presetSubtype="0" fill="hold" grpId="11" nodeType="afterEffect">
                                  <p:stCondLst>
                                    <p:cond delay="500"/>
                                  </p:stCondLst>
                                  <p:childTnLst>
                                    <p:set>
                                      <p:cBhvr>
                                        <p:cTn id="143" dur="1" fill="hold">
                                          <p:stCondLst>
                                            <p:cond delay="0"/>
                                          </p:stCondLst>
                                        </p:cTn>
                                        <p:tgtEl>
                                          <p:spTgt spid="74"/>
                                        </p:tgtEl>
                                        <p:attrNameLst>
                                          <p:attrName>style.visibility</p:attrName>
                                        </p:attrNameLst>
                                      </p:cBhvr>
                                      <p:to>
                                        <p:strVal val="hidden"/>
                                      </p:to>
                                    </p:set>
                                  </p:childTnLst>
                                </p:cTn>
                              </p:par>
                              <p:par>
                                <p:cTn id="144" presetID="1" presetClass="entr" presetSubtype="0" fill="hold" grpId="8" nodeType="withEffect">
                                  <p:stCondLst>
                                    <p:cond delay="500"/>
                                  </p:stCondLst>
                                  <p:childTnLst>
                                    <p:set>
                                      <p:cBhvr>
                                        <p:cTn id="145" dur="1" fill="hold">
                                          <p:stCondLst>
                                            <p:cond delay="0"/>
                                          </p:stCondLst>
                                        </p:cTn>
                                        <p:tgtEl>
                                          <p:spTgt spid="75"/>
                                        </p:tgtEl>
                                        <p:attrNameLst>
                                          <p:attrName>style.visibility</p:attrName>
                                        </p:attrNameLst>
                                      </p:cBhvr>
                                      <p:to>
                                        <p:strVal val="visible"/>
                                      </p:to>
                                    </p:set>
                                  </p:childTnLst>
                                </p:cTn>
                              </p:par>
                            </p:childTnLst>
                          </p:cTn>
                        </p:par>
                        <p:par>
                          <p:cTn id="146" fill="hold">
                            <p:stCondLst>
                              <p:cond delay="11500"/>
                            </p:stCondLst>
                            <p:childTnLst>
                              <p:par>
                                <p:cTn id="147" presetID="1" presetClass="exit" presetSubtype="0" fill="hold" grpId="9" nodeType="afterEffect">
                                  <p:stCondLst>
                                    <p:cond delay="500"/>
                                  </p:stCondLst>
                                  <p:childTnLst>
                                    <p:set>
                                      <p:cBhvr>
                                        <p:cTn id="148" dur="1" fill="hold">
                                          <p:stCondLst>
                                            <p:cond delay="0"/>
                                          </p:stCondLst>
                                        </p:cTn>
                                        <p:tgtEl>
                                          <p:spTgt spid="75"/>
                                        </p:tgtEl>
                                        <p:attrNameLst>
                                          <p:attrName>style.visibility</p:attrName>
                                        </p:attrNameLst>
                                      </p:cBhvr>
                                      <p:to>
                                        <p:strVal val="hidden"/>
                                      </p:to>
                                    </p:set>
                                  </p:childTnLst>
                                </p:cTn>
                              </p:par>
                              <p:par>
                                <p:cTn id="149" presetID="1" presetClass="entr" presetSubtype="0" fill="hold" nodeType="withEffect">
                                  <p:stCondLst>
                                    <p:cond delay="500"/>
                                  </p:stCondLst>
                                  <p:childTnLst>
                                    <p:set>
                                      <p:cBhvr>
                                        <p:cTn id="150" dur="1" fill="hold">
                                          <p:stCondLst>
                                            <p:cond delay="0"/>
                                          </p:stCondLst>
                                        </p:cTn>
                                        <p:tgtEl>
                                          <p:spTgt spid="78"/>
                                        </p:tgtEl>
                                        <p:attrNameLst>
                                          <p:attrName>style.visibility</p:attrName>
                                        </p:attrNameLst>
                                      </p:cBhvr>
                                      <p:to>
                                        <p:strVal val="visible"/>
                                      </p:to>
                                    </p:set>
                                  </p:childTnLst>
                                </p:cTn>
                              </p:par>
                            </p:childTnLst>
                          </p:cTn>
                        </p:par>
                        <p:par>
                          <p:cTn id="151" fill="hold">
                            <p:stCondLst>
                              <p:cond delay="12000"/>
                            </p:stCondLst>
                            <p:childTnLst>
                              <p:par>
                                <p:cTn id="152" presetID="1" presetClass="exit" presetSubtype="0" fill="hold" nodeType="afterEffect">
                                  <p:stCondLst>
                                    <p:cond delay="500"/>
                                  </p:stCondLst>
                                  <p:childTnLst>
                                    <p:set>
                                      <p:cBhvr>
                                        <p:cTn id="153" dur="1" fill="hold">
                                          <p:stCondLst>
                                            <p:cond delay="0"/>
                                          </p:stCondLst>
                                        </p:cTn>
                                        <p:tgtEl>
                                          <p:spTgt spid="78"/>
                                        </p:tgtEl>
                                        <p:attrNameLst>
                                          <p:attrName>style.visibility</p:attrName>
                                        </p:attrNameLst>
                                      </p:cBhvr>
                                      <p:to>
                                        <p:strVal val="hidden"/>
                                      </p:to>
                                    </p:set>
                                  </p:childTnLst>
                                </p:cTn>
                              </p:par>
                              <p:par>
                                <p:cTn id="154" presetID="1" presetClass="entr" presetSubtype="0" fill="hold" grpId="12" nodeType="withEffect">
                                  <p:stCondLst>
                                    <p:cond delay="500"/>
                                  </p:stCondLst>
                                  <p:childTnLst>
                                    <p:set>
                                      <p:cBhvr>
                                        <p:cTn id="155" dur="1" fill="hold">
                                          <p:stCondLst>
                                            <p:cond delay="0"/>
                                          </p:stCondLst>
                                        </p:cTn>
                                        <p:tgtEl>
                                          <p:spTgt spid="76"/>
                                        </p:tgtEl>
                                        <p:attrNameLst>
                                          <p:attrName>style.visibility</p:attrName>
                                        </p:attrNameLst>
                                      </p:cBhvr>
                                      <p:to>
                                        <p:strVal val="visible"/>
                                      </p:to>
                                    </p:set>
                                  </p:childTnLst>
                                </p:cTn>
                              </p:par>
                            </p:childTnLst>
                          </p:cTn>
                        </p:par>
                        <p:par>
                          <p:cTn id="156" fill="hold">
                            <p:stCondLst>
                              <p:cond delay="12500"/>
                            </p:stCondLst>
                            <p:childTnLst>
                              <p:par>
                                <p:cTn id="157" presetID="1" presetClass="exit" presetSubtype="0" fill="hold" grpId="13" nodeType="afterEffect">
                                  <p:stCondLst>
                                    <p:cond delay="500"/>
                                  </p:stCondLst>
                                  <p:childTnLst>
                                    <p:set>
                                      <p:cBhvr>
                                        <p:cTn id="158" dur="1" fill="hold">
                                          <p:stCondLst>
                                            <p:cond delay="0"/>
                                          </p:stCondLst>
                                        </p:cTn>
                                        <p:tgtEl>
                                          <p:spTgt spid="76"/>
                                        </p:tgtEl>
                                        <p:attrNameLst>
                                          <p:attrName>style.visibility</p:attrName>
                                        </p:attrNameLst>
                                      </p:cBhvr>
                                      <p:to>
                                        <p:strVal val="hidden"/>
                                      </p:to>
                                    </p:set>
                                  </p:childTnLst>
                                </p:cTn>
                              </p:par>
                              <p:par>
                                <p:cTn id="159" presetID="1" presetClass="entr" presetSubtype="0" fill="hold" grpId="12" nodeType="withEffect">
                                  <p:stCondLst>
                                    <p:cond delay="500"/>
                                  </p:stCondLst>
                                  <p:childTnLst>
                                    <p:set>
                                      <p:cBhvr>
                                        <p:cTn id="160" dur="1" fill="hold">
                                          <p:stCondLst>
                                            <p:cond delay="0"/>
                                          </p:stCondLst>
                                        </p:cTn>
                                        <p:tgtEl>
                                          <p:spTgt spid="74"/>
                                        </p:tgtEl>
                                        <p:attrNameLst>
                                          <p:attrName>style.visibility</p:attrName>
                                        </p:attrNameLst>
                                      </p:cBhvr>
                                      <p:to>
                                        <p:strVal val="visible"/>
                                      </p:to>
                                    </p:set>
                                  </p:childTnLst>
                                </p:cTn>
                              </p:par>
                              <p:par>
                                <p:cTn id="161" presetID="1" presetClass="exit" presetSubtype="0" fill="hold" nodeType="withEffect">
                                  <p:stCondLst>
                                    <p:cond delay="500"/>
                                  </p:stCondLst>
                                  <p:childTnLst>
                                    <p:set>
                                      <p:cBhvr>
                                        <p:cTn id="162" dur="1" fill="hold">
                                          <p:stCondLst>
                                            <p:cond delay="0"/>
                                          </p:stCondLst>
                                        </p:cTn>
                                        <p:tgtEl>
                                          <p:spTgt spid="53"/>
                                        </p:tgtEl>
                                        <p:attrNameLst>
                                          <p:attrName>style.visibility</p:attrName>
                                        </p:attrNameLst>
                                      </p:cBhvr>
                                      <p:to>
                                        <p:strVal val="hidden"/>
                                      </p:to>
                                    </p:set>
                                  </p:childTnLst>
                                </p:cTn>
                              </p:par>
                              <p:par>
                                <p:cTn id="163" presetID="1" presetClass="entr" presetSubtype="0" fill="hold" nodeType="withEffect">
                                  <p:stCondLst>
                                    <p:cond delay="500"/>
                                  </p:stCondLst>
                                  <p:childTnLst>
                                    <p:set>
                                      <p:cBhvr>
                                        <p:cTn id="164" dur="1" fill="hold">
                                          <p:stCondLst>
                                            <p:cond delay="0"/>
                                          </p:stCondLst>
                                        </p:cTn>
                                        <p:tgtEl>
                                          <p:spTgt spid="58"/>
                                        </p:tgtEl>
                                        <p:attrNameLst>
                                          <p:attrName>style.visibility</p:attrName>
                                        </p:attrNameLst>
                                      </p:cBhvr>
                                      <p:to>
                                        <p:strVal val="visible"/>
                                      </p:to>
                                    </p:set>
                                  </p:childTnLst>
                                </p:cTn>
                              </p:par>
                            </p:childTnLst>
                          </p:cTn>
                        </p:par>
                        <p:par>
                          <p:cTn id="165" fill="hold">
                            <p:stCondLst>
                              <p:cond delay="13000"/>
                            </p:stCondLst>
                            <p:childTnLst>
                              <p:par>
                                <p:cTn id="166" presetID="1" presetClass="exit" presetSubtype="0" fill="hold" grpId="13" nodeType="afterEffect">
                                  <p:stCondLst>
                                    <p:cond delay="500"/>
                                  </p:stCondLst>
                                  <p:childTnLst>
                                    <p:set>
                                      <p:cBhvr>
                                        <p:cTn id="167" dur="1" fill="hold">
                                          <p:stCondLst>
                                            <p:cond delay="0"/>
                                          </p:stCondLst>
                                        </p:cTn>
                                        <p:tgtEl>
                                          <p:spTgt spid="74"/>
                                        </p:tgtEl>
                                        <p:attrNameLst>
                                          <p:attrName>style.visibility</p:attrName>
                                        </p:attrNameLst>
                                      </p:cBhvr>
                                      <p:to>
                                        <p:strVal val="hidden"/>
                                      </p:to>
                                    </p:set>
                                  </p:childTnLst>
                                </p:cTn>
                              </p:par>
                              <p:par>
                                <p:cTn id="168" presetID="1" presetClass="entr" presetSubtype="0" fill="hold" grpId="10" nodeType="withEffect">
                                  <p:stCondLst>
                                    <p:cond delay="500"/>
                                  </p:stCondLst>
                                  <p:childTnLst>
                                    <p:set>
                                      <p:cBhvr>
                                        <p:cTn id="169" dur="1" fill="hold">
                                          <p:stCondLst>
                                            <p:cond delay="0"/>
                                          </p:stCondLst>
                                        </p:cTn>
                                        <p:tgtEl>
                                          <p:spTgt spid="75"/>
                                        </p:tgtEl>
                                        <p:attrNameLst>
                                          <p:attrName>style.visibility</p:attrName>
                                        </p:attrNameLst>
                                      </p:cBhvr>
                                      <p:to>
                                        <p:strVal val="visible"/>
                                      </p:to>
                                    </p:set>
                                  </p:childTnLst>
                                </p:cTn>
                              </p:par>
                            </p:childTnLst>
                          </p:cTn>
                        </p:par>
                        <p:par>
                          <p:cTn id="170" fill="hold">
                            <p:stCondLst>
                              <p:cond delay="13500"/>
                            </p:stCondLst>
                            <p:childTnLst>
                              <p:par>
                                <p:cTn id="171" presetID="1" presetClass="exit" presetSubtype="0" fill="hold" grpId="11" nodeType="afterEffect">
                                  <p:stCondLst>
                                    <p:cond delay="500"/>
                                  </p:stCondLst>
                                  <p:childTnLst>
                                    <p:set>
                                      <p:cBhvr>
                                        <p:cTn id="172" dur="1" fill="hold">
                                          <p:stCondLst>
                                            <p:cond delay="0"/>
                                          </p:stCondLst>
                                        </p:cTn>
                                        <p:tgtEl>
                                          <p:spTgt spid="75"/>
                                        </p:tgtEl>
                                        <p:attrNameLst>
                                          <p:attrName>style.visibility</p:attrName>
                                        </p:attrNameLst>
                                      </p:cBhvr>
                                      <p:to>
                                        <p:strVal val="hidden"/>
                                      </p:to>
                                    </p:set>
                                  </p:childTnLst>
                                </p:cTn>
                              </p:par>
                              <p:par>
                                <p:cTn id="173" presetID="1" presetClass="entr" presetSubtype="0" fill="hold" nodeType="withEffect">
                                  <p:stCondLst>
                                    <p:cond delay="500"/>
                                  </p:stCondLst>
                                  <p:childTnLst>
                                    <p:set>
                                      <p:cBhvr>
                                        <p:cTn id="174" dur="1" fill="hold">
                                          <p:stCondLst>
                                            <p:cond delay="0"/>
                                          </p:stCondLst>
                                        </p:cTn>
                                        <p:tgtEl>
                                          <p:spTgt spid="78"/>
                                        </p:tgtEl>
                                        <p:attrNameLst>
                                          <p:attrName>style.visibility</p:attrName>
                                        </p:attrNameLst>
                                      </p:cBhvr>
                                      <p:to>
                                        <p:strVal val="visible"/>
                                      </p:to>
                                    </p:set>
                                  </p:childTnLst>
                                </p:cTn>
                              </p:par>
                            </p:childTnLst>
                          </p:cTn>
                        </p:par>
                        <p:par>
                          <p:cTn id="175" fill="hold">
                            <p:stCondLst>
                              <p:cond delay="14000"/>
                            </p:stCondLst>
                            <p:childTnLst>
                              <p:par>
                                <p:cTn id="176" presetID="1" presetClass="exit" presetSubtype="0" fill="hold" nodeType="afterEffect">
                                  <p:stCondLst>
                                    <p:cond delay="500"/>
                                  </p:stCondLst>
                                  <p:childTnLst>
                                    <p:set>
                                      <p:cBhvr>
                                        <p:cTn id="177" dur="1" fill="hold">
                                          <p:stCondLst>
                                            <p:cond delay="0"/>
                                          </p:stCondLst>
                                        </p:cTn>
                                        <p:tgtEl>
                                          <p:spTgt spid="78"/>
                                        </p:tgtEl>
                                        <p:attrNameLst>
                                          <p:attrName>style.visibility</p:attrName>
                                        </p:attrNameLst>
                                      </p:cBhvr>
                                      <p:to>
                                        <p:strVal val="hidden"/>
                                      </p:to>
                                    </p:set>
                                  </p:childTnLst>
                                </p:cTn>
                              </p:par>
                              <p:par>
                                <p:cTn id="178" presetID="1" presetClass="entr" presetSubtype="0" fill="hold" grpId="14" nodeType="withEffect">
                                  <p:stCondLst>
                                    <p:cond delay="500"/>
                                  </p:stCondLst>
                                  <p:childTnLst>
                                    <p:set>
                                      <p:cBhvr>
                                        <p:cTn id="179" dur="1" fill="hold">
                                          <p:stCondLst>
                                            <p:cond delay="0"/>
                                          </p:stCondLst>
                                        </p:cTn>
                                        <p:tgtEl>
                                          <p:spTgt spid="76"/>
                                        </p:tgtEl>
                                        <p:attrNameLst>
                                          <p:attrName>style.visibility</p:attrName>
                                        </p:attrNameLst>
                                      </p:cBhvr>
                                      <p:to>
                                        <p:strVal val="visible"/>
                                      </p:to>
                                    </p:set>
                                  </p:childTnLst>
                                </p:cTn>
                              </p:par>
                            </p:childTnLst>
                          </p:cTn>
                        </p:par>
                        <p:par>
                          <p:cTn id="180" fill="hold">
                            <p:stCondLst>
                              <p:cond delay="14500"/>
                            </p:stCondLst>
                            <p:childTnLst>
                              <p:par>
                                <p:cTn id="181" presetID="1" presetClass="exit" presetSubtype="0" fill="hold" grpId="15" nodeType="afterEffect">
                                  <p:stCondLst>
                                    <p:cond delay="500"/>
                                  </p:stCondLst>
                                  <p:childTnLst>
                                    <p:set>
                                      <p:cBhvr>
                                        <p:cTn id="182" dur="1" fill="hold">
                                          <p:stCondLst>
                                            <p:cond delay="0"/>
                                          </p:stCondLst>
                                        </p:cTn>
                                        <p:tgtEl>
                                          <p:spTgt spid="76"/>
                                        </p:tgtEl>
                                        <p:attrNameLst>
                                          <p:attrName>style.visibility</p:attrName>
                                        </p:attrNameLst>
                                      </p:cBhvr>
                                      <p:to>
                                        <p:strVal val="hidden"/>
                                      </p:to>
                                    </p:set>
                                  </p:childTnLst>
                                </p:cTn>
                              </p:par>
                              <p:par>
                                <p:cTn id="183" presetID="1" presetClass="entr" presetSubtype="0" fill="hold" grpId="14" nodeType="withEffect">
                                  <p:stCondLst>
                                    <p:cond delay="500"/>
                                  </p:stCondLst>
                                  <p:childTnLst>
                                    <p:set>
                                      <p:cBhvr>
                                        <p:cTn id="184" dur="1" fill="hold">
                                          <p:stCondLst>
                                            <p:cond delay="0"/>
                                          </p:stCondLst>
                                        </p:cTn>
                                        <p:tgtEl>
                                          <p:spTgt spid="74"/>
                                        </p:tgtEl>
                                        <p:attrNameLst>
                                          <p:attrName>style.visibility</p:attrName>
                                        </p:attrNameLst>
                                      </p:cBhvr>
                                      <p:to>
                                        <p:strVal val="visible"/>
                                      </p:to>
                                    </p:set>
                                  </p:childTnLst>
                                </p:cTn>
                              </p:par>
                              <p:par>
                                <p:cTn id="185" presetID="1" presetClass="exit" presetSubtype="0" fill="hold" nodeType="withEffect">
                                  <p:stCondLst>
                                    <p:cond delay="500"/>
                                  </p:stCondLst>
                                  <p:childTnLst>
                                    <p:set>
                                      <p:cBhvr>
                                        <p:cTn id="186" dur="1" fill="hold">
                                          <p:stCondLst>
                                            <p:cond delay="0"/>
                                          </p:stCondLst>
                                        </p:cTn>
                                        <p:tgtEl>
                                          <p:spTgt spid="58"/>
                                        </p:tgtEl>
                                        <p:attrNameLst>
                                          <p:attrName>style.visibility</p:attrName>
                                        </p:attrNameLst>
                                      </p:cBhvr>
                                      <p:to>
                                        <p:strVal val="hidden"/>
                                      </p:to>
                                    </p:set>
                                  </p:childTnLst>
                                </p:cTn>
                              </p:par>
                              <p:par>
                                <p:cTn id="187" presetID="1" presetClass="entr" presetSubtype="0" fill="hold" nodeType="withEffect">
                                  <p:stCondLst>
                                    <p:cond delay="500"/>
                                  </p:stCondLst>
                                  <p:childTnLst>
                                    <p:set>
                                      <p:cBhvr>
                                        <p:cTn id="188" dur="1" fill="hold">
                                          <p:stCondLst>
                                            <p:cond delay="0"/>
                                          </p:stCondLst>
                                        </p:cTn>
                                        <p:tgtEl>
                                          <p:spTgt spid="63"/>
                                        </p:tgtEl>
                                        <p:attrNameLst>
                                          <p:attrName>style.visibility</p:attrName>
                                        </p:attrNameLst>
                                      </p:cBhvr>
                                      <p:to>
                                        <p:strVal val="visible"/>
                                      </p:to>
                                    </p:set>
                                  </p:childTnLst>
                                </p:cTn>
                              </p:par>
                            </p:childTnLst>
                          </p:cTn>
                        </p:par>
                        <p:par>
                          <p:cTn id="189" fill="hold">
                            <p:stCondLst>
                              <p:cond delay="15000"/>
                            </p:stCondLst>
                            <p:childTnLst>
                              <p:par>
                                <p:cTn id="190" presetID="1" presetClass="exit" presetSubtype="0" fill="hold" grpId="15" nodeType="afterEffect">
                                  <p:stCondLst>
                                    <p:cond delay="500"/>
                                  </p:stCondLst>
                                  <p:childTnLst>
                                    <p:set>
                                      <p:cBhvr>
                                        <p:cTn id="191" dur="1" fill="hold">
                                          <p:stCondLst>
                                            <p:cond delay="0"/>
                                          </p:stCondLst>
                                        </p:cTn>
                                        <p:tgtEl>
                                          <p:spTgt spid="74"/>
                                        </p:tgtEl>
                                        <p:attrNameLst>
                                          <p:attrName>style.visibility</p:attrName>
                                        </p:attrNameLst>
                                      </p:cBhvr>
                                      <p:to>
                                        <p:strVal val="hidden"/>
                                      </p:to>
                                    </p:set>
                                  </p:childTnLst>
                                </p:cTn>
                              </p:par>
                              <p:par>
                                <p:cTn id="192" presetID="1" presetClass="entr" presetSubtype="0" fill="hold" grpId="12" nodeType="withEffect">
                                  <p:stCondLst>
                                    <p:cond delay="500"/>
                                  </p:stCondLst>
                                  <p:childTnLst>
                                    <p:set>
                                      <p:cBhvr>
                                        <p:cTn id="193" dur="1" fill="hold">
                                          <p:stCondLst>
                                            <p:cond delay="0"/>
                                          </p:stCondLst>
                                        </p:cTn>
                                        <p:tgtEl>
                                          <p:spTgt spid="75"/>
                                        </p:tgtEl>
                                        <p:attrNameLst>
                                          <p:attrName>style.visibility</p:attrName>
                                        </p:attrNameLst>
                                      </p:cBhvr>
                                      <p:to>
                                        <p:strVal val="visible"/>
                                      </p:to>
                                    </p:set>
                                  </p:childTnLst>
                                </p:cTn>
                              </p:par>
                            </p:childTnLst>
                          </p:cTn>
                        </p:par>
                        <p:par>
                          <p:cTn id="194" fill="hold">
                            <p:stCondLst>
                              <p:cond delay="15500"/>
                            </p:stCondLst>
                            <p:childTnLst>
                              <p:par>
                                <p:cTn id="195" presetID="1" presetClass="exit" presetSubtype="0" fill="hold" grpId="13" nodeType="afterEffect">
                                  <p:stCondLst>
                                    <p:cond delay="500"/>
                                  </p:stCondLst>
                                  <p:childTnLst>
                                    <p:set>
                                      <p:cBhvr>
                                        <p:cTn id="196" dur="1" fill="hold">
                                          <p:stCondLst>
                                            <p:cond delay="0"/>
                                          </p:stCondLst>
                                        </p:cTn>
                                        <p:tgtEl>
                                          <p:spTgt spid="75"/>
                                        </p:tgtEl>
                                        <p:attrNameLst>
                                          <p:attrName>style.visibility</p:attrName>
                                        </p:attrNameLst>
                                      </p:cBhvr>
                                      <p:to>
                                        <p:strVal val="hidden"/>
                                      </p:to>
                                    </p:set>
                                  </p:childTnLst>
                                </p:cTn>
                              </p:par>
                              <p:par>
                                <p:cTn id="197" presetID="1" presetClass="entr" presetSubtype="0" fill="hold" nodeType="withEffect">
                                  <p:stCondLst>
                                    <p:cond delay="500"/>
                                  </p:stCondLst>
                                  <p:childTnLst>
                                    <p:set>
                                      <p:cBhvr>
                                        <p:cTn id="198" dur="1" fill="hold">
                                          <p:stCondLst>
                                            <p:cond delay="0"/>
                                          </p:stCondLst>
                                        </p:cTn>
                                        <p:tgtEl>
                                          <p:spTgt spid="78"/>
                                        </p:tgtEl>
                                        <p:attrNameLst>
                                          <p:attrName>style.visibility</p:attrName>
                                        </p:attrNameLst>
                                      </p:cBhvr>
                                      <p:to>
                                        <p:strVal val="visible"/>
                                      </p:to>
                                    </p:set>
                                  </p:childTnLst>
                                </p:cTn>
                              </p:par>
                            </p:childTnLst>
                          </p:cTn>
                        </p:par>
                        <p:par>
                          <p:cTn id="199" fill="hold">
                            <p:stCondLst>
                              <p:cond delay="16000"/>
                            </p:stCondLst>
                            <p:childTnLst>
                              <p:par>
                                <p:cTn id="200" presetID="1" presetClass="exit" presetSubtype="0" fill="hold" nodeType="afterEffect">
                                  <p:stCondLst>
                                    <p:cond delay="500"/>
                                  </p:stCondLst>
                                  <p:childTnLst>
                                    <p:set>
                                      <p:cBhvr>
                                        <p:cTn id="201" dur="1" fill="hold">
                                          <p:stCondLst>
                                            <p:cond delay="0"/>
                                          </p:stCondLst>
                                        </p:cTn>
                                        <p:tgtEl>
                                          <p:spTgt spid="78"/>
                                        </p:tgtEl>
                                        <p:attrNameLst>
                                          <p:attrName>style.visibility</p:attrName>
                                        </p:attrNameLst>
                                      </p:cBhvr>
                                      <p:to>
                                        <p:strVal val="hidden"/>
                                      </p:to>
                                    </p:set>
                                  </p:childTnLst>
                                </p:cTn>
                              </p:par>
                              <p:par>
                                <p:cTn id="202" presetID="1" presetClass="entr" presetSubtype="0" fill="hold" grpId="16" nodeType="withEffect">
                                  <p:stCondLst>
                                    <p:cond delay="500"/>
                                  </p:stCondLst>
                                  <p:childTnLst>
                                    <p:set>
                                      <p:cBhvr>
                                        <p:cTn id="203" dur="1" fill="hold">
                                          <p:stCondLst>
                                            <p:cond delay="0"/>
                                          </p:stCondLst>
                                        </p:cTn>
                                        <p:tgtEl>
                                          <p:spTgt spid="76"/>
                                        </p:tgtEl>
                                        <p:attrNameLst>
                                          <p:attrName>style.visibility</p:attrName>
                                        </p:attrNameLst>
                                      </p:cBhvr>
                                      <p:to>
                                        <p:strVal val="visible"/>
                                      </p:to>
                                    </p:set>
                                  </p:childTnLst>
                                </p:cTn>
                              </p:par>
                            </p:childTnLst>
                          </p:cTn>
                        </p:par>
                        <p:par>
                          <p:cTn id="204" fill="hold">
                            <p:stCondLst>
                              <p:cond delay="16500"/>
                            </p:stCondLst>
                            <p:childTnLst>
                              <p:par>
                                <p:cTn id="205" presetID="1" presetClass="exit" presetSubtype="0" fill="hold" grpId="17" nodeType="afterEffect">
                                  <p:stCondLst>
                                    <p:cond delay="500"/>
                                  </p:stCondLst>
                                  <p:childTnLst>
                                    <p:set>
                                      <p:cBhvr>
                                        <p:cTn id="206" dur="1" fill="hold">
                                          <p:stCondLst>
                                            <p:cond delay="0"/>
                                          </p:stCondLst>
                                        </p:cTn>
                                        <p:tgtEl>
                                          <p:spTgt spid="76"/>
                                        </p:tgtEl>
                                        <p:attrNameLst>
                                          <p:attrName>style.visibility</p:attrName>
                                        </p:attrNameLst>
                                      </p:cBhvr>
                                      <p:to>
                                        <p:strVal val="hidden"/>
                                      </p:to>
                                    </p:set>
                                  </p:childTnLst>
                                </p:cTn>
                              </p:par>
                              <p:par>
                                <p:cTn id="207" presetID="1" presetClass="entr" presetSubtype="0" fill="hold" grpId="16" nodeType="withEffect">
                                  <p:stCondLst>
                                    <p:cond delay="500"/>
                                  </p:stCondLst>
                                  <p:childTnLst>
                                    <p:set>
                                      <p:cBhvr>
                                        <p:cTn id="208" dur="1" fill="hold">
                                          <p:stCondLst>
                                            <p:cond delay="0"/>
                                          </p:stCondLst>
                                        </p:cTn>
                                        <p:tgtEl>
                                          <p:spTgt spid="74"/>
                                        </p:tgtEl>
                                        <p:attrNameLst>
                                          <p:attrName>style.visibility</p:attrName>
                                        </p:attrNameLst>
                                      </p:cBhvr>
                                      <p:to>
                                        <p:strVal val="visible"/>
                                      </p:to>
                                    </p:set>
                                  </p:childTnLst>
                                </p:cTn>
                              </p:par>
                              <p:par>
                                <p:cTn id="209" presetID="1" presetClass="exit" presetSubtype="0" fill="hold" nodeType="withEffect">
                                  <p:stCondLst>
                                    <p:cond delay="500"/>
                                  </p:stCondLst>
                                  <p:childTnLst>
                                    <p:set>
                                      <p:cBhvr>
                                        <p:cTn id="210" dur="1" fill="hold">
                                          <p:stCondLst>
                                            <p:cond delay="0"/>
                                          </p:stCondLst>
                                        </p:cTn>
                                        <p:tgtEl>
                                          <p:spTgt spid="63"/>
                                        </p:tgtEl>
                                        <p:attrNameLst>
                                          <p:attrName>style.visibility</p:attrName>
                                        </p:attrNameLst>
                                      </p:cBhvr>
                                      <p:to>
                                        <p:strVal val="hidden"/>
                                      </p:to>
                                    </p:set>
                                  </p:childTnLst>
                                </p:cTn>
                              </p:par>
                              <p:par>
                                <p:cTn id="211" presetID="1" presetClass="entr" presetSubtype="0" fill="hold" nodeType="withEffect">
                                  <p:stCondLst>
                                    <p:cond delay="500"/>
                                  </p:stCondLst>
                                  <p:childTnLst>
                                    <p:set>
                                      <p:cBhvr>
                                        <p:cTn id="212" dur="1" fill="hold">
                                          <p:stCondLst>
                                            <p:cond delay="0"/>
                                          </p:stCondLst>
                                        </p:cTn>
                                        <p:tgtEl>
                                          <p:spTgt spid="68"/>
                                        </p:tgtEl>
                                        <p:attrNameLst>
                                          <p:attrName>style.visibility</p:attrName>
                                        </p:attrNameLst>
                                      </p:cBhvr>
                                      <p:to>
                                        <p:strVal val="visible"/>
                                      </p:to>
                                    </p:set>
                                  </p:childTnLst>
                                </p:cTn>
                              </p:par>
                            </p:childTnLst>
                          </p:cTn>
                        </p:par>
                        <p:par>
                          <p:cTn id="213" fill="hold">
                            <p:stCondLst>
                              <p:cond delay="17000"/>
                            </p:stCondLst>
                            <p:childTnLst>
                              <p:par>
                                <p:cTn id="214" presetID="1" presetClass="exit" presetSubtype="0" fill="hold" grpId="17" nodeType="afterEffect">
                                  <p:stCondLst>
                                    <p:cond delay="500"/>
                                  </p:stCondLst>
                                  <p:childTnLst>
                                    <p:set>
                                      <p:cBhvr>
                                        <p:cTn id="215" dur="1" fill="hold">
                                          <p:stCondLst>
                                            <p:cond delay="0"/>
                                          </p:stCondLst>
                                        </p:cTn>
                                        <p:tgtEl>
                                          <p:spTgt spid="74"/>
                                        </p:tgtEl>
                                        <p:attrNameLst>
                                          <p:attrName>style.visibility</p:attrName>
                                        </p:attrNameLst>
                                      </p:cBhvr>
                                      <p:to>
                                        <p:strVal val="hidden"/>
                                      </p:to>
                                    </p:set>
                                  </p:childTnLst>
                                </p:cTn>
                              </p:par>
                              <p:par>
                                <p:cTn id="216" presetID="1" presetClass="entr" presetSubtype="0" fill="hold" grpId="14" nodeType="withEffect">
                                  <p:stCondLst>
                                    <p:cond delay="500"/>
                                  </p:stCondLst>
                                  <p:childTnLst>
                                    <p:set>
                                      <p:cBhvr>
                                        <p:cTn id="217" dur="1" fill="hold">
                                          <p:stCondLst>
                                            <p:cond delay="0"/>
                                          </p:stCondLst>
                                        </p:cTn>
                                        <p:tgtEl>
                                          <p:spTgt spid="75"/>
                                        </p:tgtEl>
                                        <p:attrNameLst>
                                          <p:attrName>style.visibility</p:attrName>
                                        </p:attrNameLst>
                                      </p:cBhvr>
                                      <p:to>
                                        <p:strVal val="visible"/>
                                      </p:to>
                                    </p:set>
                                  </p:childTnLst>
                                </p:cTn>
                              </p:par>
                            </p:childTnLst>
                          </p:cTn>
                        </p:par>
                        <p:par>
                          <p:cTn id="218" fill="hold">
                            <p:stCondLst>
                              <p:cond delay="17500"/>
                            </p:stCondLst>
                            <p:childTnLst>
                              <p:par>
                                <p:cTn id="219" presetID="1" presetClass="exit" presetSubtype="0" fill="hold" grpId="15" nodeType="afterEffect">
                                  <p:stCondLst>
                                    <p:cond delay="500"/>
                                  </p:stCondLst>
                                  <p:childTnLst>
                                    <p:set>
                                      <p:cBhvr>
                                        <p:cTn id="220" dur="1" fill="hold">
                                          <p:stCondLst>
                                            <p:cond delay="0"/>
                                          </p:stCondLst>
                                        </p:cTn>
                                        <p:tgtEl>
                                          <p:spTgt spid="75"/>
                                        </p:tgtEl>
                                        <p:attrNameLst>
                                          <p:attrName>style.visibility</p:attrName>
                                        </p:attrNameLst>
                                      </p:cBhvr>
                                      <p:to>
                                        <p:strVal val="hidden"/>
                                      </p:to>
                                    </p:set>
                                  </p:childTnLst>
                                </p:cTn>
                              </p:par>
                              <p:par>
                                <p:cTn id="221" presetID="1" presetClass="entr" presetSubtype="0" fill="hold" nodeType="withEffect">
                                  <p:stCondLst>
                                    <p:cond delay="500"/>
                                  </p:stCondLst>
                                  <p:childTnLst>
                                    <p:set>
                                      <p:cBhvr>
                                        <p:cTn id="222" dur="1" fill="hold">
                                          <p:stCondLst>
                                            <p:cond delay="0"/>
                                          </p:stCondLst>
                                        </p:cTn>
                                        <p:tgtEl>
                                          <p:spTgt spid="77"/>
                                        </p:tgtEl>
                                        <p:attrNameLst>
                                          <p:attrName>style.visibility</p:attrName>
                                        </p:attrNameLst>
                                      </p:cBhvr>
                                      <p:to>
                                        <p:strVal val="visible"/>
                                      </p:to>
                                    </p:set>
                                  </p:childTnLst>
                                </p:cTn>
                              </p:par>
                            </p:childTnLst>
                          </p:cTn>
                        </p:par>
                        <p:par>
                          <p:cTn id="223" fill="hold">
                            <p:stCondLst>
                              <p:cond delay="18000"/>
                            </p:stCondLst>
                            <p:childTnLst>
                              <p:par>
                                <p:cTn id="224" presetID="1" presetClass="exit" presetSubtype="0" fill="hold" nodeType="afterEffect">
                                  <p:stCondLst>
                                    <p:cond delay="500"/>
                                  </p:stCondLst>
                                  <p:childTnLst>
                                    <p:set>
                                      <p:cBhvr>
                                        <p:cTn id="225" dur="1" fill="hold">
                                          <p:stCondLst>
                                            <p:cond delay="0"/>
                                          </p:stCondLst>
                                        </p:cTn>
                                        <p:tgtEl>
                                          <p:spTgt spid="77"/>
                                        </p:tgtEl>
                                        <p:attrNameLst>
                                          <p:attrName>style.visibility</p:attrName>
                                        </p:attrNameLst>
                                      </p:cBhvr>
                                      <p:to>
                                        <p:strVal val="hidden"/>
                                      </p:to>
                                    </p:set>
                                  </p:childTnLst>
                                </p:cTn>
                              </p:par>
                              <p:par>
                                <p:cTn id="226" presetID="1" presetClass="entr" presetSubtype="0" fill="hold" grpId="0" nodeType="withEffect">
                                  <p:stCondLst>
                                    <p:cond delay="1000"/>
                                  </p:stCondLst>
                                  <p:childTnLst>
                                    <p:set>
                                      <p:cBhvr>
                                        <p:cTn id="227" dur="1" fill="hold">
                                          <p:stCondLst>
                                            <p:cond delay="0"/>
                                          </p:stCondLst>
                                        </p:cTn>
                                        <p:tgtEl>
                                          <p:spTgt spid="80"/>
                                        </p:tgtEl>
                                        <p:attrNameLst>
                                          <p:attrName>style.visibility</p:attrName>
                                        </p:attrNameLst>
                                      </p:cBhvr>
                                      <p:to>
                                        <p:strVal val="visible"/>
                                      </p:to>
                                    </p:set>
                                  </p:childTnLst>
                                </p:cTn>
                              </p:par>
                            </p:childTnLst>
                          </p:cTn>
                        </p:par>
                        <p:par>
                          <p:cTn id="228" fill="hold">
                            <p:stCondLst>
                              <p:cond delay="19000"/>
                            </p:stCondLst>
                            <p:childTnLst>
                              <p:par>
                                <p:cTn id="229" presetID="1" presetClass="exit" presetSubtype="0" fill="hold" grpId="1" nodeType="afterEffect">
                                  <p:stCondLst>
                                    <p:cond delay="1000"/>
                                  </p:stCondLst>
                                  <p:childTnLst>
                                    <p:set>
                                      <p:cBhvr>
                                        <p:cTn id="230" dur="1" fill="hold">
                                          <p:stCondLst>
                                            <p:cond delay="0"/>
                                          </p:stCondLst>
                                        </p:cTn>
                                        <p:tgtEl>
                                          <p:spTgt spid="80"/>
                                        </p:tgtEl>
                                        <p:attrNameLst>
                                          <p:attrName>style.visibility</p:attrName>
                                        </p:attrNameLst>
                                      </p:cBhvr>
                                      <p:to>
                                        <p:strVal val="hidden"/>
                                      </p:to>
                                    </p:set>
                                  </p:childTnLst>
                                </p:cTn>
                              </p:par>
                            </p:childTnLst>
                          </p:cTn>
                        </p:par>
                      </p:childTnLst>
                    </p:cTn>
                  </p:par>
                  <p:par>
                    <p:cTn id="231" fill="hold">
                      <p:stCondLst>
                        <p:cond delay="indefinite"/>
                      </p:stCondLst>
                      <p:childTnLst>
                        <p:par>
                          <p:cTn id="232" fill="hold">
                            <p:stCondLst>
                              <p:cond delay="0"/>
                            </p:stCondLst>
                            <p:childTnLst>
                              <p:par>
                                <p:cTn id="233" presetID="10" presetClass="entr" presetSubtype="0" fill="hold" nodeType="clickEffect">
                                  <p:stCondLst>
                                    <p:cond delay="0"/>
                                  </p:stCondLst>
                                  <p:childTnLst>
                                    <p:set>
                                      <p:cBhvr>
                                        <p:cTn id="234" dur="1" fill="hold">
                                          <p:stCondLst>
                                            <p:cond delay="0"/>
                                          </p:stCondLst>
                                        </p:cTn>
                                        <p:tgtEl>
                                          <p:spTgt spid="82">
                                            <p:txEl>
                                              <p:pRg st="0" end="0"/>
                                            </p:txEl>
                                          </p:spTgt>
                                        </p:tgtEl>
                                        <p:attrNameLst>
                                          <p:attrName>style.visibility</p:attrName>
                                        </p:attrNameLst>
                                      </p:cBhvr>
                                      <p:to>
                                        <p:strVal val="visible"/>
                                      </p:to>
                                    </p:set>
                                    <p:animEffect transition="in" filter="fade">
                                      <p:cBhvr>
                                        <p:cTn id="235" dur="500"/>
                                        <p:tgtEl>
                                          <p:spTgt spid="82">
                                            <p:txEl>
                                              <p:pRg st="0" end="0"/>
                                            </p:txEl>
                                          </p:spTgt>
                                        </p:tgtEl>
                                      </p:cBhvr>
                                    </p:animEffect>
                                  </p:childTnLst>
                                </p:cTn>
                              </p:par>
                              <p:par>
                                <p:cTn id="236" presetID="10" presetClass="entr" presetSubtype="0" fill="hold" nodeType="withEffect">
                                  <p:stCondLst>
                                    <p:cond delay="0"/>
                                  </p:stCondLst>
                                  <p:childTnLst>
                                    <p:set>
                                      <p:cBhvr>
                                        <p:cTn id="237" dur="1" fill="hold">
                                          <p:stCondLst>
                                            <p:cond delay="0"/>
                                          </p:stCondLst>
                                        </p:cTn>
                                        <p:tgtEl>
                                          <p:spTgt spid="82">
                                            <p:txEl>
                                              <p:pRg st="1" end="1"/>
                                            </p:txEl>
                                          </p:spTgt>
                                        </p:tgtEl>
                                        <p:attrNameLst>
                                          <p:attrName>style.visibility</p:attrName>
                                        </p:attrNameLst>
                                      </p:cBhvr>
                                      <p:to>
                                        <p:strVal val="visible"/>
                                      </p:to>
                                    </p:set>
                                    <p:animEffect transition="in" filter="fade">
                                      <p:cBhvr>
                                        <p:cTn id="238" dur="500"/>
                                        <p:tgtEl>
                                          <p:spTgt spid="82">
                                            <p:txEl>
                                              <p:pRg st="1" end="1"/>
                                            </p:txEl>
                                          </p:spTgt>
                                        </p:tgtEl>
                                      </p:cBhvr>
                                    </p:animEffect>
                                  </p:childTnLst>
                                </p:cTn>
                              </p:par>
                              <p:par>
                                <p:cTn id="239" presetID="10" presetClass="entr" presetSubtype="0" fill="hold" nodeType="withEffect">
                                  <p:stCondLst>
                                    <p:cond delay="0"/>
                                  </p:stCondLst>
                                  <p:childTnLst>
                                    <p:set>
                                      <p:cBhvr>
                                        <p:cTn id="240" dur="1" fill="hold">
                                          <p:stCondLst>
                                            <p:cond delay="0"/>
                                          </p:stCondLst>
                                        </p:cTn>
                                        <p:tgtEl>
                                          <p:spTgt spid="82">
                                            <p:txEl>
                                              <p:pRg st="3" end="3"/>
                                            </p:txEl>
                                          </p:spTgt>
                                        </p:tgtEl>
                                        <p:attrNameLst>
                                          <p:attrName>style.visibility</p:attrName>
                                        </p:attrNameLst>
                                      </p:cBhvr>
                                      <p:to>
                                        <p:strVal val="visible"/>
                                      </p:to>
                                    </p:set>
                                    <p:animEffect transition="in" filter="fade">
                                      <p:cBhvr>
                                        <p:cTn id="241" dur="500"/>
                                        <p:tgtEl>
                                          <p:spTgt spid="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4" grpId="1" animBg="1"/>
      <p:bldP spid="74" grpId="2" animBg="1"/>
      <p:bldP spid="74" grpId="3" animBg="1"/>
      <p:bldP spid="74" grpId="4" animBg="1"/>
      <p:bldP spid="74" grpId="5" animBg="1"/>
      <p:bldP spid="74" grpId="6" animBg="1"/>
      <p:bldP spid="74" grpId="7" animBg="1"/>
      <p:bldP spid="74" grpId="8" animBg="1"/>
      <p:bldP spid="74" grpId="9" animBg="1"/>
      <p:bldP spid="74" grpId="10" animBg="1"/>
      <p:bldP spid="74" grpId="11" animBg="1"/>
      <p:bldP spid="74" grpId="12" animBg="1"/>
      <p:bldP spid="74" grpId="13" animBg="1"/>
      <p:bldP spid="74" grpId="14" animBg="1"/>
      <p:bldP spid="74" grpId="15" animBg="1"/>
      <p:bldP spid="74" grpId="16" animBg="1"/>
      <p:bldP spid="74" grpId="17" animBg="1"/>
      <p:bldP spid="75" grpId="0" animBg="1"/>
      <p:bldP spid="75" grpId="1" animBg="1"/>
      <p:bldP spid="75" grpId="2" animBg="1"/>
      <p:bldP spid="75" grpId="3" animBg="1"/>
      <p:bldP spid="75" grpId="4" animBg="1"/>
      <p:bldP spid="75" grpId="5" animBg="1"/>
      <p:bldP spid="75" grpId="6" animBg="1"/>
      <p:bldP spid="75" grpId="7" animBg="1"/>
      <p:bldP spid="75" grpId="8" animBg="1"/>
      <p:bldP spid="75" grpId="9" animBg="1"/>
      <p:bldP spid="75" grpId="10" animBg="1"/>
      <p:bldP spid="75" grpId="11" animBg="1"/>
      <p:bldP spid="75" grpId="12" animBg="1"/>
      <p:bldP spid="75" grpId="13" animBg="1"/>
      <p:bldP spid="75" grpId="14" animBg="1"/>
      <p:bldP spid="75" grpId="15" animBg="1"/>
      <p:bldP spid="75" grpId="16" animBg="1"/>
      <p:bldP spid="75" grpId="17" animBg="1"/>
      <p:bldP spid="76" grpId="0" animBg="1"/>
      <p:bldP spid="76" grpId="1" animBg="1"/>
      <p:bldP spid="76" grpId="2" animBg="1"/>
      <p:bldP spid="76" grpId="3" animBg="1"/>
      <p:bldP spid="76" grpId="4" animBg="1"/>
      <p:bldP spid="76" grpId="5" animBg="1"/>
      <p:bldP spid="76" grpId="6" animBg="1"/>
      <p:bldP spid="76" grpId="7" animBg="1"/>
      <p:bldP spid="76" grpId="8" animBg="1"/>
      <p:bldP spid="76" grpId="9" animBg="1"/>
      <p:bldP spid="76" grpId="10" animBg="1"/>
      <p:bldP spid="76" grpId="11" animBg="1"/>
      <p:bldP spid="76" grpId="12" animBg="1"/>
      <p:bldP spid="76" grpId="13" animBg="1"/>
      <p:bldP spid="76" grpId="14" animBg="1"/>
      <p:bldP spid="76" grpId="15" animBg="1"/>
      <p:bldP spid="76" grpId="16" animBg="1"/>
      <p:bldP spid="76" grpId="17" animBg="1"/>
      <p:bldP spid="79" grpId="0"/>
      <p:bldP spid="80" grpId="0" animBg="1"/>
      <p:bldP spid="80" grpId="1" animBg="1"/>
      <p:bldP spid="81" grpId="0" animBg="1"/>
      <p:bldP spid="81"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Mission Analysis</a:t>
            </a:r>
          </a:p>
        </p:txBody>
      </p:sp>
      <p:sp>
        <p:nvSpPr>
          <p:cNvPr id="30" name="Content Placeholder 1">
            <a:extLst>
              <a:ext uri="{FF2B5EF4-FFF2-40B4-BE49-F238E27FC236}">
                <a16:creationId xmlns:a16="http://schemas.microsoft.com/office/drawing/2014/main" id="{C3115E99-07D9-405E-9C98-85FDD8E6306F}"/>
              </a:ext>
            </a:extLst>
          </p:cNvPr>
          <p:cNvSpPr>
            <a:spLocks noGrp="1"/>
          </p:cNvSpPr>
          <p:nvPr>
            <p:ph idx="1"/>
          </p:nvPr>
        </p:nvSpPr>
        <p:spPr>
          <a:xfrm>
            <a:off x="677337" y="1828800"/>
            <a:ext cx="6980763" cy="4343400"/>
          </a:xfrm>
        </p:spPr>
        <p:txBody>
          <a:bodyPr/>
          <a:lstStyle/>
          <a:p>
            <a:r>
              <a:rPr lang="en-US" dirty="0"/>
              <a:t>The default approach has some neat functionality like flight path optimization </a:t>
            </a:r>
          </a:p>
          <a:p>
            <a:pPr marL="0" indent="0">
              <a:buNone/>
            </a:pPr>
            <a:endParaRPr lang="en-US" dirty="0"/>
          </a:p>
          <a:p>
            <a:pPr marL="0" indent="0">
              <a:buNone/>
            </a:pPr>
            <a:r>
              <a:rPr lang="en-US" b="1" dirty="0"/>
              <a:t>BUT</a:t>
            </a:r>
          </a:p>
          <a:p>
            <a:pPr marL="0" indent="0">
              <a:buNone/>
            </a:pPr>
            <a:endParaRPr lang="en-US" dirty="0"/>
          </a:p>
          <a:p>
            <a:r>
              <a:rPr lang="en-US" dirty="0"/>
              <a:t>If the aircraft is in the loop, and if the current state of the aircraft is not meeting the requirements, this tool aborts execution</a:t>
            </a:r>
          </a:p>
          <a:p>
            <a:endParaRPr lang="en-US" dirty="0"/>
          </a:p>
          <a:p>
            <a:r>
              <a:rPr lang="en-US" dirty="0"/>
              <a:t>Without a mass estimation, the convergence loop fails</a:t>
            </a:r>
          </a:p>
          <a:p>
            <a:endParaRPr lang="en-US" dirty="0"/>
          </a:p>
          <a:p>
            <a:r>
              <a:rPr lang="en-US" dirty="0"/>
              <a:t>This tool does not work while the aircraft is moving in the design space</a:t>
            </a:r>
          </a:p>
          <a:p>
            <a:endParaRPr lang="en-US" dirty="0"/>
          </a:p>
          <a:p>
            <a:endParaRPr lang="en-US" dirty="0"/>
          </a:p>
        </p:txBody>
      </p:sp>
      <p:pic>
        <p:nvPicPr>
          <p:cNvPr id="5" name="Picture 4">
            <a:extLst>
              <a:ext uri="{FF2B5EF4-FFF2-40B4-BE49-F238E27FC236}">
                <a16:creationId xmlns:a16="http://schemas.microsoft.com/office/drawing/2014/main" id="{8B41F866-2718-4F3F-AC99-4907BB19A637}"/>
              </a:ext>
            </a:extLst>
          </p:cNvPr>
          <p:cNvPicPr>
            <a:picLocks noChangeAspect="1"/>
          </p:cNvPicPr>
          <p:nvPr/>
        </p:nvPicPr>
        <p:blipFill rotWithShape="1">
          <a:blip r:embed="rId3"/>
          <a:srcRect l="4957" t="8739" r="4628" b="8371"/>
          <a:stretch/>
        </p:blipFill>
        <p:spPr>
          <a:xfrm>
            <a:off x="7768862" y="4574571"/>
            <a:ext cx="1090400" cy="575443"/>
          </a:xfrm>
          <a:prstGeom prst="rect">
            <a:avLst/>
          </a:prstGeom>
          <a:ln w="12700">
            <a:solidFill>
              <a:schemeClr val="tx1"/>
            </a:solidFill>
          </a:ln>
        </p:spPr>
      </p:pic>
      <p:pic>
        <p:nvPicPr>
          <p:cNvPr id="7" name="Picture 6">
            <a:extLst>
              <a:ext uri="{FF2B5EF4-FFF2-40B4-BE49-F238E27FC236}">
                <a16:creationId xmlns:a16="http://schemas.microsoft.com/office/drawing/2014/main" id="{FDB64A88-47E5-4387-AB51-35BD44F7B9CC}"/>
              </a:ext>
            </a:extLst>
          </p:cNvPr>
          <p:cNvPicPr>
            <a:picLocks noChangeAspect="1"/>
          </p:cNvPicPr>
          <p:nvPr/>
        </p:nvPicPr>
        <p:blipFill rotWithShape="1">
          <a:blip r:embed="rId4"/>
          <a:srcRect l="10365" t="3183" r="4010" b="70802"/>
          <a:stretch/>
        </p:blipFill>
        <p:spPr>
          <a:xfrm>
            <a:off x="7768863" y="2334634"/>
            <a:ext cx="1053838" cy="410625"/>
          </a:xfrm>
          <a:prstGeom prst="rect">
            <a:avLst/>
          </a:prstGeom>
          <a:solidFill>
            <a:srgbClr val="00447E"/>
          </a:solidFill>
          <a:ln w="12700">
            <a:solidFill>
              <a:schemeClr val="tx1"/>
            </a:solidFill>
          </a:ln>
        </p:spPr>
      </p:pic>
      <p:pic>
        <p:nvPicPr>
          <p:cNvPr id="8" name="Picture 7">
            <a:extLst>
              <a:ext uri="{FF2B5EF4-FFF2-40B4-BE49-F238E27FC236}">
                <a16:creationId xmlns:a16="http://schemas.microsoft.com/office/drawing/2014/main" id="{C638A259-E1A0-4A46-93AE-5E1369535803}"/>
              </a:ext>
            </a:extLst>
          </p:cNvPr>
          <p:cNvPicPr>
            <a:picLocks noChangeAspect="1"/>
          </p:cNvPicPr>
          <p:nvPr/>
        </p:nvPicPr>
        <p:blipFill rotWithShape="1">
          <a:blip r:embed="rId5"/>
          <a:srcRect l="6596" t="33475" r="4339" b="1831"/>
          <a:stretch/>
        </p:blipFill>
        <p:spPr>
          <a:xfrm>
            <a:off x="7768862" y="3250549"/>
            <a:ext cx="1057449" cy="1034789"/>
          </a:xfrm>
          <a:prstGeom prst="rect">
            <a:avLst/>
          </a:prstGeom>
          <a:ln w="12700">
            <a:solidFill>
              <a:schemeClr val="tx1"/>
            </a:solidFill>
          </a:ln>
        </p:spPr>
      </p:pic>
      <p:cxnSp>
        <p:nvCxnSpPr>
          <p:cNvPr id="11" name="Connector: Elbow 10">
            <a:extLst>
              <a:ext uri="{FF2B5EF4-FFF2-40B4-BE49-F238E27FC236}">
                <a16:creationId xmlns:a16="http://schemas.microsoft.com/office/drawing/2014/main" id="{A78E9A1D-71D3-4395-9B48-2BFD025CD204}"/>
              </a:ext>
            </a:extLst>
          </p:cNvPr>
          <p:cNvCxnSpPr>
            <a:cxnSpLocks/>
          </p:cNvCxnSpPr>
          <p:nvPr/>
        </p:nvCxnSpPr>
        <p:spPr>
          <a:xfrm flipV="1">
            <a:off x="8856333" y="4000268"/>
            <a:ext cx="422746" cy="822960"/>
          </a:xfrm>
          <a:prstGeom prst="bentConnector3">
            <a:avLst>
              <a:gd name="adj1" fmla="val 5901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38B30FD9-602B-4659-A256-72AC622E96DD}"/>
              </a:ext>
            </a:extLst>
          </p:cNvPr>
          <p:cNvCxnSpPr>
            <a:cxnSpLocks/>
          </p:cNvCxnSpPr>
          <p:nvPr/>
        </p:nvCxnSpPr>
        <p:spPr>
          <a:xfrm rot="16200000" flipH="1">
            <a:off x="8899246" y="3334198"/>
            <a:ext cx="582647" cy="182880"/>
          </a:xfrm>
          <a:prstGeom prst="bentConnector3">
            <a:avLst>
              <a:gd name="adj1" fmla="val 10027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48BB8E5-95A1-4A46-8B44-441AA7EAA577}"/>
              </a:ext>
            </a:extLst>
          </p:cNvPr>
          <p:cNvCxnSpPr/>
          <p:nvPr/>
        </p:nvCxnSpPr>
        <p:spPr>
          <a:xfrm>
            <a:off x="8945188" y="3134315"/>
            <a:ext cx="153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 Placeholder 1">
                <a:extLst>
                  <a:ext uri="{FF2B5EF4-FFF2-40B4-BE49-F238E27FC236}">
                    <a16:creationId xmlns:a16="http://schemas.microsoft.com/office/drawing/2014/main" id="{474B1F7D-63B5-4ED2-8CB8-7EA1CBADCAB0}"/>
                  </a:ext>
                </a:extLst>
              </p:cNvPr>
              <p:cNvSpPr txBox="1">
                <a:spLocks/>
              </p:cNvSpPr>
              <p:nvPr/>
            </p:nvSpPr>
            <p:spPr>
              <a:xfrm>
                <a:off x="11441227" y="3304381"/>
                <a:ext cx="491376" cy="766907"/>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𝑊</m:t>
                          </m:r>
                        </m:e>
                        <m:sub>
                          <m:r>
                            <a:rPr lang="en-US" sz="1200" b="0" i="1" smtClean="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𝑊</m:t>
                          </m:r>
                        </m:e>
                        <m:sub>
                          <m:r>
                            <a:rPr lang="en-US" sz="1200" b="0" i="1" dirty="0" smtClean="0">
                              <a:solidFill>
                                <a:schemeClr val="tx1"/>
                              </a:solidFill>
                              <a:latin typeface="Cambria Math" panose="02040503050406030204" pitchFamily="18" charset="0"/>
                            </a:rPr>
                            <m:t>𝐸</m:t>
                          </m:r>
                        </m:sub>
                      </m:sSub>
                    </m:oMath>
                  </m:oMathPara>
                </a14:m>
                <a:endParaRPr lang="en-US" sz="1200" b="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smtClean="0">
                              <a:solidFill>
                                <a:schemeClr val="tx1"/>
                              </a:solidFill>
                              <a:latin typeface="Cambria Math" panose="02040503050406030204" pitchFamily="18" charset="0"/>
                            </a:rPr>
                            <m:t>𝐹</m:t>
                          </m:r>
                        </m:sub>
                      </m:sSub>
                    </m:oMath>
                  </m:oMathPara>
                </a14:m>
                <a:endParaRPr lang="en-US" sz="1200" i="1" dirty="0">
                  <a:solidFill>
                    <a:schemeClr val="tx1"/>
                  </a:solidFill>
                  <a:latin typeface="Cambria Math" panose="02040503050406030204" pitchFamily="18" charset="0"/>
                </a:endParaRPr>
              </a:p>
              <a:p>
                <a:pPr marL="0" indent="0" algn="ctr">
                  <a:buNone/>
                </a:pPr>
                <a14:m>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𝑃</m:t>
                        </m:r>
                      </m:sub>
                    </m:sSub>
                  </m:oMath>
                </a14:m>
                <a:r>
                  <a:rPr lang="en-US" sz="1200" dirty="0">
                    <a:solidFill>
                      <a:schemeClr val="tx1"/>
                    </a:solidFill>
                  </a:rPr>
                  <a:t> </a:t>
                </a:r>
              </a:p>
            </p:txBody>
          </p:sp>
        </mc:Choice>
        <mc:Fallback xmlns="">
          <p:sp>
            <p:nvSpPr>
              <p:cNvPr id="14" name="Text Placeholder 1">
                <a:extLst>
                  <a:ext uri="{FF2B5EF4-FFF2-40B4-BE49-F238E27FC236}">
                    <a16:creationId xmlns:a16="http://schemas.microsoft.com/office/drawing/2014/main" id="{474B1F7D-63B5-4ED2-8CB8-7EA1CBADCAB0}"/>
                  </a:ext>
                </a:extLst>
              </p:cNvPr>
              <p:cNvSpPr txBox="1">
                <a:spLocks noRot="1" noChangeAspect="1" noMove="1" noResize="1" noEditPoints="1" noAdjustHandles="1" noChangeArrowheads="1" noChangeShapeType="1" noTextEdit="1"/>
              </p:cNvSpPr>
              <p:nvPr/>
            </p:nvSpPr>
            <p:spPr>
              <a:xfrm>
                <a:off x="11441227" y="3304381"/>
                <a:ext cx="491376" cy="766907"/>
              </a:xfrm>
              <a:prstGeom prst="rect">
                <a:avLst/>
              </a:prstGeom>
              <a:blipFill>
                <a:blip r:embed="rId6"/>
                <a:stretch>
                  <a:fillRect/>
                </a:stretch>
              </a:blipFill>
              <a:ln>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5AC56E39-F859-46D9-B97A-00908BB5B53F}"/>
              </a:ext>
            </a:extLst>
          </p:cNvPr>
          <p:cNvCxnSpPr>
            <a:cxnSpLocks/>
            <a:endCxn id="14" idx="1"/>
          </p:cNvCxnSpPr>
          <p:nvPr/>
        </p:nvCxnSpPr>
        <p:spPr>
          <a:xfrm flipV="1">
            <a:off x="11095657" y="3687835"/>
            <a:ext cx="345570"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A855F73-7AFC-4F69-A0F6-9919D440A5E2}"/>
              </a:ext>
            </a:extLst>
          </p:cNvPr>
          <p:cNvCxnSpPr>
            <a:cxnSpLocks/>
          </p:cNvCxnSpPr>
          <p:nvPr/>
        </p:nvCxnSpPr>
        <p:spPr>
          <a:xfrm flipV="1">
            <a:off x="10391035" y="4258297"/>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305E90-D158-48F2-953C-40C845944F47}"/>
              </a:ext>
            </a:extLst>
          </p:cNvPr>
          <p:cNvSpPr txBox="1"/>
          <p:nvPr/>
        </p:nvSpPr>
        <p:spPr>
          <a:xfrm>
            <a:off x="9772115" y="4716589"/>
            <a:ext cx="1237839" cy="338554"/>
          </a:xfrm>
          <a:prstGeom prst="rect">
            <a:avLst/>
          </a:prstGeom>
          <a:noFill/>
          <a:ln>
            <a:solidFill>
              <a:schemeClr val="tx1"/>
            </a:solidFill>
          </a:ln>
        </p:spPr>
        <p:txBody>
          <a:bodyPr wrap="square" rtlCol="0">
            <a:spAutoFit/>
          </a:bodyPr>
          <a:lstStyle/>
          <a:p>
            <a:pPr algn="ctr"/>
            <a:r>
              <a:rPr lang="en-US" sz="800" b="1" dirty="0"/>
              <a:t>Mission Performance Requirements</a:t>
            </a:r>
          </a:p>
        </p:txBody>
      </p:sp>
      <p:cxnSp>
        <p:nvCxnSpPr>
          <p:cNvPr id="18" name="Connector: Elbow 17">
            <a:extLst>
              <a:ext uri="{FF2B5EF4-FFF2-40B4-BE49-F238E27FC236}">
                <a16:creationId xmlns:a16="http://schemas.microsoft.com/office/drawing/2014/main" id="{FF787846-D9FE-4DC6-AF0D-795EBAB5DC6B}"/>
              </a:ext>
            </a:extLst>
          </p:cNvPr>
          <p:cNvCxnSpPr>
            <a:cxnSpLocks/>
            <a:stCxn id="7" idx="3"/>
            <a:endCxn id="8" idx="3"/>
          </p:cNvCxnSpPr>
          <p:nvPr/>
        </p:nvCxnSpPr>
        <p:spPr>
          <a:xfrm>
            <a:off x="8822701" y="2539947"/>
            <a:ext cx="3610" cy="1227997"/>
          </a:xfrm>
          <a:prstGeom prst="bentConnector3">
            <a:avLst>
              <a:gd name="adj1" fmla="val 359601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362F486A-D162-4FF5-A608-E37402600E62}"/>
              </a:ext>
            </a:extLst>
          </p:cNvPr>
          <p:cNvGrpSpPr/>
          <p:nvPr/>
        </p:nvGrpSpPr>
        <p:grpSpPr>
          <a:xfrm>
            <a:off x="9282008" y="3159894"/>
            <a:ext cx="1835049" cy="1091781"/>
            <a:chOff x="8985516" y="3499112"/>
            <a:chExt cx="1835049" cy="1091781"/>
          </a:xfrm>
        </p:grpSpPr>
        <p:grpSp>
          <p:nvGrpSpPr>
            <p:cNvPr id="20" name="Group 19">
              <a:extLst>
                <a:ext uri="{FF2B5EF4-FFF2-40B4-BE49-F238E27FC236}">
                  <a16:creationId xmlns:a16="http://schemas.microsoft.com/office/drawing/2014/main" id="{1761A467-2B2F-498F-BAF4-C12D9E43D08C}"/>
                </a:ext>
              </a:extLst>
            </p:cNvPr>
            <p:cNvGrpSpPr/>
            <p:nvPr/>
          </p:nvGrpSpPr>
          <p:grpSpPr>
            <a:xfrm>
              <a:off x="8985516" y="3499112"/>
              <a:ext cx="1835049" cy="1091781"/>
              <a:chOff x="9533697" y="2966337"/>
              <a:chExt cx="1805906" cy="1724075"/>
            </a:xfrm>
            <a:solidFill>
              <a:srgbClr val="C0C079"/>
            </a:solidFill>
          </p:grpSpPr>
          <p:sp>
            <p:nvSpPr>
              <p:cNvPr id="22" name="Cube 21">
                <a:extLst>
                  <a:ext uri="{FF2B5EF4-FFF2-40B4-BE49-F238E27FC236}">
                    <a16:creationId xmlns:a16="http://schemas.microsoft.com/office/drawing/2014/main" id="{B4420BD2-4913-4FEE-A8F0-E54A37A4FE3F}"/>
                  </a:ext>
                </a:extLst>
              </p:cNvPr>
              <p:cNvSpPr/>
              <p:nvPr/>
            </p:nvSpPr>
            <p:spPr>
              <a:xfrm>
                <a:off x="9533697"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2327CD-E082-400B-9DF0-0BB401BD305C}"/>
                  </a:ext>
                </a:extLst>
              </p:cNvPr>
              <p:cNvSpPr/>
              <p:nvPr/>
            </p:nvSpPr>
            <p:spPr>
              <a:xfrm>
                <a:off x="9598547" y="3242865"/>
                <a:ext cx="1544884" cy="4065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Mission Analysis</a:t>
                </a:r>
              </a:p>
            </p:txBody>
          </p:sp>
        </p:grpSp>
        <p:pic>
          <p:nvPicPr>
            <p:cNvPr id="21" name="Graphic 20">
              <a:extLst>
                <a:ext uri="{FF2B5EF4-FFF2-40B4-BE49-F238E27FC236}">
                  <a16:creationId xmlns:a16="http://schemas.microsoft.com/office/drawing/2014/main" id="{2997387E-C150-46E1-97BB-7FF886EAD57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33664" y="3941409"/>
              <a:ext cx="1114960" cy="613187"/>
            </a:xfrm>
            <a:prstGeom prst="rect">
              <a:avLst/>
            </a:prstGeom>
          </p:spPr>
        </p:pic>
      </p:grpSp>
      <p:cxnSp>
        <p:nvCxnSpPr>
          <p:cNvPr id="24" name="Straight Arrow Connector 23">
            <a:extLst>
              <a:ext uri="{FF2B5EF4-FFF2-40B4-BE49-F238E27FC236}">
                <a16:creationId xmlns:a16="http://schemas.microsoft.com/office/drawing/2014/main" id="{B3DA417C-57D2-44FE-8943-06B42221E176}"/>
              </a:ext>
            </a:extLst>
          </p:cNvPr>
          <p:cNvCxnSpPr>
            <a:cxnSpLocks/>
          </p:cNvCxnSpPr>
          <p:nvPr/>
        </p:nvCxnSpPr>
        <p:spPr>
          <a:xfrm flipV="1">
            <a:off x="10189932" y="2787793"/>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7D095AD-D452-4660-9BD3-AA615E55F7C7}"/>
              </a:ext>
            </a:extLst>
          </p:cNvPr>
          <p:cNvSpPr txBox="1"/>
          <p:nvPr/>
        </p:nvSpPr>
        <p:spPr>
          <a:xfrm>
            <a:off x="9568716" y="2572349"/>
            <a:ext cx="1237839" cy="215444"/>
          </a:xfrm>
          <a:prstGeom prst="rect">
            <a:avLst/>
          </a:prstGeom>
          <a:solidFill>
            <a:srgbClr val="00447E"/>
          </a:solidFill>
          <a:ln>
            <a:solidFill>
              <a:schemeClr val="tx1"/>
            </a:solidFill>
          </a:ln>
        </p:spPr>
        <p:txBody>
          <a:bodyPr wrap="square" rtlCol="0">
            <a:spAutoFit/>
          </a:bodyPr>
          <a:lstStyle/>
          <a:p>
            <a:pPr algn="ctr"/>
            <a:r>
              <a:rPr lang="en-US" sz="800" b="1" dirty="0">
                <a:solidFill>
                  <a:schemeClr val="bg1"/>
                </a:solidFill>
              </a:rPr>
              <a:t>Weight fractions</a:t>
            </a:r>
          </a:p>
        </p:txBody>
      </p:sp>
      <p:pic>
        <p:nvPicPr>
          <p:cNvPr id="26" name="Grafik 109" descr="Schließen mit einfarbiger Füllung">
            <a:extLst>
              <a:ext uri="{FF2B5EF4-FFF2-40B4-BE49-F238E27FC236}">
                <a16:creationId xmlns:a16="http://schemas.microsoft.com/office/drawing/2014/main" id="{D2D71013-E148-4E01-B594-6B045872901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228821" y="3246233"/>
            <a:ext cx="916188" cy="916188"/>
          </a:xfrm>
          <a:prstGeom prst="rect">
            <a:avLst/>
          </a:prstGeom>
        </p:spPr>
      </p:pic>
    </p:spTree>
    <p:extLst>
      <p:ext uri="{BB962C8B-B14F-4D97-AF65-F5344CB8AC3E}">
        <p14:creationId xmlns:p14="http://schemas.microsoft.com/office/powerpoint/2010/main" val="50585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4" end="4"/>
                                            </p:txEl>
                                          </p:spTgt>
                                        </p:tgtEl>
                                        <p:attrNameLst>
                                          <p:attrName>style.visibility</p:attrName>
                                        </p:attrNameLst>
                                      </p:cBhvr>
                                      <p:to>
                                        <p:strVal val="visible"/>
                                      </p:to>
                                    </p:set>
                                    <p:animEffect transition="in" filter="fade">
                                      <p:cBhvr>
                                        <p:cTn id="7" dur="500"/>
                                        <p:tgtEl>
                                          <p:spTgt spid="30">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6" end="6"/>
                                            </p:txEl>
                                          </p:spTgt>
                                        </p:tgtEl>
                                        <p:attrNameLst>
                                          <p:attrName>style.visibility</p:attrName>
                                        </p:attrNameLst>
                                      </p:cBhvr>
                                      <p:to>
                                        <p:strVal val="visible"/>
                                      </p:to>
                                    </p:set>
                                    <p:animEffect transition="in" filter="fade">
                                      <p:cBhvr>
                                        <p:cTn id="12" dur="500"/>
                                        <p:tgtEl>
                                          <p:spTgt spid="30">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8" end="8"/>
                                            </p:txEl>
                                          </p:spTgt>
                                        </p:tgtEl>
                                        <p:attrNameLst>
                                          <p:attrName>style.visibility</p:attrName>
                                        </p:attrNameLst>
                                      </p:cBhvr>
                                      <p:to>
                                        <p:strVal val="visible"/>
                                      </p:to>
                                    </p:set>
                                    <p:animEffect transition="in" filter="fade">
                                      <p:cBhvr>
                                        <p:cTn id="17" dur="500"/>
                                        <p:tgtEl>
                                          <p:spTgt spid="3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6BE602-4017-4C18-A44C-3FE974AE37CD}"/>
              </a:ext>
            </a:extLst>
          </p:cNvPr>
          <p:cNvSpPr/>
          <p:nvPr/>
        </p:nvSpPr>
        <p:spPr>
          <a:xfrm>
            <a:off x="6095999" y="4063709"/>
            <a:ext cx="4930829" cy="2108491"/>
          </a:xfrm>
          <a:prstGeom prst="roundRect">
            <a:avLst>
              <a:gd name="adj" fmla="val 7180"/>
            </a:avLst>
          </a:prstGeom>
          <a:solidFill>
            <a:srgbClr val="C8C4B2">
              <a:alpha val="4117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Simple Mission Analysis</a:t>
            </a:r>
          </a:p>
        </p:txBody>
      </p:sp>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8" y="1828800"/>
            <a:ext cx="4912898" cy="4343400"/>
          </a:xfrm>
        </p:spPr>
        <p:txBody>
          <a:bodyPr/>
          <a:lstStyle/>
          <a:p>
            <a:pPr marL="0" indent="0">
              <a:buNone/>
            </a:pPr>
            <a:r>
              <a:rPr lang="en-US" dirty="0"/>
              <a:t>We need a </a:t>
            </a:r>
            <a:r>
              <a:rPr lang="en-US" b="1" dirty="0"/>
              <a:t>second approach </a:t>
            </a:r>
            <a:r>
              <a:rPr lang="en-US" dirty="0"/>
              <a:t>that is robust enough for the convergence loop to continue execution</a:t>
            </a:r>
          </a:p>
          <a:p>
            <a:pPr marL="0" indent="0">
              <a:buNone/>
            </a:pPr>
            <a:endParaRPr lang="en-US" dirty="0"/>
          </a:p>
          <a:p>
            <a:r>
              <a:rPr lang="en-US" dirty="0"/>
              <a:t>Garbage in – garbage out, but you still get something out</a:t>
            </a:r>
          </a:p>
          <a:p>
            <a:endParaRPr lang="en-US" dirty="0"/>
          </a:p>
          <a:p>
            <a:r>
              <a:rPr lang="en-US" dirty="0"/>
              <a:t>Fast execution – no iterations unless necessary</a:t>
            </a:r>
          </a:p>
          <a:p>
            <a:endParaRPr lang="en-US" dirty="0"/>
          </a:p>
          <a:p>
            <a:r>
              <a:rPr lang="en-US" dirty="0"/>
              <a:t>Very simple, decision tree based approach for going from one state to another</a:t>
            </a:r>
          </a:p>
          <a:p>
            <a:endParaRPr lang="en-US" dirty="0"/>
          </a:p>
        </p:txBody>
      </p:sp>
      <p:sp>
        <p:nvSpPr>
          <p:cNvPr id="55" name="Text Placeholder 1">
            <a:extLst>
              <a:ext uri="{FF2B5EF4-FFF2-40B4-BE49-F238E27FC236}">
                <a16:creationId xmlns:a16="http://schemas.microsoft.com/office/drawing/2014/main" id="{237922E5-ACCA-4F19-AFA7-888C7CBF1B49}"/>
              </a:ext>
            </a:extLst>
          </p:cNvPr>
          <p:cNvSpPr txBox="1">
            <a:spLocks/>
          </p:cNvSpPr>
          <p:nvPr/>
        </p:nvSpPr>
        <p:spPr>
          <a:xfrm>
            <a:off x="6231130" y="1827153"/>
            <a:ext cx="4795699" cy="396875"/>
          </a:xfrm>
          <a:prstGeom prst="rect">
            <a:avLst/>
          </a:prstGeom>
        </p:spPr>
        <p:txBody>
          <a:bodyPr/>
          <a:lstStyle>
            <a:lvl1pPr algn="l" rtl="0" eaLnBrk="1" fontAlgn="base" hangingPunct="1">
              <a:lnSpc>
                <a:spcPct val="125000"/>
              </a:lnSpc>
              <a:spcBef>
                <a:spcPct val="0"/>
              </a:spcBef>
              <a:spcAft>
                <a:spcPct val="0"/>
              </a:spcAft>
              <a:defRPr sz="1500" kern="1200">
                <a:solidFill>
                  <a:schemeClr val="tx1"/>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500" kern="1200">
                <a:solidFill>
                  <a:schemeClr val="tx1"/>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defTabSz="914400"/>
            <a:r>
              <a:rPr lang="en-US" sz="1400" b="1" dirty="0"/>
              <a:t>Input Format</a:t>
            </a:r>
          </a:p>
        </p:txBody>
      </p:sp>
      <p:sp>
        <p:nvSpPr>
          <p:cNvPr id="56" name="Text Placeholder 1">
            <a:extLst>
              <a:ext uri="{FF2B5EF4-FFF2-40B4-BE49-F238E27FC236}">
                <a16:creationId xmlns:a16="http://schemas.microsoft.com/office/drawing/2014/main" id="{A992ABF2-BF29-4259-8EE3-7352520E32C2}"/>
              </a:ext>
            </a:extLst>
          </p:cNvPr>
          <p:cNvSpPr txBox="1">
            <a:spLocks/>
          </p:cNvSpPr>
          <p:nvPr/>
        </p:nvSpPr>
        <p:spPr>
          <a:xfrm>
            <a:off x="6231130" y="2224028"/>
            <a:ext cx="4795699" cy="31754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Check-Point to Check-Point</a:t>
            </a:r>
          </a:p>
          <a:p>
            <a:endParaRPr lang="en-US" sz="1400" b="1" dirty="0"/>
          </a:p>
          <a:p>
            <a:endParaRPr lang="en-US" sz="1400" dirty="0"/>
          </a:p>
        </p:txBody>
      </p:sp>
      <p:sp>
        <p:nvSpPr>
          <p:cNvPr id="57" name="Text Placeholder 1">
            <a:extLst>
              <a:ext uri="{FF2B5EF4-FFF2-40B4-BE49-F238E27FC236}">
                <a16:creationId xmlns:a16="http://schemas.microsoft.com/office/drawing/2014/main" id="{3609C99D-0878-4558-9917-4DE9D669EFB8}"/>
              </a:ext>
            </a:extLst>
          </p:cNvPr>
          <p:cNvSpPr txBox="1">
            <a:spLocks/>
          </p:cNvSpPr>
          <p:nvPr/>
        </p:nvSpPr>
        <p:spPr>
          <a:xfrm>
            <a:off x="6231130" y="4109268"/>
            <a:ext cx="4591118" cy="631623"/>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Segment Definition</a:t>
            </a:r>
          </a:p>
        </p:txBody>
      </p:sp>
      <p:sp>
        <p:nvSpPr>
          <p:cNvPr id="58" name="Oval 57">
            <a:extLst>
              <a:ext uri="{FF2B5EF4-FFF2-40B4-BE49-F238E27FC236}">
                <a16:creationId xmlns:a16="http://schemas.microsoft.com/office/drawing/2014/main" id="{B89CBF96-7C81-464B-9667-09EA825B2625}"/>
              </a:ext>
            </a:extLst>
          </p:cNvPr>
          <p:cNvSpPr/>
          <p:nvPr/>
        </p:nvSpPr>
        <p:spPr>
          <a:xfrm>
            <a:off x="6314954" y="2754049"/>
            <a:ext cx="365760" cy="36576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1</a:t>
            </a:r>
          </a:p>
        </p:txBody>
      </p:sp>
      <p:sp>
        <p:nvSpPr>
          <p:cNvPr id="59" name="Text Placeholder 1">
            <a:extLst>
              <a:ext uri="{FF2B5EF4-FFF2-40B4-BE49-F238E27FC236}">
                <a16:creationId xmlns:a16="http://schemas.microsoft.com/office/drawing/2014/main" id="{137D9ECF-0ECB-43D9-953F-69908B3CA3BF}"/>
              </a:ext>
            </a:extLst>
          </p:cNvPr>
          <p:cNvSpPr txBox="1">
            <a:spLocks/>
          </p:cNvSpPr>
          <p:nvPr/>
        </p:nvSpPr>
        <p:spPr>
          <a:xfrm>
            <a:off x="6863594" y="2588776"/>
            <a:ext cx="1532438" cy="696307"/>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Altitude</a:t>
            </a:r>
          </a:p>
          <a:p>
            <a:r>
              <a:rPr lang="en-US" sz="1200" dirty="0"/>
              <a:t>Mach</a:t>
            </a:r>
          </a:p>
          <a:p>
            <a:r>
              <a:rPr lang="en-US" sz="1200" dirty="0"/>
              <a:t>Distance or time</a:t>
            </a:r>
            <a:endParaRPr lang="en-US" sz="1200" b="1" dirty="0"/>
          </a:p>
          <a:p>
            <a:endParaRPr lang="en-US" sz="1400" dirty="0"/>
          </a:p>
        </p:txBody>
      </p:sp>
      <p:sp>
        <p:nvSpPr>
          <p:cNvPr id="60" name="Oval 59">
            <a:extLst>
              <a:ext uri="{FF2B5EF4-FFF2-40B4-BE49-F238E27FC236}">
                <a16:creationId xmlns:a16="http://schemas.microsoft.com/office/drawing/2014/main" id="{F658BC0C-C034-4527-8045-31DCCE2ED834}"/>
              </a:ext>
            </a:extLst>
          </p:cNvPr>
          <p:cNvSpPr/>
          <p:nvPr/>
        </p:nvSpPr>
        <p:spPr>
          <a:xfrm>
            <a:off x="8905754" y="2754049"/>
            <a:ext cx="365760" cy="36576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2</a:t>
            </a:r>
          </a:p>
        </p:txBody>
      </p:sp>
      <p:sp>
        <p:nvSpPr>
          <p:cNvPr id="61" name="Text Placeholder 1">
            <a:extLst>
              <a:ext uri="{FF2B5EF4-FFF2-40B4-BE49-F238E27FC236}">
                <a16:creationId xmlns:a16="http://schemas.microsoft.com/office/drawing/2014/main" id="{871D145B-EDE2-4231-9304-24C6CFFA072A}"/>
              </a:ext>
            </a:extLst>
          </p:cNvPr>
          <p:cNvSpPr txBox="1">
            <a:spLocks/>
          </p:cNvSpPr>
          <p:nvPr/>
        </p:nvSpPr>
        <p:spPr>
          <a:xfrm>
            <a:off x="9454394" y="2588776"/>
            <a:ext cx="1532438" cy="696307"/>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Altitude</a:t>
            </a:r>
          </a:p>
          <a:p>
            <a:r>
              <a:rPr lang="en-US" sz="1200" dirty="0"/>
              <a:t>Mach</a:t>
            </a:r>
          </a:p>
          <a:p>
            <a:r>
              <a:rPr lang="en-US" sz="1200" dirty="0"/>
              <a:t>Distance or time</a:t>
            </a:r>
            <a:endParaRPr lang="en-US" sz="1200" b="1" dirty="0"/>
          </a:p>
        </p:txBody>
      </p:sp>
      <p:cxnSp>
        <p:nvCxnSpPr>
          <p:cNvPr id="62" name="Straight Arrow Connector 61">
            <a:extLst>
              <a:ext uri="{FF2B5EF4-FFF2-40B4-BE49-F238E27FC236}">
                <a16:creationId xmlns:a16="http://schemas.microsoft.com/office/drawing/2014/main" id="{36FCD1B6-88F9-4C57-B8E8-D198AD6475E5}"/>
              </a:ext>
            </a:extLst>
          </p:cNvPr>
          <p:cNvCxnSpPr>
            <a:cxnSpLocks/>
            <a:stCxn id="59" idx="3"/>
            <a:endCxn id="60" idx="2"/>
          </p:cNvCxnSpPr>
          <p:nvPr/>
        </p:nvCxnSpPr>
        <p:spPr>
          <a:xfrm flipV="1">
            <a:off x="8396032" y="2936929"/>
            <a:ext cx="509722" cy="1"/>
          </a:xfrm>
          <a:prstGeom prst="straightConnector1">
            <a:avLst/>
          </a:prstGeom>
          <a:ln w="285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3F4460E4-FD87-4491-9B78-E14DD5023BEA}"/>
              </a:ext>
            </a:extLst>
          </p:cNvPr>
          <p:cNvGrpSpPr/>
          <p:nvPr/>
        </p:nvGrpSpPr>
        <p:grpSpPr>
          <a:xfrm>
            <a:off x="6223362" y="3326254"/>
            <a:ext cx="4711874" cy="696307"/>
            <a:chOff x="395270" y="3207961"/>
            <a:chExt cx="4711874" cy="696307"/>
          </a:xfrm>
        </p:grpSpPr>
        <p:sp>
          <p:nvSpPr>
            <p:cNvPr id="66" name="Rectangle: Rounded Corners 65">
              <a:extLst>
                <a:ext uri="{FF2B5EF4-FFF2-40B4-BE49-F238E27FC236}">
                  <a16:creationId xmlns:a16="http://schemas.microsoft.com/office/drawing/2014/main" id="{E65E6C98-8EB1-4994-BAA8-95BD13259996}"/>
                </a:ext>
              </a:extLst>
            </p:cNvPr>
            <p:cNvSpPr/>
            <p:nvPr/>
          </p:nvSpPr>
          <p:spPr>
            <a:xfrm>
              <a:off x="395270" y="3207961"/>
              <a:ext cx="4711874" cy="696307"/>
            </a:xfrm>
            <a:prstGeom prst="roundRect">
              <a:avLst>
                <a:gd name="adj" fmla="val 20273"/>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Text Placeholder 1">
              <a:extLst>
                <a:ext uri="{FF2B5EF4-FFF2-40B4-BE49-F238E27FC236}">
                  <a16:creationId xmlns:a16="http://schemas.microsoft.com/office/drawing/2014/main" id="{1F4CADAD-370A-4323-B85A-DEF22FB8C417}"/>
                </a:ext>
              </a:extLst>
            </p:cNvPr>
            <p:cNvSpPr txBox="1">
              <a:spLocks/>
            </p:cNvSpPr>
            <p:nvPr/>
          </p:nvSpPr>
          <p:spPr>
            <a:xfrm>
              <a:off x="498742" y="3249109"/>
              <a:ext cx="4504930" cy="61401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i="1" dirty="0">
                  <a:solidFill>
                    <a:schemeClr val="bg1"/>
                  </a:solidFill>
                </a:rPr>
                <a:t>Use Case</a:t>
              </a:r>
              <a:r>
                <a:rPr lang="en-US" sz="1200" dirty="0">
                  <a:solidFill>
                    <a:schemeClr val="bg1"/>
                  </a:solidFill>
                </a:rPr>
                <a:t>: Setting up pre-defined climb or descend profiles</a:t>
              </a:r>
            </a:p>
            <a:p>
              <a:pPr marL="0" indent="0">
                <a:buNone/>
              </a:pPr>
              <a:endParaRPr lang="en-US" sz="1200" dirty="0">
                <a:solidFill>
                  <a:schemeClr val="bg1"/>
                </a:solidFill>
              </a:endParaRPr>
            </a:p>
            <a:p>
              <a:pPr marL="0" indent="0">
                <a:buNone/>
              </a:pPr>
              <a:r>
                <a:rPr lang="en-US" sz="1200" b="1" dirty="0">
                  <a:solidFill>
                    <a:schemeClr val="bg1"/>
                  </a:solidFill>
                </a:rPr>
                <a:t>Flight profile </a:t>
              </a:r>
              <a:r>
                <a:rPr lang="en-US" sz="1200" dirty="0">
                  <a:solidFill>
                    <a:schemeClr val="bg1"/>
                  </a:solidFill>
                </a:rPr>
                <a:t>dictates</a:t>
              </a:r>
              <a:r>
                <a:rPr lang="en-US" sz="1200" b="1" dirty="0">
                  <a:solidFill>
                    <a:schemeClr val="bg1"/>
                  </a:solidFill>
                </a:rPr>
                <a:t> </a:t>
              </a:r>
              <a:r>
                <a:rPr lang="en-US" sz="1200" dirty="0">
                  <a:solidFill>
                    <a:schemeClr val="bg1"/>
                  </a:solidFill>
                </a:rPr>
                <a:t>the analysis</a:t>
              </a:r>
            </a:p>
          </p:txBody>
        </p:sp>
      </p:grpSp>
      <p:cxnSp>
        <p:nvCxnSpPr>
          <p:cNvPr id="68" name="Straight Connector 67">
            <a:extLst>
              <a:ext uri="{FF2B5EF4-FFF2-40B4-BE49-F238E27FC236}">
                <a16:creationId xmlns:a16="http://schemas.microsoft.com/office/drawing/2014/main" id="{0A4CB557-B444-4DB9-BCF4-3C7493119C31}"/>
              </a:ext>
            </a:extLst>
          </p:cNvPr>
          <p:cNvCxnSpPr>
            <a:cxnSpLocks/>
          </p:cNvCxnSpPr>
          <p:nvPr/>
        </p:nvCxnSpPr>
        <p:spPr>
          <a:xfrm>
            <a:off x="6497834" y="4537893"/>
            <a:ext cx="0" cy="609600"/>
          </a:xfrm>
          <a:prstGeom prst="line">
            <a:avLst/>
          </a:prstGeom>
          <a:ln w="2857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1D11DB4-ECAB-4487-894E-2090337E0FA5}"/>
              </a:ext>
            </a:extLst>
          </p:cNvPr>
          <p:cNvCxnSpPr>
            <a:cxnSpLocks/>
          </p:cNvCxnSpPr>
          <p:nvPr/>
        </p:nvCxnSpPr>
        <p:spPr>
          <a:xfrm>
            <a:off x="9088634" y="4537893"/>
            <a:ext cx="0" cy="609600"/>
          </a:xfrm>
          <a:prstGeom prst="line">
            <a:avLst/>
          </a:prstGeom>
          <a:ln w="2857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2683BC95-1C32-4A3B-A5E1-9E894BC99C20}"/>
              </a:ext>
            </a:extLst>
          </p:cNvPr>
          <p:cNvSpPr/>
          <p:nvPr/>
        </p:nvSpPr>
        <p:spPr>
          <a:xfrm>
            <a:off x="6314954" y="4377895"/>
            <a:ext cx="365760" cy="36576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1</a:t>
            </a:r>
          </a:p>
        </p:txBody>
      </p:sp>
      <p:sp>
        <p:nvSpPr>
          <p:cNvPr id="71" name="Oval 70">
            <a:extLst>
              <a:ext uri="{FF2B5EF4-FFF2-40B4-BE49-F238E27FC236}">
                <a16:creationId xmlns:a16="http://schemas.microsoft.com/office/drawing/2014/main" id="{E9CFC712-28E6-4F90-9F66-1D67DDC68D23}"/>
              </a:ext>
            </a:extLst>
          </p:cNvPr>
          <p:cNvSpPr/>
          <p:nvPr/>
        </p:nvSpPr>
        <p:spPr>
          <a:xfrm>
            <a:off x="8905754" y="4377895"/>
            <a:ext cx="365760" cy="36576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2</a:t>
            </a:r>
          </a:p>
        </p:txBody>
      </p:sp>
      <p:cxnSp>
        <p:nvCxnSpPr>
          <p:cNvPr id="72" name="Straight Arrow Connector 71">
            <a:extLst>
              <a:ext uri="{FF2B5EF4-FFF2-40B4-BE49-F238E27FC236}">
                <a16:creationId xmlns:a16="http://schemas.microsoft.com/office/drawing/2014/main" id="{E65BFD8B-E4E0-47E3-B8C4-8E9606423B99}"/>
              </a:ext>
            </a:extLst>
          </p:cNvPr>
          <p:cNvCxnSpPr>
            <a:cxnSpLocks/>
          </p:cNvCxnSpPr>
          <p:nvPr/>
        </p:nvCxnSpPr>
        <p:spPr>
          <a:xfrm flipV="1">
            <a:off x="6517293" y="5098727"/>
            <a:ext cx="2540861" cy="1"/>
          </a:xfrm>
          <a:prstGeom prst="straightConnector1">
            <a:avLst/>
          </a:prstGeom>
          <a:ln w="285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Text Placeholder 1">
            <a:extLst>
              <a:ext uri="{FF2B5EF4-FFF2-40B4-BE49-F238E27FC236}">
                <a16:creationId xmlns:a16="http://schemas.microsoft.com/office/drawing/2014/main" id="{660E6B57-7849-4F13-9851-AC14C8346C4B}"/>
              </a:ext>
            </a:extLst>
          </p:cNvPr>
          <p:cNvSpPr txBox="1">
            <a:spLocks/>
          </p:cNvSpPr>
          <p:nvPr/>
        </p:nvSpPr>
        <p:spPr>
          <a:xfrm>
            <a:off x="6732422" y="4402420"/>
            <a:ext cx="1532438" cy="696307"/>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Altitude</a:t>
            </a:r>
          </a:p>
          <a:p>
            <a:r>
              <a:rPr lang="en-US" sz="1200" dirty="0"/>
              <a:t>Mach</a:t>
            </a:r>
          </a:p>
          <a:p>
            <a:pPr marL="0" indent="0">
              <a:buNone/>
            </a:pPr>
            <a:endParaRPr lang="en-US" sz="1400" dirty="0"/>
          </a:p>
        </p:txBody>
      </p:sp>
      <p:sp>
        <p:nvSpPr>
          <p:cNvPr id="74" name="Text Placeholder 1">
            <a:extLst>
              <a:ext uri="{FF2B5EF4-FFF2-40B4-BE49-F238E27FC236}">
                <a16:creationId xmlns:a16="http://schemas.microsoft.com/office/drawing/2014/main" id="{948412B3-A993-4C7F-991F-E5627FEC3E3C}"/>
              </a:ext>
            </a:extLst>
          </p:cNvPr>
          <p:cNvSpPr txBox="1">
            <a:spLocks/>
          </p:cNvSpPr>
          <p:nvPr/>
        </p:nvSpPr>
        <p:spPr>
          <a:xfrm>
            <a:off x="9329069" y="4384136"/>
            <a:ext cx="1532438" cy="696307"/>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Altitude</a:t>
            </a:r>
          </a:p>
          <a:p>
            <a:r>
              <a:rPr lang="en-US" sz="1200" dirty="0"/>
              <a:t>Mach</a:t>
            </a:r>
          </a:p>
          <a:p>
            <a:pPr marL="0" indent="0">
              <a:buNone/>
            </a:pPr>
            <a:endParaRPr lang="en-US" sz="1400" dirty="0"/>
          </a:p>
        </p:txBody>
      </p:sp>
      <p:sp>
        <p:nvSpPr>
          <p:cNvPr id="75" name="Text Placeholder 1">
            <a:extLst>
              <a:ext uri="{FF2B5EF4-FFF2-40B4-BE49-F238E27FC236}">
                <a16:creationId xmlns:a16="http://schemas.microsoft.com/office/drawing/2014/main" id="{66D75C4F-50E7-491E-AE9C-88C0E5006E03}"/>
              </a:ext>
            </a:extLst>
          </p:cNvPr>
          <p:cNvSpPr txBox="1">
            <a:spLocks/>
          </p:cNvSpPr>
          <p:nvPr/>
        </p:nvSpPr>
        <p:spPr>
          <a:xfrm>
            <a:off x="7321608" y="5098728"/>
            <a:ext cx="994955" cy="195710"/>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Distance</a:t>
            </a:r>
          </a:p>
          <a:p>
            <a:pPr marL="0" indent="0">
              <a:buNone/>
            </a:pPr>
            <a:endParaRPr lang="en-US" sz="1400" dirty="0"/>
          </a:p>
        </p:txBody>
      </p:sp>
      <p:grpSp>
        <p:nvGrpSpPr>
          <p:cNvPr id="76" name="Group 75">
            <a:extLst>
              <a:ext uri="{FF2B5EF4-FFF2-40B4-BE49-F238E27FC236}">
                <a16:creationId xmlns:a16="http://schemas.microsoft.com/office/drawing/2014/main" id="{502CE9E6-A34A-483E-911B-87F329D79CC5}"/>
              </a:ext>
            </a:extLst>
          </p:cNvPr>
          <p:cNvGrpSpPr/>
          <p:nvPr/>
        </p:nvGrpSpPr>
        <p:grpSpPr>
          <a:xfrm>
            <a:off x="6210300" y="5307491"/>
            <a:ext cx="4711874" cy="696307"/>
            <a:chOff x="382208" y="5189198"/>
            <a:chExt cx="4711874" cy="696307"/>
          </a:xfrm>
        </p:grpSpPr>
        <p:sp>
          <p:nvSpPr>
            <p:cNvPr id="77" name="Rectangle: Rounded Corners 76">
              <a:extLst>
                <a:ext uri="{FF2B5EF4-FFF2-40B4-BE49-F238E27FC236}">
                  <a16:creationId xmlns:a16="http://schemas.microsoft.com/office/drawing/2014/main" id="{FA792496-BFE0-46BA-9602-89917614B4B3}"/>
                </a:ext>
              </a:extLst>
            </p:cNvPr>
            <p:cNvSpPr/>
            <p:nvPr/>
          </p:nvSpPr>
          <p:spPr>
            <a:xfrm>
              <a:off x="382208" y="5189198"/>
              <a:ext cx="4711874" cy="696307"/>
            </a:xfrm>
            <a:prstGeom prst="roundRect">
              <a:avLst>
                <a:gd name="adj" fmla="val 20273"/>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8" name="Text Placeholder 1">
              <a:extLst>
                <a:ext uri="{FF2B5EF4-FFF2-40B4-BE49-F238E27FC236}">
                  <a16:creationId xmlns:a16="http://schemas.microsoft.com/office/drawing/2014/main" id="{6EF2FE0F-74BA-407B-8F05-8D5139C55A52}"/>
                </a:ext>
              </a:extLst>
            </p:cNvPr>
            <p:cNvSpPr txBox="1">
              <a:spLocks/>
            </p:cNvSpPr>
            <p:nvPr/>
          </p:nvSpPr>
          <p:spPr>
            <a:xfrm>
              <a:off x="484498" y="5230346"/>
              <a:ext cx="4507295" cy="61401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i="1" dirty="0">
                  <a:solidFill>
                    <a:schemeClr val="bg1"/>
                  </a:solidFill>
                </a:rPr>
                <a:t>Use Case</a:t>
              </a:r>
              <a:r>
                <a:rPr lang="en-US" sz="1200" dirty="0">
                  <a:solidFill>
                    <a:schemeClr val="bg1"/>
                  </a:solidFill>
                </a:rPr>
                <a:t>: Simple segment definitions from top level requirements</a:t>
              </a:r>
            </a:p>
            <a:p>
              <a:pPr marL="0" indent="0">
                <a:buNone/>
              </a:pPr>
              <a:endParaRPr lang="en-US" sz="1200" dirty="0">
                <a:solidFill>
                  <a:schemeClr val="bg1"/>
                </a:solidFill>
              </a:endParaRPr>
            </a:p>
            <a:p>
              <a:pPr marL="0" indent="0">
                <a:buNone/>
              </a:pPr>
              <a:r>
                <a:rPr lang="en-US" sz="1200" b="1" dirty="0">
                  <a:solidFill>
                    <a:schemeClr val="bg1"/>
                  </a:solidFill>
                </a:rPr>
                <a:t>Aircraft characteristics </a:t>
              </a:r>
              <a:r>
                <a:rPr lang="en-US" sz="1200" dirty="0">
                  <a:solidFill>
                    <a:schemeClr val="bg1"/>
                  </a:solidFill>
                </a:rPr>
                <a:t>dictate the analysis</a:t>
              </a:r>
            </a:p>
          </p:txBody>
        </p:sp>
      </p:grpSp>
    </p:spTree>
    <p:extLst>
      <p:ext uri="{BB962C8B-B14F-4D97-AF65-F5344CB8AC3E}">
        <p14:creationId xmlns:p14="http://schemas.microsoft.com/office/powerpoint/2010/main" val="3555318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500"/>
                                        <p:tgtEl>
                                          <p:spTgt spid="5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fade">
                                      <p:cBhvr>
                                        <p:cTn id="18" dur="500"/>
                                        <p:tgtEl>
                                          <p:spTgt spid="5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fade">
                                      <p:cBhvr>
                                        <p:cTn id="21" dur="500"/>
                                        <p:tgtEl>
                                          <p:spTgt spid="6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1"/>
                                        </p:tgtEl>
                                        <p:attrNameLst>
                                          <p:attrName>style.visibility</p:attrName>
                                        </p:attrNameLst>
                                      </p:cBhvr>
                                      <p:to>
                                        <p:strVal val="visible"/>
                                      </p:to>
                                    </p:set>
                                    <p:animEffect transition="in" filter="fade">
                                      <p:cBhvr>
                                        <p:cTn id="24" dur="500"/>
                                        <p:tgtEl>
                                          <p:spTgt spid="61"/>
                                        </p:tgtEl>
                                      </p:cBhvr>
                                    </p:animEffect>
                                  </p:childTnLst>
                                </p:cTn>
                              </p:par>
                              <p:par>
                                <p:cTn id="25" presetID="10"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fade">
                                      <p:cBhvr>
                                        <p:cTn id="35" dur="500"/>
                                        <p:tgtEl>
                                          <p:spTgt spid="68"/>
                                        </p:tgtEl>
                                      </p:cBhvr>
                                    </p:animEffect>
                                  </p:childTnLst>
                                </p:cTn>
                              </p:par>
                              <p:par>
                                <p:cTn id="36" presetID="10" presetClass="entr" presetSubtype="0" fill="hold" nodeType="with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fade">
                                      <p:cBhvr>
                                        <p:cTn id="38" dur="500"/>
                                        <p:tgtEl>
                                          <p:spTgt spid="6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fade">
                                      <p:cBhvr>
                                        <p:cTn id="41" dur="500"/>
                                        <p:tgtEl>
                                          <p:spTgt spid="7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fade">
                                      <p:cBhvr>
                                        <p:cTn id="44" dur="500"/>
                                        <p:tgtEl>
                                          <p:spTgt spid="71"/>
                                        </p:tgtEl>
                                      </p:cBhvr>
                                    </p:animEffect>
                                  </p:childTnLst>
                                </p:cTn>
                              </p:par>
                              <p:par>
                                <p:cTn id="45" presetID="10" presetClass="entr" presetSubtype="0" fill="hold" nodeType="withEffect">
                                  <p:stCondLst>
                                    <p:cond delay="0"/>
                                  </p:stCondLst>
                                  <p:childTnLst>
                                    <p:set>
                                      <p:cBhvr>
                                        <p:cTn id="46" dur="1" fill="hold">
                                          <p:stCondLst>
                                            <p:cond delay="0"/>
                                          </p:stCondLst>
                                        </p:cTn>
                                        <p:tgtEl>
                                          <p:spTgt spid="72"/>
                                        </p:tgtEl>
                                        <p:attrNameLst>
                                          <p:attrName>style.visibility</p:attrName>
                                        </p:attrNameLst>
                                      </p:cBhvr>
                                      <p:to>
                                        <p:strVal val="visible"/>
                                      </p:to>
                                    </p:set>
                                    <p:animEffect transition="in" filter="fade">
                                      <p:cBhvr>
                                        <p:cTn id="47" dur="500"/>
                                        <p:tgtEl>
                                          <p:spTgt spid="7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fade">
                                      <p:cBhvr>
                                        <p:cTn id="50" dur="500"/>
                                        <p:tgtEl>
                                          <p:spTgt spid="7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fade">
                                      <p:cBhvr>
                                        <p:cTn id="53" dur="500"/>
                                        <p:tgtEl>
                                          <p:spTgt spid="7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5"/>
                                        </p:tgtEl>
                                        <p:attrNameLst>
                                          <p:attrName>style.visibility</p:attrName>
                                        </p:attrNameLst>
                                      </p:cBhvr>
                                      <p:to>
                                        <p:strVal val="visible"/>
                                      </p:to>
                                    </p:set>
                                    <p:animEffect transition="in" filter="fade">
                                      <p:cBhvr>
                                        <p:cTn id="56" dur="500"/>
                                        <p:tgtEl>
                                          <p:spTgt spid="7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6"/>
                                        </p:tgtEl>
                                        <p:attrNameLst>
                                          <p:attrName>style.visibility</p:attrName>
                                        </p:attrNameLst>
                                      </p:cBhvr>
                                      <p:to>
                                        <p:strVal val="visible"/>
                                      </p:to>
                                    </p:set>
                                    <p:animEffect transition="in" filter="fade">
                                      <p:cBhvr>
                                        <p:cTn id="66" dur="500"/>
                                        <p:tgtEl>
                                          <p:spTgt spid="7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5" grpId="0"/>
      <p:bldP spid="56" grpId="0"/>
      <p:bldP spid="57" grpId="0"/>
      <p:bldP spid="58" grpId="0" animBg="1"/>
      <p:bldP spid="59" grpId="0"/>
      <p:bldP spid="60" grpId="0" animBg="1"/>
      <p:bldP spid="61" grpId="0"/>
      <p:bldP spid="70" grpId="0" animBg="1"/>
      <p:bldP spid="71" grpId="0" animBg="1"/>
      <p:bldP spid="73" grpId="0"/>
      <p:bldP spid="74" grpId="0"/>
      <p:bldP spid="7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Simple Mission Analysis</a:t>
            </a:r>
          </a:p>
        </p:txBody>
      </p:sp>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8" y="1828800"/>
            <a:ext cx="6051454" cy="1600200"/>
          </a:xfrm>
        </p:spPr>
        <p:txBody>
          <a:bodyPr/>
          <a:lstStyle/>
          <a:p>
            <a:pPr marL="0" indent="0">
              <a:buNone/>
            </a:pPr>
            <a:r>
              <a:rPr lang="en-US" b="1" dirty="0"/>
              <a:t>Basics</a:t>
            </a:r>
          </a:p>
          <a:p>
            <a:r>
              <a:rPr lang="en-US" dirty="0"/>
              <a:t>The decision tree is based on the </a:t>
            </a:r>
            <a:r>
              <a:rPr lang="en-US" b="1" dirty="0"/>
              <a:t>Energy Height </a:t>
            </a:r>
            <a:r>
              <a:rPr lang="en-US" dirty="0"/>
              <a:t>concept</a:t>
            </a:r>
          </a:p>
          <a:p>
            <a:endParaRPr lang="en-US" dirty="0"/>
          </a:p>
          <a:p>
            <a:r>
              <a:rPr lang="en-US" dirty="0"/>
              <a:t>Any combination of acceleration and altitude change can be evaluated with a simple logic</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9EB31B1-990C-494F-925B-21CAEF2CEAFB}"/>
                  </a:ext>
                </a:extLst>
              </p:cNvPr>
              <p:cNvSpPr txBox="1"/>
              <p:nvPr/>
            </p:nvSpPr>
            <p:spPr>
              <a:xfrm>
                <a:off x="6728791" y="2031125"/>
                <a:ext cx="2681888" cy="4610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𝐸</m:t>
                      </m:r>
                      <m:r>
                        <a:rPr lang="en-US" sz="1600" b="0" i="1" smtClean="0">
                          <a:latin typeface="Cambria Math" panose="02040503050406030204" pitchFamily="18" charset="0"/>
                        </a:rPr>
                        <m:t>=</m:t>
                      </m:r>
                      <m:r>
                        <a:rPr lang="en-US" sz="1600" b="0" i="1" smtClean="0">
                          <a:latin typeface="Cambria Math" panose="02040503050406030204" pitchFamily="18" charset="0"/>
                        </a:rPr>
                        <m:t>𝑃𝐸</m:t>
                      </m:r>
                      <m:r>
                        <a:rPr lang="en-US" sz="1600" b="0" i="1" smtClean="0">
                          <a:latin typeface="Cambria Math" panose="02040503050406030204" pitchFamily="18" charset="0"/>
                        </a:rPr>
                        <m:t>+</m:t>
                      </m:r>
                      <m:r>
                        <a:rPr lang="en-US" sz="1600" b="0" i="1" smtClean="0">
                          <a:latin typeface="Cambria Math" panose="02040503050406030204" pitchFamily="18" charset="0"/>
                        </a:rPr>
                        <m:t>𝐾𝐸</m:t>
                      </m:r>
                      <m:r>
                        <a:rPr lang="en-US" sz="1600" b="0" i="1" smtClean="0">
                          <a:latin typeface="Cambria Math" panose="02040503050406030204" pitchFamily="18" charset="0"/>
                        </a:rPr>
                        <m:t>=</m:t>
                      </m:r>
                      <m:r>
                        <a:rPr lang="en-US" sz="1600" b="0" i="1" smtClean="0">
                          <a:latin typeface="Cambria Math" panose="02040503050406030204" pitchFamily="18" charset="0"/>
                        </a:rPr>
                        <m:t>𝑊h</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r>
                        <a:rPr lang="en-US" sz="1600" b="0" i="1" smtClean="0">
                          <a:latin typeface="Cambria Math" panose="02040503050406030204" pitchFamily="18" charset="0"/>
                        </a:rPr>
                        <m:t>𝑚</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𝑉</m:t>
                          </m:r>
                        </m:e>
                        <m:sup>
                          <m:r>
                            <a:rPr lang="en-US" sz="1600" b="0" i="1" smtClean="0">
                              <a:latin typeface="Cambria Math" panose="02040503050406030204" pitchFamily="18" charset="0"/>
                            </a:rPr>
                            <m:t>2</m:t>
                          </m:r>
                        </m:sup>
                      </m:sSup>
                    </m:oMath>
                  </m:oMathPara>
                </a14:m>
                <a:endParaRPr lang="en-US" sz="1600" dirty="0" err="1"/>
              </a:p>
            </p:txBody>
          </p:sp>
        </mc:Choice>
        <mc:Fallback xmlns="">
          <p:sp>
            <p:nvSpPr>
              <p:cNvPr id="2" name="TextBox 1">
                <a:extLst>
                  <a:ext uri="{FF2B5EF4-FFF2-40B4-BE49-F238E27FC236}">
                    <a16:creationId xmlns:a16="http://schemas.microsoft.com/office/drawing/2014/main" id="{69EB31B1-990C-494F-925B-21CAEF2CEAFB}"/>
                  </a:ext>
                </a:extLst>
              </p:cNvPr>
              <p:cNvSpPr txBox="1">
                <a:spLocks noRot="1" noChangeAspect="1" noMove="1" noResize="1" noEditPoints="1" noAdjustHandles="1" noChangeArrowheads="1" noChangeShapeType="1" noTextEdit="1"/>
              </p:cNvSpPr>
              <p:nvPr/>
            </p:nvSpPr>
            <p:spPr>
              <a:xfrm>
                <a:off x="6728791" y="2031125"/>
                <a:ext cx="2681888" cy="46102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55422D-F0C7-4FD7-9B3C-57DE8DF90CAB}"/>
                  </a:ext>
                </a:extLst>
              </p:cNvPr>
              <p:cNvSpPr txBox="1"/>
              <p:nvPr/>
            </p:nvSpPr>
            <p:spPr>
              <a:xfrm>
                <a:off x="9812520" y="1992973"/>
                <a:ext cx="1647694" cy="5373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𝐸</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𝐸</m:t>
                          </m:r>
                        </m:num>
                        <m:den>
                          <m:r>
                            <a:rPr lang="en-US" sz="1600" b="0" i="1" smtClean="0">
                              <a:latin typeface="Cambria Math" panose="02040503050406030204" pitchFamily="18" charset="0"/>
                            </a:rPr>
                            <m:t>𝑊</m:t>
                          </m:r>
                        </m:den>
                      </m:f>
                      <m:r>
                        <a:rPr lang="en-US" sz="1600" b="0" i="1" smtClean="0">
                          <a:latin typeface="Cambria Math" panose="02040503050406030204" pitchFamily="18" charset="0"/>
                        </a:rPr>
                        <m:t>=</m:t>
                      </m:r>
                      <m:r>
                        <a:rPr lang="en-US" sz="1600" b="0" i="1" smtClean="0">
                          <a:latin typeface="Cambria Math" panose="02040503050406030204" pitchFamily="18" charset="0"/>
                        </a:rPr>
                        <m:t>h</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𝑉</m:t>
                              </m:r>
                            </m:e>
                            <m:sup>
                              <m:r>
                                <a:rPr lang="en-US" sz="1600" b="0" i="1" smtClean="0">
                                  <a:latin typeface="Cambria Math" panose="02040503050406030204" pitchFamily="18" charset="0"/>
                                </a:rPr>
                                <m:t>2</m:t>
                              </m:r>
                            </m:sup>
                          </m:sSup>
                        </m:num>
                        <m:den>
                          <m:r>
                            <a:rPr lang="en-US" sz="1600" b="0" i="1" smtClean="0">
                              <a:latin typeface="Cambria Math" panose="02040503050406030204" pitchFamily="18" charset="0"/>
                            </a:rPr>
                            <m:t>2</m:t>
                          </m:r>
                          <m:r>
                            <a:rPr lang="en-US" sz="1600" b="0" i="1" smtClean="0">
                              <a:latin typeface="Cambria Math" panose="02040503050406030204" pitchFamily="18" charset="0"/>
                            </a:rPr>
                            <m:t>𝑔</m:t>
                          </m:r>
                        </m:den>
                      </m:f>
                      <m:r>
                        <a:rPr lang="en-US" sz="1600" b="0" i="1" smtClean="0">
                          <a:latin typeface="Cambria Math" panose="02040503050406030204" pitchFamily="18" charset="0"/>
                        </a:rPr>
                        <m:t> </m:t>
                      </m:r>
                    </m:oMath>
                  </m:oMathPara>
                </a14:m>
                <a:endParaRPr lang="en-US" sz="1600" dirty="0" err="1"/>
              </a:p>
            </p:txBody>
          </p:sp>
        </mc:Choice>
        <mc:Fallback xmlns="">
          <p:sp>
            <p:nvSpPr>
              <p:cNvPr id="5" name="TextBox 4">
                <a:extLst>
                  <a:ext uri="{FF2B5EF4-FFF2-40B4-BE49-F238E27FC236}">
                    <a16:creationId xmlns:a16="http://schemas.microsoft.com/office/drawing/2014/main" id="{F755422D-F0C7-4FD7-9B3C-57DE8DF90CAB}"/>
                  </a:ext>
                </a:extLst>
              </p:cNvPr>
              <p:cNvSpPr txBox="1">
                <a:spLocks noRot="1" noChangeAspect="1" noMove="1" noResize="1" noEditPoints="1" noAdjustHandles="1" noChangeArrowheads="1" noChangeShapeType="1" noTextEdit="1"/>
              </p:cNvSpPr>
              <p:nvPr/>
            </p:nvSpPr>
            <p:spPr>
              <a:xfrm>
                <a:off x="9812520" y="1992973"/>
                <a:ext cx="1647694" cy="53732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218CAF0-04FB-4E98-94E6-E021E957873B}"/>
                  </a:ext>
                </a:extLst>
              </p:cNvPr>
              <p:cNvSpPr txBox="1"/>
              <p:nvPr/>
            </p:nvSpPr>
            <p:spPr>
              <a:xfrm>
                <a:off x="6728792" y="2770777"/>
                <a:ext cx="1555106" cy="5107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𝐸</m:t>
                              </m:r>
                            </m:e>
                            <m:sub>
                              <m:r>
                                <a:rPr lang="en-US" sz="1600" b="0" i="1" smtClean="0">
                                  <a:latin typeface="Cambria Math" panose="02040503050406030204" pitchFamily="18" charset="0"/>
                                </a:rPr>
                                <m:t>𝑠</m:t>
                              </m:r>
                            </m:sub>
                          </m:sSub>
                        </m:num>
                        <m:den>
                          <m:r>
                            <a:rPr lang="en-US" sz="1600" b="0" i="1" smtClean="0">
                              <a:latin typeface="Cambria Math" panose="02040503050406030204" pitchFamily="18" charset="0"/>
                            </a:rPr>
                            <m:t>𝑑𝑡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𝑑h</m:t>
                          </m:r>
                        </m:num>
                        <m:den>
                          <m:r>
                            <a:rPr lang="en-US" sz="1600" b="0" i="1" smtClean="0">
                              <a:latin typeface="Cambria Math" panose="02040503050406030204" pitchFamily="18" charset="0"/>
                            </a:rPr>
                            <m:t>𝑑𝑡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𝑉</m:t>
                          </m:r>
                        </m:num>
                        <m:den>
                          <m:r>
                            <a:rPr lang="en-US" sz="1600" b="0" i="1" smtClean="0">
                              <a:latin typeface="Cambria Math" panose="02040503050406030204" pitchFamily="18" charset="0"/>
                            </a:rPr>
                            <m:t>𝑔</m:t>
                          </m:r>
                        </m:den>
                      </m:f>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𝑑𝑉</m:t>
                          </m:r>
                        </m:num>
                        <m:den>
                          <m:r>
                            <a:rPr lang="en-US" sz="1600" b="0" i="1" smtClean="0">
                              <a:latin typeface="Cambria Math" panose="02040503050406030204" pitchFamily="18" charset="0"/>
                            </a:rPr>
                            <m:t>𝑑𝑡</m:t>
                          </m:r>
                        </m:den>
                      </m:f>
                    </m:oMath>
                  </m:oMathPara>
                </a14:m>
                <a:endParaRPr lang="en-US" sz="1600" dirty="0" err="1"/>
              </a:p>
            </p:txBody>
          </p:sp>
        </mc:Choice>
        <mc:Fallback xmlns="">
          <p:sp>
            <p:nvSpPr>
              <p:cNvPr id="6" name="TextBox 5">
                <a:extLst>
                  <a:ext uri="{FF2B5EF4-FFF2-40B4-BE49-F238E27FC236}">
                    <a16:creationId xmlns:a16="http://schemas.microsoft.com/office/drawing/2014/main" id="{C218CAF0-04FB-4E98-94E6-E021E957873B}"/>
                  </a:ext>
                </a:extLst>
              </p:cNvPr>
              <p:cNvSpPr txBox="1">
                <a:spLocks noRot="1" noChangeAspect="1" noMove="1" noResize="1" noEditPoints="1" noAdjustHandles="1" noChangeArrowheads="1" noChangeShapeType="1" noTextEdit="1"/>
              </p:cNvSpPr>
              <p:nvPr/>
            </p:nvSpPr>
            <p:spPr>
              <a:xfrm>
                <a:off x="6728792" y="2770777"/>
                <a:ext cx="1555106" cy="51071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5B1856A-9533-4C64-ADCC-E0290971DDA0}"/>
                  </a:ext>
                </a:extLst>
              </p:cNvPr>
              <p:cNvSpPr txBox="1"/>
              <p:nvPr/>
            </p:nvSpPr>
            <p:spPr>
              <a:xfrm>
                <a:off x="8898836" y="2770776"/>
                <a:ext cx="1846468" cy="4675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𝐸</m:t>
                              </m:r>
                            </m:e>
                            <m:sub>
                              <m:r>
                                <a:rPr lang="en-US" sz="1600" b="0" i="1" smtClean="0">
                                  <a:latin typeface="Cambria Math" panose="02040503050406030204" pitchFamily="18" charset="0"/>
                                </a:rPr>
                                <m:t>𝑠</m:t>
                              </m:r>
                            </m:sub>
                          </m:sSub>
                        </m:num>
                        <m:den>
                          <m:r>
                            <a:rPr lang="en-US" sz="1600" b="0" i="1" smtClean="0">
                              <a:latin typeface="Cambria Math" panose="02040503050406030204" pitchFamily="18" charset="0"/>
                            </a:rPr>
                            <m:t>𝑑𝑡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𝑛</m:t>
                              </m:r>
                            </m:sub>
                          </m:sSub>
                          <m:r>
                            <a:rPr lang="en-US" sz="1600" b="0" i="1" smtClean="0">
                              <a:latin typeface="Cambria Math" panose="02040503050406030204" pitchFamily="18" charset="0"/>
                            </a:rPr>
                            <m:t>−</m:t>
                          </m:r>
                          <m:r>
                            <a:rPr lang="en-US" sz="1600" b="0" i="1" smtClean="0">
                              <a:latin typeface="Cambria Math" panose="02040503050406030204" pitchFamily="18" charset="0"/>
                            </a:rPr>
                            <m:t>𝐷</m:t>
                          </m:r>
                        </m:num>
                        <m:den>
                          <m:r>
                            <a:rPr lang="en-US" sz="1600" b="0" i="1" smtClean="0">
                              <a:latin typeface="Cambria Math" panose="02040503050406030204" pitchFamily="18" charset="0"/>
                            </a:rPr>
                            <m:t>𝑊</m:t>
                          </m:r>
                        </m:den>
                      </m:f>
                      <m:r>
                        <a:rPr lang="en-US" sz="1600" b="0" i="1" smtClean="0">
                          <a:latin typeface="Cambria Math" panose="02040503050406030204" pitchFamily="18" charset="0"/>
                        </a:rPr>
                        <m:t>𝑉</m:t>
                      </m:r>
                    </m:oMath>
                  </m:oMathPara>
                </a14:m>
                <a:endParaRPr lang="en-US" sz="1600" dirty="0" err="1"/>
              </a:p>
            </p:txBody>
          </p:sp>
        </mc:Choice>
        <mc:Fallback xmlns="">
          <p:sp>
            <p:nvSpPr>
              <p:cNvPr id="7" name="TextBox 6">
                <a:extLst>
                  <a:ext uri="{FF2B5EF4-FFF2-40B4-BE49-F238E27FC236}">
                    <a16:creationId xmlns:a16="http://schemas.microsoft.com/office/drawing/2014/main" id="{A5B1856A-9533-4C64-ADCC-E0290971DDA0}"/>
                  </a:ext>
                </a:extLst>
              </p:cNvPr>
              <p:cNvSpPr txBox="1">
                <a:spLocks noRot="1" noChangeAspect="1" noMove="1" noResize="1" noEditPoints="1" noAdjustHandles="1" noChangeArrowheads="1" noChangeShapeType="1" noTextEdit="1"/>
              </p:cNvSpPr>
              <p:nvPr/>
            </p:nvSpPr>
            <p:spPr>
              <a:xfrm>
                <a:off x="8898836" y="2770776"/>
                <a:ext cx="1846468" cy="4675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CEAFE80-DA27-4DAD-A3B9-1986973A0FAC}"/>
                  </a:ext>
                </a:extLst>
              </p:cNvPr>
              <p:cNvSpPr txBox="1"/>
              <p:nvPr/>
            </p:nvSpPr>
            <p:spPr>
              <a:xfrm>
                <a:off x="8395465" y="3754827"/>
                <a:ext cx="2030428" cy="5107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𝑑h</m:t>
                          </m:r>
                        </m:num>
                        <m:den>
                          <m:r>
                            <a:rPr lang="en-US" sz="1600" i="1">
                              <a:latin typeface="Cambria Math" panose="02040503050406030204" pitchFamily="18" charset="0"/>
                            </a:rPr>
                            <m:t>𝑑𝑡</m:t>
                          </m:r>
                        </m:den>
                      </m:f>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𝑉</m:t>
                          </m:r>
                        </m:num>
                        <m:den>
                          <m:r>
                            <a:rPr lang="en-US" sz="1600" i="1">
                              <a:latin typeface="Cambria Math" panose="02040503050406030204" pitchFamily="18" charset="0"/>
                            </a:rPr>
                            <m:t>𝑔</m:t>
                          </m:r>
                        </m:den>
                      </m:f>
                      <m:f>
                        <m:fPr>
                          <m:ctrlPr>
                            <a:rPr lang="en-US" sz="1600" i="1">
                              <a:latin typeface="Cambria Math" panose="02040503050406030204" pitchFamily="18" charset="0"/>
                            </a:rPr>
                          </m:ctrlPr>
                        </m:fPr>
                        <m:num>
                          <m:r>
                            <a:rPr lang="en-US" sz="1600" i="1">
                              <a:latin typeface="Cambria Math" panose="02040503050406030204" pitchFamily="18" charset="0"/>
                            </a:rPr>
                            <m:t>𝑑𝑉</m:t>
                          </m:r>
                        </m:num>
                        <m:den>
                          <m:r>
                            <a:rPr lang="en-US" sz="1600" i="1">
                              <a:latin typeface="Cambria Math" panose="02040503050406030204" pitchFamily="18" charset="0"/>
                            </a:rPr>
                            <m:t>𝑑𝑡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𝑛</m:t>
                              </m:r>
                            </m:sub>
                          </m:sSub>
                          <m:r>
                            <a:rPr lang="en-US" sz="1600" b="0" i="1" smtClean="0">
                              <a:latin typeface="Cambria Math" panose="02040503050406030204" pitchFamily="18" charset="0"/>
                            </a:rPr>
                            <m:t>−</m:t>
                          </m:r>
                          <m:r>
                            <a:rPr lang="en-US" sz="1600" b="0" i="1" smtClean="0">
                              <a:latin typeface="Cambria Math" panose="02040503050406030204" pitchFamily="18" charset="0"/>
                            </a:rPr>
                            <m:t>𝐷</m:t>
                          </m:r>
                        </m:num>
                        <m:den>
                          <m:r>
                            <a:rPr lang="en-US" sz="1600" b="0" i="1" smtClean="0">
                              <a:latin typeface="Cambria Math" panose="02040503050406030204" pitchFamily="18" charset="0"/>
                            </a:rPr>
                            <m:t>𝑊</m:t>
                          </m:r>
                        </m:den>
                      </m:f>
                      <m:r>
                        <a:rPr lang="en-US" sz="1600" b="0" i="1" smtClean="0">
                          <a:latin typeface="Cambria Math" panose="02040503050406030204" pitchFamily="18" charset="0"/>
                        </a:rPr>
                        <m:t>𝑉</m:t>
                      </m:r>
                    </m:oMath>
                  </m:oMathPara>
                </a14:m>
                <a:endParaRPr lang="en-US" sz="1600" dirty="0" err="1"/>
              </a:p>
            </p:txBody>
          </p:sp>
        </mc:Choice>
        <mc:Fallback xmlns="">
          <p:sp>
            <p:nvSpPr>
              <p:cNvPr id="8" name="TextBox 7">
                <a:extLst>
                  <a:ext uri="{FF2B5EF4-FFF2-40B4-BE49-F238E27FC236}">
                    <a16:creationId xmlns:a16="http://schemas.microsoft.com/office/drawing/2014/main" id="{8CEAFE80-DA27-4DAD-A3B9-1986973A0FAC}"/>
                  </a:ext>
                </a:extLst>
              </p:cNvPr>
              <p:cNvSpPr txBox="1">
                <a:spLocks noRot="1" noChangeAspect="1" noMove="1" noResize="1" noEditPoints="1" noAdjustHandles="1" noChangeArrowheads="1" noChangeShapeType="1" noTextEdit="1"/>
              </p:cNvSpPr>
              <p:nvPr/>
            </p:nvSpPr>
            <p:spPr>
              <a:xfrm>
                <a:off x="8395465" y="3754827"/>
                <a:ext cx="2030428" cy="510717"/>
              </a:xfrm>
              <a:prstGeom prst="rect">
                <a:avLst/>
              </a:prstGeom>
              <a:blipFill>
                <a:blip r:embed="rId6"/>
                <a:stretch>
                  <a:fillRect/>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AE508883-23F2-4B89-8F74-E67F3E13A134}"/>
              </a:ext>
            </a:extLst>
          </p:cNvPr>
          <p:cNvSpPr/>
          <p:nvPr/>
        </p:nvSpPr>
        <p:spPr>
          <a:xfrm>
            <a:off x="846964" y="4536777"/>
            <a:ext cx="365760" cy="36576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1</a:t>
            </a:r>
          </a:p>
        </p:txBody>
      </p:sp>
      <p:sp>
        <p:nvSpPr>
          <p:cNvPr id="11" name="Oval 10">
            <a:extLst>
              <a:ext uri="{FF2B5EF4-FFF2-40B4-BE49-F238E27FC236}">
                <a16:creationId xmlns:a16="http://schemas.microsoft.com/office/drawing/2014/main" id="{7EE68075-6D33-432B-9FFC-E69919054700}"/>
              </a:ext>
            </a:extLst>
          </p:cNvPr>
          <p:cNvSpPr/>
          <p:nvPr/>
        </p:nvSpPr>
        <p:spPr>
          <a:xfrm>
            <a:off x="5730240" y="4536777"/>
            <a:ext cx="365760" cy="36576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2</a:t>
            </a:r>
          </a:p>
        </p:txBody>
      </p:sp>
      <p:sp>
        <p:nvSpPr>
          <p:cNvPr id="13" name="Text Placeholder 1">
            <a:extLst>
              <a:ext uri="{FF2B5EF4-FFF2-40B4-BE49-F238E27FC236}">
                <a16:creationId xmlns:a16="http://schemas.microsoft.com/office/drawing/2014/main" id="{C02F912E-23AE-41AC-9361-6900038537A8}"/>
              </a:ext>
            </a:extLst>
          </p:cNvPr>
          <p:cNvSpPr txBox="1">
            <a:spLocks/>
          </p:cNvSpPr>
          <p:nvPr/>
        </p:nvSpPr>
        <p:spPr>
          <a:xfrm>
            <a:off x="1298122" y="4423821"/>
            <a:ext cx="1532438" cy="59167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h_1</a:t>
            </a:r>
          </a:p>
          <a:p>
            <a:r>
              <a:rPr lang="en-US" sz="1200" dirty="0"/>
              <a:t>M_1</a:t>
            </a:r>
          </a:p>
          <a:p>
            <a:r>
              <a:rPr lang="en-US" sz="1200" dirty="0"/>
              <a:t>R_1</a:t>
            </a:r>
            <a:endParaRPr lang="en-US" sz="1200" b="1" dirty="0"/>
          </a:p>
          <a:p>
            <a:endParaRPr lang="en-US" sz="1400" dirty="0"/>
          </a:p>
        </p:txBody>
      </p:sp>
      <p:sp>
        <p:nvSpPr>
          <p:cNvPr id="14" name="Text Placeholder 1">
            <a:extLst>
              <a:ext uri="{FF2B5EF4-FFF2-40B4-BE49-F238E27FC236}">
                <a16:creationId xmlns:a16="http://schemas.microsoft.com/office/drawing/2014/main" id="{A6C34770-1108-40AE-A3D2-66C4DEDEDEEA}"/>
              </a:ext>
            </a:extLst>
          </p:cNvPr>
          <p:cNvSpPr txBox="1">
            <a:spLocks/>
          </p:cNvSpPr>
          <p:nvPr/>
        </p:nvSpPr>
        <p:spPr>
          <a:xfrm>
            <a:off x="6178305" y="4423820"/>
            <a:ext cx="1532438" cy="59167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h_2</a:t>
            </a:r>
          </a:p>
          <a:p>
            <a:r>
              <a:rPr lang="en-US" sz="1200" dirty="0"/>
              <a:t>M_2</a:t>
            </a:r>
          </a:p>
          <a:p>
            <a:r>
              <a:rPr lang="en-US" sz="1200" dirty="0"/>
              <a:t>R_2</a:t>
            </a:r>
            <a:endParaRPr lang="en-US" sz="1200" b="1" dirty="0"/>
          </a:p>
          <a:p>
            <a:endParaRPr lang="en-US" sz="1400" dirty="0"/>
          </a:p>
        </p:txBody>
      </p:sp>
      <p:cxnSp>
        <p:nvCxnSpPr>
          <p:cNvPr id="15" name="Straight Arrow Connector 14">
            <a:extLst>
              <a:ext uri="{FF2B5EF4-FFF2-40B4-BE49-F238E27FC236}">
                <a16:creationId xmlns:a16="http://schemas.microsoft.com/office/drawing/2014/main" id="{D11FF668-A027-465F-ACDD-076BF146C457}"/>
              </a:ext>
            </a:extLst>
          </p:cNvPr>
          <p:cNvCxnSpPr>
            <a:cxnSpLocks/>
            <a:stCxn id="17" idx="2"/>
            <a:endCxn id="10" idx="0"/>
          </p:cNvCxnSpPr>
          <p:nvPr/>
        </p:nvCxnSpPr>
        <p:spPr>
          <a:xfrm>
            <a:off x="1029844" y="4026568"/>
            <a:ext cx="0" cy="5102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B9AA701-CBEC-4CAB-91B0-E4EA7E8D39A0}"/>
              </a:ext>
            </a:extLst>
          </p:cNvPr>
          <p:cNvCxnSpPr>
            <a:cxnSpLocks/>
            <a:stCxn id="22" idx="2"/>
          </p:cNvCxnSpPr>
          <p:nvPr/>
        </p:nvCxnSpPr>
        <p:spPr>
          <a:xfrm>
            <a:off x="5913120" y="4026568"/>
            <a:ext cx="0" cy="5008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788F1578-DF92-4590-9A08-80E7CC716987}"/>
              </a:ext>
            </a:extLst>
          </p:cNvPr>
          <p:cNvSpPr/>
          <p:nvPr/>
        </p:nvSpPr>
        <p:spPr>
          <a:xfrm>
            <a:off x="488163" y="3660808"/>
            <a:ext cx="1083361" cy="365760"/>
          </a:xfrm>
          <a:prstGeom prst="round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Start</a:t>
            </a:r>
          </a:p>
        </p:txBody>
      </p:sp>
      <p:sp>
        <p:nvSpPr>
          <p:cNvPr id="22" name="Rectangle: Rounded Corners 21">
            <a:extLst>
              <a:ext uri="{FF2B5EF4-FFF2-40B4-BE49-F238E27FC236}">
                <a16:creationId xmlns:a16="http://schemas.microsoft.com/office/drawing/2014/main" id="{EFD92791-149D-4023-8C94-4FFF7DCEA0B2}"/>
              </a:ext>
            </a:extLst>
          </p:cNvPr>
          <p:cNvSpPr/>
          <p:nvPr/>
        </p:nvSpPr>
        <p:spPr>
          <a:xfrm>
            <a:off x="5371439" y="3660808"/>
            <a:ext cx="1083361" cy="365760"/>
          </a:xfrm>
          <a:prstGeom prst="round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Target</a:t>
            </a:r>
          </a:p>
        </p:txBody>
      </p:sp>
      <p:sp>
        <p:nvSpPr>
          <p:cNvPr id="26" name="Oval 25">
            <a:extLst>
              <a:ext uri="{FF2B5EF4-FFF2-40B4-BE49-F238E27FC236}">
                <a16:creationId xmlns:a16="http://schemas.microsoft.com/office/drawing/2014/main" id="{4AEC3C66-449C-4456-86F8-2CA23DE8BF19}"/>
              </a:ext>
            </a:extLst>
          </p:cNvPr>
          <p:cNvSpPr/>
          <p:nvPr/>
        </p:nvSpPr>
        <p:spPr>
          <a:xfrm>
            <a:off x="3520185" y="4536777"/>
            <a:ext cx="365760" cy="365760"/>
          </a:xfrm>
          <a:prstGeom prst="ellipse">
            <a:avLst/>
          </a:prstGeom>
          <a:solidFill>
            <a:srgbClr val="C8C4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a:t>
            </a:r>
          </a:p>
        </p:txBody>
      </p:sp>
      <p:sp>
        <p:nvSpPr>
          <p:cNvPr id="27" name="Text Placeholder 1">
            <a:extLst>
              <a:ext uri="{FF2B5EF4-FFF2-40B4-BE49-F238E27FC236}">
                <a16:creationId xmlns:a16="http://schemas.microsoft.com/office/drawing/2014/main" id="{6E2090AB-B22B-472F-8999-DC009E331832}"/>
              </a:ext>
            </a:extLst>
          </p:cNvPr>
          <p:cNvSpPr txBox="1">
            <a:spLocks/>
          </p:cNvSpPr>
          <p:nvPr/>
        </p:nvSpPr>
        <p:spPr>
          <a:xfrm>
            <a:off x="3968250" y="4423819"/>
            <a:ext cx="1532438" cy="59167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err="1"/>
              <a:t>h_i</a:t>
            </a:r>
            <a:endParaRPr lang="en-US" sz="1200" dirty="0"/>
          </a:p>
          <a:p>
            <a:r>
              <a:rPr lang="en-US" sz="1200" dirty="0" err="1"/>
              <a:t>M_i</a:t>
            </a:r>
            <a:endParaRPr lang="en-US" sz="1200" dirty="0"/>
          </a:p>
          <a:p>
            <a:r>
              <a:rPr lang="en-US" sz="1200" dirty="0" err="1"/>
              <a:t>R_i</a:t>
            </a:r>
            <a:endParaRPr lang="en-US" sz="1200" b="1" dirty="0"/>
          </a:p>
          <a:p>
            <a:endParaRPr lang="en-US" sz="1400" dirty="0"/>
          </a:p>
        </p:txBody>
      </p:sp>
      <p:grpSp>
        <p:nvGrpSpPr>
          <p:cNvPr id="28" name="Group 27">
            <a:extLst>
              <a:ext uri="{FF2B5EF4-FFF2-40B4-BE49-F238E27FC236}">
                <a16:creationId xmlns:a16="http://schemas.microsoft.com/office/drawing/2014/main" id="{FBB01515-DB46-4F6F-BFE2-F286B774287A}"/>
              </a:ext>
            </a:extLst>
          </p:cNvPr>
          <p:cNvGrpSpPr/>
          <p:nvPr/>
        </p:nvGrpSpPr>
        <p:grpSpPr>
          <a:xfrm>
            <a:off x="2959279" y="4072938"/>
            <a:ext cx="365756" cy="1293432"/>
            <a:chOff x="2959279" y="4105061"/>
            <a:chExt cx="365756" cy="1293432"/>
          </a:xfrm>
        </p:grpSpPr>
        <p:sp>
          <p:nvSpPr>
            <p:cNvPr id="25" name="Rectangle 24">
              <a:extLst>
                <a:ext uri="{FF2B5EF4-FFF2-40B4-BE49-F238E27FC236}">
                  <a16:creationId xmlns:a16="http://schemas.microsoft.com/office/drawing/2014/main" id="{958C7DE1-760F-4370-947F-2CB5585D90F6}"/>
                </a:ext>
              </a:extLst>
            </p:cNvPr>
            <p:cNvSpPr/>
            <p:nvPr/>
          </p:nvSpPr>
          <p:spPr>
            <a:xfrm>
              <a:off x="2959279" y="4105061"/>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i-1</a:t>
              </a:r>
            </a:p>
          </p:txBody>
        </p:sp>
        <p:sp>
          <p:nvSpPr>
            <p:cNvPr id="29" name="Rectangle 28">
              <a:extLst>
                <a:ext uri="{FF2B5EF4-FFF2-40B4-BE49-F238E27FC236}">
                  <a16:creationId xmlns:a16="http://schemas.microsoft.com/office/drawing/2014/main" id="{3B777DD6-E87D-40D8-82C6-B26CF01E8480}"/>
                </a:ext>
              </a:extLst>
            </p:cNvPr>
            <p:cNvSpPr/>
            <p:nvPr/>
          </p:nvSpPr>
          <p:spPr>
            <a:xfrm>
              <a:off x="2959279" y="4266740"/>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i-2</a:t>
              </a:r>
            </a:p>
          </p:txBody>
        </p:sp>
        <p:sp>
          <p:nvSpPr>
            <p:cNvPr id="30" name="Rectangle 29">
              <a:extLst>
                <a:ext uri="{FF2B5EF4-FFF2-40B4-BE49-F238E27FC236}">
                  <a16:creationId xmlns:a16="http://schemas.microsoft.com/office/drawing/2014/main" id="{86094FE5-A8C8-4C36-ABC9-F806646016BD}"/>
                </a:ext>
              </a:extLst>
            </p:cNvPr>
            <p:cNvSpPr/>
            <p:nvPr/>
          </p:nvSpPr>
          <p:spPr>
            <a:xfrm>
              <a:off x="2959279" y="4428419"/>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t>
              </a:r>
            </a:p>
          </p:txBody>
        </p:sp>
        <p:sp>
          <p:nvSpPr>
            <p:cNvPr id="31" name="Rectangle 30">
              <a:extLst>
                <a:ext uri="{FF2B5EF4-FFF2-40B4-BE49-F238E27FC236}">
                  <a16:creationId xmlns:a16="http://schemas.microsoft.com/office/drawing/2014/main" id="{464F936A-B456-491A-8408-75185A64660A}"/>
                </a:ext>
              </a:extLst>
            </p:cNvPr>
            <p:cNvSpPr/>
            <p:nvPr/>
          </p:nvSpPr>
          <p:spPr>
            <a:xfrm>
              <a:off x="2959279" y="4590098"/>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t>
              </a:r>
            </a:p>
          </p:txBody>
        </p:sp>
        <p:sp>
          <p:nvSpPr>
            <p:cNvPr id="33" name="Rectangle 32">
              <a:extLst>
                <a:ext uri="{FF2B5EF4-FFF2-40B4-BE49-F238E27FC236}">
                  <a16:creationId xmlns:a16="http://schemas.microsoft.com/office/drawing/2014/main" id="{C3130F92-EDBA-49D1-ADCE-0E0D5946F4F5}"/>
                </a:ext>
              </a:extLst>
            </p:cNvPr>
            <p:cNvSpPr/>
            <p:nvPr/>
          </p:nvSpPr>
          <p:spPr>
            <a:xfrm>
              <a:off x="2959279" y="4751777"/>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t>
              </a:r>
            </a:p>
          </p:txBody>
        </p:sp>
        <p:sp>
          <p:nvSpPr>
            <p:cNvPr id="34" name="Rectangle 33">
              <a:extLst>
                <a:ext uri="{FF2B5EF4-FFF2-40B4-BE49-F238E27FC236}">
                  <a16:creationId xmlns:a16="http://schemas.microsoft.com/office/drawing/2014/main" id="{A19E2AE8-C714-4108-BF0B-16A86AB78E5C}"/>
                </a:ext>
              </a:extLst>
            </p:cNvPr>
            <p:cNvSpPr/>
            <p:nvPr/>
          </p:nvSpPr>
          <p:spPr>
            <a:xfrm>
              <a:off x="2959279" y="4913456"/>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35" name="Rectangle 34">
              <a:extLst>
                <a:ext uri="{FF2B5EF4-FFF2-40B4-BE49-F238E27FC236}">
                  <a16:creationId xmlns:a16="http://schemas.microsoft.com/office/drawing/2014/main" id="{B48EF1E2-FF7C-4461-9D53-49F5C6BCE3B0}"/>
                </a:ext>
              </a:extLst>
            </p:cNvPr>
            <p:cNvSpPr/>
            <p:nvPr/>
          </p:nvSpPr>
          <p:spPr>
            <a:xfrm>
              <a:off x="2959279" y="5075135"/>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sp>
          <p:nvSpPr>
            <p:cNvPr id="36" name="Rectangle 35">
              <a:extLst>
                <a:ext uri="{FF2B5EF4-FFF2-40B4-BE49-F238E27FC236}">
                  <a16:creationId xmlns:a16="http://schemas.microsoft.com/office/drawing/2014/main" id="{9E4F1783-2F9C-4346-AB3B-830A1786C478}"/>
                </a:ext>
              </a:extLst>
            </p:cNvPr>
            <p:cNvSpPr/>
            <p:nvPr/>
          </p:nvSpPr>
          <p:spPr>
            <a:xfrm>
              <a:off x="2959279" y="5236814"/>
              <a:ext cx="365756" cy="161679"/>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0</a:t>
              </a:r>
            </a:p>
          </p:txBody>
        </p:sp>
      </p:grpSp>
      <p:sp>
        <p:nvSpPr>
          <p:cNvPr id="37" name="Rectangle: Rounded Corners 36">
            <a:extLst>
              <a:ext uri="{FF2B5EF4-FFF2-40B4-BE49-F238E27FC236}">
                <a16:creationId xmlns:a16="http://schemas.microsoft.com/office/drawing/2014/main" id="{9126759B-E696-432D-86DE-4D2C603FAF8D}"/>
              </a:ext>
            </a:extLst>
          </p:cNvPr>
          <p:cNvSpPr/>
          <p:nvPr/>
        </p:nvSpPr>
        <p:spPr>
          <a:xfrm>
            <a:off x="3161384" y="3656118"/>
            <a:ext cx="1083361" cy="365760"/>
          </a:xfrm>
          <a:prstGeom prst="round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State </a:t>
            </a:r>
            <a:r>
              <a:rPr lang="en-US" sz="1600" dirty="0" err="1">
                <a:solidFill>
                  <a:schemeClr val="tx1"/>
                </a:solidFill>
              </a:rPr>
              <a:t>i</a:t>
            </a:r>
            <a:endParaRPr lang="en-US" sz="1600" dirty="0">
              <a:solidFill>
                <a:schemeClr val="tx1"/>
              </a:solidFill>
            </a:endParaRPr>
          </a:p>
        </p:txBody>
      </p:sp>
      <p:cxnSp>
        <p:nvCxnSpPr>
          <p:cNvPr id="39" name="Straight Arrow Connector 38">
            <a:extLst>
              <a:ext uri="{FF2B5EF4-FFF2-40B4-BE49-F238E27FC236}">
                <a16:creationId xmlns:a16="http://schemas.microsoft.com/office/drawing/2014/main" id="{CCDA4E58-520B-4131-B4AC-93C59D19D1B4}"/>
              </a:ext>
            </a:extLst>
          </p:cNvPr>
          <p:cNvCxnSpPr>
            <a:cxnSpLocks/>
            <a:stCxn id="37" idx="2"/>
            <a:endCxn id="26" idx="0"/>
          </p:cNvCxnSpPr>
          <p:nvPr/>
        </p:nvCxnSpPr>
        <p:spPr>
          <a:xfrm>
            <a:off x="3703065" y="4021878"/>
            <a:ext cx="0" cy="5148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1">
            <a:extLst>
              <a:ext uri="{FF2B5EF4-FFF2-40B4-BE49-F238E27FC236}">
                <a16:creationId xmlns:a16="http://schemas.microsoft.com/office/drawing/2014/main" id="{F1741AA5-9C71-415A-A6C6-E13B10AD0E5B}"/>
              </a:ext>
            </a:extLst>
          </p:cNvPr>
          <p:cNvSpPr txBox="1">
            <a:spLocks/>
          </p:cNvSpPr>
          <p:nvPr/>
        </p:nvSpPr>
        <p:spPr>
          <a:xfrm>
            <a:off x="2698051" y="5459358"/>
            <a:ext cx="926666" cy="24410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State vector</a:t>
            </a:r>
            <a:endParaRPr lang="en-US" sz="1200" b="1"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9FAF2A1-12A1-45DF-BF25-576A7A0F3753}"/>
                  </a:ext>
                </a:extLst>
              </p:cNvPr>
              <p:cNvSpPr txBox="1"/>
              <p:nvPr/>
            </p:nvSpPr>
            <p:spPr>
              <a:xfrm>
                <a:off x="7297247" y="4827007"/>
                <a:ext cx="4181979" cy="12785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𝑊</m:t>
                              </m:r>
                            </m:e>
                            <m:sub>
                              <m:r>
                                <a:rPr lang="en-US" sz="1600" b="0" i="1" smtClean="0">
                                  <a:latin typeface="Cambria Math" panose="02040503050406030204" pitchFamily="18" charset="0"/>
                                </a:rPr>
                                <m:t>𝑓𝑖𝑛𝑎𝑙</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b="0" i="1" smtClean="0">
                                  <a:latin typeface="Cambria Math" panose="02040503050406030204" pitchFamily="18" charset="0"/>
                                </a:rPr>
                                <m:t>𝑖𝑛𝑖𝑡𝑖𝑎𝑙</m:t>
                              </m:r>
                            </m:sub>
                          </m:sSub>
                        </m:den>
                      </m:f>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exp</m:t>
                          </m:r>
                        </m:fName>
                        <m:e>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𝑇𝑆𝐹𝐶</m:t>
                                  </m:r>
                                </m:num>
                                <m:den>
                                  <m:r>
                                    <a:rPr lang="en-US" sz="1600" b="0" i="1" smtClean="0">
                                      <a:latin typeface="Cambria Math" panose="02040503050406030204" pitchFamily="18" charset="0"/>
                                    </a:rPr>
                                    <m:t>𝑉</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1−</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𝐷</m:t>
                                          </m:r>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𝑛</m:t>
                                              </m:r>
                                            </m:sub>
                                          </m:sSub>
                                        </m:den>
                                      </m:f>
                                    </m:e>
                                  </m:d>
                                </m:den>
                              </m:f>
                              <m:r>
                                <m:rPr>
                                  <m:sty m:val="p"/>
                                </m:rPr>
                                <a:rPr lang="en-US" sz="1600" b="0" i="0" smtClean="0">
                                  <a:latin typeface="Cambria Math" panose="02040503050406030204" pitchFamily="18" charset="0"/>
                                </a:rPr>
                                <m:t>Δ</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𝐸</m:t>
                                  </m:r>
                                </m:sub>
                              </m:sSub>
                            </m:e>
                          </m:d>
                        </m:e>
                      </m:func>
                    </m:oMath>
                  </m:oMathPara>
                </a14:m>
                <a:endParaRPr lang="en-US" sz="1600" b="0" dirty="0"/>
              </a:p>
              <a:p>
                <a:endParaRPr lang="en-US" sz="1600" b="0" dirty="0"/>
              </a:p>
              <a:p>
                <a:r>
                  <a:rPr lang="en-US" sz="1600" dirty="0"/>
                  <a:t>where </a:t>
                </a:r>
                <a14:m>
                  <m:oMath xmlns:m="http://schemas.openxmlformats.org/officeDocument/2006/math">
                    <m:r>
                      <m:rPr>
                        <m:sty m:val="p"/>
                      </m:rPr>
                      <a:rPr lang="en-US" sz="1600">
                        <a:latin typeface="Cambria Math" panose="02040503050406030204" pitchFamily="18" charset="0"/>
                      </a:rPr>
                      <m:t>Δ</m:t>
                    </m:r>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a:rPr lang="en-US" sz="1600" i="1">
                            <a:latin typeface="Cambria Math" panose="02040503050406030204" pitchFamily="18" charset="0"/>
                          </a:rPr>
                          <m:t>𝐸</m:t>
                        </m:r>
                      </m:sub>
                    </m:sSub>
                  </m:oMath>
                </a14:m>
                <a:r>
                  <a:rPr lang="en-US" sz="1600" dirty="0"/>
                  <a:t> is the total change in energy height</a:t>
                </a:r>
              </a:p>
            </p:txBody>
          </p:sp>
        </mc:Choice>
        <mc:Fallback xmlns="">
          <p:sp>
            <p:nvSpPr>
              <p:cNvPr id="44" name="TextBox 43">
                <a:extLst>
                  <a:ext uri="{FF2B5EF4-FFF2-40B4-BE49-F238E27FC236}">
                    <a16:creationId xmlns:a16="http://schemas.microsoft.com/office/drawing/2014/main" id="{19FAF2A1-12A1-45DF-BF25-576A7A0F3753}"/>
                  </a:ext>
                </a:extLst>
              </p:cNvPr>
              <p:cNvSpPr txBox="1">
                <a:spLocks noRot="1" noChangeAspect="1" noMove="1" noResize="1" noEditPoints="1" noAdjustHandles="1" noChangeArrowheads="1" noChangeShapeType="1" noTextEdit="1"/>
              </p:cNvSpPr>
              <p:nvPr/>
            </p:nvSpPr>
            <p:spPr>
              <a:xfrm>
                <a:off x="7297247" y="4827007"/>
                <a:ext cx="4181979" cy="1278555"/>
              </a:xfrm>
              <a:prstGeom prst="rect">
                <a:avLst/>
              </a:prstGeom>
              <a:blipFill>
                <a:blip r:embed="rId7"/>
                <a:stretch>
                  <a:fillRect l="-2915" r="-1603" b="-8571"/>
                </a:stretch>
              </a:blipFill>
            </p:spPr>
            <p:txBody>
              <a:bodyPr/>
              <a:lstStyle/>
              <a:p>
                <a:r>
                  <a:rPr lang="en-US">
                    <a:noFill/>
                  </a:rPr>
                  <a:t> </a:t>
                </a:r>
              </a:p>
            </p:txBody>
          </p:sp>
        </mc:Fallback>
      </mc:AlternateContent>
    </p:spTree>
    <p:extLst>
      <p:ext uri="{BB962C8B-B14F-4D97-AF65-F5344CB8AC3E}">
        <p14:creationId xmlns:p14="http://schemas.microsoft.com/office/powerpoint/2010/main" val="215040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3" end="3"/>
                                            </p:txEl>
                                          </p:spTgt>
                                        </p:tgtEl>
                                        <p:attrNameLst>
                                          <p:attrName>style.visibility</p:attrName>
                                        </p:attrNameLst>
                                      </p:cBhvr>
                                      <p:to>
                                        <p:strVal val="visible"/>
                                      </p:to>
                                    </p:set>
                                    <p:animEffect transition="in" filter="fade">
                                      <p:cBhvr>
                                        <p:cTn id="15" dur="500"/>
                                        <p:tgtEl>
                                          <p:spTgt spid="3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500"/>
                                        <p:tgtEl>
                                          <p:spTgt spid="37"/>
                                        </p:tgtEl>
                                      </p:cBhvr>
                                    </p:animEffect>
                                  </p:childTnLst>
                                </p:cTn>
                              </p:par>
                              <p:par>
                                <p:cTn id="69" presetID="10" presetClass="entr" presetSubtype="0"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500"/>
                                        <p:tgtEl>
                                          <p:spTgt spid="3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10" grpId="0" animBg="1"/>
      <p:bldP spid="11" grpId="0" animBg="1"/>
      <p:bldP spid="13" grpId="0"/>
      <p:bldP spid="14" grpId="0"/>
      <p:bldP spid="17" grpId="0" animBg="1"/>
      <p:bldP spid="22" grpId="0" animBg="1"/>
      <p:bldP spid="26" grpId="0" animBg="1"/>
      <p:bldP spid="27" grpId="0"/>
      <p:bldP spid="37" grpId="0" animBg="1"/>
      <p:bldP spid="43" grpId="0"/>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Simple Mission Analysis</a:t>
            </a:r>
          </a:p>
        </p:txBody>
      </p:sp>
      <p:sp>
        <p:nvSpPr>
          <p:cNvPr id="19" name="Flowchart: Decision 18">
            <a:extLst>
              <a:ext uri="{FF2B5EF4-FFF2-40B4-BE49-F238E27FC236}">
                <a16:creationId xmlns:a16="http://schemas.microsoft.com/office/drawing/2014/main" id="{5DCEFA90-6C69-4BE2-8484-A85B7BED3855}"/>
              </a:ext>
            </a:extLst>
          </p:cNvPr>
          <p:cNvSpPr/>
          <p:nvPr/>
        </p:nvSpPr>
        <p:spPr>
          <a:xfrm>
            <a:off x="5548312" y="1766416"/>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8" name="Content Placeholder 1">
            <a:extLst>
              <a:ext uri="{FF2B5EF4-FFF2-40B4-BE49-F238E27FC236}">
                <a16:creationId xmlns:a16="http://schemas.microsoft.com/office/drawing/2014/main" id="{A4B0B7AF-2DD6-4A94-8E93-BD9DD7A6853F}"/>
              </a:ext>
            </a:extLst>
          </p:cNvPr>
          <p:cNvSpPr>
            <a:spLocks noGrp="1"/>
          </p:cNvSpPr>
          <p:nvPr>
            <p:ph idx="1"/>
          </p:nvPr>
        </p:nvSpPr>
        <p:spPr>
          <a:xfrm>
            <a:off x="677338" y="1828800"/>
            <a:ext cx="3418412" cy="304800"/>
          </a:xfrm>
        </p:spPr>
        <p:txBody>
          <a:bodyPr/>
          <a:lstStyle/>
          <a:p>
            <a:pPr marL="0" indent="0">
              <a:buNone/>
            </a:pPr>
            <a:r>
              <a:rPr lang="en-US" b="1" dirty="0"/>
              <a:t>Decision Tree – State Transition</a:t>
            </a:r>
          </a:p>
        </p:txBody>
      </p:sp>
      <p:cxnSp>
        <p:nvCxnSpPr>
          <p:cNvPr id="21" name="Straight Arrow Connector 20">
            <a:extLst>
              <a:ext uri="{FF2B5EF4-FFF2-40B4-BE49-F238E27FC236}">
                <a16:creationId xmlns:a16="http://schemas.microsoft.com/office/drawing/2014/main" id="{50CBA99B-EE2B-44CF-AB68-AC8E6A1854A8}"/>
              </a:ext>
            </a:extLst>
          </p:cNvPr>
          <p:cNvCxnSpPr>
            <a:cxnSpLocks/>
            <a:stCxn id="40" idx="4"/>
            <a:endCxn id="19" idx="0"/>
          </p:cNvCxnSpPr>
          <p:nvPr/>
        </p:nvCxnSpPr>
        <p:spPr>
          <a:xfrm>
            <a:off x="6096000" y="1459230"/>
            <a:ext cx="0" cy="307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B60C2E5-62B8-46B3-920D-D5E105D3C595}"/>
              </a:ext>
            </a:extLst>
          </p:cNvPr>
          <p:cNvSpPr/>
          <p:nvPr/>
        </p:nvSpPr>
        <p:spPr>
          <a:xfrm>
            <a:off x="6004560" y="1276350"/>
            <a:ext cx="182880" cy="18288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mc:AlternateContent xmlns:mc="http://schemas.openxmlformats.org/markup-compatibility/2006" xmlns:a14="http://schemas.microsoft.com/office/drawing/2010/main">
        <mc:Choice Requires="a14">
          <p:sp>
            <p:nvSpPr>
              <p:cNvPr id="42" name="Text Placeholder 1">
                <a:extLst>
                  <a:ext uri="{FF2B5EF4-FFF2-40B4-BE49-F238E27FC236}">
                    <a16:creationId xmlns:a16="http://schemas.microsoft.com/office/drawing/2014/main" id="{30DB9661-E473-464A-B480-E73156FD6328}"/>
                  </a:ext>
                </a:extLst>
              </p:cNvPr>
              <p:cNvSpPr txBox="1">
                <a:spLocks/>
              </p:cNvSpPr>
              <p:nvPr/>
            </p:nvSpPr>
            <p:spPr>
              <a:xfrm>
                <a:off x="6302025" y="1544046"/>
                <a:ext cx="1778699" cy="35065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𝑬</m:t>
                              </m:r>
                            </m:e>
                            <m:sub>
                              <m:r>
                                <a:rPr lang="en-US" sz="1600" b="1" i="1" smtClean="0">
                                  <a:latin typeface="Cambria Math" panose="02040503050406030204" pitchFamily="18" charset="0"/>
                                </a:rPr>
                                <m:t>𝒔</m:t>
                              </m:r>
                            </m:sub>
                          </m:sSub>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m:t>
                      </m:r>
                      <m:sSub>
                        <m:sSubPr>
                          <m:ctrlPr>
                            <a:rPr lang="en-US" sz="1600" b="1" i="1" smtClean="0">
                              <a:latin typeface="Cambria Math" panose="02040503050406030204" pitchFamily="18" charset="0"/>
                            </a:rPr>
                          </m:ctrlPr>
                        </m:sSubPr>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𝑬</m:t>
                              </m:r>
                            </m:e>
                            <m:sub>
                              <m:r>
                                <a:rPr lang="en-US" sz="1600" b="1" i="1" smtClean="0">
                                  <a:latin typeface="Cambria Math" panose="02040503050406030204" pitchFamily="18" charset="0"/>
                                </a:rPr>
                                <m:t>𝒔</m:t>
                              </m:r>
                            </m:sub>
                          </m:sSub>
                        </m:e>
                        <m:sub>
                          <m:r>
                            <a:rPr lang="en-US" sz="1600" b="1" i="1" smtClean="0">
                              <a:latin typeface="Cambria Math" panose="02040503050406030204" pitchFamily="18" charset="0"/>
                            </a:rPr>
                            <m:t>𝒊</m:t>
                          </m:r>
                        </m:sub>
                      </m:sSub>
                    </m:oMath>
                  </m:oMathPara>
                </a14:m>
                <a:endParaRPr lang="en-US" sz="1600" b="1" dirty="0"/>
              </a:p>
            </p:txBody>
          </p:sp>
        </mc:Choice>
        <mc:Fallback xmlns="">
          <p:sp>
            <p:nvSpPr>
              <p:cNvPr id="42" name="Text Placeholder 1">
                <a:extLst>
                  <a:ext uri="{FF2B5EF4-FFF2-40B4-BE49-F238E27FC236}">
                    <a16:creationId xmlns:a16="http://schemas.microsoft.com/office/drawing/2014/main" id="{30DB9661-E473-464A-B480-E73156FD6328}"/>
                  </a:ext>
                </a:extLst>
              </p:cNvPr>
              <p:cNvSpPr txBox="1">
                <a:spLocks noRot="1" noChangeAspect="1" noMove="1" noResize="1" noEditPoints="1" noAdjustHandles="1" noChangeArrowheads="1" noChangeShapeType="1" noTextEdit="1"/>
              </p:cNvSpPr>
              <p:nvPr/>
            </p:nvSpPr>
            <p:spPr>
              <a:xfrm>
                <a:off x="6302025" y="1544046"/>
                <a:ext cx="1778699" cy="350651"/>
              </a:xfrm>
              <a:prstGeom prst="rect">
                <a:avLst/>
              </a:prstGeom>
              <a:blipFill>
                <a:blip r:embed="rId2"/>
                <a:stretch>
                  <a:fillRect b="-3448"/>
                </a:stretch>
              </a:blipFill>
            </p:spPr>
            <p:txBody>
              <a:bodyPr/>
              <a:lstStyle/>
              <a:p>
                <a:r>
                  <a:rPr lang="en-US">
                    <a:noFill/>
                  </a:rPr>
                  <a:t> </a:t>
                </a:r>
              </a:p>
            </p:txBody>
          </p:sp>
        </mc:Fallback>
      </mc:AlternateContent>
      <p:sp>
        <p:nvSpPr>
          <p:cNvPr id="47" name="Flowchart: Decision 46">
            <a:extLst>
              <a:ext uri="{FF2B5EF4-FFF2-40B4-BE49-F238E27FC236}">
                <a16:creationId xmlns:a16="http://schemas.microsoft.com/office/drawing/2014/main" id="{D9023884-B455-4CCC-93CA-424C7D740E2D}"/>
              </a:ext>
            </a:extLst>
          </p:cNvPr>
          <p:cNvSpPr/>
          <p:nvPr/>
        </p:nvSpPr>
        <p:spPr>
          <a:xfrm>
            <a:off x="2805112" y="3071341"/>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49" name="Flowchart: Decision 48">
            <a:extLst>
              <a:ext uri="{FF2B5EF4-FFF2-40B4-BE49-F238E27FC236}">
                <a16:creationId xmlns:a16="http://schemas.microsoft.com/office/drawing/2014/main" id="{E3ED6BE7-84FE-4473-8194-824CD34E0DB2}"/>
              </a:ext>
            </a:extLst>
          </p:cNvPr>
          <p:cNvSpPr/>
          <p:nvPr/>
        </p:nvSpPr>
        <p:spPr>
          <a:xfrm>
            <a:off x="8291512" y="3071341"/>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cxnSp>
        <p:nvCxnSpPr>
          <p:cNvPr id="51" name="Connector: Elbow 50">
            <a:extLst>
              <a:ext uri="{FF2B5EF4-FFF2-40B4-BE49-F238E27FC236}">
                <a16:creationId xmlns:a16="http://schemas.microsoft.com/office/drawing/2014/main" id="{09722489-0DCE-43F0-8E30-2969266E4354}"/>
              </a:ext>
            </a:extLst>
          </p:cNvPr>
          <p:cNvCxnSpPr>
            <a:cxnSpLocks/>
            <a:stCxn id="19" idx="2"/>
            <a:endCxn id="47" idx="0"/>
          </p:cNvCxnSpPr>
          <p:nvPr/>
        </p:nvCxnSpPr>
        <p:spPr>
          <a:xfrm rot="5400000">
            <a:off x="4300538" y="1275878"/>
            <a:ext cx="847725" cy="2743200"/>
          </a:xfrm>
          <a:prstGeom prst="bentConnector3">
            <a:avLst>
              <a:gd name="adj1" fmla="val 1741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10775C1-FFCF-4686-B93A-DFFD66E71ACF}"/>
              </a:ext>
            </a:extLst>
          </p:cNvPr>
          <p:cNvCxnSpPr>
            <a:cxnSpLocks/>
            <a:stCxn id="19" idx="2"/>
            <a:endCxn id="65" idx="0"/>
          </p:cNvCxnSpPr>
          <p:nvPr/>
        </p:nvCxnSpPr>
        <p:spPr>
          <a:xfrm flipH="1">
            <a:off x="6095998" y="2223616"/>
            <a:ext cx="2" cy="9002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06B260C4-6052-45A3-8D64-E89E124674C5}"/>
              </a:ext>
            </a:extLst>
          </p:cNvPr>
          <p:cNvCxnSpPr>
            <a:cxnSpLocks/>
            <a:stCxn id="19" idx="2"/>
            <a:endCxn id="49" idx="0"/>
          </p:cNvCxnSpPr>
          <p:nvPr/>
        </p:nvCxnSpPr>
        <p:spPr>
          <a:xfrm rot="16200000" flipH="1">
            <a:off x="7043738" y="1275878"/>
            <a:ext cx="847725" cy="2743200"/>
          </a:xfrm>
          <a:prstGeom prst="bentConnector3">
            <a:avLst>
              <a:gd name="adj1" fmla="val 1741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 Placeholder 1">
                <a:extLst>
                  <a:ext uri="{FF2B5EF4-FFF2-40B4-BE49-F238E27FC236}">
                    <a16:creationId xmlns:a16="http://schemas.microsoft.com/office/drawing/2014/main" id="{E3ABA514-DE56-4BAE-8FD8-E731859C4FBF}"/>
                  </a:ext>
                </a:extLst>
              </p:cNvPr>
              <p:cNvSpPr txBox="1">
                <a:spLocks/>
              </p:cNvSpPr>
              <p:nvPr/>
            </p:nvSpPr>
            <p:spPr>
              <a:xfrm>
                <a:off x="4519041" y="2219225"/>
                <a:ext cx="410718"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&lt;</m:t>
                      </m:r>
                      <m:r>
                        <a:rPr lang="en-US" sz="1600" b="1" i="1" smtClean="0">
                          <a:latin typeface="Cambria Math" panose="02040503050406030204" pitchFamily="18" charset="0"/>
                        </a:rPr>
                        <m:t>𝟎</m:t>
                      </m:r>
                    </m:oMath>
                  </m:oMathPara>
                </a14:m>
                <a:endParaRPr lang="en-US" sz="1600" b="1" dirty="0"/>
              </a:p>
            </p:txBody>
          </p:sp>
        </mc:Choice>
        <mc:Fallback xmlns="">
          <p:sp>
            <p:nvSpPr>
              <p:cNvPr id="62" name="Text Placeholder 1">
                <a:extLst>
                  <a:ext uri="{FF2B5EF4-FFF2-40B4-BE49-F238E27FC236}">
                    <a16:creationId xmlns:a16="http://schemas.microsoft.com/office/drawing/2014/main" id="{E3ABA514-DE56-4BAE-8FD8-E731859C4FBF}"/>
                  </a:ext>
                </a:extLst>
              </p:cNvPr>
              <p:cNvSpPr txBox="1">
                <a:spLocks noRot="1" noChangeAspect="1" noMove="1" noResize="1" noEditPoints="1" noAdjustHandles="1" noChangeArrowheads="1" noChangeShapeType="1" noTextEdit="1"/>
              </p:cNvSpPr>
              <p:nvPr/>
            </p:nvSpPr>
            <p:spPr>
              <a:xfrm>
                <a:off x="4519041" y="2219225"/>
                <a:ext cx="410718" cy="350651"/>
              </a:xfrm>
              <a:prstGeom prst="rect">
                <a:avLst/>
              </a:prstGeom>
              <a:blipFill>
                <a:blip r:embed="rId3"/>
                <a:stretch>
                  <a:fillRect l="-5882"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Placeholder 1">
                <a:extLst>
                  <a:ext uri="{FF2B5EF4-FFF2-40B4-BE49-F238E27FC236}">
                    <a16:creationId xmlns:a16="http://schemas.microsoft.com/office/drawing/2014/main" id="{4EF07DD0-104E-4B47-935A-A697E2952599}"/>
                  </a:ext>
                </a:extLst>
              </p:cNvPr>
              <p:cNvSpPr txBox="1">
                <a:spLocks/>
              </p:cNvSpPr>
              <p:nvPr/>
            </p:nvSpPr>
            <p:spPr>
              <a:xfrm>
                <a:off x="5890643" y="2530802"/>
                <a:ext cx="410718"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a:latin typeface="Cambria Math" panose="02040503050406030204" pitchFamily="18" charset="0"/>
                        </a:rPr>
                        <m:t>=</m:t>
                      </m:r>
                      <m:r>
                        <a:rPr lang="en-US" sz="1600" b="1" i="1" smtClean="0">
                          <a:latin typeface="Cambria Math" panose="02040503050406030204" pitchFamily="18" charset="0"/>
                        </a:rPr>
                        <m:t>𝟎</m:t>
                      </m:r>
                    </m:oMath>
                  </m:oMathPara>
                </a14:m>
                <a:endParaRPr lang="en-US" sz="1600" b="1" dirty="0"/>
              </a:p>
            </p:txBody>
          </p:sp>
        </mc:Choice>
        <mc:Fallback xmlns="">
          <p:sp>
            <p:nvSpPr>
              <p:cNvPr id="63" name="Text Placeholder 1">
                <a:extLst>
                  <a:ext uri="{FF2B5EF4-FFF2-40B4-BE49-F238E27FC236}">
                    <a16:creationId xmlns:a16="http://schemas.microsoft.com/office/drawing/2014/main" id="{4EF07DD0-104E-4B47-935A-A697E2952599}"/>
                  </a:ext>
                </a:extLst>
              </p:cNvPr>
              <p:cNvSpPr txBox="1">
                <a:spLocks noRot="1" noChangeAspect="1" noMove="1" noResize="1" noEditPoints="1" noAdjustHandles="1" noChangeArrowheads="1" noChangeShapeType="1" noTextEdit="1"/>
              </p:cNvSpPr>
              <p:nvPr/>
            </p:nvSpPr>
            <p:spPr>
              <a:xfrm>
                <a:off x="5890643" y="2530802"/>
                <a:ext cx="410718" cy="350651"/>
              </a:xfrm>
              <a:prstGeom prst="rect">
                <a:avLst/>
              </a:prstGeom>
              <a:blipFill>
                <a:blip r:embed="rId4"/>
                <a:stretch>
                  <a:fillRect l="-1471"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 Placeholder 1">
                <a:extLst>
                  <a:ext uri="{FF2B5EF4-FFF2-40B4-BE49-F238E27FC236}">
                    <a16:creationId xmlns:a16="http://schemas.microsoft.com/office/drawing/2014/main" id="{57736710-D3E5-4CB8-9955-1B35D993A1E0}"/>
                  </a:ext>
                </a:extLst>
              </p:cNvPr>
              <p:cNvSpPr txBox="1">
                <a:spLocks/>
              </p:cNvSpPr>
              <p:nvPr/>
            </p:nvSpPr>
            <p:spPr>
              <a:xfrm>
                <a:off x="7262240" y="2219224"/>
                <a:ext cx="410718"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a:latin typeface="Cambria Math" panose="02040503050406030204" pitchFamily="18" charset="0"/>
                        </a:rPr>
                        <m:t>&gt;</m:t>
                      </m:r>
                      <m:r>
                        <a:rPr lang="en-US" sz="1600" b="1" i="1" smtClean="0">
                          <a:latin typeface="Cambria Math" panose="02040503050406030204" pitchFamily="18" charset="0"/>
                        </a:rPr>
                        <m:t>𝟎</m:t>
                      </m:r>
                    </m:oMath>
                  </m:oMathPara>
                </a14:m>
                <a:endParaRPr lang="en-US" sz="1600" b="1" dirty="0"/>
              </a:p>
            </p:txBody>
          </p:sp>
        </mc:Choice>
        <mc:Fallback xmlns="">
          <p:sp>
            <p:nvSpPr>
              <p:cNvPr id="64" name="Text Placeholder 1">
                <a:extLst>
                  <a:ext uri="{FF2B5EF4-FFF2-40B4-BE49-F238E27FC236}">
                    <a16:creationId xmlns:a16="http://schemas.microsoft.com/office/drawing/2014/main" id="{57736710-D3E5-4CB8-9955-1B35D993A1E0}"/>
                  </a:ext>
                </a:extLst>
              </p:cNvPr>
              <p:cNvSpPr txBox="1">
                <a:spLocks noRot="1" noChangeAspect="1" noMove="1" noResize="1" noEditPoints="1" noAdjustHandles="1" noChangeArrowheads="1" noChangeShapeType="1" noTextEdit="1"/>
              </p:cNvSpPr>
              <p:nvPr/>
            </p:nvSpPr>
            <p:spPr>
              <a:xfrm>
                <a:off x="7262240" y="2219224"/>
                <a:ext cx="410718" cy="350651"/>
              </a:xfrm>
              <a:prstGeom prst="rect">
                <a:avLst/>
              </a:prstGeom>
              <a:blipFill>
                <a:blip r:embed="rId5"/>
                <a:stretch>
                  <a:fillRect l="-5882" r="-7353"/>
                </a:stretch>
              </a:blipFill>
            </p:spPr>
            <p:txBody>
              <a:bodyPr/>
              <a:lstStyle/>
              <a:p>
                <a:r>
                  <a:rPr lang="en-US">
                    <a:noFill/>
                  </a:rPr>
                  <a:t> </a:t>
                </a:r>
              </a:p>
            </p:txBody>
          </p:sp>
        </mc:Fallback>
      </mc:AlternateContent>
      <p:sp>
        <p:nvSpPr>
          <p:cNvPr id="65" name="Rectangle: Rounded Corners 64">
            <a:extLst>
              <a:ext uri="{FF2B5EF4-FFF2-40B4-BE49-F238E27FC236}">
                <a16:creationId xmlns:a16="http://schemas.microsoft.com/office/drawing/2014/main" id="{227FCC9A-4268-4BCD-9C07-D0D4DF21D0E7}"/>
              </a:ext>
            </a:extLst>
          </p:cNvPr>
          <p:cNvSpPr/>
          <p:nvPr/>
        </p:nvSpPr>
        <p:spPr>
          <a:xfrm>
            <a:off x="5548310" y="3123836"/>
            <a:ext cx="1095375"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Cruise</a:t>
            </a:r>
          </a:p>
        </p:txBody>
      </p:sp>
      <mc:AlternateContent xmlns:mc="http://schemas.openxmlformats.org/markup-compatibility/2006" xmlns:a14="http://schemas.microsoft.com/office/drawing/2010/main">
        <mc:Choice Requires="a14">
          <p:sp>
            <p:nvSpPr>
              <p:cNvPr id="69" name="Text Placeholder 1">
                <a:extLst>
                  <a:ext uri="{FF2B5EF4-FFF2-40B4-BE49-F238E27FC236}">
                    <a16:creationId xmlns:a16="http://schemas.microsoft.com/office/drawing/2014/main" id="{7E6DE825-457E-42B7-A4AA-90B66DAD7753}"/>
                  </a:ext>
                </a:extLst>
              </p:cNvPr>
              <p:cNvSpPr txBox="1">
                <a:spLocks/>
              </p:cNvSpPr>
              <p:nvPr/>
            </p:nvSpPr>
            <p:spPr>
              <a:xfrm>
                <a:off x="8839196" y="2773185"/>
                <a:ext cx="3009904" cy="35065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&gt;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𝒊</m:t>
                          </m:r>
                        </m:sub>
                      </m:sSub>
                      <m:r>
                        <a:rPr lang="en-US" sz="1600" b="1" i="1" smtClean="0">
                          <a:latin typeface="Cambria Math" panose="02040503050406030204" pitchFamily="18" charset="0"/>
                        </a:rPr>
                        <m:t> &amp;&amp; </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𝒉</m:t>
                          </m:r>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&gt;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𝒉</m:t>
                          </m:r>
                        </m:e>
                        <m:sub>
                          <m:r>
                            <a:rPr lang="en-US" sz="1600" b="1" i="1" smtClean="0">
                              <a:latin typeface="Cambria Math" panose="02040503050406030204" pitchFamily="18" charset="0"/>
                            </a:rPr>
                            <m:t>𝒊</m:t>
                          </m:r>
                        </m:sub>
                      </m:sSub>
                    </m:oMath>
                  </m:oMathPara>
                </a14:m>
                <a:endParaRPr lang="en-US" sz="1600" b="1" dirty="0"/>
              </a:p>
            </p:txBody>
          </p:sp>
        </mc:Choice>
        <mc:Fallback xmlns="">
          <p:sp>
            <p:nvSpPr>
              <p:cNvPr id="69" name="Text Placeholder 1">
                <a:extLst>
                  <a:ext uri="{FF2B5EF4-FFF2-40B4-BE49-F238E27FC236}">
                    <a16:creationId xmlns:a16="http://schemas.microsoft.com/office/drawing/2014/main" id="{7E6DE825-457E-42B7-A4AA-90B66DAD7753}"/>
                  </a:ext>
                </a:extLst>
              </p:cNvPr>
              <p:cNvSpPr txBox="1">
                <a:spLocks noRot="1" noChangeAspect="1" noMove="1" noResize="1" noEditPoints="1" noAdjustHandles="1" noChangeArrowheads="1" noChangeShapeType="1" noTextEdit="1"/>
              </p:cNvSpPr>
              <p:nvPr/>
            </p:nvSpPr>
            <p:spPr>
              <a:xfrm>
                <a:off x="8839196" y="2773185"/>
                <a:ext cx="3009904" cy="350651"/>
              </a:xfrm>
              <a:prstGeom prst="rect">
                <a:avLst/>
              </a:prstGeom>
              <a:blipFill>
                <a:blip r:embed="rId6"/>
                <a:stretch>
                  <a:fillRect/>
                </a:stretch>
              </a:blipFill>
            </p:spPr>
            <p:txBody>
              <a:bodyPr/>
              <a:lstStyle/>
              <a:p>
                <a:r>
                  <a:rPr lang="en-US">
                    <a:noFill/>
                  </a:rPr>
                  <a:t> </a:t>
                </a:r>
              </a:p>
            </p:txBody>
          </p:sp>
        </mc:Fallback>
      </mc:AlternateContent>
      <p:sp>
        <p:nvSpPr>
          <p:cNvPr id="71" name="Flowchart: Decision 70">
            <a:extLst>
              <a:ext uri="{FF2B5EF4-FFF2-40B4-BE49-F238E27FC236}">
                <a16:creationId xmlns:a16="http://schemas.microsoft.com/office/drawing/2014/main" id="{2C439A50-39A3-4F78-8E31-D84D42E83729}"/>
              </a:ext>
            </a:extLst>
          </p:cNvPr>
          <p:cNvSpPr/>
          <p:nvPr/>
        </p:nvSpPr>
        <p:spPr>
          <a:xfrm>
            <a:off x="7196137" y="3971562"/>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cxnSp>
        <p:nvCxnSpPr>
          <p:cNvPr id="73" name="Connector: Elbow 72">
            <a:extLst>
              <a:ext uri="{FF2B5EF4-FFF2-40B4-BE49-F238E27FC236}">
                <a16:creationId xmlns:a16="http://schemas.microsoft.com/office/drawing/2014/main" id="{8AFBF934-2B52-4B2B-8735-AA9FFE75C1FD}"/>
              </a:ext>
            </a:extLst>
          </p:cNvPr>
          <p:cNvCxnSpPr>
            <a:cxnSpLocks/>
            <a:stCxn id="49" idx="2"/>
            <a:endCxn id="83" idx="0"/>
          </p:cNvCxnSpPr>
          <p:nvPr/>
        </p:nvCxnSpPr>
        <p:spPr>
          <a:xfrm rot="16200000" flipH="1">
            <a:off x="9559860" y="2807880"/>
            <a:ext cx="413672" cy="1854993"/>
          </a:xfrm>
          <a:prstGeom prst="bentConnector3">
            <a:avLst>
              <a:gd name="adj1" fmla="val 3848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061BB796-C8E4-49FB-9B99-C45C53612323}"/>
              </a:ext>
            </a:extLst>
          </p:cNvPr>
          <p:cNvCxnSpPr>
            <a:cxnSpLocks/>
            <a:stCxn id="49" idx="2"/>
            <a:endCxn id="71" idx="0"/>
          </p:cNvCxnSpPr>
          <p:nvPr/>
        </p:nvCxnSpPr>
        <p:spPr>
          <a:xfrm rot="5400000">
            <a:off x="8070003" y="3202364"/>
            <a:ext cx="443021" cy="1095375"/>
          </a:xfrm>
          <a:prstGeom prst="bentConnector3">
            <a:avLst>
              <a:gd name="adj1" fmla="val 371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 Placeholder 1">
                <a:extLst>
                  <a:ext uri="{FF2B5EF4-FFF2-40B4-BE49-F238E27FC236}">
                    <a16:creationId xmlns:a16="http://schemas.microsoft.com/office/drawing/2014/main" id="{21F222A0-E2D5-42A7-9611-8788CC717635}"/>
                  </a:ext>
                </a:extLst>
              </p:cNvPr>
              <p:cNvSpPr txBox="1">
                <a:spLocks/>
              </p:cNvSpPr>
              <p:nvPr/>
            </p:nvSpPr>
            <p:spPr>
              <a:xfrm>
                <a:off x="7976330" y="3521289"/>
                <a:ext cx="630364"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𝒇𝒂𝒍𝒔𝒆</m:t>
                      </m:r>
                    </m:oMath>
                  </m:oMathPara>
                </a14:m>
                <a:endParaRPr lang="en-US" sz="1600" b="1" dirty="0"/>
              </a:p>
            </p:txBody>
          </p:sp>
        </mc:Choice>
        <mc:Fallback xmlns="">
          <p:sp>
            <p:nvSpPr>
              <p:cNvPr id="80" name="Text Placeholder 1">
                <a:extLst>
                  <a:ext uri="{FF2B5EF4-FFF2-40B4-BE49-F238E27FC236}">
                    <a16:creationId xmlns:a16="http://schemas.microsoft.com/office/drawing/2014/main" id="{21F222A0-E2D5-42A7-9611-8788CC717635}"/>
                  </a:ext>
                </a:extLst>
              </p:cNvPr>
              <p:cNvSpPr txBox="1">
                <a:spLocks noRot="1" noChangeAspect="1" noMove="1" noResize="1" noEditPoints="1" noAdjustHandles="1" noChangeArrowheads="1" noChangeShapeType="1" noTextEdit="1"/>
              </p:cNvSpPr>
              <p:nvPr/>
            </p:nvSpPr>
            <p:spPr>
              <a:xfrm>
                <a:off x="7976330" y="3521289"/>
                <a:ext cx="630364" cy="350651"/>
              </a:xfrm>
              <a:prstGeom prst="rect">
                <a:avLst/>
              </a:prstGeom>
              <a:blipFill>
                <a:blip r:embed="rId7"/>
                <a:stretch>
                  <a:fillRect l="-7692" t="-1754" r="-67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 Placeholder 1">
                <a:extLst>
                  <a:ext uri="{FF2B5EF4-FFF2-40B4-BE49-F238E27FC236}">
                    <a16:creationId xmlns:a16="http://schemas.microsoft.com/office/drawing/2014/main" id="{F351FBCB-1242-4EC3-8017-C82784C71384}"/>
                  </a:ext>
                </a:extLst>
              </p:cNvPr>
              <p:cNvSpPr txBox="1">
                <a:spLocks/>
              </p:cNvSpPr>
              <p:nvPr/>
            </p:nvSpPr>
            <p:spPr>
              <a:xfrm>
                <a:off x="9337238" y="3521288"/>
                <a:ext cx="615501"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𝒕𝒓𝒖𝒆</m:t>
                      </m:r>
                    </m:oMath>
                  </m:oMathPara>
                </a14:m>
                <a:endParaRPr lang="en-US" sz="1600" b="1" dirty="0"/>
              </a:p>
            </p:txBody>
          </p:sp>
        </mc:Choice>
        <mc:Fallback xmlns="">
          <p:sp>
            <p:nvSpPr>
              <p:cNvPr id="81" name="Text Placeholder 1">
                <a:extLst>
                  <a:ext uri="{FF2B5EF4-FFF2-40B4-BE49-F238E27FC236}">
                    <a16:creationId xmlns:a16="http://schemas.microsoft.com/office/drawing/2014/main" id="{F351FBCB-1242-4EC3-8017-C82784C71384}"/>
                  </a:ext>
                </a:extLst>
              </p:cNvPr>
              <p:cNvSpPr txBox="1">
                <a:spLocks noRot="1" noChangeAspect="1" noMove="1" noResize="1" noEditPoints="1" noAdjustHandles="1" noChangeArrowheads="1" noChangeShapeType="1" noTextEdit="1"/>
              </p:cNvSpPr>
              <p:nvPr/>
            </p:nvSpPr>
            <p:spPr>
              <a:xfrm>
                <a:off x="9337238" y="3521288"/>
                <a:ext cx="615501" cy="350651"/>
              </a:xfrm>
              <a:prstGeom prst="rect">
                <a:avLst/>
              </a:prstGeom>
              <a:blipFill>
                <a:blip r:embed="rId8"/>
                <a:stretch>
                  <a:fillRect/>
                </a:stretch>
              </a:blipFill>
            </p:spPr>
            <p:txBody>
              <a:bodyPr/>
              <a:lstStyle/>
              <a:p>
                <a:r>
                  <a:rPr lang="en-US">
                    <a:noFill/>
                  </a:rPr>
                  <a:t> </a:t>
                </a:r>
              </a:p>
            </p:txBody>
          </p:sp>
        </mc:Fallback>
      </mc:AlternateContent>
      <p:sp>
        <p:nvSpPr>
          <p:cNvPr id="83" name="Rectangle: Rounded Corners 82">
            <a:extLst>
              <a:ext uri="{FF2B5EF4-FFF2-40B4-BE49-F238E27FC236}">
                <a16:creationId xmlns:a16="http://schemas.microsoft.com/office/drawing/2014/main" id="{2B08D730-2A0D-4DAE-BE20-CD0B66FD5753}"/>
              </a:ext>
            </a:extLst>
          </p:cNvPr>
          <p:cNvSpPr/>
          <p:nvPr/>
        </p:nvSpPr>
        <p:spPr>
          <a:xfrm>
            <a:off x="9386886" y="3942213"/>
            <a:ext cx="2614613" cy="670209"/>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50% SEP </a:t>
            </a:r>
            <a:r>
              <a:rPr lang="en-US" sz="1600" dirty="0">
                <a:solidFill>
                  <a:schemeClr val="tx1"/>
                </a:solidFill>
                <a:sym typeface="Wingdings" panose="05000000000000000000" pitchFamily="2" charset="2"/>
              </a:rPr>
              <a:t></a:t>
            </a:r>
            <a:r>
              <a:rPr lang="en-US" sz="1600" dirty="0">
                <a:solidFill>
                  <a:schemeClr val="tx1"/>
                </a:solidFill>
              </a:rPr>
              <a:t> Climb</a:t>
            </a:r>
          </a:p>
          <a:p>
            <a:pPr algn="ctr"/>
            <a:r>
              <a:rPr lang="en-US" sz="1600" dirty="0">
                <a:solidFill>
                  <a:schemeClr val="tx1"/>
                </a:solidFill>
              </a:rPr>
              <a:t>50% SEP </a:t>
            </a:r>
            <a:r>
              <a:rPr lang="en-US" sz="1600" dirty="0">
                <a:solidFill>
                  <a:schemeClr val="tx1"/>
                </a:solidFill>
                <a:sym typeface="Wingdings" panose="05000000000000000000" pitchFamily="2" charset="2"/>
              </a:rPr>
              <a:t></a:t>
            </a:r>
            <a:r>
              <a:rPr lang="en-US" sz="1600" dirty="0">
                <a:solidFill>
                  <a:schemeClr val="tx1"/>
                </a:solidFill>
              </a:rPr>
              <a:t> Acceleration</a:t>
            </a:r>
          </a:p>
        </p:txBody>
      </p:sp>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2AFD156A-90AB-479C-AF24-B098AE48CE8D}"/>
                  </a:ext>
                </a:extLst>
              </p:cNvPr>
              <p:cNvSpPr/>
              <p:nvPr/>
            </p:nvSpPr>
            <p:spPr>
              <a:xfrm>
                <a:off x="6152109" y="3719697"/>
                <a:ext cx="1471749" cy="3956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𝑽</m:t>
                          </m:r>
                        </m:e>
                        <m:sub>
                          <m:r>
                            <a:rPr lang="en-US" b="1" i="1">
                              <a:latin typeface="Cambria Math" panose="02040503050406030204" pitchFamily="18" charset="0"/>
                            </a:rPr>
                            <m:t>𝒕𝒂𝒓𝒈𝒆𝒕</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i="1">
                              <a:latin typeface="Cambria Math" panose="02040503050406030204" pitchFamily="18" charset="0"/>
                            </a:rPr>
                            <m:t>𝑽</m:t>
                          </m:r>
                        </m:e>
                        <m:sub>
                          <m:r>
                            <a:rPr lang="en-US" b="1" i="1">
                              <a:latin typeface="Cambria Math" panose="02040503050406030204" pitchFamily="18" charset="0"/>
                            </a:rPr>
                            <m:t>𝒊</m:t>
                          </m:r>
                        </m:sub>
                      </m:sSub>
                    </m:oMath>
                  </m:oMathPara>
                </a14:m>
                <a:endParaRPr lang="en-US" dirty="0"/>
              </a:p>
            </p:txBody>
          </p:sp>
        </mc:Choice>
        <mc:Fallback xmlns="">
          <p:sp>
            <p:nvSpPr>
              <p:cNvPr id="91" name="Rectangle 90">
                <a:extLst>
                  <a:ext uri="{FF2B5EF4-FFF2-40B4-BE49-F238E27FC236}">
                    <a16:creationId xmlns:a16="http://schemas.microsoft.com/office/drawing/2014/main" id="{2AFD156A-90AB-479C-AF24-B098AE48CE8D}"/>
                  </a:ext>
                </a:extLst>
              </p:cNvPr>
              <p:cNvSpPr>
                <a:spLocks noRot="1" noChangeAspect="1" noMove="1" noResize="1" noEditPoints="1" noAdjustHandles="1" noChangeArrowheads="1" noChangeShapeType="1" noTextEdit="1"/>
              </p:cNvSpPr>
              <p:nvPr/>
            </p:nvSpPr>
            <p:spPr>
              <a:xfrm>
                <a:off x="6152109" y="3719697"/>
                <a:ext cx="1471749" cy="395621"/>
              </a:xfrm>
              <a:prstGeom prst="rect">
                <a:avLst/>
              </a:prstGeom>
              <a:blipFill>
                <a:blip r:embed="rId9"/>
                <a:stretch>
                  <a:fillRect b="-7692"/>
                </a:stretch>
              </a:blipFill>
            </p:spPr>
            <p:txBody>
              <a:bodyPr/>
              <a:lstStyle/>
              <a:p>
                <a:r>
                  <a:rPr lang="en-US">
                    <a:noFill/>
                  </a:rPr>
                  <a:t> </a:t>
                </a:r>
              </a:p>
            </p:txBody>
          </p:sp>
        </mc:Fallback>
      </mc:AlternateContent>
      <p:sp>
        <p:nvSpPr>
          <p:cNvPr id="93" name="Rectangle: Rounded Corners 92">
            <a:extLst>
              <a:ext uri="{FF2B5EF4-FFF2-40B4-BE49-F238E27FC236}">
                <a16:creationId xmlns:a16="http://schemas.microsoft.com/office/drawing/2014/main" id="{0AA2B932-A828-4FF5-AE2B-2AF084E21838}"/>
              </a:ext>
            </a:extLst>
          </p:cNvPr>
          <p:cNvSpPr/>
          <p:nvPr/>
        </p:nvSpPr>
        <p:spPr>
          <a:xfrm>
            <a:off x="8291513" y="5153657"/>
            <a:ext cx="2614613"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100% SEP </a:t>
            </a:r>
            <a:r>
              <a:rPr lang="en-US" sz="1600" dirty="0">
                <a:solidFill>
                  <a:schemeClr val="tx1"/>
                </a:solidFill>
                <a:sym typeface="Wingdings" panose="05000000000000000000" pitchFamily="2" charset="2"/>
              </a:rPr>
              <a:t></a:t>
            </a:r>
            <a:r>
              <a:rPr lang="en-US" sz="1600" dirty="0">
                <a:solidFill>
                  <a:schemeClr val="tx1"/>
                </a:solidFill>
              </a:rPr>
              <a:t> Acceleration</a:t>
            </a:r>
          </a:p>
        </p:txBody>
      </p:sp>
      <p:sp>
        <p:nvSpPr>
          <p:cNvPr id="94" name="Rectangle: Rounded Corners 93">
            <a:extLst>
              <a:ext uri="{FF2B5EF4-FFF2-40B4-BE49-F238E27FC236}">
                <a16:creationId xmlns:a16="http://schemas.microsoft.com/office/drawing/2014/main" id="{16517DBA-FBCD-4C10-BEF0-588156464549}"/>
              </a:ext>
            </a:extLst>
          </p:cNvPr>
          <p:cNvSpPr/>
          <p:nvPr/>
        </p:nvSpPr>
        <p:spPr>
          <a:xfrm>
            <a:off x="5143499" y="5153656"/>
            <a:ext cx="2047875"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100% SEP </a:t>
            </a:r>
            <a:r>
              <a:rPr lang="en-US" sz="1600" dirty="0">
                <a:solidFill>
                  <a:schemeClr val="tx1"/>
                </a:solidFill>
                <a:sym typeface="Wingdings" panose="05000000000000000000" pitchFamily="2" charset="2"/>
              </a:rPr>
              <a:t></a:t>
            </a:r>
            <a:r>
              <a:rPr lang="en-US" sz="1600" dirty="0">
                <a:solidFill>
                  <a:schemeClr val="tx1"/>
                </a:solidFill>
              </a:rPr>
              <a:t> Climb</a:t>
            </a:r>
          </a:p>
        </p:txBody>
      </p:sp>
      <p:cxnSp>
        <p:nvCxnSpPr>
          <p:cNvPr id="97" name="Connector: Elbow 96">
            <a:extLst>
              <a:ext uri="{FF2B5EF4-FFF2-40B4-BE49-F238E27FC236}">
                <a16:creationId xmlns:a16="http://schemas.microsoft.com/office/drawing/2014/main" id="{0A3D0AE3-849F-450E-A92D-78F905EE2A5C}"/>
              </a:ext>
            </a:extLst>
          </p:cNvPr>
          <p:cNvCxnSpPr>
            <a:cxnSpLocks/>
            <a:stCxn id="71" idx="2"/>
            <a:endCxn id="93" idx="0"/>
          </p:cNvCxnSpPr>
          <p:nvPr/>
        </p:nvCxnSpPr>
        <p:spPr>
          <a:xfrm rot="16200000" flipH="1">
            <a:off x="8308875" y="3863711"/>
            <a:ext cx="724895" cy="1854995"/>
          </a:xfrm>
          <a:prstGeom prst="bentConnector3">
            <a:avLst>
              <a:gd name="adj1" fmla="val 4868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CFC75319-9F3A-45BE-A0B2-05BEA01A40E5}"/>
              </a:ext>
            </a:extLst>
          </p:cNvPr>
          <p:cNvCxnSpPr>
            <a:cxnSpLocks/>
            <a:stCxn id="71" idx="2"/>
            <a:endCxn id="94" idx="0"/>
          </p:cNvCxnSpPr>
          <p:nvPr/>
        </p:nvCxnSpPr>
        <p:spPr>
          <a:xfrm rot="5400000">
            <a:off x="6593184" y="4003015"/>
            <a:ext cx="724894" cy="1576388"/>
          </a:xfrm>
          <a:prstGeom prst="bentConnector3">
            <a:avLst>
              <a:gd name="adj1" fmla="val 4868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Text Placeholder 1">
                <a:extLst>
                  <a:ext uri="{FF2B5EF4-FFF2-40B4-BE49-F238E27FC236}">
                    <a16:creationId xmlns:a16="http://schemas.microsoft.com/office/drawing/2014/main" id="{678D0411-E7E6-42D2-9082-844A76E98338}"/>
                  </a:ext>
                </a:extLst>
              </p:cNvPr>
              <p:cNvSpPr txBox="1">
                <a:spLocks/>
              </p:cNvSpPr>
              <p:nvPr/>
            </p:nvSpPr>
            <p:spPr>
              <a:xfrm>
                <a:off x="6623720" y="4626103"/>
                <a:ext cx="630364"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𝒇𝒂𝒍𝒔𝒆</m:t>
                      </m:r>
                    </m:oMath>
                  </m:oMathPara>
                </a14:m>
                <a:endParaRPr lang="en-US" sz="1600" b="1" dirty="0"/>
              </a:p>
            </p:txBody>
          </p:sp>
        </mc:Choice>
        <mc:Fallback xmlns="">
          <p:sp>
            <p:nvSpPr>
              <p:cNvPr id="106" name="Text Placeholder 1">
                <a:extLst>
                  <a:ext uri="{FF2B5EF4-FFF2-40B4-BE49-F238E27FC236}">
                    <a16:creationId xmlns:a16="http://schemas.microsoft.com/office/drawing/2014/main" id="{678D0411-E7E6-42D2-9082-844A76E98338}"/>
                  </a:ext>
                </a:extLst>
              </p:cNvPr>
              <p:cNvSpPr txBox="1">
                <a:spLocks noRot="1" noChangeAspect="1" noMove="1" noResize="1" noEditPoints="1" noAdjustHandles="1" noChangeArrowheads="1" noChangeShapeType="1" noTextEdit="1"/>
              </p:cNvSpPr>
              <p:nvPr/>
            </p:nvSpPr>
            <p:spPr>
              <a:xfrm>
                <a:off x="6623720" y="4626103"/>
                <a:ext cx="630364" cy="350651"/>
              </a:xfrm>
              <a:prstGeom prst="rect">
                <a:avLst/>
              </a:prstGeom>
              <a:blipFill>
                <a:blip r:embed="rId10"/>
                <a:stretch>
                  <a:fillRect l="-7767" r="-77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 Placeholder 1">
                <a:extLst>
                  <a:ext uri="{FF2B5EF4-FFF2-40B4-BE49-F238E27FC236}">
                    <a16:creationId xmlns:a16="http://schemas.microsoft.com/office/drawing/2014/main" id="{FEF85B37-DA34-4B1A-8654-C029A77CBEB1}"/>
                  </a:ext>
                </a:extLst>
              </p:cNvPr>
              <p:cNvSpPr txBox="1">
                <a:spLocks/>
              </p:cNvSpPr>
              <p:nvPr/>
            </p:nvSpPr>
            <p:spPr>
              <a:xfrm>
                <a:off x="8218764" y="4626102"/>
                <a:ext cx="615501"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𝒕𝒓𝒖𝒆</m:t>
                      </m:r>
                    </m:oMath>
                  </m:oMathPara>
                </a14:m>
                <a:endParaRPr lang="en-US" sz="1600" b="1" dirty="0"/>
              </a:p>
            </p:txBody>
          </p:sp>
        </mc:Choice>
        <mc:Fallback xmlns="">
          <p:sp>
            <p:nvSpPr>
              <p:cNvPr id="107" name="Text Placeholder 1">
                <a:extLst>
                  <a:ext uri="{FF2B5EF4-FFF2-40B4-BE49-F238E27FC236}">
                    <a16:creationId xmlns:a16="http://schemas.microsoft.com/office/drawing/2014/main" id="{FEF85B37-DA34-4B1A-8654-C029A77CBEB1}"/>
                  </a:ext>
                </a:extLst>
              </p:cNvPr>
              <p:cNvSpPr txBox="1">
                <a:spLocks noRot="1" noChangeAspect="1" noMove="1" noResize="1" noEditPoints="1" noAdjustHandles="1" noChangeArrowheads="1" noChangeShapeType="1" noTextEdit="1"/>
              </p:cNvSpPr>
              <p:nvPr/>
            </p:nvSpPr>
            <p:spPr>
              <a:xfrm>
                <a:off x="8218764" y="4626102"/>
                <a:ext cx="615501" cy="350651"/>
              </a:xfrm>
              <a:prstGeom prst="rect">
                <a:avLst/>
              </a:prstGeom>
              <a:blipFill>
                <a:blip r:embed="rId11"/>
                <a:stretch>
                  <a:fillRect/>
                </a:stretch>
              </a:blipFill>
            </p:spPr>
            <p:txBody>
              <a:bodyPr/>
              <a:lstStyle/>
              <a:p>
                <a:r>
                  <a:rPr lang="en-US">
                    <a:noFill/>
                  </a:rPr>
                  <a:t> </a:t>
                </a:r>
              </a:p>
            </p:txBody>
          </p:sp>
        </mc:Fallback>
      </mc:AlternateContent>
      <p:sp>
        <p:nvSpPr>
          <p:cNvPr id="108" name="Text Placeholder 1">
            <a:extLst>
              <a:ext uri="{FF2B5EF4-FFF2-40B4-BE49-F238E27FC236}">
                <a16:creationId xmlns:a16="http://schemas.microsoft.com/office/drawing/2014/main" id="{8DA3F9E6-CD1E-423D-A7B8-6AAD8B38367F}"/>
              </a:ext>
            </a:extLst>
          </p:cNvPr>
          <p:cNvSpPr txBox="1">
            <a:spLocks/>
          </p:cNvSpPr>
          <p:nvPr/>
        </p:nvSpPr>
        <p:spPr>
          <a:xfrm>
            <a:off x="10683283" y="3747760"/>
            <a:ext cx="1457682" cy="24410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Accelerated Climb</a:t>
            </a:r>
            <a:endParaRPr lang="en-US" sz="1200" b="1" dirty="0"/>
          </a:p>
        </p:txBody>
      </p:sp>
      <p:sp>
        <p:nvSpPr>
          <p:cNvPr id="119" name="Text Placeholder 1">
            <a:extLst>
              <a:ext uri="{FF2B5EF4-FFF2-40B4-BE49-F238E27FC236}">
                <a16:creationId xmlns:a16="http://schemas.microsoft.com/office/drawing/2014/main" id="{2C9158A5-D659-493D-A7C1-C30E8BB8E85F}"/>
              </a:ext>
            </a:extLst>
          </p:cNvPr>
          <p:cNvSpPr txBox="1">
            <a:spLocks/>
          </p:cNvSpPr>
          <p:nvPr/>
        </p:nvSpPr>
        <p:spPr>
          <a:xfrm>
            <a:off x="9615307" y="4955820"/>
            <a:ext cx="1457682" cy="24410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Accelerated Climb</a:t>
            </a:r>
            <a:endParaRPr lang="en-US" sz="1200" b="1" dirty="0"/>
          </a:p>
        </p:txBody>
      </p:sp>
      <p:sp>
        <p:nvSpPr>
          <p:cNvPr id="120" name="Text Placeholder 1">
            <a:extLst>
              <a:ext uri="{FF2B5EF4-FFF2-40B4-BE49-F238E27FC236}">
                <a16:creationId xmlns:a16="http://schemas.microsoft.com/office/drawing/2014/main" id="{D0C8E8CA-71FD-488B-AD2B-786D7F139A1F}"/>
              </a:ext>
            </a:extLst>
          </p:cNvPr>
          <p:cNvSpPr txBox="1">
            <a:spLocks/>
          </p:cNvSpPr>
          <p:nvPr/>
        </p:nvSpPr>
        <p:spPr>
          <a:xfrm>
            <a:off x="6115970" y="4972564"/>
            <a:ext cx="1457682" cy="24410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Accelerated Climb</a:t>
            </a:r>
            <a:endParaRPr lang="en-US" sz="1200" b="1" dirty="0"/>
          </a:p>
        </p:txBody>
      </p:sp>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964C2F74-809F-4BA4-9459-19F673EB838C}"/>
                  </a:ext>
                </a:extLst>
              </p:cNvPr>
              <p:cNvSpPr txBox="1"/>
              <p:nvPr/>
            </p:nvSpPr>
            <p:spPr>
              <a:xfrm>
                <a:off x="9381696" y="1145423"/>
                <a:ext cx="2030428" cy="5107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𝑑h</m:t>
                          </m:r>
                        </m:num>
                        <m:den>
                          <m:r>
                            <a:rPr lang="en-US" sz="1600" i="1">
                              <a:latin typeface="Cambria Math" panose="02040503050406030204" pitchFamily="18" charset="0"/>
                            </a:rPr>
                            <m:t>𝑑𝑡</m:t>
                          </m:r>
                        </m:den>
                      </m:f>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𝑉</m:t>
                          </m:r>
                        </m:num>
                        <m:den>
                          <m:r>
                            <a:rPr lang="en-US" sz="1600" i="1">
                              <a:latin typeface="Cambria Math" panose="02040503050406030204" pitchFamily="18" charset="0"/>
                            </a:rPr>
                            <m:t>𝑔</m:t>
                          </m:r>
                        </m:den>
                      </m:f>
                      <m:f>
                        <m:fPr>
                          <m:ctrlPr>
                            <a:rPr lang="en-US" sz="1600" i="1">
                              <a:latin typeface="Cambria Math" panose="02040503050406030204" pitchFamily="18" charset="0"/>
                            </a:rPr>
                          </m:ctrlPr>
                        </m:fPr>
                        <m:num>
                          <m:r>
                            <a:rPr lang="en-US" sz="1600" i="1">
                              <a:latin typeface="Cambria Math" panose="02040503050406030204" pitchFamily="18" charset="0"/>
                            </a:rPr>
                            <m:t>𝑑𝑉</m:t>
                          </m:r>
                        </m:num>
                        <m:den>
                          <m:r>
                            <a:rPr lang="en-US" sz="1600" i="1">
                              <a:latin typeface="Cambria Math" panose="02040503050406030204" pitchFamily="18" charset="0"/>
                            </a:rPr>
                            <m:t>𝑑𝑡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𝑛</m:t>
                              </m:r>
                            </m:sub>
                          </m:sSub>
                          <m:r>
                            <a:rPr lang="en-US" sz="1600" b="0" i="1" smtClean="0">
                              <a:latin typeface="Cambria Math" panose="02040503050406030204" pitchFamily="18" charset="0"/>
                            </a:rPr>
                            <m:t>−</m:t>
                          </m:r>
                          <m:r>
                            <a:rPr lang="en-US" sz="1600" b="0" i="1" smtClean="0">
                              <a:latin typeface="Cambria Math" panose="02040503050406030204" pitchFamily="18" charset="0"/>
                            </a:rPr>
                            <m:t>𝐷</m:t>
                          </m:r>
                        </m:num>
                        <m:den>
                          <m:r>
                            <a:rPr lang="en-US" sz="1600" b="0" i="1" smtClean="0">
                              <a:latin typeface="Cambria Math" panose="02040503050406030204" pitchFamily="18" charset="0"/>
                            </a:rPr>
                            <m:t>𝑊</m:t>
                          </m:r>
                        </m:den>
                      </m:f>
                      <m:r>
                        <a:rPr lang="en-US" sz="1600" b="0" i="1" smtClean="0">
                          <a:latin typeface="Cambria Math" panose="02040503050406030204" pitchFamily="18" charset="0"/>
                        </a:rPr>
                        <m:t>𝑉</m:t>
                      </m:r>
                    </m:oMath>
                  </m:oMathPara>
                </a14:m>
                <a:endParaRPr lang="en-US" sz="1600" dirty="0" err="1"/>
              </a:p>
            </p:txBody>
          </p:sp>
        </mc:Choice>
        <mc:Fallback xmlns="">
          <p:sp>
            <p:nvSpPr>
              <p:cNvPr id="163" name="TextBox 162">
                <a:extLst>
                  <a:ext uri="{FF2B5EF4-FFF2-40B4-BE49-F238E27FC236}">
                    <a16:creationId xmlns:a16="http://schemas.microsoft.com/office/drawing/2014/main" id="{964C2F74-809F-4BA4-9459-19F673EB838C}"/>
                  </a:ext>
                </a:extLst>
              </p:cNvPr>
              <p:cNvSpPr txBox="1">
                <a:spLocks noRot="1" noChangeAspect="1" noMove="1" noResize="1" noEditPoints="1" noAdjustHandles="1" noChangeArrowheads="1" noChangeShapeType="1" noTextEdit="1"/>
              </p:cNvSpPr>
              <p:nvPr/>
            </p:nvSpPr>
            <p:spPr>
              <a:xfrm>
                <a:off x="9381696" y="1145423"/>
                <a:ext cx="2030428" cy="510717"/>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6125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500"/>
                                        <p:tgtEl>
                                          <p:spTgt spid="5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500"/>
                                        <p:tgtEl>
                                          <p:spTgt spid="6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animEffect transition="in" filter="fade">
                                      <p:cBhvr>
                                        <p:cTn id="29" dur="500"/>
                                        <p:tgtEl>
                                          <p:spTgt spid="6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fade">
                                      <p:cBhvr>
                                        <p:cTn id="34" dur="500"/>
                                        <p:tgtEl>
                                          <p:spTgt spid="64"/>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fade">
                                      <p:cBhvr>
                                        <p:cTn id="40" dur="500"/>
                                        <p:tgtEl>
                                          <p:spTgt spid="4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9"/>
                                        </p:tgtEl>
                                        <p:attrNameLst>
                                          <p:attrName>style.visibility</p:attrName>
                                        </p:attrNameLst>
                                      </p:cBhvr>
                                      <p:to>
                                        <p:strVal val="visible"/>
                                      </p:to>
                                    </p:set>
                                    <p:animEffect transition="in" filter="fade">
                                      <p:cBhvr>
                                        <p:cTn id="45" dur="500"/>
                                        <p:tgtEl>
                                          <p:spTgt spid="6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fade">
                                      <p:cBhvr>
                                        <p:cTn id="50" dur="500"/>
                                        <p:tgtEl>
                                          <p:spTgt spid="7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fade">
                                      <p:cBhvr>
                                        <p:cTn id="53" dur="500"/>
                                        <p:tgtEl>
                                          <p:spTgt spid="8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fade">
                                      <p:cBhvr>
                                        <p:cTn id="56" dur="500"/>
                                        <p:tgtEl>
                                          <p:spTgt spid="10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3"/>
                                        </p:tgtEl>
                                        <p:attrNameLst>
                                          <p:attrName>style.visibility</p:attrName>
                                        </p:attrNameLst>
                                      </p:cBhvr>
                                      <p:to>
                                        <p:strVal val="visible"/>
                                      </p:to>
                                    </p:set>
                                    <p:animEffect transition="in" filter="fade">
                                      <p:cBhvr>
                                        <p:cTn id="59" dur="500"/>
                                        <p:tgtEl>
                                          <p:spTgt spid="8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80"/>
                                        </p:tgtEl>
                                        <p:attrNameLst>
                                          <p:attrName>style.visibility</p:attrName>
                                        </p:attrNameLst>
                                      </p:cBhvr>
                                      <p:to>
                                        <p:strVal val="visible"/>
                                      </p:to>
                                    </p:set>
                                    <p:animEffect transition="in" filter="fade">
                                      <p:cBhvr>
                                        <p:cTn id="64" dur="500"/>
                                        <p:tgtEl>
                                          <p:spTgt spid="80"/>
                                        </p:tgtEl>
                                      </p:cBhvr>
                                    </p:animEffect>
                                  </p:childTnLst>
                                </p:cTn>
                              </p:par>
                              <p:par>
                                <p:cTn id="65" presetID="10" presetClass="entr" presetSubtype="0" fill="hold" nodeType="with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fade">
                                      <p:cBhvr>
                                        <p:cTn id="67" dur="500"/>
                                        <p:tgtEl>
                                          <p:spTgt spid="7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fade">
                                      <p:cBhvr>
                                        <p:cTn id="70" dur="500"/>
                                        <p:tgtEl>
                                          <p:spTgt spid="7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91"/>
                                        </p:tgtEl>
                                        <p:attrNameLst>
                                          <p:attrName>style.visibility</p:attrName>
                                        </p:attrNameLst>
                                      </p:cBhvr>
                                      <p:to>
                                        <p:strVal val="visible"/>
                                      </p:to>
                                    </p:set>
                                    <p:animEffect transition="in" filter="fade">
                                      <p:cBhvr>
                                        <p:cTn id="75" dur="500"/>
                                        <p:tgtEl>
                                          <p:spTgt spid="9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97"/>
                                        </p:tgtEl>
                                        <p:attrNameLst>
                                          <p:attrName>style.visibility</p:attrName>
                                        </p:attrNameLst>
                                      </p:cBhvr>
                                      <p:to>
                                        <p:strVal val="visible"/>
                                      </p:to>
                                    </p:set>
                                    <p:animEffect transition="in" filter="fade">
                                      <p:cBhvr>
                                        <p:cTn id="80" dur="500"/>
                                        <p:tgtEl>
                                          <p:spTgt spid="9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07"/>
                                        </p:tgtEl>
                                        <p:attrNameLst>
                                          <p:attrName>style.visibility</p:attrName>
                                        </p:attrNameLst>
                                      </p:cBhvr>
                                      <p:to>
                                        <p:strVal val="visible"/>
                                      </p:to>
                                    </p:set>
                                    <p:animEffect transition="in" filter="fade">
                                      <p:cBhvr>
                                        <p:cTn id="83" dur="500"/>
                                        <p:tgtEl>
                                          <p:spTgt spid="10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19"/>
                                        </p:tgtEl>
                                        <p:attrNameLst>
                                          <p:attrName>style.visibility</p:attrName>
                                        </p:attrNameLst>
                                      </p:cBhvr>
                                      <p:to>
                                        <p:strVal val="visible"/>
                                      </p:to>
                                    </p:set>
                                    <p:animEffect transition="in" filter="fade">
                                      <p:cBhvr>
                                        <p:cTn id="86" dur="500"/>
                                        <p:tgtEl>
                                          <p:spTgt spid="11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93"/>
                                        </p:tgtEl>
                                        <p:attrNameLst>
                                          <p:attrName>style.visibility</p:attrName>
                                        </p:attrNameLst>
                                      </p:cBhvr>
                                      <p:to>
                                        <p:strVal val="visible"/>
                                      </p:to>
                                    </p:set>
                                    <p:animEffect transition="in" filter="fade">
                                      <p:cBhvr>
                                        <p:cTn id="89" dur="500"/>
                                        <p:tgtEl>
                                          <p:spTgt spid="9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06"/>
                                        </p:tgtEl>
                                        <p:attrNameLst>
                                          <p:attrName>style.visibility</p:attrName>
                                        </p:attrNameLst>
                                      </p:cBhvr>
                                      <p:to>
                                        <p:strVal val="visible"/>
                                      </p:to>
                                    </p:set>
                                    <p:animEffect transition="in" filter="fade">
                                      <p:cBhvr>
                                        <p:cTn id="94" dur="500"/>
                                        <p:tgtEl>
                                          <p:spTgt spid="106"/>
                                        </p:tgtEl>
                                      </p:cBhvr>
                                    </p:animEffect>
                                  </p:childTnLst>
                                </p:cTn>
                              </p:par>
                              <p:par>
                                <p:cTn id="95" presetID="10" presetClass="entr" presetSubtype="0" fill="hold" nodeType="withEffect">
                                  <p:stCondLst>
                                    <p:cond delay="0"/>
                                  </p:stCondLst>
                                  <p:childTnLst>
                                    <p:set>
                                      <p:cBhvr>
                                        <p:cTn id="96" dur="1" fill="hold">
                                          <p:stCondLst>
                                            <p:cond delay="0"/>
                                          </p:stCondLst>
                                        </p:cTn>
                                        <p:tgtEl>
                                          <p:spTgt spid="103"/>
                                        </p:tgtEl>
                                        <p:attrNameLst>
                                          <p:attrName>style.visibility</p:attrName>
                                        </p:attrNameLst>
                                      </p:cBhvr>
                                      <p:to>
                                        <p:strVal val="visible"/>
                                      </p:to>
                                    </p:set>
                                    <p:animEffect transition="in" filter="fade">
                                      <p:cBhvr>
                                        <p:cTn id="97" dur="500"/>
                                        <p:tgtEl>
                                          <p:spTgt spid="10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20"/>
                                        </p:tgtEl>
                                        <p:attrNameLst>
                                          <p:attrName>style.visibility</p:attrName>
                                        </p:attrNameLst>
                                      </p:cBhvr>
                                      <p:to>
                                        <p:strVal val="visible"/>
                                      </p:to>
                                    </p:set>
                                    <p:animEffect transition="in" filter="fade">
                                      <p:cBhvr>
                                        <p:cTn id="100" dur="500"/>
                                        <p:tgtEl>
                                          <p:spTgt spid="12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94"/>
                                        </p:tgtEl>
                                        <p:attrNameLst>
                                          <p:attrName>style.visibility</p:attrName>
                                        </p:attrNameLst>
                                      </p:cBhvr>
                                      <p:to>
                                        <p:strVal val="visible"/>
                                      </p:to>
                                    </p:set>
                                    <p:animEffect transition="in" filter="fade">
                                      <p:cBhvr>
                                        <p:cTn id="103" dur="500"/>
                                        <p:tgtEl>
                                          <p:spTgt spid="94"/>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62"/>
                                        </p:tgtEl>
                                        <p:attrNameLst>
                                          <p:attrName>style.visibility</p:attrName>
                                        </p:attrNameLst>
                                      </p:cBhvr>
                                      <p:to>
                                        <p:strVal val="visible"/>
                                      </p:to>
                                    </p:set>
                                    <p:animEffect transition="in" filter="fade">
                                      <p:cBhvr>
                                        <p:cTn id="108" dur="500"/>
                                        <p:tgtEl>
                                          <p:spTgt spid="62"/>
                                        </p:tgtEl>
                                      </p:cBhvr>
                                    </p:animEffect>
                                  </p:childTnLst>
                                </p:cTn>
                              </p:par>
                              <p:par>
                                <p:cTn id="109" presetID="10" presetClass="entr" presetSubtype="0" fill="hold" nodeType="withEffect">
                                  <p:stCondLst>
                                    <p:cond delay="0"/>
                                  </p:stCondLst>
                                  <p:childTnLst>
                                    <p:set>
                                      <p:cBhvr>
                                        <p:cTn id="110" dur="1" fill="hold">
                                          <p:stCondLst>
                                            <p:cond delay="0"/>
                                          </p:stCondLst>
                                        </p:cTn>
                                        <p:tgtEl>
                                          <p:spTgt spid="51"/>
                                        </p:tgtEl>
                                        <p:attrNameLst>
                                          <p:attrName>style.visibility</p:attrName>
                                        </p:attrNameLst>
                                      </p:cBhvr>
                                      <p:to>
                                        <p:strVal val="visible"/>
                                      </p:to>
                                    </p:set>
                                    <p:animEffect transition="in" filter="fade">
                                      <p:cBhvr>
                                        <p:cTn id="111" dur="500"/>
                                        <p:tgtEl>
                                          <p:spTgt spid="5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7"/>
                                        </p:tgtEl>
                                        <p:attrNameLst>
                                          <p:attrName>style.visibility</p:attrName>
                                        </p:attrNameLst>
                                      </p:cBhvr>
                                      <p:to>
                                        <p:strVal val="visible"/>
                                      </p:to>
                                    </p:set>
                                    <p:animEffect transition="in" filter="fade">
                                      <p:cBhvr>
                                        <p:cTn id="11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0" grpId="0" animBg="1"/>
      <p:bldP spid="42" grpId="0"/>
      <p:bldP spid="47" grpId="0" animBg="1"/>
      <p:bldP spid="49" grpId="0" animBg="1"/>
      <p:bldP spid="62" grpId="0" animBg="1"/>
      <p:bldP spid="63" grpId="0" animBg="1"/>
      <p:bldP spid="64" grpId="0" animBg="1"/>
      <p:bldP spid="65" grpId="0" animBg="1"/>
      <p:bldP spid="69" grpId="0"/>
      <p:bldP spid="71" grpId="0" animBg="1"/>
      <p:bldP spid="80" grpId="0" animBg="1"/>
      <p:bldP spid="81" grpId="0" animBg="1"/>
      <p:bldP spid="83" grpId="0" animBg="1"/>
      <p:bldP spid="91" grpId="0"/>
      <p:bldP spid="93" grpId="0" animBg="1"/>
      <p:bldP spid="94" grpId="0" animBg="1"/>
      <p:bldP spid="106" grpId="0" animBg="1"/>
      <p:bldP spid="107" grpId="0" animBg="1"/>
      <p:bldP spid="108" grpId="0"/>
      <p:bldP spid="119" grpId="0"/>
      <p:bldP spid="1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Simple Mission Analysis</a:t>
            </a:r>
          </a:p>
        </p:txBody>
      </p:sp>
      <p:sp>
        <p:nvSpPr>
          <p:cNvPr id="19" name="Flowchart: Decision 18">
            <a:extLst>
              <a:ext uri="{FF2B5EF4-FFF2-40B4-BE49-F238E27FC236}">
                <a16:creationId xmlns:a16="http://schemas.microsoft.com/office/drawing/2014/main" id="{5DCEFA90-6C69-4BE2-8484-A85B7BED3855}"/>
              </a:ext>
            </a:extLst>
          </p:cNvPr>
          <p:cNvSpPr/>
          <p:nvPr/>
        </p:nvSpPr>
        <p:spPr>
          <a:xfrm>
            <a:off x="5548312" y="1766416"/>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8" name="Content Placeholder 1">
            <a:extLst>
              <a:ext uri="{FF2B5EF4-FFF2-40B4-BE49-F238E27FC236}">
                <a16:creationId xmlns:a16="http://schemas.microsoft.com/office/drawing/2014/main" id="{A4B0B7AF-2DD6-4A94-8E93-BD9DD7A6853F}"/>
              </a:ext>
            </a:extLst>
          </p:cNvPr>
          <p:cNvSpPr>
            <a:spLocks noGrp="1"/>
          </p:cNvSpPr>
          <p:nvPr>
            <p:ph idx="1"/>
          </p:nvPr>
        </p:nvSpPr>
        <p:spPr>
          <a:xfrm>
            <a:off x="677338" y="1828800"/>
            <a:ext cx="3418412" cy="304800"/>
          </a:xfrm>
        </p:spPr>
        <p:txBody>
          <a:bodyPr/>
          <a:lstStyle/>
          <a:p>
            <a:pPr marL="0" indent="0">
              <a:buNone/>
            </a:pPr>
            <a:r>
              <a:rPr lang="en-US" b="1" dirty="0"/>
              <a:t>Decision Tree – State Transition</a:t>
            </a:r>
          </a:p>
        </p:txBody>
      </p:sp>
      <p:cxnSp>
        <p:nvCxnSpPr>
          <p:cNvPr id="21" name="Straight Arrow Connector 20">
            <a:extLst>
              <a:ext uri="{FF2B5EF4-FFF2-40B4-BE49-F238E27FC236}">
                <a16:creationId xmlns:a16="http://schemas.microsoft.com/office/drawing/2014/main" id="{50CBA99B-EE2B-44CF-AB68-AC8E6A1854A8}"/>
              </a:ext>
            </a:extLst>
          </p:cNvPr>
          <p:cNvCxnSpPr>
            <a:cxnSpLocks/>
            <a:stCxn id="40" idx="4"/>
            <a:endCxn id="19" idx="0"/>
          </p:cNvCxnSpPr>
          <p:nvPr/>
        </p:nvCxnSpPr>
        <p:spPr>
          <a:xfrm>
            <a:off x="6096000" y="1459230"/>
            <a:ext cx="0" cy="307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B60C2E5-62B8-46B3-920D-D5E105D3C595}"/>
              </a:ext>
            </a:extLst>
          </p:cNvPr>
          <p:cNvSpPr/>
          <p:nvPr/>
        </p:nvSpPr>
        <p:spPr>
          <a:xfrm>
            <a:off x="6004560" y="1276350"/>
            <a:ext cx="182880" cy="18288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mc:AlternateContent xmlns:mc="http://schemas.openxmlformats.org/markup-compatibility/2006" xmlns:a14="http://schemas.microsoft.com/office/drawing/2010/main">
        <mc:Choice Requires="a14">
          <p:sp>
            <p:nvSpPr>
              <p:cNvPr id="42" name="Text Placeholder 1">
                <a:extLst>
                  <a:ext uri="{FF2B5EF4-FFF2-40B4-BE49-F238E27FC236}">
                    <a16:creationId xmlns:a16="http://schemas.microsoft.com/office/drawing/2014/main" id="{30DB9661-E473-464A-B480-E73156FD6328}"/>
                  </a:ext>
                </a:extLst>
              </p:cNvPr>
              <p:cNvSpPr txBox="1">
                <a:spLocks/>
              </p:cNvSpPr>
              <p:nvPr/>
            </p:nvSpPr>
            <p:spPr>
              <a:xfrm>
                <a:off x="6302025" y="1544046"/>
                <a:ext cx="1778699" cy="35065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𝑬</m:t>
                              </m:r>
                            </m:e>
                            <m:sub>
                              <m:r>
                                <a:rPr lang="en-US" sz="1600" b="1" i="1" smtClean="0">
                                  <a:latin typeface="Cambria Math" panose="02040503050406030204" pitchFamily="18" charset="0"/>
                                </a:rPr>
                                <m:t>𝒔</m:t>
                              </m:r>
                            </m:sub>
                          </m:sSub>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m:t>
                      </m:r>
                      <m:sSub>
                        <m:sSubPr>
                          <m:ctrlPr>
                            <a:rPr lang="en-US" sz="1600" b="1" i="1" smtClean="0">
                              <a:latin typeface="Cambria Math" panose="02040503050406030204" pitchFamily="18" charset="0"/>
                            </a:rPr>
                          </m:ctrlPr>
                        </m:sSubPr>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𝑬</m:t>
                              </m:r>
                            </m:e>
                            <m:sub>
                              <m:r>
                                <a:rPr lang="en-US" sz="1600" b="1" i="1" smtClean="0">
                                  <a:latin typeface="Cambria Math" panose="02040503050406030204" pitchFamily="18" charset="0"/>
                                </a:rPr>
                                <m:t>𝒔</m:t>
                              </m:r>
                            </m:sub>
                          </m:sSub>
                        </m:e>
                        <m:sub>
                          <m:r>
                            <a:rPr lang="en-US" sz="1600" b="1" i="1" smtClean="0">
                              <a:latin typeface="Cambria Math" panose="02040503050406030204" pitchFamily="18" charset="0"/>
                            </a:rPr>
                            <m:t>𝒊</m:t>
                          </m:r>
                        </m:sub>
                      </m:sSub>
                    </m:oMath>
                  </m:oMathPara>
                </a14:m>
                <a:endParaRPr lang="en-US" sz="1600" b="1" dirty="0"/>
              </a:p>
            </p:txBody>
          </p:sp>
        </mc:Choice>
        <mc:Fallback xmlns="">
          <p:sp>
            <p:nvSpPr>
              <p:cNvPr id="42" name="Text Placeholder 1">
                <a:extLst>
                  <a:ext uri="{FF2B5EF4-FFF2-40B4-BE49-F238E27FC236}">
                    <a16:creationId xmlns:a16="http://schemas.microsoft.com/office/drawing/2014/main" id="{30DB9661-E473-464A-B480-E73156FD6328}"/>
                  </a:ext>
                </a:extLst>
              </p:cNvPr>
              <p:cNvSpPr txBox="1">
                <a:spLocks noRot="1" noChangeAspect="1" noMove="1" noResize="1" noEditPoints="1" noAdjustHandles="1" noChangeArrowheads="1" noChangeShapeType="1" noTextEdit="1"/>
              </p:cNvSpPr>
              <p:nvPr/>
            </p:nvSpPr>
            <p:spPr>
              <a:xfrm>
                <a:off x="6302025" y="1544046"/>
                <a:ext cx="1778699" cy="350651"/>
              </a:xfrm>
              <a:prstGeom prst="rect">
                <a:avLst/>
              </a:prstGeom>
              <a:blipFill>
                <a:blip r:embed="rId2"/>
                <a:stretch>
                  <a:fillRect b="-3448"/>
                </a:stretch>
              </a:blipFill>
            </p:spPr>
            <p:txBody>
              <a:bodyPr/>
              <a:lstStyle/>
              <a:p>
                <a:r>
                  <a:rPr lang="en-US">
                    <a:noFill/>
                  </a:rPr>
                  <a:t> </a:t>
                </a:r>
              </a:p>
            </p:txBody>
          </p:sp>
        </mc:Fallback>
      </mc:AlternateContent>
      <p:sp>
        <p:nvSpPr>
          <p:cNvPr id="47" name="Flowchart: Decision 46">
            <a:extLst>
              <a:ext uri="{FF2B5EF4-FFF2-40B4-BE49-F238E27FC236}">
                <a16:creationId xmlns:a16="http://schemas.microsoft.com/office/drawing/2014/main" id="{D9023884-B455-4CCC-93CA-424C7D740E2D}"/>
              </a:ext>
            </a:extLst>
          </p:cNvPr>
          <p:cNvSpPr/>
          <p:nvPr/>
        </p:nvSpPr>
        <p:spPr>
          <a:xfrm>
            <a:off x="2805112" y="3071341"/>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49" name="Flowchart: Decision 48">
            <a:extLst>
              <a:ext uri="{FF2B5EF4-FFF2-40B4-BE49-F238E27FC236}">
                <a16:creationId xmlns:a16="http://schemas.microsoft.com/office/drawing/2014/main" id="{E3ED6BE7-84FE-4473-8194-824CD34E0DB2}"/>
              </a:ext>
            </a:extLst>
          </p:cNvPr>
          <p:cNvSpPr/>
          <p:nvPr/>
        </p:nvSpPr>
        <p:spPr>
          <a:xfrm>
            <a:off x="8291512" y="3071341"/>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cxnSp>
        <p:nvCxnSpPr>
          <p:cNvPr id="51" name="Connector: Elbow 50">
            <a:extLst>
              <a:ext uri="{FF2B5EF4-FFF2-40B4-BE49-F238E27FC236}">
                <a16:creationId xmlns:a16="http://schemas.microsoft.com/office/drawing/2014/main" id="{09722489-0DCE-43F0-8E30-2969266E4354}"/>
              </a:ext>
            </a:extLst>
          </p:cNvPr>
          <p:cNvCxnSpPr>
            <a:cxnSpLocks/>
            <a:stCxn id="19" idx="2"/>
            <a:endCxn id="47" idx="0"/>
          </p:cNvCxnSpPr>
          <p:nvPr/>
        </p:nvCxnSpPr>
        <p:spPr>
          <a:xfrm rot="5400000">
            <a:off x="4300538" y="1275878"/>
            <a:ext cx="847725" cy="2743200"/>
          </a:xfrm>
          <a:prstGeom prst="bentConnector3">
            <a:avLst>
              <a:gd name="adj1" fmla="val 1741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10775C1-FFCF-4686-B93A-DFFD66E71ACF}"/>
              </a:ext>
            </a:extLst>
          </p:cNvPr>
          <p:cNvCxnSpPr>
            <a:cxnSpLocks/>
            <a:stCxn id="19" idx="2"/>
            <a:endCxn id="65" idx="0"/>
          </p:cNvCxnSpPr>
          <p:nvPr/>
        </p:nvCxnSpPr>
        <p:spPr>
          <a:xfrm flipH="1">
            <a:off x="6095998" y="2223616"/>
            <a:ext cx="2" cy="9002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06B260C4-6052-45A3-8D64-E89E124674C5}"/>
              </a:ext>
            </a:extLst>
          </p:cNvPr>
          <p:cNvCxnSpPr>
            <a:cxnSpLocks/>
            <a:stCxn id="19" idx="2"/>
            <a:endCxn id="49" idx="0"/>
          </p:cNvCxnSpPr>
          <p:nvPr/>
        </p:nvCxnSpPr>
        <p:spPr>
          <a:xfrm rot="16200000" flipH="1">
            <a:off x="7043738" y="1275878"/>
            <a:ext cx="847725" cy="2743200"/>
          </a:xfrm>
          <a:prstGeom prst="bentConnector3">
            <a:avLst>
              <a:gd name="adj1" fmla="val 1741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 Placeholder 1">
                <a:extLst>
                  <a:ext uri="{FF2B5EF4-FFF2-40B4-BE49-F238E27FC236}">
                    <a16:creationId xmlns:a16="http://schemas.microsoft.com/office/drawing/2014/main" id="{E3ABA514-DE56-4BAE-8FD8-E731859C4FBF}"/>
                  </a:ext>
                </a:extLst>
              </p:cNvPr>
              <p:cNvSpPr txBox="1">
                <a:spLocks/>
              </p:cNvSpPr>
              <p:nvPr/>
            </p:nvSpPr>
            <p:spPr>
              <a:xfrm>
                <a:off x="4519041" y="2219225"/>
                <a:ext cx="410718"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&lt;</m:t>
                      </m:r>
                      <m:r>
                        <a:rPr lang="en-US" sz="1600" b="1" i="1" smtClean="0">
                          <a:latin typeface="Cambria Math" panose="02040503050406030204" pitchFamily="18" charset="0"/>
                        </a:rPr>
                        <m:t>𝟎</m:t>
                      </m:r>
                    </m:oMath>
                  </m:oMathPara>
                </a14:m>
                <a:endParaRPr lang="en-US" sz="1600" b="1" dirty="0"/>
              </a:p>
            </p:txBody>
          </p:sp>
        </mc:Choice>
        <mc:Fallback xmlns="">
          <p:sp>
            <p:nvSpPr>
              <p:cNvPr id="62" name="Text Placeholder 1">
                <a:extLst>
                  <a:ext uri="{FF2B5EF4-FFF2-40B4-BE49-F238E27FC236}">
                    <a16:creationId xmlns:a16="http://schemas.microsoft.com/office/drawing/2014/main" id="{E3ABA514-DE56-4BAE-8FD8-E731859C4FBF}"/>
                  </a:ext>
                </a:extLst>
              </p:cNvPr>
              <p:cNvSpPr txBox="1">
                <a:spLocks noRot="1" noChangeAspect="1" noMove="1" noResize="1" noEditPoints="1" noAdjustHandles="1" noChangeArrowheads="1" noChangeShapeType="1" noTextEdit="1"/>
              </p:cNvSpPr>
              <p:nvPr/>
            </p:nvSpPr>
            <p:spPr>
              <a:xfrm>
                <a:off x="4519041" y="2219225"/>
                <a:ext cx="410718" cy="350651"/>
              </a:xfrm>
              <a:prstGeom prst="rect">
                <a:avLst/>
              </a:prstGeom>
              <a:blipFill>
                <a:blip r:embed="rId3"/>
                <a:stretch>
                  <a:fillRect l="-5882"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Placeholder 1">
                <a:extLst>
                  <a:ext uri="{FF2B5EF4-FFF2-40B4-BE49-F238E27FC236}">
                    <a16:creationId xmlns:a16="http://schemas.microsoft.com/office/drawing/2014/main" id="{4EF07DD0-104E-4B47-935A-A697E2952599}"/>
                  </a:ext>
                </a:extLst>
              </p:cNvPr>
              <p:cNvSpPr txBox="1">
                <a:spLocks/>
              </p:cNvSpPr>
              <p:nvPr/>
            </p:nvSpPr>
            <p:spPr>
              <a:xfrm>
                <a:off x="5890643" y="2530802"/>
                <a:ext cx="410718"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a:latin typeface="Cambria Math" panose="02040503050406030204" pitchFamily="18" charset="0"/>
                        </a:rPr>
                        <m:t>=</m:t>
                      </m:r>
                      <m:r>
                        <a:rPr lang="en-US" sz="1600" b="1" i="1" smtClean="0">
                          <a:latin typeface="Cambria Math" panose="02040503050406030204" pitchFamily="18" charset="0"/>
                        </a:rPr>
                        <m:t>𝟎</m:t>
                      </m:r>
                    </m:oMath>
                  </m:oMathPara>
                </a14:m>
                <a:endParaRPr lang="en-US" sz="1600" b="1" dirty="0"/>
              </a:p>
            </p:txBody>
          </p:sp>
        </mc:Choice>
        <mc:Fallback xmlns="">
          <p:sp>
            <p:nvSpPr>
              <p:cNvPr id="63" name="Text Placeholder 1">
                <a:extLst>
                  <a:ext uri="{FF2B5EF4-FFF2-40B4-BE49-F238E27FC236}">
                    <a16:creationId xmlns:a16="http://schemas.microsoft.com/office/drawing/2014/main" id="{4EF07DD0-104E-4B47-935A-A697E2952599}"/>
                  </a:ext>
                </a:extLst>
              </p:cNvPr>
              <p:cNvSpPr txBox="1">
                <a:spLocks noRot="1" noChangeAspect="1" noMove="1" noResize="1" noEditPoints="1" noAdjustHandles="1" noChangeArrowheads="1" noChangeShapeType="1" noTextEdit="1"/>
              </p:cNvSpPr>
              <p:nvPr/>
            </p:nvSpPr>
            <p:spPr>
              <a:xfrm>
                <a:off x="5890643" y="2530802"/>
                <a:ext cx="410718" cy="350651"/>
              </a:xfrm>
              <a:prstGeom prst="rect">
                <a:avLst/>
              </a:prstGeom>
              <a:blipFill>
                <a:blip r:embed="rId4"/>
                <a:stretch>
                  <a:fillRect l="-1471"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 Placeholder 1">
                <a:extLst>
                  <a:ext uri="{FF2B5EF4-FFF2-40B4-BE49-F238E27FC236}">
                    <a16:creationId xmlns:a16="http://schemas.microsoft.com/office/drawing/2014/main" id="{57736710-D3E5-4CB8-9955-1B35D993A1E0}"/>
                  </a:ext>
                </a:extLst>
              </p:cNvPr>
              <p:cNvSpPr txBox="1">
                <a:spLocks/>
              </p:cNvSpPr>
              <p:nvPr/>
            </p:nvSpPr>
            <p:spPr>
              <a:xfrm>
                <a:off x="7262240" y="2219224"/>
                <a:ext cx="410718"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a:latin typeface="Cambria Math" panose="02040503050406030204" pitchFamily="18" charset="0"/>
                        </a:rPr>
                        <m:t>&gt;</m:t>
                      </m:r>
                      <m:r>
                        <a:rPr lang="en-US" sz="1600" b="1" i="1" smtClean="0">
                          <a:latin typeface="Cambria Math" panose="02040503050406030204" pitchFamily="18" charset="0"/>
                        </a:rPr>
                        <m:t>𝟎</m:t>
                      </m:r>
                    </m:oMath>
                  </m:oMathPara>
                </a14:m>
                <a:endParaRPr lang="en-US" sz="1600" b="1" dirty="0"/>
              </a:p>
            </p:txBody>
          </p:sp>
        </mc:Choice>
        <mc:Fallback xmlns="">
          <p:sp>
            <p:nvSpPr>
              <p:cNvPr id="64" name="Text Placeholder 1">
                <a:extLst>
                  <a:ext uri="{FF2B5EF4-FFF2-40B4-BE49-F238E27FC236}">
                    <a16:creationId xmlns:a16="http://schemas.microsoft.com/office/drawing/2014/main" id="{57736710-D3E5-4CB8-9955-1B35D993A1E0}"/>
                  </a:ext>
                </a:extLst>
              </p:cNvPr>
              <p:cNvSpPr txBox="1">
                <a:spLocks noRot="1" noChangeAspect="1" noMove="1" noResize="1" noEditPoints="1" noAdjustHandles="1" noChangeArrowheads="1" noChangeShapeType="1" noTextEdit="1"/>
              </p:cNvSpPr>
              <p:nvPr/>
            </p:nvSpPr>
            <p:spPr>
              <a:xfrm>
                <a:off x="7262240" y="2219224"/>
                <a:ext cx="410718" cy="350651"/>
              </a:xfrm>
              <a:prstGeom prst="rect">
                <a:avLst/>
              </a:prstGeom>
              <a:blipFill>
                <a:blip r:embed="rId5"/>
                <a:stretch>
                  <a:fillRect l="-5882" r="-7353"/>
                </a:stretch>
              </a:blipFill>
            </p:spPr>
            <p:txBody>
              <a:bodyPr/>
              <a:lstStyle/>
              <a:p>
                <a:r>
                  <a:rPr lang="en-US">
                    <a:noFill/>
                  </a:rPr>
                  <a:t> </a:t>
                </a:r>
              </a:p>
            </p:txBody>
          </p:sp>
        </mc:Fallback>
      </mc:AlternateContent>
      <p:sp>
        <p:nvSpPr>
          <p:cNvPr id="65" name="Rectangle: Rounded Corners 64">
            <a:extLst>
              <a:ext uri="{FF2B5EF4-FFF2-40B4-BE49-F238E27FC236}">
                <a16:creationId xmlns:a16="http://schemas.microsoft.com/office/drawing/2014/main" id="{227FCC9A-4268-4BCD-9C07-D0D4DF21D0E7}"/>
              </a:ext>
            </a:extLst>
          </p:cNvPr>
          <p:cNvSpPr/>
          <p:nvPr/>
        </p:nvSpPr>
        <p:spPr>
          <a:xfrm>
            <a:off x="5548310" y="3123836"/>
            <a:ext cx="1095375"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Cruise</a:t>
            </a:r>
          </a:p>
        </p:txBody>
      </p:sp>
      <mc:AlternateContent xmlns:mc="http://schemas.openxmlformats.org/markup-compatibility/2006" xmlns:a14="http://schemas.microsoft.com/office/drawing/2010/main">
        <mc:Choice Requires="a14">
          <p:sp>
            <p:nvSpPr>
              <p:cNvPr id="69" name="Text Placeholder 1">
                <a:extLst>
                  <a:ext uri="{FF2B5EF4-FFF2-40B4-BE49-F238E27FC236}">
                    <a16:creationId xmlns:a16="http://schemas.microsoft.com/office/drawing/2014/main" id="{7E6DE825-457E-42B7-A4AA-90B66DAD7753}"/>
                  </a:ext>
                </a:extLst>
              </p:cNvPr>
              <p:cNvSpPr txBox="1">
                <a:spLocks/>
              </p:cNvSpPr>
              <p:nvPr/>
            </p:nvSpPr>
            <p:spPr>
              <a:xfrm>
                <a:off x="8839196" y="2773185"/>
                <a:ext cx="3009904" cy="35065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&gt;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𝒊</m:t>
                          </m:r>
                        </m:sub>
                      </m:sSub>
                      <m:r>
                        <a:rPr lang="en-US" sz="1600" b="1" i="1" smtClean="0">
                          <a:latin typeface="Cambria Math" panose="02040503050406030204" pitchFamily="18" charset="0"/>
                        </a:rPr>
                        <m:t> &amp;&amp; </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𝒉</m:t>
                          </m:r>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&gt;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𝒉</m:t>
                          </m:r>
                        </m:e>
                        <m:sub>
                          <m:r>
                            <a:rPr lang="en-US" sz="1600" b="1" i="1" smtClean="0">
                              <a:latin typeface="Cambria Math" panose="02040503050406030204" pitchFamily="18" charset="0"/>
                            </a:rPr>
                            <m:t>𝒊</m:t>
                          </m:r>
                        </m:sub>
                      </m:sSub>
                    </m:oMath>
                  </m:oMathPara>
                </a14:m>
                <a:endParaRPr lang="en-US" sz="1600" b="1" dirty="0"/>
              </a:p>
            </p:txBody>
          </p:sp>
        </mc:Choice>
        <mc:Fallback xmlns="">
          <p:sp>
            <p:nvSpPr>
              <p:cNvPr id="69" name="Text Placeholder 1">
                <a:extLst>
                  <a:ext uri="{FF2B5EF4-FFF2-40B4-BE49-F238E27FC236}">
                    <a16:creationId xmlns:a16="http://schemas.microsoft.com/office/drawing/2014/main" id="{7E6DE825-457E-42B7-A4AA-90B66DAD7753}"/>
                  </a:ext>
                </a:extLst>
              </p:cNvPr>
              <p:cNvSpPr txBox="1">
                <a:spLocks noRot="1" noChangeAspect="1" noMove="1" noResize="1" noEditPoints="1" noAdjustHandles="1" noChangeArrowheads="1" noChangeShapeType="1" noTextEdit="1"/>
              </p:cNvSpPr>
              <p:nvPr/>
            </p:nvSpPr>
            <p:spPr>
              <a:xfrm>
                <a:off x="8839196" y="2773185"/>
                <a:ext cx="3009904" cy="35065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0" name="Text Placeholder 1">
                <a:extLst>
                  <a:ext uri="{FF2B5EF4-FFF2-40B4-BE49-F238E27FC236}">
                    <a16:creationId xmlns:a16="http://schemas.microsoft.com/office/drawing/2014/main" id="{E0514718-5987-4BA4-A1B8-DA270A6C71B2}"/>
                  </a:ext>
                </a:extLst>
              </p:cNvPr>
              <p:cNvSpPr txBox="1">
                <a:spLocks/>
              </p:cNvSpPr>
              <p:nvPr/>
            </p:nvSpPr>
            <p:spPr>
              <a:xfrm>
                <a:off x="339281" y="2724150"/>
                <a:ext cx="3009904" cy="350651"/>
              </a:xfrm>
              <a:prstGeom prst="rect">
                <a:avLst/>
              </a:prstGeom>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&lt;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𝒊</m:t>
                          </m:r>
                        </m:sub>
                      </m:sSub>
                      <m:r>
                        <a:rPr lang="en-US" sz="1600" b="1" i="1" smtClean="0">
                          <a:latin typeface="Cambria Math" panose="02040503050406030204" pitchFamily="18" charset="0"/>
                        </a:rPr>
                        <m:t> &amp;&amp; </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𝒉</m:t>
                          </m:r>
                        </m:e>
                        <m:sub>
                          <m:r>
                            <a:rPr lang="en-US" sz="1600" b="1" i="1" smtClean="0">
                              <a:latin typeface="Cambria Math" panose="02040503050406030204" pitchFamily="18" charset="0"/>
                            </a:rPr>
                            <m:t>𝒕𝒂𝒓𝒈𝒆𝒕</m:t>
                          </m:r>
                        </m:sub>
                      </m:sSub>
                      <m:r>
                        <a:rPr lang="en-US" sz="1600" b="1" i="1" smtClean="0">
                          <a:latin typeface="Cambria Math" panose="02040503050406030204" pitchFamily="18" charset="0"/>
                        </a:rPr>
                        <m:t>&lt;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𝒉</m:t>
                          </m:r>
                        </m:e>
                        <m:sub>
                          <m:r>
                            <a:rPr lang="en-US" sz="1600" b="1" i="1" smtClean="0">
                              <a:latin typeface="Cambria Math" panose="02040503050406030204" pitchFamily="18" charset="0"/>
                            </a:rPr>
                            <m:t>𝒊</m:t>
                          </m:r>
                        </m:sub>
                      </m:sSub>
                    </m:oMath>
                  </m:oMathPara>
                </a14:m>
                <a:endParaRPr lang="en-US" sz="1600" b="1" dirty="0"/>
              </a:p>
            </p:txBody>
          </p:sp>
        </mc:Choice>
        <mc:Fallback xmlns="">
          <p:sp>
            <p:nvSpPr>
              <p:cNvPr id="160" name="Text Placeholder 1">
                <a:extLst>
                  <a:ext uri="{FF2B5EF4-FFF2-40B4-BE49-F238E27FC236}">
                    <a16:creationId xmlns:a16="http://schemas.microsoft.com/office/drawing/2014/main" id="{E0514718-5987-4BA4-A1B8-DA270A6C71B2}"/>
                  </a:ext>
                </a:extLst>
              </p:cNvPr>
              <p:cNvSpPr txBox="1">
                <a:spLocks noRot="1" noChangeAspect="1" noMove="1" noResize="1" noEditPoints="1" noAdjustHandles="1" noChangeArrowheads="1" noChangeShapeType="1" noTextEdit="1"/>
              </p:cNvSpPr>
              <p:nvPr/>
            </p:nvSpPr>
            <p:spPr>
              <a:xfrm>
                <a:off x="339281" y="2724150"/>
                <a:ext cx="3009904" cy="35065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964C2F74-809F-4BA4-9459-19F673EB838C}"/>
                  </a:ext>
                </a:extLst>
              </p:cNvPr>
              <p:cNvSpPr txBox="1"/>
              <p:nvPr/>
            </p:nvSpPr>
            <p:spPr>
              <a:xfrm>
                <a:off x="9381696" y="1145423"/>
                <a:ext cx="2030428" cy="5107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i="1">
                              <a:latin typeface="Cambria Math" panose="02040503050406030204" pitchFamily="18" charset="0"/>
                            </a:rPr>
                            <m:t>𝑑h</m:t>
                          </m:r>
                        </m:num>
                        <m:den>
                          <m:r>
                            <a:rPr lang="en-US" sz="1600" i="1">
                              <a:latin typeface="Cambria Math" panose="02040503050406030204" pitchFamily="18" charset="0"/>
                            </a:rPr>
                            <m:t>𝑑𝑡</m:t>
                          </m:r>
                        </m:den>
                      </m:f>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𝑉</m:t>
                          </m:r>
                        </m:num>
                        <m:den>
                          <m:r>
                            <a:rPr lang="en-US" sz="1600" i="1">
                              <a:latin typeface="Cambria Math" panose="02040503050406030204" pitchFamily="18" charset="0"/>
                            </a:rPr>
                            <m:t>𝑔</m:t>
                          </m:r>
                        </m:den>
                      </m:f>
                      <m:f>
                        <m:fPr>
                          <m:ctrlPr>
                            <a:rPr lang="en-US" sz="1600" i="1">
                              <a:latin typeface="Cambria Math" panose="02040503050406030204" pitchFamily="18" charset="0"/>
                            </a:rPr>
                          </m:ctrlPr>
                        </m:fPr>
                        <m:num>
                          <m:r>
                            <a:rPr lang="en-US" sz="1600" i="1">
                              <a:latin typeface="Cambria Math" panose="02040503050406030204" pitchFamily="18" charset="0"/>
                            </a:rPr>
                            <m:t>𝑑𝑉</m:t>
                          </m:r>
                        </m:num>
                        <m:den>
                          <m:r>
                            <a:rPr lang="en-US" sz="1600" i="1">
                              <a:latin typeface="Cambria Math" panose="02040503050406030204" pitchFamily="18" charset="0"/>
                            </a:rPr>
                            <m:t>𝑑𝑡</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𝑛</m:t>
                              </m:r>
                            </m:sub>
                          </m:sSub>
                          <m:r>
                            <a:rPr lang="en-US" sz="1600" b="0" i="1" smtClean="0">
                              <a:latin typeface="Cambria Math" panose="02040503050406030204" pitchFamily="18" charset="0"/>
                            </a:rPr>
                            <m:t>−</m:t>
                          </m:r>
                          <m:r>
                            <a:rPr lang="en-US" sz="1600" b="0" i="1" smtClean="0">
                              <a:latin typeface="Cambria Math" panose="02040503050406030204" pitchFamily="18" charset="0"/>
                            </a:rPr>
                            <m:t>𝐷</m:t>
                          </m:r>
                        </m:num>
                        <m:den>
                          <m:r>
                            <a:rPr lang="en-US" sz="1600" b="0" i="1" smtClean="0">
                              <a:latin typeface="Cambria Math" panose="02040503050406030204" pitchFamily="18" charset="0"/>
                            </a:rPr>
                            <m:t>𝑊</m:t>
                          </m:r>
                        </m:den>
                      </m:f>
                      <m:r>
                        <a:rPr lang="en-US" sz="1600" b="0" i="1" smtClean="0">
                          <a:latin typeface="Cambria Math" panose="02040503050406030204" pitchFamily="18" charset="0"/>
                        </a:rPr>
                        <m:t>𝑉</m:t>
                      </m:r>
                    </m:oMath>
                  </m:oMathPara>
                </a14:m>
                <a:endParaRPr lang="en-US" sz="1600" dirty="0" err="1"/>
              </a:p>
            </p:txBody>
          </p:sp>
        </mc:Choice>
        <mc:Fallback xmlns="">
          <p:sp>
            <p:nvSpPr>
              <p:cNvPr id="163" name="TextBox 162">
                <a:extLst>
                  <a:ext uri="{FF2B5EF4-FFF2-40B4-BE49-F238E27FC236}">
                    <a16:creationId xmlns:a16="http://schemas.microsoft.com/office/drawing/2014/main" id="{964C2F74-809F-4BA4-9459-19F673EB838C}"/>
                  </a:ext>
                </a:extLst>
              </p:cNvPr>
              <p:cNvSpPr txBox="1">
                <a:spLocks noRot="1" noChangeAspect="1" noMove="1" noResize="1" noEditPoints="1" noAdjustHandles="1" noChangeArrowheads="1" noChangeShapeType="1" noTextEdit="1"/>
              </p:cNvSpPr>
              <p:nvPr/>
            </p:nvSpPr>
            <p:spPr>
              <a:xfrm>
                <a:off x="9381696" y="1145423"/>
                <a:ext cx="2030428" cy="510717"/>
              </a:xfrm>
              <a:prstGeom prst="rect">
                <a:avLst/>
              </a:prstGeom>
              <a:blipFill>
                <a:blip r:embed="rId8"/>
                <a:stretch>
                  <a:fillRect/>
                </a:stretch>
              </a:blipFill>
            </p:spPr>
            <p:txBody>
              <a:bodyPr/>
              <a:lstStyle/>
              <a:p>
                <a:r>
                  <a:rPr lang="en-US">
                    <a:noFill/>
                  </a:rPr>
                  <a:t> </a:t>
                </a:r>
              </a:p>
            </p:txBody>
          </p:sp>
        </mc:Fallback>
      </mc:AlternateContent>
      <p:sp>
        <p:nvSpPr>
          <p:cNvPr id="165" name="Flowchart: Decision 164">
            <a:extLst>
              <a:ext uri="{FF2B5EF4-FFF2-40B4-BE49-F238E27FC236}">
                <a16:creationId xmlns:a16="http://schemas.microsoft.com/office/drawing/2014/main" id="{B1B99D2C-0A9A-4294-9522-CBADC05E25E8}"/>
              </a:ext>
            </a:extLst>
          </p:cNvPr>
          <p:cNvSpPr/>
          <p:nvPr/>
        </p:nvSpPr>
        <p:spPr>
          <a:xfrm>
            <a:off x="5418255" y="3927003"/>
            <a:ext cx="1095375" cy="457200"/>
          </a:xfrm>
          <a:prstGeom prst="flowChartDecision">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mc:AlternateContent xmlns:mc="http://schemas.openxmlformats.org/markup-compatibility/2006" xmlns:a14="http://schemas.microsoft.com/office/drawing/2010/main">
        <mc:Choice Requires="a14">
          <p:sp>
            <p:nvSpPr>
              <p:cNvPr id="166" name="Rectangle 165">
                <a:extLst>
                  <a:ext uri="{FF2B5EF4-FFF2-40B4-BE49-F238E27FC236}">
                    <a16:creationId xmlns:a16="http://schemas.microsoft.com/office/drawing/2014/main" id="{D3AD10FD-E059-4C24-AC9F-A71F501A8911}"/>
                  </a:ext>
                </a:extLst>
              </p:cNvPr>
              <p:cNvSpPr/>
              <p:nvPr/>
            </p:nvSpPr>
            <p:spPr>
              <a:xfrm>
                <a:off x="6011959" y="3667158"/>
                <a:ext cx="1471750" cy="3956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𝑽</m:t>
                          </m:r>
                        </m:e>
                        <m:sub>
                          <m:r>
                            <a:rPr lang="en-US" b="1" i="1">
                              <a:latin typeface="Cambria Math" panose="02040503050406030204" pitchFamily="18" charset="0"/>
                            </a:rPr>
                            <m:t>𝒕𝒂𝒓𝒈𝒆𝒕</m:t>
                          </m:r>
                        </m:sub>
                      </m:sSub>
                      <m:r>
                        <a:rPr lang="en-US" b="1" i="1" smtClean="0">
                          <a:latin typeface="Cambria Math" panose="02040503050406030204" pitchFamily="18" charset="0"/>
                        </a:rPr>
                        <m:t>&lt;</m:t>
                      </m:r>
                      <m:sSub>
                        <m:sSubPr>
                          <m:ctrlPr>
                            <a:rPr lang="en-US" b="1" i="1">
                              <a:latin typeface="Cambria Math" panose="02040503050406030204" pitchFamily="18" charset="0"/>
                            </a:rPr>
                          </m:ctrlPr>
                        </m:sSubPr>
                        <m:e>
                          <m:r>
                            <a:rPr lang="en-US" b="1" i="1">
                              <a:latin typeface="Cambria Math" panose="02040503050406030204" pitchFamily="18" charset="0"/>
                            </a:rPr>
                            <m:t>𝑽</m:t>
                          </m:r>
                        </m:e>
                        <m:sub>
                          <m:r>
                            <a:rPr lang="en-US" b="1" i="1">
                              <a:latin typeface="Cambria Math" panose="02040503050406030204" pitchFamily="18" charset="0"/>
                            </a:rPr>
                            <m:t>𝒊</m:t>
                          </m:r>
                        </m:sub>
                      </m:sSub>
                    </m:oMath>
                  </m:oMathPara>
                </a14:m>
                <a:endParaRPr lang="en-US" dirty="0"/>
              </a:p>
            </p:txBody>
          </p:sp>
        </mc:Choice>
        <mc:Fallback xmlns="">
          <p:sp>
            <p:nvSpPr>
              <p:cNvPr id="166" name="Rectangle 165">
                <a:extLst>
                  <a:ext uri="{FF2B5EF4-FFF2-40B4-BE49-F238E27FC236}">
                    <a16:creationId xmlns:a16="http://schemas.microsoft.com/office/drawing/2014/main" id="{D3AD10FD-E059-4C24-AC9F-A71F501A8911}"/>
                  </a:ext>
                </a:extLst>
              </p:cNvPr>
              <p:cNvSpPr>
                <a:spLocks noRot="1" noChangeAspect="1" noMove="1" noResize="1" noEditPoints="1" noAdjustHandles="1" noChangeArrowheads="1" noChangeShapeType="1" noTextEdit="1"/>
              </p:cNvSpPr>
              <p:nvPr/>
            </p:nvSpPr>
            <p:spPr>
              <a:xfrm>
                <a:off x="6011959" y="3667158"/>
                <a:ext cx="1471750" cy="395621"/>
              </a:xfrm>
              <a:prstGeom prst="rect">
                <a:avLst/>
              </a:prstGeom>
              <a:blipFill>
                <a:blip r:embed="rId9"/>
                <a:stretch>
                  <a:fillRect b="-7813"/>
                </a:stretch>
              </a:blipFill>
            </p:spPr>
            <p:txBody>
              <a:bodyPr/>
              <a:lstStyle/>
              <a:p>
                <a:r>
                  <a:rPr lang="en-US">
                    <a:noFill/>
                  </a:rPr>
                  <a:t> </a:t>
                </a:r>
              </a:p>
            </p:txBody>
          </p:sp>
        </mc:Fallback>
      </mc:AlternateContent>
      <p:sp>
        <p:nvSpPr>
          <p:cNvPr id="41" name="Rectangle: Rounded Corners 40">
            <a:extLst>
              <a:ext uri="{FF2B5EF4-FFF2-40B4-BE49-F238E27FC236}">
                <a16:creationId xmlns:a16="http://schemas.microsoft.com/office/drawing/2014/main" id="{2E39FBBF-C3B0-4F8C-AC12-A648835F9AA1}"/>
              </a:ext>
            </a:extLst>
          </p:cNvPr>
          <p:cNvSpPr/>
          <p:nvPr/>
        </p:nvSpPr>
        <p:spPr>
          <a:xfrm>
            <a:off x="710621" y="3991861"/>
            <a:ext cx="2078998" cy="39562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Set linear flight path</a:t>
            </a:r>
          </a:p>
        </p:txBody>
      </p:sp>
      <p:grpSp>
        <p:nvGrpSpPr>
          <p:cNvPr id="43" name="Group 42">
            <a:extLst>
              <a:ext uri="{FF2B5EF4-FFF2-40B4-BE49-F238E27FC236}">
                <a16:creationId xmlns:a16="http://schemas.microsoft.com/office/drawing/2014/main" id="{E75B5F55-C026-4E27-B0C4-D2BE0C66CF18}"/>
              </a:ext>
            </a:extLst>
          </p:cNvPr>
          <p:cNvGrpSpPr>
            <a:grpSpLocks noChangeAspect="1"/>
          </p:cNvGrpSpPr>
          <p:nvPr/>
        </p:nvGrpSpPr>
        <p:grpSpPr>
          <a:xfrm>
            <a:off x="147443" y="3733255"/>
            <a:ext cx="469381" cy="779962"/>
            <a:chOff x="4655994" y="3280256"/>
            <a:chExt cx="374461" cy="622235"/>
          </a:xfrm>
        </p:grpSpPr>
        <p:cxnSp>
          <p:nvCxnSpPr>
            <p:cNvPr id="44" name="Straight Connector 43">
              <a:extLst>
                <a:ext uri="{FF2B5EF4-FFF2-40B4-BE49-F238E27FC236}">
                  <a16:creationId xmlns:a16="http://schemas.microsoft.com/office/drawing/2014/main" id="{00C6EED1-B708-486F-879F-01142FFA4E67}"/>
                </a:ext>
              </a:extLst>
            </p:cNvPr>
            <p:cNvCxnSpPr>
              <a:cxnSpLocks/>
              <a:endCxn id="45" idx="0"/>
            </p:cNvCxnSpPr>
            <p:nvPr/>
          </p:nvCxnSpPr>
          <p:spPr>
            <a:xfrm>
              <a:off x="4954262" y="3280256"/>
              <a:ext cx="0" cy="469851"/>
            </a:xfrm>
            <a:prstGeom prst="line">
              <a:avLst/>
            </a:prstGeom>
            <a:solidFill>
              <a:schemeClr val="tx2">
                <a:lumMod val="40000"/>
                <a:lumOff val="60000"/>
              </a:schemeClr>
            </a:solidFill>
            <a:ln w="2857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3481B3E3-3201-4F43-9199-A304218C9C6B}"/>
                </a:ext>
              </a:extLst>
            </p:cNvPr>
            <p:cNvSpPr/>
            <p:nvPr/>
          </p:nvSpPr>
          <p:spPr>
            <a:xfrm>
              <a:off x="4878070" y="3750107"/>
              <a:ext cx="152385" cy="152384"/>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2</a:t>
              </a:r>
            </a:p>
          </p:txBody>
        </p:sp>
        <p:cxnSp>
          <p:nvCxnSpPr>
            <p:cNvPr id="46" name="Straight Arrow Connector 45">
              <a:extLst>
                <a:ext uri="{FF2B5EF4-FFF2-40B4-BE49-F238E27FC236}">
                  <a16:creationId xmlns:a16="http://schemas.microsoft.com/office/drawing/2014/main" id="{276C1C95-6DCE-429E-83AF-00A89613FFEF}"/>
                </a:ext>
              </a:extLst>
            </p:cNvPr>
            <p:cNvCxnSpPr>
              <a:cxnSpLocks/>
              <a:stCxn id="48" idx="3"/>
            </p:cNvCxnSpPr>
            <p:nvPr/>
          </p:nvCxnSpPr>
          <p:spPr>
            <a:xfrm>
              <a:off x="4721028" y="3450763"/>
              <a:ext cx="157042" cy="34208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8" name="Oval 47">
              <a:extLst>
                <a:ext uri="{FF2B5EF4-FFF2-40B4-BE49-F238E27FC236}">
                  <a16:creationId xmlns:a16="http://schemas.microsoft.com/office/drawing/2014/main" id="{7E82A57D-2682-4CC4-BC28-2DE148C8B6BA}"/>
                </a:ext>
              </a:extLst>
            </p:cNvPr>
            <p:cNvSpPr/>
            <p:nvPr/>
          </p:nvSpPr>
          <p:spPr>
            <a:xfrm flipH="1">
              <a:off x="4655994" y="3385729"/>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grpSp>
      <mc:AlternateContent xmlns:mc="http://schemas.openxmlformats.org/markup-compatibility/2006" xmlns:a14="http://schemas.microsoft.com/office/drawing/2010/main">
        <mc:Choice Requires="a14">
          <p:sp>
            <p:nvSpPr>
              <p:cNvPr id="50" name="Rectangle: Rounded Corners 49">
                <a:extLst>
                  <a:ext uri="{FF2B5EF4-FFF2-40B4-BE49-F238E27FC236}">
                    <a16:creationId xmlns:a16="http://schemas.microsoft.com/office/drawing/2014/main" id="{3D2B39BF-EC79-4532-9670-802A447BC82A}"/>
                  </a:ext>
                </a:extLst>
              </p:cNvPr>
              <p:cNvSpPr/>
              <p:nvPr/>
            </p:nvSpPr>
            <p:spPr>
              <a:xfrm>
                <a:off x="1010023" y="4611894"/>
                <a:ext cx="1480195" cy="39562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Calculate </a:t>
                </a:r>
                <a14:m>
                  <m:oMath xmlns:m="http://schemas.openxmlformats.org/officeDocument/2006/math">
                    <m:f>
                      <m:fPr>
                        <m:ctrlPr>
                          <a:rPr lang="en-US" sz="1600" i="1" dirty="0" smtClean="0">
                            <a:solidFill>
                              <a:schemeClr val="tx1"/>
                            </a:solidFill>
                            <a:latin typeface="Cambria Math" panose="02040503050406030204" pitchFamily="18" charset="0"/>
                          </a:rPr>
                        </m:ctrlPr>
                      </m:fPr>
                      <m:num>
                        <m:r>
                          <a:rPr lang="en-US" sz="1600" i="1" dirty="0" smtClean="0">
                            <a:solidFill>
                              <a:schemeClr val="tx1"/>
                            </a:solidFill>
                            <a:latin typeface="Cambria Math" panose="02040503050406030204" pitchFamily="18" charset="0"/>
                          </a:rPr>
                          <m:t>𝑑</m:t>
                        </m:r>
                        <m:r>
                          <a:rPr lang="en-US" sz="1600" i="1" dirty="0">
                            <a:solidFill>
                              <a:schemeClr val="tx1"/>
                            </a:solidFill>
                            <a:latin typeface="Cambria Math" panose="02040503050406030204" pitchFamily="18" charset="0"/>
                          </a:rPr>
                          <m:t>h</m:t>
                        </m:r>
                      </m:num>
                      <m:den>
                        <m:r>
                          <a:rPr lang="en-US" sz="1600" i="1" dirty="0" smtClean="0">
                            <a:solidFill>
                              <a:schemeClr val="tx1"/>
                            </a:solidFill>
                            <a:latin typeface="Cambria Math" panose="02040503050406030204" pitchFamily="18" charset="0"/>
                          </a:rPr>
                          <m:t>𝑑𝑡</m:t>
                        </m:r>
                      </m:den>
                    </m:f>
                    <m:r>
                      <a:rPr lang="en-US" sz="1600" i="1" dirty="0" smtClean="0">
                        <a:solidFill>
                          <a:schemeClr val="tx1"/>
                        </a:solidFill>
                        <a:latin typeface="Cambria Math" panose="02040503050406030204" pitchFamily="18" charset="0"/>
                      </a:rPr>
                      <m:t> </m:t>
                    </m:r>
                  </m:oMath>
                </a14:m>
                <a:endParaRPr lang="en-US" sz="1600" dirty="0">
                  <a:solidFill>
                    <a:schemeClr val="tx1"/>
                  </a:solidFill>
                </a:endParaRPr>
              </a:p>
            </p:txBody>
          </p:sp>
        </mc:Choice>
        <mc:Fallback xmlns="">
          <p:sp>
            <p:nvSpPr>
              <p:cNvPr id="50" name="Rectangle: Rounded Corners 49">
                <a:extLst>
                  <a:ext uri="{FF2B5EF4-FFF2-40B4-BE49-F238E27FC236}">
                    <a16:creationId xmlns:a16="http://schemas.microsoft.com/office/drawing/2014/main" id="{3D2B39BF-EC79-4532-9670-802A447BC82A}"/>
                  </a:ext>
                </a:extLst>
              </p:cNvPr>
              <p:cNvSpPr>
                <a:spLocks noRot="1" noChangeAspect="1" noMove="1" noResize="1" noEditPoints="1" noAdjustHandles="1" noChangeArrowheads="1" noChangeShapeType="1" noTextEdit="1"/>
              </p:cNvSpPr>
              <p:nvPr/>
            </p:nvSpPr>
            <p:spPr>
              <a:xfrm>
                <a:off x="1010023" y="4611894"/>
                <a:ext cx="1480195" cy="395622"/>
              </a:xfrm>
              <a:prstGeom prst="roundRect">
                <a:avLst/>
              </a:prstGeom>
              <a:blipFill>
                <a:blip r:embed="rId10"/>
                <a:stretch>
                  <a:fillRect b="-8696"/>
                </a:stretch>
              </a:blipFill>
              <a:ln w="28575">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Rounded Corners 51">
                <a:extLst>
                  <a:ext uri="{FF2B5EF4-FFF2-40B4-BE49-F238E27FC236}">
                    <a16:creationId xmlns:a16="http://schemas.microsoft.com/office/drawing/2014/main" id="{E7AB9FAE-BCC9-4390-B26F-8044BA9888F9}"/>
                  </a:ext>
                </a:extLst>
              </p:cNvPr>
              <p:cNvSpPr/>
              <p:nvPr/>
            </p:nvSpPr>
            <p:spPr>
              <a:xfrm>
                <a:off x="147443" y="5227566"/>
                <a:ext cx="3205357" cy="39562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Calculate </a:t>
                </a:r>
                <a14:m>
                  <m:oMath xmlns:m="http://schemas.openxmlformats.org/officeDocument/2006/math">
                    <m:f>
                      <m:fPr>
                        <m:ctrlPr>
                          <a:rPr lang="en-US" sz="1600" i="1" dirty="0" smtClean="0">
                            <a:solidFill>
                              <a:schemeClr val="tx1"/>
                            </a:solidFill>
                            <a:latin typeface="Cambria Math" panose="02040503050406030204" pitchFamily="18" charset="0"/>
                          </a:rPr>
                        </m:ctrlPr>
                      </m:fPr>
                      <m:num>
                        <m:r>
                          <a:rPr lang="en-US" sz="1600" i="1" dirty="0" smtClean="0">
                            <a:solidFill>
                              <a:schemeClr val="tx1"/>
                            </a:solidFill>
                            <a:latin typeface="Cambria Math" panose="02040503050406030204" pitchFamily="18" charset="0"/>
                          </a:rPr>
                          <m:t>𝑑</m:t>
                        </m:r>
                        <m:r>
                          <a:rPr lang="en-US" sz="1600" b="0" i="1" dirty="0" smtClean="0">
                            <a:solidFill>
                              <a:schemeClr val="tx1"/>
                            </a:solidFill>
                            <a:latin typeface="Cambria Math" panose="02040503050406030204" pitchFamily="18" charset="0"/>
                          </a:rPr>
                          <m:t>𝑉</m:t>
                        </m:r>
                      </m:num>
                      <m:den>
                        <m:r>
                          <a:rPr lang="en-US" sz="1600" i="1" dirty="0" smtClean="0">
                            <a:solidFill>
                              <a:schemeClr val="tx1"/>
                            </a:solidFill>
                            <a:latin typeface="Cambria Math" panose="02040503050406030204" pitchFamily="18" charset="0"/>
                          </a:rPr>
                          <m:t>𝑑𝑡</m:t>
                        </m:r>
                      </m:den>
                    </m:f>
                    <m:r>
                      <a:rPr lang="en-US" sz="1600" i="1" dirty="0" smtClean="0">
                        <a:solidFill>
                          <a:schemeClr val="tx1"/>
                        </a:solidFill>
                        <a:latin typeface="Cambria Math" panose="02040503050406030204" pitchFamily="18" charset="0"/>
                      </a:rPr>
                      <m:t> </m:t>
                    </m:r>
                  </m:oMath>
                </a14:m>
                <a:r>
                  <a:rPr lang="en-US" sz="1600" dirty="0">
                    <a:solidFill>
                      <a:schemeClr val="tx1"/>
                    </a:solidFill>
                  </a:rPr>
                  <a:t>with remaining SEP</a:t>
                </a:r>
              </a:p>
            </p:txBody>
          </p:sp>
        </mc:Choice>
        <mc:Fallback xmlns="">
          <p:sp>
            <p:nvSpPr>
              <p:cNvPr id="52" name="Rectangle: Rounded Corners 51">
                <a:extLst>
                  <a:ext uri="{FF2B5EF4-FFF2-40B4-BE49-F238E27FC236}">
                    <a16:creationId xmlns:a16="http://schemas.microsoft.com/office/drawing/2014/main" id="{E7AB9FAE-BCC9-4390-B26F-8044BA9888F9}"/>
                  </a:ext>
                </a:extLst>
              </p:cNvPr>
              <p:cNvSpPr>
                <a:spLocks noRot="1" noChangeAspect="1" noMove="1" noResize="1" noEditPoints="1" noAdjustHandles="1" noChangeArrowheads="1" noChangeShapeType="1" noTextEdit="1"/>
              </p:cNvSpPr>
              <p:nvPr/>
            </p:nvSpPr>
            <p:spPr>
              <a:xfrm>
                <a:off x="147443" y="5227566"/>
                <a:ext cx="3205357" cy="395622"/>
              </a:xfrm>
              <a:prstGeom prst="roundRect">
                <a:avLst/>
              </a:prstGeom>
              <a:blipFill>
                <a:blip r:embed="rId11"/>
                <a:stretch>
                  <a:fillRect b="-8696"/>
                </a:stretch>
              </a:blipFill>
              <a:ln w="28575">
                <a:solidFill>
                  <a:schemeClr val="accent1"/>
                </a:solidFill>
              </a:ln>
            </p:spPr>
            <p:txBody>
              <a:bodyPr/>
              <a:lstStyle/>
              <a:p>
                <a:r>
                  <a:rPr lang="en-US">
                    <a:noFill/>
                  </a:rPr>
                  <a:t> </a:t>
                </a:r>
              </a:p>
            </p:txBody>
          </p:sp>
        </mc:Fallback>
      </mc:AlternateContent>
      <p:sp>
        <p:nvSpPr>
          <p:cNvPr id="54" name="Rectangle: Rounded Corners 53">
            <a:extLst>
              <a:ext uri="{FF2B5EF4-FFF2-40B4-BE49-F238E27FC236}">
                <a16:creationId xmlns:a16="http://schemas.microsoft.com/office/drawing/2014/main" id="{580E4C9B-3BE7-4734-A781-076C6FE425FC}"/>
              </a:ext>
            </a:extLst>
          </p:cNvPr>
          <p:cNvSpPr/>
          <p:nvPr/>
        </p:nvSpPr>
        <p:spPr>
          <a:xfrm>
            <a:off x="671345" y="5843238"/>
            <a:ext cx="2157549"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Decelerated descent</a:t>
            </a:r>
          </a:p>
        </p:txBody>
      </p:sp>
      <mc:AlternateContent xmlns:mc="http://schemas.openxmlformats.org/markup-compatibility/2006" xmlns:a14="http://schemas.microsoft.com/office/drawing/2010/main">
        <mc:Choice Requires="a14">
          <p:sp>
            <p:nvSpPr>
              <p:cNvPr id="55" name="Rectangle: Rounded Corners 54">
                <a:extLst>
                  <a:ext uri="{FF2B5EF4-FFF2-40B4-BE49-F238E27FC236}">
                    <a16:creationId xmlns:a16="http://schemas.microsoft.com/office/drawing/2014/main" id="{ABCCF47A-7BAE-4372-BBB4-4E23565D7E0B}"/>
                  </a:ext>
                </a:extLst>
              </p:cNvPr>
              <p:cNvSpPr/>
              <p:nvPr/>
            </p:nvSpPr>
            <p:spPr>
              <a:xfrm>
                <a:off x="6187440" y="5227566"/>
                <a:ext cx="2304006" cy="39562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Calculate </a:t>
                </a:r>
                <a14:m>
                  <m:oMath xmlns:m="http://schemas.openxmlformats.org/officeDocument/2006/math">
                    <m:f>
                      <m:fPr>
                        <m:ctrlPr>
                          <a:rPr lang="en-US" sz="1600" i="1" dirty="0" smtClean="0">
                            <a:solidFill>
                              <a:schemeClr val="tx1"/>
                            </a:solidFill>
                            <a:latin typeface="Cambria Math" panose="02040503050406030204" pitchFamily="18" charset="0"/>
                          </a:rPr>
                        </m:ctrlPr>
                      </m:fPr>
                      <m:num>
                        <m:r>
                          <a:rPr lang="en-US" sz="1600" i="1" dirty="0" smtClean="0">
                            <a:solidFill>
                              <a:schemeClr val="tx1"/>
                            </a:solidFill>
                            <a:latin typeface="Cambria Math" panose="02040503050406030204" pitchFamily="18" charset="0"/>
                          </a:rPr>
                          <m:t>𝑑</m:t>
                        </m:r>
                        <m:r>
                          <a:rPr lang="en-US" sz="1600" b="0" i="1" dirty="0" smtClean="0">
                            <a:solidFill>
                              <a:schemeClr val="tx1"/>
                            </a:solidFill>
                            <a:latin typeface="Cambria Math" panose="02040503050406030204" pitchFamily="18" charset="0"/>
                          </a:rPr>
                          <m:t>h</m:t>
                        </m:r>
                      </m:num>
                      <m:den>
                        <m:r>
                          <a:rPr lang="en-US" sz="1600" i="1" dirty="0" smtClean="0">
                            <a:solidFill>
                              <a:schemeClr val="tx1"/>
                            </a:solidFill>
                            <a:latin typeface="Cambria Math" panose="02040503050406030204" pitchFamily="18" charset="0"/>
                          </a:rPr>
                          <m:t>𝑑𝑡</m:t>
                        </m:r>
                      </m:den>
                    </m:f>
                    <m:r>
                      <a:rPr lang="en-US" sz="1600" i="1" dirty="0" smtClean="0">
                        <a:solidFill>
                          <a:schemeClr val="tx1"/>
                        </a:solidFill>
                        <a:latin typeface="Cambria Math" panose="02040503050406030204" pitchFamily="18" charset="0"/>
                      </a:rPr>
                      <m:t> </m:t>
                    </m:r>
                  </m:oMath>
                </a14:m>
                <a:r>
                  <a:rPr lang="en-US" sz="1600" dirty="0">
                    <a:solidFill>
                      <a:schemeClr val="tx1"/>
                    </a:solidFill>
                  </a:rPr>
                  <a:t>with SEP</a:t>
                </a:r>
              </a:p>
            </p:txBody>
          </p:sp>
        </mc:Choice>
        <mc:Fallback xmlns="">
          <p:sp>
            <p:nvSpPr>
              <p:cNvPr id="55" name="Rectangle: Rounded Corners 54">
                <a:extLst>
                  <a:ext uri="{FF2B5EF4-FFF2-40B4-BE49-F238E27FC236}">
                    <a16:creationId xmlns:a16="http://schemas.microsoft.com/office/drawing/2014/main" id="{ABCCF47A-7BAE-4372-BBB4-4E23565D7E0B}"/>
                  </a:ext>
                </a:extLst>
              </p:cNvPr>
              <p:cNvSpPr>
                <a:spLocks noRot="1" noChangeAspect="1" noMove="1" noResize="1" noEditPoints="1" noAdjustHandles="1" noChangeArrowheads="1" noChangeShapeType="1" noTextEdit="1"/>
              </p:cNvSpPr>
              <p:nvPr/>
            </p:nvSpPr>
            <p:spPr>
              <a:xfrm>
                <a:off x="6187440" y="5227566"/>
                <a:ext cx="2304006" cy="395622"/>
              </a:xfrm>
              <a:prstGeom prst="roundRect">
                <a:avLst/>
              </a:prstGeom>
              <a:blipFill>
                <a:blip r:embed="rId12"/>
                <a:stretch>
                  <a:fillRect b="-8696"/>
                </a:stretch>
              </a:blipFill>
              <a:ln w="28575">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Rounded Corners 55">
                <a:extLst>
                  <a:ext uri="{FF2B5EF4-FFF2-40B4-BE49-F238E27FC236}">
                    <a16:creationId xmlns:a16="http://schemas.microsoft.com/office/drawing/2014/main" id="{B4CEDA56-FB3B-4027-A1A8-11737FC80F29}"/>
                  </a:ext>
                </a:extLst>
              </p:cNvPr>
              <p:cNvSpPr/>
              <p:nvPr/>
            </p:nvSpPr>
            <p:spPr>
              <a:xfrm>
                <a:off x="3572397" y="5227566"/>
                <a:ext cx="2304006" cy="395622"/>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Calculate </a:t>
                </a:r>
                <a14:m>
                  <m:oMath xmlns:m="http://schemas.openxmlformats.org/officeDocument/2006/math">
                    <m:f>
                      <m:fPr>
                        <m:ctrlPr>
                          <a:rPr lang="en-US" sz="1600" i="1" dirty="0" smtClean="0">
                            <a:solidFill>
                              <a:schemeClr val="tx1"/>
                            </a:solidFill>
                            <a:latin typeface="Cambria Math" panose="02040503050406030204" pitchFamily="18" charset="0"/>
                          </a:rPr>
                        </m:ctrlPr>
                      </m:fPr>
                      <m:num>
                        <m:r>
                          <a:rPr lang="en-US" sz="1600" i="1" dirty="0" smtClean="0">
                            <a:solidFill>
                              <a:schemeClr val="tx1"/>
                            </a:solidFill>
                            <a:latin typeface="Cambria Math" panose="02040503050406030204" pitchFamily="18" charset="0"/>
                          </a:rPr>
                          <m:t>𝑑</m:t>
                        </m:r>
                        <m:r>
                          <a:rPr lang="en-US" sz="1600" b="0" i="1" dirty="0" smtClean="0">
                            <a:solidFill>
                              <a:schemeClr val="tx1"/>
                            </a:solidFill>
                            <a:latin typeface="Cambria Math" panose="02040503050406030204" pitchFamily="18" charset="0"/>
                          </a:rPr>
                          <m:t>𝑉</m:t>
                        </m:r>
                      </m:num>
                      <m:den>
                        <m:r>
                          <a:rPr lang="en-US" sz="1600" i="1" dirty="0" smtClean="0">
                            <a:solidFill>
                              <a:schemeClr val="tx1"/>
                            </a:solidFill>
                            <a:latin typeface="Cambria Math" panose="02040503050406030204" pitchFamily="18" charset="0"/>
                          </a:rPr>
                          <m:t>𝑑𝑡</m:t>
                        </m:r>
                      </m:den>
                    </m:f>
                    <m:r>
                      <a:rPr lang="en-US" sz="1600" i="1" dirty="0" smtClean="0">
                        <a:solidFill>
                          <a:schemeClr val="tx1"/>
                        </a:solidFill>
                        <a:latin typeface="Cambria Math" panose="02040503050406030204" pitchFamily="18" charset="0"/>
                      </a:rPr>
                      <m:t> </m:t>
                    </m:r>
                  </m:oMath>
                </a14:m>
                <a:r>
                  <a:rPr lang="en-US" sz="1600" dirty="0">
                    <a:solidFill>
                      <a:schemeClr val="tx1"/>
                    </a:solidFill>
                  </a:rPr>
                  <a:t>with SEP</a:t>
                </a:r>
              </a:p>
            </p:txBody>
          </p:sp>
        </mc:Choice>
        <mc:Fallback xmlns="">
          <p:sp>
            <p:nvSpPr>
              <p:cNvPr id="56" name="Rectangle: Rounded Corners 55">
                <a:extLst>
                  <a:ext uri="{FF2B5EF4-FFF2-40B4-BE49-F238E27FC236}">
                    <a16:creationId xmlns:a16="http://schemas.microsoft.com/office/drawing/2014/main" id="{B4CEDA56-FB3B-4027-A1A8-11737FC80F29}"/>
                  </a:ext>
                </a:extLst>
              </p:cNvPr>
              <p:cNvSpPr>
                <a:spLocks noRot="1" noChangeAspect="1" noMove="1" noResize="1" noEditPoints="1" noAdjustHandles="1" noChangeArrowheads="1" noChangeShapeType="1" noTextEdit="1"/>
              </p:cNvSpPr>
              <p:nvPr/>
            </p:nvSpPr>
            <p:spPr>
              <a:xfrm>
                <a:off x="3572397" y="5227566"/>
                <a:ext cx="2304006" cy="395622"/>
              </a:xfrm>
              <a:prstGeom prst="roundRect">
                <a:avLst/>
              </a:prstGeom>
              <a:blipFill>
                <a:blip r:embed="rId13"/>
                <a:stretch>
                  <a:fillRect b="-8696"/>
                </a:stretch>
              </a:blipFill>
              <a:ln w="28575">
                <a:solidFill>
                  <a:schemeClr val="accent1"/>
                </a:solidFill>
              </a:ln>
            </p:spPr>
            <p:txBody>
              <a:bodyPr/>
              <a:lstStyle/>
              <a:p>
                <a:r>
                  <a:rPr lang="en-US">
                    <a:noFill/>
                  </a:rPr>
                  <a:t> </a:t>
                </a:r>
              </a:p>
            </p:txBody>
          </p:sp>
        </mc:Fallback>
      </mc:AlternateContent>
      <p:sp>
        <p:nvSpPr>
          <p:cNvPr id="58" name="Rectangle: Rounded Corners 57">
            <a:extLst>
              <a:ext uri="{FF2B5EF4-FFF2-40B4-BE49-F238E27FC236}">
                <a16:creationId xmlns:a16="http://schemas.microsoft.com/office/drawing/2014/main" id="{12ABEC64-978D-4973-B38C-E5A8C310AC8E}"/>
              </a:ext>
            </a:extLst>
          </p:cNvPr>
          <p:cNvSpPr/>
          <p:nvPr/>
        </p:nvSpPr>
        <p:spPr>
          <a:xfrm>
            <a:off x="3645625" y="5845877"/>
            <a:ext cx="2157549"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Decelerate</a:t>
            </a:r>
          </a:p>
        </p:txBody>
      </p:sp>
      <p:sp>
        <p:nvSpPr>
          <p:cNvPr id="59" name="Rectangle: Rounded Corners 58">
            <a:extLst>
              <a:ext uri="{FF2B5EF4-FFF2-40B4-BE49-F238E27FC236}">
                <a16:creationId xmlns:a16="http://schemas.microsoft.com/office/drawing/2014/main" id="{1AE0FA20-1931-4460-A4D0-04AB6711E883}"/>
              </a:ext>
            </a:extLst>
          </p:cNvPr>
          <p:cNvSpPr/>
          <p:nvPr/>
        </p:nvSpPr>
        <p:spPr>
          <a:xfrm>
            <a:off x="6260668" y="5843237"/>
            <a:ext cx="2157549" cy="350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Descend</a:t>
            </a:r>
          </a:p>
        </p:txBody>
      </p:sp>
      <p:cxnSp>
        <p:nvCxnSpPr>
          <p:cNvPr id="60" name="Connector: Elbow 59">
            <a:extLst>
              <a:ext uri="{FF2B5EF4-FFF2-40B4-BE49-F238E27FC236}">
                <a16:creationId xmlns:a16="http://schemas.microsoft.com/office/drawing/2014/main" id="{3605F7EA-571D-4CCE-8422-A5401488348C}"/>
              </a:ext>
            </a:extLst>
          </p:cNvPr>
          <p:cNvCxnSpPr>
            <a:cxnSpLocks/>
            <a:stCxn id="47" idx="2"/>
            <a:endCxn id="41" idx="0"/>
          </p:cNvCxnSpPr>
          <p:nvPr/>
        </p:nvCxnSpPr>
        <p:spPr>
          <a:xfrm rot="5400000">
            <a:off x="2319800" y="2958861"/>
            <a:ext cx="463320" cy="1602680"/>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EA306474-780E-46A6-B939-D128A48A34E0}"/>
              </a:ext>
            </a:extLst>
          </p:cNvPr>
          <p:cNvCxnSpPr>
            <a:cxnSpLocks/>
            <a:stCxn id="47" idx="2"/>
            <a:endCxn id="165" idx="0"/>
          </p:cNvCxnSpPr>
          <p:nvPr/>
        </p:nvCxnSpPr>
        <p:spPr>
          <a:xfrm rot="16200000" flipH="1">
            <a:off x="4460140" y="2421200"/>
            <a:ext cx="398462" cy="2613143"/>
          </a:xfrm>
          <a:prstGeom prst="bentConnector3">
            <a:avLst>
              <a:gd name="adj1" fmla="val 5717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 Placeholder 1">
                <a:extLst>
                  <a:ext uri="{FF2B5EF4-FFF2-40B4-BE49-F238E27FC236}">
                    <a16:creationId xmlns:a16="http://schemas.microsoft.com/office/drawing/2014/main" id="{21F222A0-E2D5-42A7-9611-8788CC717635}"/>
                  </a:ext>
                </a:extLst>
              </p:cNvPr>
              <p:cNvSpPr txBox="1">
                <a:spLocks/>
              </p:cNvSpPr>
              <p:nvPr/>
            </p:nvSpPr>
            <p:spPr>
              <a:xfrm>
                <a:off x="4344189" y="3550896"/>
                <a:ext cx="630364"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𝒇𝒂𝒍𝒔𝒆</m:t>
                      </m:r>
                    </m:oMath>
                  </m:oMathPara>
                </a14:m>
                <a:endParaRPr lang="en-US" sz="1600" b="1" dirty="0"/>
              </a:p>
            </p:txBody>
          </p:sp>
        </mc:Choice>
        <mc:Fallback xmlns="">
          <p:sp>
            <p:nvSpPr>
              <p:cNvPr id="80" name="Text Placeholder 1">
                <a:extLst>
                  <a:ext uri="{FF2B5EF4-FFF2-40B4-BE49-F238E27FC236}">
                    <a16:creationId xmlns:a16="http://schemas.microsoft.com/office/drawing/2014/main" id="{21F222A0-E2D5-42A7-9611-8788CC717635}"/>
                  </a:ext>
                </a:extLst>
              </p:cNvPr>
              <p:cNvSpPr txBox="1">
                <a:spLocks noRot="1" noChangeAspect="1" noMove="1" noResize="1" noEditPoints="1" noAdjustHandles="1" noChangeArrowheads="1" noChangeShapeType="1" noTextEdit="1"/>
              </p:cNvSpPr>
              <p:nvPr/>
            </p:nvSpPr>
            <p:spPr>
              <a:xfrm>
                <a:off x="4344189" y="3550896"/>
                <a:ext cx="630364" cy="350651"/>
              </a:xfrm>
              <a:prstGeom prst="rect">
                <a:avLst/>
              </a:prstGeom>
              <a:blipFill>
                <a:blip r:embed="rId14"/>
                <a:stretch>
                  <a:fillRect l="-7767" r="-77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 Placeholder 1">
                <a:extLst>
                  <a:ext uri="{FF2B5EF4-FFF2-40B4-BE49-F238E27FC236}">
                    <a16:creationId xmlns:a16="http://schemas.microsoft.com/office/drawing/2014/main" id="{F351FBCB-1242-4EC3-8017-C82784C71384}"/>
                  </a:ext>
                </a:extLst>
              </p:cNvPr>
              <p:cNvSpPr txBox="1">
                <a:spLocks/>
              </p:cNvSpPr>
              <p:nvPr/>
            </p:nvSpPr>
            <p:spPr>
              <a:xfrm>
                <a:off x="2299201" y="3552795"/>
                <a:ext cx="615501"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𝒕𝒓𝒖𝒆</m:t>
                      </m:r>
                    </m:oMath>
                  </m:oMathPara>
                </a14:m>
                <a:endParaRPr lang="en-US" sz="1600" b="1" dirty="0"/>
              </a:p>
            </p:txBody>
          </p:sp>
        </mc:Choice>
        <mc:Fallback xmlns="">
          <p:sp>
            <p:nvSpPr>
              <p:cNvPr id="81" name="Text Placeholder 1">
                <a:extLst>
                  <a:ext uri="{FF2B5EF4-FFF2-40B4-BE49-F238E27FC236}">
                    <a16:creationId xmlns:a16="http://schemas.microsoft.com/office/drawing/2014/main" id="{F351FBCB-1242-4EC3-8017-C82784C71384}"/>
                  </a:ext>
                </a:extLst>
              </p:cNvPr>
              <p:cNvSpPr txBox="1">
                <a:spLocks noRot="1" noChangeAspect="1" noMove="1" noResize="1" noEditPoints="1" noAdjustHandles="1" noChangeArrowheads="1" noChangeShapeType="1" noTextEdit="1"/>
              </p:cNvSpPr>
              <p:nvPr/>
            </p:nvSpPr>
            <p:spPr>
              <a:xfrm>
                <a:off x="2299201" y="3552795"/>
                <a:ext cx="615501" cy="350651"/>
              </a:xfrm>
              <a:prstGeom prst="rect">
                <a:avLst/>
              </a:prstGeom>
              <a:blipFill>
                <a:blip r:embed="rId15"/>
                <a:stretch>
                  <a:fillRect/>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B937055F-DC22-4C54-9B92-FE645386E583}"/>
              </a:ext>
            </a:extLst>
          </p:cNvPr>
          <p:cNvCxnSpPr>
            <a:cxnSpLocks/>
            <a:stCxn id="41" idx="2"/>
            <a:endCxn id="50" idx="0"/>
          </p:cNvCxnSpPr>
          <p:nvPr/>
        </p:nvCxnSpPr>
        <p:spPr>
          <a:xfrm>
            <a:off x="1750120" y="4387483"/>
            <a:ext cx="1" cy="2244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8112838-7C8E-4BBB-9EBB-5058CA728FFE}"/>
              </a:ext>
            </a:extLst>
          </p:cNvPr>
          <p:cNvCxnSpPr>
            <a:cxnSpLocks/>
            <a:stCxn id="50" idx="2"/>
            <a:endCxn id="52" idx="0"/>
          </p:cNvCxnSpPr>
          <p:nvPr/>
        </p:nvCxnSpPr>
        <p:spPr>
          <a:xfrm>
            <a:off x="1750121" y="5007516"/>
            <a:ext cx="1" cy="2200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5CADFEE-FF54-4559-BE7E-F953272D3420}"/>
              </a:ext>
            </a:extLst>
          </p:cNvPr>
          <p:cNvCxnSpPr>
            <a:cxnSpLocks/>
            <a:stCxn id="52" idx="2"/>
            <a:endCxn id="54" idx="0"/>
          </p:cNvCxnSpPr>
          <p:nvPr/>
        </p:nvCxnSpPr>
        <p:spPr>
          <a:xfrm flipH="1">
            <a:off x="1750120" y="5623188"/>
            <a:ext cx="2" cy="2200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87BC5FA5-AD9B-4057-B1E8-23A9B61174C8}"/>
              </a:ext>
            </a:extLst>
          </p:cNvPr>
          <p:cNvCxnSpPr>
            <a:cxnSpLocks/>
            <a:stCxn id="165" idx="2"/>
            <a:endCxn id="56" idx="0"/>
          </p:cNvCxnSpPr>
          <p:nvPr/>
        </p:nvCxnSpPr>
        <p:spPr>
          <a:xfrm rot="5400000">
            <a:off x="4923491" y="4185113"/>
            <a:ext cx="843363" cy="124154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91B4BFDD-26C8-460C-B36B-12F879673698}"/>
              </a:ext>
            </a:extLst>
          </p:cNvPr>
          <p:cNvCxnSpPr>
            <a:cxnSpLocks/>
            <a:stCxn id="165" idx="2"/>
            <a:endCxn id="55" idx="0"/>
          </p:cNvCxnSpPr>
          <p:nvPr/>
        </p:nvCxnSpPr>
        <p:spPr>
          <a:xfrm rot="16200000" flipH="1">
            <a:off x="6231012" y="4119134"/>
            <a:ext cx="843363" cy="1373500"/>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Text Placeholder 1">
                <a:extLst>
                  <a:ext uri="{FF2B5EF4-FFF2-40B4-BE49-F238E27FC236}">
                    <a16:creationId xmlns:a16="http://schemas.microsoft.com/office/drawing/2014/main" id="{19202204-035E-454C-A82C-F0A1FCE33152}"/>
                  </a:ext>
                </a:extLst>
              </p:cNvPr>
              <p:cNvSpPr txBox="1">
                <a:spLocks/>
              </p:cNvSpPr>
              <p:nvPr/>
            </p:nvSpPr>
            <p:spPr>
              <a:xfrm>
                <a:off x="5042693" y="4628849"/>
                <a:ext cx="615501"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𝒕𝒓𝒖𝒆</m:t>
                      </m:r>
                    </m:oMath>
                  </m:oMathPara>
                </a14:m>
                <a:endParaRPr lang="en-US" sz="1600" b="1" dirty="0"/>
              </a:p>
            </p:txBody>
          </p:sp>
        </mc:Choice>
        <mc:Fallback xmlns="">
          <p:sp>
            <p:nvSpPr>
              <p:cNvPr id="75" name="Text Placeholder 1">
                <a:extLst>
                  <a:ext uri="{FF2B5EF4-FFF2-40B4-BE49-F238E27FC236}">
                    <a16:creationId xmlns:a16="http://schemas.microsoft.com/office/drawing/2014/main" id="{19202204-035E-454C-A82C-F0A1FCE33152}"/>
                  </a:ext>
                </a:extLst>
              </p:cNvPr>
              <p:cNvSpPr txBox="1">
                <a:spLocks noRot="1" noChangeAspect="1" noMove="1" noResize="1" noEditPoints="1" noAdjustHandles="1" noChangeArrowheads="1" noChangeShapeType="1" noTextEdit="1"/>
              </p:cNvSpPr>
              <p:nvPr/>
            </p:nvSpPr>
            <p:spPr>
              <a:xfrm>
                <a:off x="5042693" y="4628849"/>
                <a:ext cx="615501" cy="350651"/>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 Placeholder 1">
                <a:extLst>
                  <a:ext uri="{FF2B5EF4-FFF2-40B4-BE49-F238E27FC236}">
                    <a16:creationId xmlns:a16="http://schemas.microsoft.com/office/drawing/2014/main" id="{83DE4C7B-F3CE-4570-94C8-E447B2C5051A}"/>
                  </a:ext>
                </a:extLst>
              </p:cNvPr>
              <p:cNvSpPr txBox="1">
                <a:spLocks/>
              </p:cNvSpPr>
              <p:nvPr/>
            </p:nvSpPr>
            <p:spPr>
              <a:xfrm>
                <a:off x="6337512" y="4638739"/>
                <a:ext cx="630364" cy="350651"/>
              </a:xfrm>
              <a:prstGeom prst="rect">
                <a:avLst/>
              </a:prstGeom>
              <a:solidFill>
                <a:schemeClr val="bg1"/>
              </a:solidFill>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𝒇𝒂𝒍𝒔𝒆</m:t>
                      </m:r>
                    </m:oMath>
                  </m:oMathPara>
                </a14:m>
                <a:endParaRPr lang="en-US" sz="1600" b="1" dirty="0"/>
              </a:p>
            </p:txBody>
          </p:sp>
        </mc:Choice>
        <mc:Fallback xmlns="">
          <p:sp>
            <p:nvSpPr>
              <p:cNvPr id="78" name="Text Placeholder 1">
                <a:extLst>
                  <a:ext uri="{FF2B5EF4-FFF2-40B4-BE49-F238E27FC236}">
                    <a16:creationId xmlns:a16="http://schemas.microsoft.com/office/drawing/2014/main" id="{83DE4C7B-F3CE-4570-94C8-E447B2C5051A}"/>
                  </a:ext>
                </a:extLst>
              </p:cNvPr>
              <p:cNvSpPr txBox="1">
                <a:spLocks noRot="1" noChangeAspect="1" noMove="1" noResize="1" noEditPoints="1" noAdjustHandles="1" noChangeArrowheads="1" noChangeShapeType="1" noTextEdit="1"/>
              </p:cNvSpPr>
              <p:nvPr/>
            </p:nvSpPr>
            <p:spPr>
              <a:xfrm>
                <a:off x="6337512" y="4638739"/>
                <a:ext cx="630364" cy="350651"/>
              </a:xfrm>
              <a:prstGeom prst="rect">
                <a:avLst/>
              </a:prstGeom>
              <a:blipFill>
                <a:blip r:embed="rId17"/>
                <a:stretch>
                  <a:fillRect l="-7767" r="-7767"/>
                </a:stretch>
              </a:blipFill>
            </p:spPr>
            <p:txBody>
              <a:bodyPr/>
              <a:lstStyle/>
              <a:p>
                <a:r>
                  <a:rPr lang="en-US">
                    <a:noFill/>
                  </a:rPr>
                  <a:t> </a:t>
                </a:r>
              </a:p>
            </p:txBody>
          </p:sp>
        </mc:Fallback>
      </mc:AlternateContent>
      <p:cxnSp>
        <p:nvCxnSpPr>
          <p:cNvPr id="79" name="Straight Arrow Connector 78">
            <a:extLst>
              <a:ext uri="{FF2B5EF4-FFF2-40B4-BE49-F238E27FC236}">
                <a16:creationId xmlns:a16="http://schemas.microsoft.com/office/drawing/2014/main" id="{E9621709-BD64-41E6-B1B8-D9C8D9DE72FB}"/>
              </a:ext>
            </a:extLst>
          </p:cNvPr>
          <p:cNvCxnSpPr>
            <a:cxnSpLocks/>
            <a:stCxn id="56" idx="2"/>
            <a:endCxn id="58" idx="0"/>
          </p:cNvCxnSpPr>
          <p:nvPr/>
        </p:nvCxnSpPr>
        <p:spPr>
          <a:xfrm>
            <a:off x="4724400" y="5623188"/>
            <a:ext cx="0" cy="22268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26C56204-EE7E-41CC-AB30-6AB72D6602BE}"/>
              </a:ext>
            </a:extLst>
          </p:cNvPr>
          <p:cNvCxnSpPr>
            <a:cxnSpLocks/>
            <a:stCxn id="55" idx="2"/>
            <a:endCxn id="59" idx="0"/>
          </p:cNvCxnSpPr>
          <p:nvPr/>
        </p:nvCxnSpPr>
        <p:spPr>
          <a:xfrm>
            <a:off x="7339443" y="5623188"/>
            <a:ext cx="0" cy="2200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10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fade">
                                      <p:cBhvr>
                                        <p:cTn id="10" dur="500"/>
                                        <p:tgtEl>
                                          <p:spTgt spid="8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par>
                                <p:cTn id="14" presetID="10"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fade">
                                      <p:cBhvr>
                                        <p:cTn id="21" dur="500"/>
                                        <p:tgtEl>
                                          <p:spTgt spid="6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fade">
                                      <p:cBhvr>
                                        <p:cTn id="29" dur="500"/>
                                        <p:tgtEl>
                                          <p:spTgt spid="6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80"/>
                                        </p:tgtEl>
                                        <p:attrNameLst>
                                          <p:attrName>style.visibility</p:attrName>
                                        </p:attrNameLst>
                                      </p:cBhvr>
                                      <p:to>
                                        <p:strVal val="visible"/>
                                      </p:to>
                                    </p:set>
                                    <p:animEffect transition="in" filter="fade">
                                      <p:cBhvr>
                                        <p:cTn id="48" dur="500"/>
                                        <p:tgtEl>
                                          <p:spTgt spid="8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5"/>
                                        </p:tgtEl>
                                        <p:attrNameLst>
                                          <p:attrName>style.visibility</p:attrName>
                                        </p:attrNameLst>
                                      </p:cBhvr>
                                      <p:to>
                                        <p:strVal val="visible"/>
                                      </p:to>
                                    </p:set>
                                    <p:animEffect transition="in" filter="fade">
                                      <p:cBhvr>
                                        <p:cTn id="51" dur="500"/>
                                        <p:tgtEl>
                                          <p:spTgt spid="16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66"/>
                                        </p:tgtEl>
                                        <p:attrNameLst>
                                          <p:attrName>style.visibility</p:attrName>
                                        </p:attrNameLst>
                                      </p:cBhvr>
                                      <p:to>
                                        <p:strVal val="visible"/>
                                      </p:to>
                                    </p:set>
                                    <p:animEffect transition="in" filter="fade">
                                      <p:cBhvr>
                                        <p:cTn id="56" dur="500"/>
                                        <p:tgtEl>
                                          <p:spTgt spid="16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fade">
                                      <p:cBhvr>
                                        <p:cTn id="61" dur="500"/>
                                        <p:tgtEl>
                                          <p:spTgt spid="7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8"/>
                                        </p:tgtEl>
                                        <p:attrNameLst>
                                          <p:attrName>style.visibility</p:attrName>
                                        </p:attrNameLst>
                                      </p:cBhvr>
                                      <p:to>
                                        <p:strVal val="visible"/>
                                      </p:to>
                                    </p:set>
                                    <p:animEffect transition="in" filter="fade">
                                      <p:cBhvr>
                                        <p:cTn id="64" dur="500"/>
                                        <p:tgtEl>
                                          <p:spTgt spid="7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500"/>
                                        <p:tgtEl>
                                          <p:spTgt spid="5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2"/>
                                        </p:tgtEl>
                                        <p:attrNameLst>
                                          <p:attrName>style.visibility</p:attrName>
                                        </p:attrNameLst>
                                      </p:cBhvr>
                                      <p:to>
                                        <p:strVal val="visible"/>
                                      </p:to>
                                    </p:set>
                                    <p:animEffect transition="in" filter="fade">
                                      <p:cBhvr>
                                        <p:cTn id="72" dur="500"/>
                                        <p:tgtEl>
                                          <p:spTgt spid="8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fade">
                                      <p:cBhvr>
                                        <p:cTn id="75" dur="500"/>
                                        <p:tgtEl>
                                          <p:spTgt spid="5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70"/>
                                        </p:tgtEl>
                                        <p:attrNameLst>
                                          <p:attrName>style.visibility</p:attrName>
                                        </p:attrNameLst>
                                      </p:cBhvr>
                                      <p:to>
                                        <p:strVal val="visible"/>
                                      </p:to>
                                    </p:set>
                                    <p:animEffect transition="in" filter="fade">
                                      <p:cBhvr>
                                        <p:cTn id="80" dur="500"/>
                                        <p:tgtEl>
                                          <p:spTgt spid="7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5"/>
                                        </p:tgtEl>
                                        <p:attrNameLst>
                                          <p:attrName>style.visibility</p:attrName>
                                        </p:attrNameLst>
                                      </p:cBhvr>
                                      <p:to>
                                        <p:strVal val="visible"/>
                                      </p:to>
                                    </p:set>
                                    <p:animEffect transition="in" filter="fade">
                                      <p:cBhvr>
                                        <p:cTn id="83" dur="500"/>
                                        <p:tgtEl>
                                          <p:spTgt spid="7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6"/>
                                        </p:tgtEl>
                                        <p:attrNameLst>
                                          <p:attrName>style.visibility</p:attrName>
                                        </p:attrNameLst>
                                      </p:cBhvr>
                                      <p:to>
                                        <p:strVal val="visible"/>
                                      </p:to>
                                    </p:set>
                                    <p:animEffect transition="in" filter="fade">
                                      <p:cBhvr>
                                        <p:cTn id="86" dur="500"/>
                                        <p:tgtEl>
                                          <p:spTgt spid="56"/>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79"/>
                                        </p:tgtEl>
                                        <p:attrNameLst>
                                          <p:attrName>style.visibility</p:attrName>
                                        </p:attrNameLst>
                                      </p:cBhvr>
                                      <p:to>
                                        <p:strVal val="visible"/>
                                      </p:to>
                                    </p:set>
                                    <p:animEffect transition="in" filter="fade">
                                      <p:cBhvr>
                                        <p:cTn id="91" dur="500"/>
                                        <p:tgtEl>
                                          <p:spTgt spid="7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8"/>
                                        </p:tgtEl>
                                        <p:attrNameLst>
                                          <p:attrName>style.visibility</p:attrName>
                                        </p:attrNameLst>
                                      </p:cBhvr>
                                      <p:to>
                                        <p:strVal val="visible"/>
                                      </p:to>
                                    </p:set>
                                    <p:animEffect transition="in" filter="fade">
                                      <p:cBhvr>
                                        <p:cTn id="9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animBg="1"/>
      <p:bldP spid="166" grpId="0"/>
      <p:bldP spid="41" grpId="0" animBg="1"/>
      <p:bldP spid="50" grpId="0" animBg="1"/>
      <p:bldP spid="52" grpId="0" animBg="1"/>
      <p:bldP spid="54" grpId="0" animBg="1"/>
      <p:bldP spid="55" grpId="0" animBg="1"/>
      <p:bldP spid="56" grpId="0" animBg="1"/>
      <p:bldP spid="58" grpId="0" animBg="1"/>
      <p:bldP spid="59" grpId="0" animBg="1"/>
      <p:bldP spid="80" grpId="0" animBg="1"/>
      <p:bldP spid="81" grpId="0" animBg="1"/>
      <p:bldP spid="75" grpId="0" animBg="1"/>
      <p:bldP spid="7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Simple Mission Analysis</a:t>
            </a:r>
          </a:p>
        </p:txBody>
      </p:sp>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7" y="1828800"/>
            <a:ext cx="10837331" cy="4343400"/>
          </a:xfrm>
        </p:spPr>
        <p:txBody>
          <a:bodyPr/>
          <a:lstStyle/>
          <a:p>
            <a:pPr marL="0" indent="0">
              <a:buNone/>
            </a:pPr>
            <a:r>
              <a:rPr lang="en-US" b="1" dirty="0"/>
              <a:t>Fail Cases</a:t>
            </a:r>
          </a:p>
          <a:p>
            <a:r>
              <a:rPr lang="en-US" dirty="0"/>
              <a:t>What if the aircraft does not have </a:t>
            </a:r>
            <a:r>
              <a:rPr lang="en-US" b="1" dirty="0"/>
              <a:t>enough thrust</a:t>
            </a:r>
            <a:r>
              <a:rPr lang="en-US" dirty="0"/>
              <a:t> to </a:t>
            </a:r>
            <a:r>
              <a:rPr lang="en-US" b="1" dirty="0"/>
              <a:t>increase</a:t>
            </a:r>
            <a:r>
              <a:rPr lang="en-US" dirty="0"/>
              <a:t> its </a:t>
            </a:r>
            <a:r>
              <a:rPr lang="en-US" b="1" dirty="0"/>
              <a:t>energy state</a:t>
            </a:r>
            <a:r>
              <a:rPr lang="en-US" dirty="0"/>
              <a:t>?</a:t>
            </a:r>
          </a:p>
          <a:p>
            <a:pPr lvl="3"/>
            <a:r>
              <a:rPr lang="en-US" dirty="0"/>
              <a:t>Means that the aircraft is </a:t>
            </a:r>
            <a:r>
              <a:rPr lang="en-US" b="1" dirty="0"/>
              <a:t>not meeting the point performance requirements </a:t>
            </a:r>
            <a:r>
              <a:rPr lang="en-US" dirty="0"/>
              <a:t>– not my tool not my business</a:t>
            </a:r>
          </a:p>
          <a:p>
            <a:pPr lvl="3"/>
            <a:r>
              <a:rPr lang="en-US" dirty="0"/>
              <a:t>The loop still needs the mass properties to continue</a:t>
            </a:r>
          </a:p>
          <a:p>
            <a:pPr lvl="5"/>
            <a:r>
              <a:rPr lang="en-US" dirty="0"/>
              <a:t>Put thrust to more than 100%?</a:t>
            </a:r>
          </a:p>
          <a:p>
            <a:pPr lvl="5"/>
            <a:r>
              <a:rPr lang="en-US" dirty="0"/>
              <a:t>Stop climbing and continue from that altitude?</a:t>
            </a:r>
          </a:p>
          <a:p>
            <a:endParaRPr lang="en-US" dirty="0"/>
          </a:p>
          <a:p>
            <a:r>
              <a:rPr lang="en-US" dirty="0"/>
              <a:t>What if the fuel tanks are empty?</a:t>
            </a:r>
          </a:p>
          <a:p>
            <a:pPr lvl="3"/>
            <a:r>
              <a:rPr lang="en-US" dirty="0"/>
              <a:t>We work with mass fractions – fuel tanks are only used for </a:t>
            </a:r>
            <a:r>
              <a:rPr lang="en-US" b="1" dirty="0"/>
              <a:t>shifting the cg</a:t>
            </a:r>
          </a:p>
          <a:p>
            <a:pPr lvl="5"/>
            <a:r>
              <a:rPr lang="en-US" dirty="0"/>
              <a:t>Use the final location of the cg for trimming</a:t>
            </a:r>
          </a:p>
          <a:p>
            <a:endParaRPr lang="en-US" dirty="0"/>
          </a:p>
          <a:p>
            <a:r>
              <a:rPr lang="en-US" dirty="0"/>
              <a:t>What if the aircraft does not have </a:t>
            </a:r>
            <a:r>
              <a:rPr lang="en-US" b="1" dirty="0"/>
              <a:t>enough drag </a:t>
            </a:r>
            <a:r>
              <a:rPr lang="en-US" dirty="0"/>
              <a:t>to </a:t>
            </a:r>
            <a:r>
              <a:rPr lang="en-US" b="1" dirty="0"/>
              <a:t>decrease</a:t>
            </a:r>
            <a:r>
              <a:rPr lang="en-US" dirty="0"/>
              <a:t> its </a:t>
            </a:r>
            <a:r>
              <a:rPr lang="en-US" b="1" dirty="0"/>
              <a:t>energy state</a:t>
            </a:r>
            <a:r>
              <a:rPr lang="en-US" dirty="0"/>
              <a:t>?</a:t>
            </a:r>
          </a:p>
          <a:p>
            <a:pPr lvl="3"/>
            <a:r>
              <a:rPr lang="en-US" dirty="0"/>
              <a:t>This is rather a problem of setting up the descent profile</a:t>
            </a:r>
          </a:p>
          <a:p>
            <a:pPr lvl="5"/>
            <a:r>
              <a:rPr lang="en-US" dirty="0"/>
              <a:t>Move the “transition point” backwards </a:t>
            </a:r>
          </a:p>
          <a:p>
            <a:pPr marL="0" indent="0">
              <a:buNone/>
            </a:pPr>
            <a:endParaRPr lang="en-US" dirty="0"/>
          </a:p>
          <a:p>
            <a:pPr marL="0" indent="0">
              <a:buNone/>
            </a:pPr>
            <a:endParaRPr lang="en-US" dirty="0"/>
          </a:p>
          <a:p>
            <a:endParaRPr lang="en-US" dirty="0"/>
          </a:p>
        </p:txBody>
      </p:sp>
      <p:grpSp>
        <p:nvGrpSpPr>
          <p:cNvPr id="4" name="Group 3">
            <a:extLst>
              <a:ext uri="{FF2B5EF4-FFF2-40B4-BE49-F238E27FC236}">
                <a16:creationId xmlns:a16="http://schemas.microsoft.com/office/drawing/2014/main" id="{327537D0-D281-4B92-BD1C-35BECFA52FDD}"/>
              </a:ext>
            </a:extLst>
          </p:cNvPr>
          <p:cNvGrpSpPr>
            <a:grpSpLocks noChangeAspect="1"/>
          </p:cNvGrpSpPr>
          <p:nvPr/>
        </p:nvGrpSpPr>
        <p:grpSpPr>
          <a:xfrm>
            <a:off x="8770252" y="5004669"/>
            <a:ext cx="2390747" cy="1167531"/>
            <a:chOff x="9723759" y="1270869"/>
            <a:chExt cx="1386144" cy="676929"/>
          </a:xfrm>
        </p:grpSpPr>
        <p:cxnSp>
          <p:nvCxnSpPr>
            <p:cNvPr id="5" name="Straight Connector 4">
              <a:extLst>
                <a:ext uri="{FF2B5EF4-FFF2-40B4-BE49-F238E27FC236}">
                  <a16:creationId xmlns:a16="http://schemas.microsoft.com/office/drawing/2014/main" id="{A890515B-8360-4D2E-B7BD-3A58DCDDB3E6}"/>
                </a:ext>
              </a:extLst>
            </p:cNvPr>
            <p:cNvCxnSpPr>
              <a:cxnSpLocks/>
              <a:endCxn id="7" idx="0"/>
            </p:cNvCxnSpPr>
            <p:nvPr/>
          </p:nvCxnSpPr>
          <p:spPr>
            <a:xfrm>
              <a:off x="11033710" y="1325563"/>
              <a:ext cx="0" cy="469851"/>
            </a:xfrm>
            <a:prstGeom prst="line">
              <a:avLst/>
            </a:prstGeom>
            <a:ln w="2857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FE69434-50E8-4ED9-B1FF-0EDF86E718C0}"/>
                </a:ext>
              </a:extLst>
            </p:cNvPr>
            <p:cNvCxnSpPr>
              <a:cxnSpLocks/>
            </p:cNvCxnSpPr>
            <p:nvPr/>
          </p:nvCxnSpPr>
          <p:spPr>
            <a:xfrm>
              <a:off x="9802876" y="1364776"/>
              <a:ext cx="0" cy="561039"/>
            </a:xfrm>
            <a:prstGeom prst="line">
              <a:avLst/>
            </a:prstGeom>
            <a:ln w="2857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1C7DC62-ECE8-4CBB-B4EC-D059E34C6B77}"/>
                </a:ext>
              </a:extLst>
            </p:cNvPr>
            <p:cNvSpPr/>
            <p:nvPr/>
          </p:nvSpPr>
          <p:spPr>
            <a:xfrm>
              <a:off x="10957518" y="1795414"/>
              <a:ext cx="152385" cy="152384"/>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2</a:t>
              </a:r>
            </a:p>
          </p:txBody>
        </p:sp>
        <p:sp>
          <p:nvSpPr>
            <p:cNvPr id="8" name="Oval 7">
              <a:extLst>
                <a:ext uri="{FF2B5EF4-FFF2-40B4-BE49-F238E27FC236}">
                  <a16:creationId xmlns:a16="http://schemas.microsoft.com/office/drawing/2014/main" id="{355203F3-F929-4BAB-B166-D2C59AEEBB38}"/>
                </a:ext>
              </a:extLst>
            </p:cNvPr>
            <p:cNvSpPr/>
            <p:nvPr/>
          </p:nvSpPr>
          <p:spPr>
            <a:xfrm>
              <a:off x="9723759" y="1270869"/>
              <a:ext cx="152385" cy="152384"/>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1</a:t>
              </a:r>
            </a:p>
          </p:txBody>
        </p:sp>
        <p:cxnSp>
          <p:nvCxnSpPr>
            <p:cNvPr id="9" name="Straight Arrow Connector 8">
              <a:extLst>
                <a:ext uri="{FF2B5EF4-FFF2-40B4-BE49-F238E27FC236}">
                  <a16:creationId xmlns:a16="http://schemas.microsoft.com/office/drawing/2014/main" id="{7242B5D6-5131-49DE-AB2F-55CE9B5E651F}"/>
                </a:ext>
              </a:extLst>
            </p:cNvPr>
            <p:cNvCxnSpPr>
              <a:cxnSpLocks/>
            </p:cNvCxnSpPr>
            <p:nvPr/>
          </p:nvCxnSpPr>
          <p:spPr>
            <a:xfrm>
              <a:off x="10712971" y="1345989"/>
              <a:ext cx="244547" cy="49216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FC7C14D4-8397-43F9-99E9-04E4B7191EE0}"/>
                </a:ext>
              </a:extLst>
            </p:cNvPr>
            <p:cNvCxnSpPr>
              <a:cxnSpLocks/>
            </p:cNvCxnSpPr>
            <p:nvPr/>
          </p:nvCxnSpPr>
          <p:spPr>
            <a:xfrm>
              <a:off x="9876316" y="1344229"/>
              <a:ext cx="83593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Oval 10">
              <a:extLst>
                <a:ext uri="{FF2B5EF4-FFF2-40B4-BE49-F238E27FC236}">
                  <a16:creationId xmlns:a16="http://schemas.microsoft.com/office/drawing/2014/main" id="{EA7AA63D-CBE5-4C13-B36F-4B76B4D5D8DF}"/>
                </a:ext>
              </a:extLst>
            </p:cNvPr>
            <p:cNvSpPr/>
            <p:nvPr/>
          </p:nvSpPr>
          <p:spPr>
            <a:xfrm flipH="1">
              <a:off x="10858688" y="1686507"/>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2" name="Oval 11">
              <a:extLst>
                <a:ext uri="{FF2B5EF4-FFF2-40B4-BE49-F238E27FC236}">
                  <a16:creationId xmlns:a16="http://schemas.microsoft.com/office/drawing/2014/main" id="{6E9BD884-569D-4103-B5A1-FEAAD29913ED}"/>
                </a:ext>
              </a:extLst>
            </p:cNvPr>
            <p:cNvSpPr/>
            <p:nvPr/>
          </p:nvSpPr>
          <p:spPr>
            <a:xfrm flipH="1">
              <a:off x="10797348" y="1558771"/>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3" name="Oval 12">
              <a:extLst>
                <a:ext uri="{FF2B5EF4-FFF2-40B4-BE49-F238E27FC236}">
                  <a16:creationId xmlns:a16="http://schemas.microsoft.com/office/drawing/2014/main" id="{7D40D1FF-B7BB-49A2-B0DD-5B8AC2E43D48}"/>
                </a:ext>
              </a:extLst>
            </p:cNvPr>
            <p:cNvSpPr/>
            <p:nvPr/>
          </p:nvSpPr>
          <p:spPr>
            <a:xfrm flipH="1">
              <a:off x="10735442" y="1431036"/>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4" name="Oval 13">
              <a:extLst>
                <a:ext uri="{FF2B5EF4-FFF2-40B4-BE49-F238E27FC236}">
                  <a16:creationId xmlns:a16="http://schemas.microsoft.com/office/drawing/2014/main" id="{94982B48-5059-4F79-93A7-DF8D14776377}"/>
                </a:ext>
              </a:extLst>
            </p:cNvPr>
            <p:cNvSpPr/>
            <p:nvPr/>
          </p:nvSpPr>
          <p:spPr>
            <a:xfrm flipH="1">
              <a:off x="10649223" y="1306133"/>
              <a:ext cx="76192" cy="76192"/>
            </a:xfrm>
            <a:prstGeom prst="ellipse">
              <a:avLst/>
            </a:prstGeom>
            <a:solidFill>
              <a:srgbClr val="FFC000"/>
            </a:solidFill>
            <a:ln>
              <a:solidFill>
                <a:srgbClr val="EE8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5" name="Oval 14">
              <a:extLst>
                <a:ext uri="{FF2B5EF4-FFF2-40B4-BE49-F238E27FC236}">
                  <a16:creationId xmlns:a16="http://schemas.microsoft.com/office/drawing/2014/main" id="{C0547B85-590A-4BD3-9103-DA3310DAB83D}"/>
                </a:ext>
              </a:extLst>
            </p:cNvPr>
            <p:cNvSpPr/>
            <p:nvPr/>
          </p:nvSpPr>
          <p:spPr>
            <a:xfrm>
              <a:off x="9994512" y="1306133"/>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6" name="Oval 15">
              <a:extLst>
                <a:ext uri="{FF2B5EF4-FFF2-40B4-BE49-F238E27FC236}">
                  <a16:creationId xmlns:a16="http://schemas.microsoft.com/office/drawing/2014/main" id="{132B8FE7-29EB-4FE4-965F-C30C8CA3CDE0}"/>
                </a:ext>
              </a:extLst>
            </p:cNvPr>
            <p:cNvSpPr/>
            <p:nvPr/>
          </p:nvSpPr>
          <p:spPr>
            <a:xfrm>
              <a:off x="10199642" y="1306133"/>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17" name="Oval 16">
              <a:extLst>
                <a:ext uri="{FF2B5EF4-FFF2-40B4-BE49-F238E27FC236}">
                  <a16:creationId xmlns:a16="http://schemas.microsoft.com/office/drawing/2014/main" id="{3B5D2839-95D0-4578-BB83-FC97E9EADF6F}"/>
                </a:ext>
              </a:extLst>
            </p:cNvPr>
            <p:cNvSpPr/>
            <p:nvPr/>
          </p:nvSpPr>
          <p:spPr>
            <a:xfrm>
              <a:off x="10413516" y="1306133"/>
              <a:ext cx="76192" cy="76192"/>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grpSp>
    </p:spTree>
    <p:extLst>
      <p:ext uri="{BB962C8B-B14F-4D97-AF65-F5344CB8AC3E}">
        <p14:creationId xmlns:p14="http://schemas.microsoft.com/office/powerpoint/2010/main" val="20907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2" end="2"/>
                                            </p:txEl>
                                          </p:spTgt>
                                        </p:tgtEl>
                                        <p:attrNameLst>
                                          <p:attrName>style.visibility</p:attrName>
                                        </p:attrNameLst>
                                      </p:cBhvr>
                                      <p:to>
                                        <p:strVal val="visible"/>
                                      </p:to>
                                    </p:set>
                                    <p:animEffect transition="in" filter="fade">
                                      <p:cBhvr>
                                        <p:cTn id="7" dur="500"/>
                                        <p:tgtEl>
                                          <p:spTgt spid="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3" end="3"/>
                                            </p:txEl>
                                          </p:spTgt>
                                        </p:tgtEl>
                                        <p:attrNameLst>
                                          <p:attrName>style.visibility</p:attrName>
                                        </p:attrNameLst>
                                      </p:cBhvr>
                                      <p:to>
                                        <p:strVal val="visible"/>
                                      </p:to>
                                    </p:set>
                                    <p:animEffect transition="in" filter="fade">
                                      <p:cBhvr>
                                        <p:cTn id="12" dur="500"/>
                                        <p:tgtEl>
                                          <p:spTgt spid="32">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4" end="4"/>
                                            </p:txEl>
                                          </p:spTgt>
                                        </p:tgtEl>
                                        <p:attrNameLst>
                                          <p:attrName>style.visibility</p:attrName>
                                        </p:attrNameLst>
                                      </p:cBhvr>
                                      <p:to>
                                        <p:strVal val="visible"/>
                                      </p:to>
                                    </p:set>
                                    <p:animEffect transition="in" filter="fade">
                                      <p:cBhvr>
                                        <p:cTn id="15" dur="500"/>
                                        <p:tgtEl>
                                          <p:spTgt spid="32">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2">
                                            <p:txEl>
                                              <p:pRg st="5" end="5"/>
                                            </p:txEl>
                                          </p:spTgt>
                                        </p:tgtEl>
                                        <p:attrNameLst>
                                          <p:attrName>style.visibility</p:attrName>
                                        </p:attrNameLst>
                                      </p:cBhvr>
                                      <p:to>
                                        <p:strVal val="visible"/>
                                      </p:to>
                                    </p:set>
                                    <p:animEffect transition="in" filter="fade">
                                      <p:cBhvr>
                                        <p:cTn id="18" dur="500"/>
                                        <p:tgtEl>
                                          <p:spTgt spid="32">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xEl>
                                              <p:pRg st="8" end="8"/>
                                            </p:txEl>
                                          </p:spTgt>
                                        </p:tgtEl>
                                        <p:attrNameLst>
                                          <p:attrName>style.visibility</p:attrName>
                                        </p:attrNameLst>
                                      </p:cBhvr>
                                      <p:to>
                                        <p:strVal val="visible"/>
                                      </p:to>
                                    </p:set>
                                    <p:animEffect transition="in" filter="fade">
                                      <p:cBhvr>
                                        <p:cTn id="23" dur="500"/>
                                        <p:tgtEl>
                                          <p:spTgt spid="32">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2">
                                            <p:txEl>
                                              <p:pRg st="9" end="9"/>
                                            </p:txEl>
                                          </p:spTgt>
                                        </p:tgtEl>
                                        <p:attrNameLst>
                                          <p:attrName>style.visibility</p:attrName>
                                        </p:attrNameLst>
                                      </p:cBhvr>
                                      <p:to>
                                        <p:strVal val="visible"/>
                                      </p:to>
                                    </p:set>
                                    <p:animEffect transition="in" filter="fade">
                                      <p:cBhvr>
                                        <p:cTn id="26" dur="500"/>
                                        <p:tgtEl>
                                          <p:spTgt spid="32">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2">
                                            <p:txEl>
                                              <p:pRg st="12" end="12"/>
                                            </p:txEl>
                                          </p:spTgt>
                                        </p:tgtEl>
                                        <p:attrNameLst>
                                          <p:attrName>style.visibility</p:attrName>
                                        </p:attrNameLst>
                                      </p:cBhvr>
                                      <p:to>
                                        <p:strVal val="visible"/>
                                      </p:to>
                                    </p:set>
                                    <p:animEffect transition="in" filter="fade">
                                      <p:cBhvr>
                                        <p:cTn id="31" dur="500"/>
                                        <p:tgtEl>
                                          <p:spTgt spid="32">
                                            <p:txEl>
                                              <p:pRg st="12" end="1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2">
                                            <p:txEl>
                                              <p:pRg st="13" end="13"/>
                                            </p:txEl>
                                          </p:spTgt>
                                        </p:tgtEl>
                                        <p:attrNameLst>
                                          <p:attrName>style.visibility</p:attrName>
                                        </p:attrNameLst>
                                      </p:cBhvr>
                                      <p:to>
                                        <p:strVal val="visible"/>
                                      </p:to>
                                    </p:set>
                                    <p:animEffect transition="in" filter="fade">
                                      <p:cBhvr>
                                        <p:cTn id="34" dur="500"/>
                                        <p:tgtEl>
                                          <p:spTgt spid="32">
                                            <p:txEl>
                                              <p:pRg st="13" end="1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2D02BF-D7AB-439A-960F-254D3FFA6B2B}"/>
              </a:ext>
            </a:extLst>
          </p:cNvPr>
          <p:cNvSpPr>
            <a:spLocks noGrp="1"/>
          </p:cNvSpPr>
          <p:nvPr>
            <p:ph type="title"/>
          </p:nvPr>
        </p:nvSpPr>
        <p:spPr/>
        <p:txBody>
          <a:bodyPr/>
          <a:lstStyle/>
          <a:p>
            <a:r>
              <a:rPr lang="en-US" dirty="0"/>
              <a:t>Constraint Analysis</a:t>
            </a:r>
          </a:p>
        </p:txBody>
      </p:sp>
      <p:pic>
        <p:nvPicPr>
          <p:cNvPr id="4" name="Content Placeholder 4">
            <a:extLst>
              <a:ext uri="{FF2B5EF4-FFF2-40B4-BE49-F238E27FC236}">
                <a16:creationId xmlns:a16="http://schemas.microsoft.com/office/drawing/2014/main" id="{92CEB987-A5A9-4B88-B6E2-4C84CC9D38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auto">
          <a:xfrm>
            <a:off x="677336" y="1568197"/>
            <a:ext cx="3048844" cy="4543043"/>
          </a:xfrm>
          <a:prstGeom prst="rect">
            <a:avLst/>
          </a:prstGeom>
          <a:noFill/>
          <a:ln w="9525">
            <a:noFill/>
            <a:miter lim="800000"/>
            <a:headEnd/>
            <a:tailEnd/>
          </a:ln>
        </p:spPr>
      </p:pic>
      <p:pic>
        <p:nvPicPr>
          <p:cNvPr id="17" name="Picture 16">
            <a:extLst>
              <a:ext uri="{FF2B5EF4-FFF2-40B4-BE49-F238E27FC236}">
                <a16:creationId xmlns:a16="http://schemas.microsoft.com/office/drawing/2014/main" id="{1E36F12F-34A6-4DE9-8A9F-F627D288FADD}"/>
              </a:ext>
            </a:extLst>
          </p:cNvPr>
          <p:cNvPicPr>
            <a:picLocks noChangeAspect="1"/>
          </p:cNvPicPr>
          <p:nvPr/>
        </p:nvPicPr>
        <p:blipFill rotWithShape="1">
          <a:blip r:embed="rId4"/>
          <a:srcRect l="10365" t="3183" r="4010" b="70802"/>
          <a:stretch/>
        </p:blipFill>
        <p:spPr>
          <a:xfrm>
            <a:off x="7223663" y="2693827"/>
            <a:ext cx="1053838" cy="410625"/>
          </a:xfrm>
          <a:prstGeom prst="rect">
            <a:avLst/>
          </a:prstGeom>
          <a:solidFill>
            <a:srgbClr val="00447E"/>
          </a:solidFill>
          <a:ln w="12700">
            <a:solidFill>
              <a:schemeClr val="tx1"/>
            </a:solidFill>
          </a:ln>
        </p:spPr>
      </p:pic>
      <p:pic>
        <p:nvPicPr>
          <p:cNvPr id="18" name="Picture 17">
            <a:extLst>
              <a:ext uri="{FF2B5EF4-FFF2-40B4-BE49-F238E27FC236}">
                <a16:creationId xmlns:a16="http://schemas.microsoft.com/office/drawing/2014/main" id="{16DA6284-BBEC-4BD1-95C2-D2398B0B3D32}"/>
              </a:ext>
            </a:extLst>
          </p:cNvPr>
          <p:cNvPicPr>
            <a:picLocks noChangeAspect="1"/>
          </p:cNvPicPr>
          <p:nvPr/>
        </p:nvPicPr>
        <p:blipFill rotWithShape="1">
          <a:blip r:embed="rId5"/>
          <a:srcRect l="6596" t="33475" r="4339" b="1831"/>
          <a:stretch/>
        </p:blipFill>
        <p:spPr>
          <a:xfrm>
            <a:off x="7223662" y="3609742"/>
            <a:ext cx="1057449" cy="1034789"/>
          </a:xfrm>
          <a:prstGeom prst="rect">
            <a:avLst/>
          </a:prstGeom>
          <a:ln w="12700">
            <a:solidFill>
              <a:schemeClr val="tx1"/>
            </a:solidFill>
          </a:ln>
        </p:spPr>
      </p:pic>
      <p:cxnSp>
        <p:nvCxnSpPr>
          <p:cNvPr id="23" name="Connector: Elbow 22">
            <a:extLst>
              <a:ext uri="{FF2B5EF4-FFF2-40B4-BE49-F238E27FC236}">
                <a16:creationId xmlns:a16="http://schemas.microsoft.com/office/drawing/2014/main" id="{6BE3C50E-64CB-4A57-8A01-DF49E640DCFA}"/>
              </a:ext>
            </a:extLst>
          </p:cNvPr>
          <p:cNvCxnSpPr>
            <a:cxnSpLocks/>
          </p:cNvCxnSpPr>
          <p:nvPr/>
        </p:nvCxnSpPr>
        <p:spPr>
          <a:xfrm rot="5400000" flipH="1" flipV="1">
            <a:off x="8198860" y="2942987"/>
            <a:ext cx="905592" cy="195450"/>
          </a:xfrm>
          <a:prstGeom prst="bentConnector3">
            <a:avLst>
              <a:gd name="adj1" fmla="val 10013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3C81701-7B63-448A-84FF-FEB737FDE38D}"/>
              </a:ext>
            </a:extLst>
          </p:cNvPr>
          <p:cNvCxnSpPr/>
          <p:nvPr/>
        </p:nvCxnSpPr>
        <p:spPr>
          <a:xfrm>
            <a:off x="8399988" y="3493508"/>
            <a:ext cx="153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1">
                <a:extLst>
                  <a:ext uri="{FF2B5EF4-FFF2-40B4-BE49-F238E27FC236}">
                    <a16:creationId xmlns:a16="http://schemas.microsoft.com/office/drawing/2014/main" id="{E1CC9BCE-3D2B-4A08-B6A5-590B46BB8B5A}"/>
                  </a:ext>
                </a:extLst>
              </p:cNvPr>
              <p:cNvSpPr txBox="1">
                <a:spLocks/>
              </p:cNvSpPr>
              <p:nvPr/>
            </p:nvSpPr>
            <p:spPr>
              <a:xfrm>
                <a:off x="10771851" y="2382409"/>
                <a:ext cx="739729" cy="411010"/>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𝑇</m:t>
                          </m:r>
                        </m:e>
                        <m:sub>
                          <m:r>
                            <a:rPr lang="en-US" sz="1200" i="1" dirty="0">
                              <a:solidFill>
                                <a:schemeClr val="tx1"/>
                              </a:solidFill>
                              <a:latin typeface="Cambria Math" panose="02040503050406030204" pitchFamily="18" charset="0"/>
                            </a:rPr>
                            <m:t>𝑆𝐿</m:t>
                          </m:r>
                        </m:sub>
                      </m:sSub>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
                    </m:oMathParaPr>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𝑇𝑂</m:t>
                          </m:r>
                        </m:sub>
                      </m:sSub>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𝑆</m:t>
                          </m:r>
                        </m:e>
                        <m:sub>
                          <m:r>
                            <a:rPr lang="en-US" sz="1200" i="1" dirty="0">
                              <a:solidFill>
                                <a:schemeClr val="tx1"/>
                              </a:solidFill>
                              <a:latin typeface="Cambria Math" panose="02040503050406030204" pitchFamily="18" charset="0"/>
                            </a:rPr>
                            <m:t>𝑅𝑒𝑓</m:t>
                          </m:r>
                        </m:sub>
                      </m:sSub>
                    </m:oMath>
                  </m:oMathPara>
                </a14:m>
                <a:endParaRPr lang="en-US" sz="1400" dirty="0">
                  <a:solidFill>
                    <a:schemeClr val="tx1"/>
                  </a:solidFill>
                </a:endParaRPr>
              </a:p>
            </p:txBody>
          </p:sp>
        </mc:Choice>
        <mc:Fallback xmlns="">
          <p:sp>
            <p:nvSpPr>
              <p:cNvPr id="26" name="Text Placeholder 1">
                <a:extLst>
                  <a:ext uri="{FF2B5EF4-FFF2-40B4-BE49-F238E27FC236}">
                    <a16:creationId xmlns:a16="http://schemas.microsoft.com/office/drawing/2014/main" id="{E1CC9BCE-3D2B-4A08-B6A5-590B46BB8B5A}"/>
                  </a:ext>
                </a:extLst>
              </p:cNvPr>
              <p:cNvSpPr txBox="1">
                <a:spLocks noRot="1" noChangeAspect="1" noMove="1" noResize="1" noEditPoints="1" noAdjustHandles="1" noChangeArrowheads="1" noChangeShapeType="1" noTextEdit="1"/>
              </p:cNvSpPr>
              <p:nvPr/>
            </p:nvSpPr>
            <p:spPr>
              <a:xfrm>
                <a:off x="10771851" y="2382409"/>
                <a:ext cx="739729" cy="411010"/>
              </a:xfrm>
              <a:prstGeom prst="rect">
                <a:avLst/>
              </a:prstGeom>
              <a:blipFill>
                <a:blip r:embed="rId8"/>
                <a:stretch>
                  <a:fillRect l="-2439" b="-4348"/>
                </a:stretch>
              </a:blipFill>
              <a:ln>
                <a:solidFill>
                  <a:schemeClr val="tx1"/>
                </a:solidFill>
              </a:ln>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6971B545-73D5-42E2-9E5D-BD0FA3552629}"/>
              </a:ext>
            </a:extLst>
          </p:cNvPr>
          <p:cNvCxnSpPr>
            <a:cxnSpLocks/>
            <a:endCxn id="26" idx="1"/>
          </p:cNvCxnSpPr>
          <p:nvPr/>
        </p:nvCxnSpPr>
        <p:spPr>
          <a:xfrm>
            <a:off x="10550457" y="2587914"/>
            <a:ext cx="221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FB0A38F-65A9-4424-8038-3CCD594B1A85}"/>
              </a:ext>
            </a:extLst>
          </p:cNvPr>
          <p:cNvCxnSpPr>
            <a:cxnSpLocks/>
            <a:stCxn id="35" idx="2"/>
          </p:cNvCxnSpPr>
          <p:nvPr/>
        </p:nvCxnSpPr>
        <p:spPr>
          <a:xfrm>
            <a:off x="9644732" y="1890502"/>
            <a:ext cx="0" cy="16209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9F44476-C246-4C57-977E-3B64D9ACFF5B}"/>
              </a:ext>
            </a:extLst>
          </p:cNvPr>
          <p:cNvSpPr txBox="1"/>
          <p:nvPr/>
        </p:nvSpPr>
        <p:spPr>
          <a:xfrm>
            <a:off x="9025812" y="1551948"/>
            <a:ext cx="1237839" cy="338554"/>
          </a:xfrm>
          <a:prstGeom prst="rect">
            <a:avLst/>
          </a:prstGeom>
          <a:solidFill>
            <a:srgbClr val="003B6F"/>
          </a:solidFill>
          <a:ln>
            <a:solidFill>
              <a:schemeClr val="tx1"/>
            </a:solidFill>
          </a:ln>
        </p:spPr>
        <p:txBody>
          <a:bodyPr wrap="square" rtlCol="0">
            <a:spAutoFit/>
          </a:bodyPr>
          <a:lstStyle/>
          <a:p>
            <a:pPr algn="ctr"/>
            <a:r>
              <a:rPr lang="en-US" sz="800" b="1" dirty="0">
                <a:solidFill>
                  <a:schemeClr val="bg1"/>
                </a:solidFill>
              </a:rPr>
              <a:t>Point Performance Requirements</a:t>
            </a:r>
          </a:p>
        </p:txBody>
      </p:sp>
      <p:cxnSp>
        <p:nvCxnSpPr>
          <p:cNvPr id="36" name="Connector: Elbow 35">
            <a:extLst>
              <a:ext uri="{FF2B5EF4-FFF2-40B4-BE49-F238E27FC236}">
                <a16:creationId xmlns:a16="http://schemas.microsoft.com/office/drawing/2014/main" id="{2C27BD38-EEC6-4156-AAC6-DF75E68B382E}"/>
              </a:ext>
            </a:extLst>
          </p:cNvPr>
          <p:cNvCxnSpPr>
            <a:cxnSpLocks/>
            <a:stCxn id="17" idx="3"/>
            <a:endCxn id="18" idx="3"/>
          </p:cNvCxnSpPr>
          <p:nvPr/>
        </p:nvCxnSpPr>
        <p:spPr>
          <a:xfrm>
            <a:off x="8277501" y="2899140"/>
            <a:ext cx="3610" cy="1227997"/>
          </a:xfrm>
          <a:prstGeom prst="bentConnector3">
            <a:avLst>
              <a:gd name="adj1" fmla="val 359601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302C3A82-6A23-43DF-9FE2-052A552C7B1A}"/>
              </a:ext>
            </a:extLst>
          </p:cNvPr>
          <p:cNvGrpSpPr/>
          <p:nvPr/>
        </p:nvGrpSpPr>
        <p:grpSpPr>
          <a:xfrm>
            <a:off x="8749382" y="2059631"/>
            <a:ext cx="1827215" cy="1092529"/>
            <a:chOff x="9533697" y="3022896"/>
            <a:chExt cx="1948963" cy="1092529"/>
          </a:xfrm>
        </p:grpSpPr>
        <p:grpSp>
          <p:nvGrpSpPr>
            <p:cNvPr id="38" name="Group 37">
              <a:extLst>
                <a:ext uri="{FF2B5EF4-FFF2-40B4-BE49-F238E27FC236}">
                  <a16:creationId xmlns:a16="http://schemas.microsoft.com/office/drawing/2014/main" id="{EAAE9F4D-3205-4F77-B1E7-290E49AB23D0}"/>
                </a:ext>
              </a:extLst>
            </p:cNvPr>
            <p:cNvGrpSpPr/>
            <p:nvPr/>
          </p:nvGrpSpPr>
          <p:grpSpPr>
            <a:xfrm>
              <a:off x="9533697" y="3022896"/>
              <a:ext cx="1948963" cy="1092529"/>
              <a:chOff x="9533698" y="2966337"/>
              <a:chExt cx="1805906" cy="1724075"/>
            </a:xfrm>
            <a:solidFill>
              <a:srgbClr val="C0C0C0"/>
            </a:solidFill>
          </p:grpSpPr>
          <p:sp>
            <p:nvSpPr>
              <p:cNvPr id="40" name="Cube 39">
                <a:extLst>
                  <a:ext uri="{FF2B5EF4-FFF2-40B4-BE49-F238E27FC236}">
                    <a16:creationId xmlns:a16="http://schemas.microsoft.com/office/drawing/2014/main" id="{C9EBE6E8-3183-4C42-BBF5-BD4B98D1BC80}"/>
                  </a:ext>
                </a:extLst>
              </p:cNvPr>
              <p:cNvSpPr/>
              <p:nvPr/>
            </p:nvSpPr>
            <p:spPr>
              <a:xfrm>
                <a:off x="9533698"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EB9EBE77-4926-43E6-9FB8-0A1048F8D262}"/>
                  </a:ext>
                </a:extLst>
              </p:cNvPr>
              <p:cNvSpPr/>
              <p:nvPr/>
            </p:nvSpPr>
            <p:spPr>
              <a:xfrm>
                <a:off x="9598549" y="3236788"/>
                <a:ext cx="1647420" cy="406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Constraint Analysis</a:t>
                </a:r>
              </a:p>
            </p:txBody>
          </p:sp>
        </p:grpSp>
        <p:pic>
          <p:nvPicPr>
            <p:cNvPr id="39" name="Graphic 38">
              <a:extLst>
                <a:ext uri="{FF2B5EF4-FFF2-40B4-BE49-F238E27FC236}">
                  <a16:creationId xmlns:a16="http://schemas.microsoft.com/office/drawing/2014/main" id="{915B70CB-02E2-45E7-8A7B-29BA78D393E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54881" y="3427878"/>
              <a:ext cx="1385180" cy="639839"/>
            </a:xfrm>
            <a:prstGeom prst="rect">
              <a:avLst/>
            </a:prstGeom>
          </p:spPr>
        </p:pic>
      </p:grpSp>
      <p:cxnSp>
        <p:nvCxnSpPr>
          <p:cNvPr id="47" name="Straight Arrow Connector 46">
            <a:extLst>
              <a:ext uri="{FF2B5EF4-FFF2-40B4-BE49-F238E27FC236}">
                <a16:creationId xmlns:a16="http://schemas.microsoft.com/office/drawing/2014/main" id="{9DE92F05-D645-48F4-BBD9-2977D007B029}"/>
              </a:ext>
            </a:extLst>
          </p:cNvPr>
          <p:cNvCxnSpPr>
            <a:cxnSpLocks/>
          </p:cNvCxnSpPr>
          <p:nvPr/>
        </p:nvCxnSpPr>
        <p:spPr>
          <a:xfrm flipV="1">
            <a:off x="9644732" y="3146986"/>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6C66B70-4F9E-4DEE-B5E1-62D77B680D4B}"/>
              </a:ext>
            </a:extLst>
          </p:cNvPr>
          <p:cNvSpPr txBox="1"/>
          <p:nvPr/>
        </p:nvSpPr>
        <p:spPr>
          <a:xfrm>
            <a:off x="9044069" y="3612329"/>
            <a:ext cx="1237839" cy="215444"/>
          </a:xfrm>
          <a:prstGeom prst="rect">
            <a:avLst/>
          </a:prstGeom>
          <a:solidFill>
            <a:srgbClr val="00447E"/>
          </a:solidFill>
          <a:ln>
            <a:solidFill>
              <a:schemeClr val="tx1"/>
            </a:solidFill>
          </a:ln>
        </p:spPr>
        <p:txBody>
          <a:bodyPr wrap="square" rtlCol="0">
            <a:spAutoFit/>
          </a:bodyPr>
          <a:lstStyle/>
          <a:p>
            <a:pPr algn="ctr"/>
            <a:r>
              <a:rPr lang="en-US" sz="800" b="1" dirty="0">
                <a:solidFill>
                  <a:schemeClr val="bg1"/>
                </a:solidFill>
              </a:rPr>
              <a:t>Weight fractions</a:t>
            </a:r>
          </a:p>
        </p:txBody>
      </p:sp>
      <p:sp>
        <p:nvSpPr>
          <p:cNvPr id="31" name="Rectangle: Rounded Corners 30">
            <a:extLst>
              <a:ext uri="{FF2B5EF4-FFF2-40B4-BE49-F238E27FC236}">
                <a16:creationId xmlns:a16="http://schemas.microsoft.com/office/drawing/2014/main" id="{B0F4062C-7D6E-40C9-BC17-16D054FF5D79}"/>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
        <p:nvSpPr>
          <p:cNvPr id="32" name="Rectangle: Rounded Corners 31">
            <a:extLst>
              <a:ext uri="{FF2B5EF4-FFF2-40B4-BE49-F238E27FC236}">
                <a16:creationId xmlns:a16="http://schemas.microsoft.com/office/drawing/2014/main" id="{CDFDFA59-D2E5-4A6A-BC41-4BC86D2E3DC0}"/>
              </a:ext>
            </a:extLst>
          </p:cNvPr>
          <p:cNvSpPr/>
          <p:nvPr/>
        </p:nvSpPr>
        <p:spPr>
          <a:xfrm>
            <a:off x="1350341" y="4221075"/>
            <a:ext cx="1402383" cy="201168"/>
          </a:xfrm>
          <a:prstGeom prst="roundRect">
            <a:avLst>
              <a:gd name="adj" fmla="val 19189"/>
            </a:avLst>
          </a:prstGeom>
          <a:solidFill>
            <a:srgbClr val="FFC000"/>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Design Analysis</a:t>
            </a:r>
          </a:p>
        </p:txBody>
      </p:sp>
      <p:sp>
        <p:nvSpPr>
          <p:cNvPr id="34" name="Rectangle: Rounded Corners 33">
            <a:extLst>
              <a:ext uri="{FF2B5EF4-FFF2-40B4-BE49-F238E27FC236}">
                <a16:creationId xmlns:a16="http://schemas.microsoft.com/office/drawing/2014/main" id="{461B9BAD-8443-4DB8-94BC-F661D71CBF24}"/>
              </a:ext>
            </a:extLst>
          </p:cNvPr>
          <p:cNvSpPr/>
          <p:nvPr/>
        </p:nvSpPr>
        <p:spPr>
          <a:xfrm>
            <a:off x="2069277" y="4705448"/>
            <a:ext cx="1280160" cy="201168"/>
          </a:xfrm>
          <a:prstGeom prst="roundRect">
            <a:avLst>
              <a:gd name="adj" fmla="val 19189"/>
            </a:avLst>
          </a:prstGeom>
          <a:solidFill>
            <a:srgbClr val="FFC000">
              <a:alpha val="30196"/>
            </a:srgb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endParaRPr lang="en-US" b="1" dirty="0">
              <a:solidFill>
                <a:schemeClr val="bg1"/>
              </a:solidFill>
            </a:endParaRPr>
          </a:p>
        </p:txBody>
      </p:sp>
    </p:spTree>
    <p:extLst>
      <p:ext uri="{BB962C8B-B14F-4D97-AF65-F5344CB8AC3E}">
        <p14:creationId xmlns:p14="http://schemas.microsoft.com/office/powerpoint/2010/main" val="641191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Constraint Analysis</a:t>
            </a:r>
          </a:p>
        </p:txBody>
      </p:sp>
      <mc:AlternateContent xmlns:mc="http://schemas.openxmlformats.org/markup-compatibility/2006" xmlns:a14="http://schemas.microsoft.com/office/drawing/2010/main">
        <mc:Choice Requires="a14">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7" y="1828800"/>
                <a:ext cx="6689952" cy="4343400"/>
              </a:xfrm>
            </p:spPr>
            <p:txBody>
              <a:bodyPr/>
              <a:lstStyle/>
              <a:p>
                <a:pPr marL="0" indent="0">
                  <a:buNone/>
                </a:pPr>
                <a:r>
                  <a:rPr lang="en-US" dirty="0"/>
                  <a:t>Energy Based Constraint Analysis</a:t>
                </a:r>
              </a:p>
              <a:p>
                <a:pPr marL="0" indent="0">
                  <a:buNone/>
                </a:pPr>
                <a:endParaRPr lang="en-US" dirty="0"/>
              </a:p>
              <a:p>
                <a:r>
                  <a:rPr lang="en-US" dirty="0">
                    <a:solidFill>
                      <a:schemeClr val="tx1"/>
                    </a:solidFill>
                  </a:rPr>
                  <a:t>Point performance requirements are evaluated as constraints within the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𝑊</m:t>
                        </m:r>
                      </m:e>
                      <m:sub>
                        <m:r>
                          <a:rPr lang="en-US" i="1" dirty="0">
                            <a:solidFill>
                              <a:schemeClr val="tx1"/>
                            </a:solidFill>
                            <a:latin typeface="Cambria Math" panose="02040503050406030204" pitchFamily="18" charset="0"/>
                          </a:rPr>
                          <m:t>𝑇𝑂</m:t>
                        </m:r>
                      </m:sub>
                    </m:sSub>
                    <m:r>
                      <a:rPr lang="en-US"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𝑆</m:t>
                        </m:r>
                      </m:e>
                      <m:sub>
                        <m:r>
                          <a:rPr lang="en-US" i="1" dirty="0">
                            <a:solidFill>
                              <a:schemeClr val="tx1"/>
                            </a:solidFill>
                            <a:latin typeface="Cambria Math" panose="02040503050406030204" pitchFamily="18" charset="0"/>
                          </a:rPr>
                          <m:t>𝑅𝑒𝑓</m:t>
                        </m:r>
                      </m:sub>
                    </m:sSub>
                    <m:r>
                      <a:rPr lang="en-US" i="1" dirty="0">
                        <a:solidFill>
                          <a:schemeClr val="tx1"/>
                        </a:solidFill>
                        <a:latin typeface="Cambria Math" panose="02040503050406030204" pitchFamily="18" charset="0"/>
                      </a:rPr>
                      <m:t> </m:t>
                    </m:r>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𝑇</m:t>
                        </m:r>
                      </m:e>
                      <m:sub>
                        <m:r>
                          <a:rPr lang="en-US" i="1" dirty="0">
                            <a:solidFill>
                              <a:schemeClr val="tx1"/>
                            </a:solidFill>
                            <a:latin typeface="Cambria Math" panose="02040503050406030204" pitchFamily="18" charset="0"/>
                          </a:rPr>
                          <m:t>𝑆𝐿</m:t>
                        </m:r>
                      </m:sub>
                    </m:sSub>
                    <m:r>
                      <a:rPr lang="en-US"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𝑊</m:t>
                        </m:r>
                      </m:e>
                      <m:sub>
                        <m:r>
                          <a:rPr lang="en-US" i="1" dirty="0">
                            <a:solidFill>
                              <a:schemeClr val="tx1"/>
                            </a:solidFill>
                            <a:latin typeface="Cambria Math" panose="02040503050406030204" pitchFamily="18" charset="0"/>
                          </a:rPr>
                          <m:t>𝑇𝑂</m:t>
                        </m:r>
                      </m:sub>
                    </m:sSub>
                  </m:oMath>
                </a14:m>
                <a:r>
                  <a:rPr lang="en-US" dirty="0">
                    <a:solidFill>
                      <a:schemeClr val="tx1"/>
                    </a:solidFill>
                  </a:rPr>
                  <a:t> design space</a:t>
                </a:r>
              </a:p>
              <a:p>
                <a:pPr lvl="1"/>
                <a:endParaRPr lang="en-US" dirty="0">
                  <a:solidFill>
                    <a:schemeClr val="tx1"/>
                  </a:solidFill>
                </a:endParaRPr>
              </a:p>
              <a:p>
                <a:r>
                  <a:rPr lang="en-US" dirty="0">
                    <a:solidFill>
                      <a:schemeClr val="tx1"/>
                    </a:solidFill>
                  </a:rPr>
                  <a:t>Energy based formulation approach taken from </a:t>
                </a:r>
                <a:r>
                  <a:rPr lang="en-US" b="1" dirty="0">
                    <a:solidFill>
                      <a:schemeClr val="tx1"/>
                    </a:solidFill>
                  </a:rPr>
                  <a:t>Mattingly, J., D., Aircraft Engine Design</a:t>
                </a:r>
              </a:p>
              <a:p>
                <a:endParaRPr lang="en-US" dirty="0">
                  <a:solidFill>
                    <a:schemeClr val="tx1"/>
                  </a:solidFill>
                </a:endParaRPr>
              </a:p>
              <a:p>
                <a:r>
                  <a:rPr lang="en-US" dirty="0">
                    <a:solidFill>
                      <a:schemeClr val="tx1"/>
                    </a:solidFill>
                  </a:rPr>
                  <a:t>Can be configured to:</a:t>
                </a:r>
              </a:p>
              <a:p>
                <a:pPr lvl="3"/>
                <a:r>
                  <a:rPr lang="en-US" dirty="0">
                    <a:solidFill>
                      <a:schemeClr val="tx1"/>
                    </a:solidFill>
                  </a:rPr>
                  <a:t>Select the min </a:t>
                </a:r>
                <a14:m>
                  <m:oMath xmlns:m="http://schemas.openxmlformats.org/officeDocument/2006/math">
                    <m:sSub>
                      <m:sSubPr>
                        <m:ctrlPr>
                          <a:rPr lang="en-US" b="1" i="1" dirty="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𝑻</m:t>
                        </m:r>
                      </m:e>
                      <m:sub>
                        <m:r>
                          <a:rPr lang="en-US" b="1" i="1" dirty="0">
                            <a:solidFill>
                              <a:schemeClr val="tx1"/>
                            </a:solidFill>
                            <a:latin typeface="Cambria Math" panose="02040503050406030204" pitchFamily="18" charset="0"/>
                          </a:rPr>
                          <m:t>𝑺𝑳</m:t>
                        </m:r>
                      </m:sub>
                    </m:sSub>
                    <m:r>
                      <a:rPr lang="en-US" b="1" i="1" dirty="0">
                        <a:solidFill>
                          <a:schemeClr val="tx1"/>
                        </a:solidFill>
                        <a:latin typeface="Cambria Math" panose="02040503050406030204" pitchFamily="18" charset="0"/>
                      </a:rPr>
                      <m:t>/</m:t>
                    </m:r>
                    <m:sSub>
                      <m:sSubPr>
                        <m:ctrlPr>
                          <a:rPr lang="en-US" b="1" i="1" dirty="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𝑾</m:t>
                        </m:r>
                      </m:e>
                      <m:sub>
                        <m:r>
                          <a:rPr lang="en-US" b="1" i="1" dirty="0">
                            <a:solidFill>
                              <a:schemeClr val="tx1"/>
                            </a:solidFill>
                            <a:latin typeface="Cambria Math" panose="02040503050406030204" pitchFamily="18" charset="0"/>
                          </a:rPr>
                          <m:t>𝑻𝑶</m:t>
                        </m:r>
                      </m:sub>
                    </m:sSub>
                  </m:oMath>
                </a14:m>
                <a:r>
                  <a:rPr lang="en-US" dirty="0">
                    <a:solidFill>
                      <a:schemeClr val="tx1"/>
                    </a:solidFill>
                  </a:rPr>
                  <a:t> and corresponding </a:t>
                </a:r>
                <a14:m>
                  <m:oMath xmlns:m="http://schemas.openxmlformats.org/officeDocument/2006/math">
                    <m:sSub>
                      <m:sSubPr>
                        <m:ctrlPr>
                          <a:rPr lang="en-US" b="1" i="1" dirty="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𝑾</m:t>
                        </m:r>
                      </m:e>
                      <m:sub>
                        <m:r>
                          <a:rPr lang="en-US" b="1" i="1" dirty="0">
                            <a:solidFill>
                              <a:schemeClr val="tx1"/>
                            </a:solidFill>
                            <a:latin typeface="Cambria Math" panose="02040503050406030204" pitchFamily="18" charset="0"/>
                          </a:rPr>
                          <m:t>𝑻𝑶</m:t>
                        </m:r>
                      </m:sub>
                    </m:sSub>
                    <m:r>
                      <a:rPr lang="en-US" b="1" i="1" dirty="0">
                        <a:solidFill>
                          <a:schemeClr val="tx1"/>
                        </a:solidFill>
                        <a:latin typeface="Cambria Math" panose="02040503050406030204" pitchFamily="18" charset="0"/>
                      </a:rPr>
                      <m:t>/</m:t>
                    </m:r>
                    <m:sSub>
                      <m:sSubPr>
                        <m:ctrlPr>
                          <a:rPr lang="en-US" b="1" i="1" dirty="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𝑺</m:t>
                        </m:r>
                      </m:e>
                      <m:sub>
                        <m:r>
                          <a:rPr lang="en-US" b="1" i="1" dirty="0">
                            <a:solidFill>
                              <a:schemeClr val="tx1"/>
                            </a:solidFill>
                            <a:latin typeface="Cambria Math" panose="02040503050406030204" pitchFamily="18" charset="0"/>
                          </a:rPr>
                          <m:t>𝑹𝒆𝒇</m:t>
                        </m:r>
                      </m:sub>
                    </m:sSub>
                  </m:oMath>
                </a14:m>
                <a:endParaRPr lang="en-US" b="1" dirty="0">
                  <a:solidFill>
                    <a:schemeClr val="tx1"/>
                  </a:solidFill>
                </a:endParaRPr>
              </a:p>
              <a:p>
                <a:pPr lvl="3"/>
                <a:r>
                  <a:rPr lang="en-US" dirty="0">
                    <a:solidFill>
                      <a:schemeClr val="tx1"/>
                    </a:solidFill>
                  </a:rPr>
                  <a:t>Select the min </a:t>
                </a:r>
                <a14:m>
                  <m:oMath xmlns:m="http://schemas.openxmlformats.org/officeDocument/2006/math">
                    <m:sSub>
                      <m:sSubPr>
                        <m:ctrlPr>
                          <a:rPr lang="en-US" b="1" i="1" dirty="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𝑻</m:t>
                        </m:r>
                      </m:e>
                      <m:sub>
                        <m:r>
                          <a:rPr lang="en-US" b="1" i="1" dirty="0">
                            <a:solidFill>
                              <a:schemeClr val="tx1"/>
                            </a:solidFill>
                            <a:latin typeface="Cambria Math" panose="02040503050406030204" pitchFamily="18" charset="0"/>
                          </a:rPr>
                          <m:t>𝑺𝑳</m:t>
                        </m:r>
                      </m:sub>
                    </m:sSub>
                    <m:r>
                      <a:rPr lang="en-US" b="1" i="1" dirty="0">
                        <a:solidFill>
                          <a:schemeClr val="tx1"/>
                        </a:solidFill>
                        <a:latin typeface="Cambria Math" panose="02040503050406030204" pitchFamily="18" charset="0"/>
                      </a:rPr>
                      <m:t>/</m:t>
                    </m:r>
                    <m:sSub>
                      <m:sSubPr>
                        <m:ctrlPr>
                          <a:rPr lang="en-US" b="1" i="1" dirty="0">
                            <a:solidFill>
                              <a:schemeClr val="tx1"/>
                            </a:solidFill>
                            <a:latin typeface="Cambria Math" panose="02040503050406030204" pitchFamily="18" charset="0"/>
                          </a:rPr>
                        </m:ctrlPr>
                      </m:sSubPr>
                      <m:e>
                        <m:r>
                          <a:rPr lang="en-US" b="1" i="1" dirty="0">
                            <a:solidFill>
                              <a:schemeClr val="tx1"/>
                            </a:solidFill>
                            <a:latin typeface="Cambria Math" panose="02040503050406030204" pitchFamily="18" charset="0"/>
                          </a:rPr>
                          <m:t>𝑾</m:t>
                        </m:r>
                      </m:e>
                      <m:sub>
                        <m:r>
                          <a:rPr lang="en-US" b="1" i="1" dirty="0">
                            <a:solidFill>
                              <a:schemeClr val="tx1"/>
                            </a:solidFill>
                            <a:latin typeface="Cambria Math" panose="02040503050406030204" pitchFamily="18" charset="0"/>
                          </a:rPr>
                          <m:t>𝑻𝑶</m:t>
                        </m:r>
                      </m:sub>
                    </m:sSub>
                  </m:oMath>
                </a14:m>
                <a:r>
                  <a:rPr lang="en-US" b="1" dirty="0">
                    <a:solidFill>
                      <a:schemeClr val="tx1"/>
                    </a:solidFill>
                  </a:rPr>
                  <a:t> </a:t>
                </a:r>
                <a:r>
                  <a:rPr lang="en-US" dirty="0">
                    <a:solidFill>
                      <a:schemeClr val="tx1"/>
                    </a:solidFill>
                  </a:rPr>
                  <a:t>that is corresponding to a constant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𝑊</m:t>
                        </m:r>
                      </m:e>
                      <m:sub>
                        <m:r>
                          <a:rPr lang="en-US" b="0" i="1" dirty="0">
                            <a:solidFill>
                              <a:schemeClr val="tx1"/>
                            </a:solidFill>
                            <a:latin typeface="Cambria Math" panose="02040503050406030204" pitchFamily="18" charset="0"/>
                          </a:rPr>
                          <m:t>𝑇𝑂</m:t>
                        </m:r>
                      </m:sub>
                    </m:sSub>
                    <m:r>
                      <a:rPr lang="en-US" b="0"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𝑆</m:t>
                        </m:r>
                      </m:e>
                      <m:sub>
                        <m:r>
                          <a:rPr lang="en-US" b="0" i="1" dirty="0">
                            <a:solidFill>
                              <a:schemeClr val="tx1"/>
                            </a:solidFill>
                            <a:latin typeface="Cambria Math" panose="02040503050406030204" pitchFamily="18" charset="0"/>
                          </a:rPr>
                          <m:t>𝑅𝑒𝑓</m:t>
                        </m:r>
                      </m:sub>
                    </m:sSub>
                  </m:oMath>
                </a14:m>
                <a:endParaRPr lang="en-US" dirty="0">
                  <a:solidFill>
                    <a:schemeClr val="tx1"/>
                  </a:solidFill>
                </a:endParaRPr>
              </a:p>
              <a:p>
                <a:pPr lvl="3"/>
                <a:r>
                  <a:rPr lang="en-US" dirty="0">
                    <a:solidFill>
                      <a:schemeClr val="tx1"/>
                    </a:solidFill>
                  </a:rPr>
                  <a:t>Keep both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𝑊</m:t>
                        </m:r>
                      </m:e>
                      <m:sub>
                        <m:r>
                          <a:rPr lang="en-US" i="1" dirty="0">
                            <a:solidFill>
                              <a:schemeClr val="tx1"/>
                            </a:solidFill>
                            <a:latin typeface="Cambria Math" panose="02040503050406030204" pitchFamily="18" charset="0"/>
                          </a:rPr>
                          <m:t>𝑇𝑂</m:t>
                        </m:r>
                      </m:sub>
                    </m:sSub>
                    <m:r>
                      <a:rPr lang="en-US"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𝑆</m:t>
                        </m:r>
                      </m:e>
                      <m:sub>
                        <m:r>
                          <a:rPr lang="en-US" i="1" dirty="0">
                            <a:solidFill>
                              <a:schemeClr val="tx1"/>
                            </a:solidFill>
                            <a:latin typeface="Cambria Math" panose="02040503050406030204" pitchFamily="18" charset="0"/>
                          </a:rPr>
                          <m:t>𝑅𝑒𝑓</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𝑇</m:t>
                        </m:r>
                      </m:e>
                      <m:sub>
                        <m:r>
                          <a:rPr lang="en-US" i="1" dirty="0">
                            <a:solidFill>
                              <a:schemeClr val="tx1"/>
                            </a:solidFill>
                            <a:latin typeface="Cambria Math" panose="02040503050406030204" pitchFamily="18" charset="0"/>
                          </a:rPr>
                          <m:t>𝑆𝐿</m:t>
                        </m:r>
                      </m:sub>
                    </m:sSub>
                    <m:r>
                      <a:rPr lang="en-US"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r>
                          <a:rPr lang="en-US" i="1" dirty="0">
                            <a:solidFill>
                              <a:schemeClr val="tx1"/>
                            </a:solidFill>
                            <a:latin typeface="Cambria Math" panose="02040503050406030204" pitchFamily="18" charset="0"/>
                          </a:rPr>
                          <m:t>𝑊</m:t>
                        </m:r>
                      </m:e>
                      <m:sub>
                        <m:r>
                          <a:rPr lang="en-US" i="1" dirty="0">
                            <a:solidFill>
                              <a:schemeClr val="tx1"/>
                            </a:solidFill>
                            <a:latin typeface="Cambria Math" panose="02040503050406030204" pitchFamily="18" charset="0"/>
                          </a:rPr>
                          <m:t>𝑇𝑂</m:t>
                        </m:r>
                      </m:sub>
                    </m:sSub>
                  </m:oMath>
                </a14:m>
                <a:r>
                  <a:rPr lang="en-US" dirty="0">
                    <a:solidFill>
                      <a:schemeClr val="tx1"/>
                    </a:solidFill>
                  </a:rPr>
                  <a:t> constant and perform a </a:t>
                </a:r>
                <a:r>
                  <a:rPr lang="en-US" b="1" dirty="0">
                    <a:solidFill>
                      <a:schemeClr val="tx1"/>
                    </a:solidFill>
                  </a:rPr>
                  <a:t>requirement check</a:t>
                </a:r>
              </a:p>
              <a:p>
                <a:endParaRPr lang="en-US" dirty="0"/>
              </a:p>
            </p:txBody>
          </p:sp>
        </mc:Choice>
        <mc:Fallback xmlns="">
          <p:sp>
            <p:nvSpPr>
              <p:cNvPr id="32" name="Content Placeholder 1">
                <a:extLst>
                  <a:ext uri="{FF2B5EF4-FFF2-40B4-BE49-F238E27FC236}">
                    <a16:creationId xmlns:a16="http://schemas.microsoft.com/office/drawing/2014/main" id="{9381DA82-38E7-47EC-9686-5CFAE6972F44}"/>
                  </a:ext>
                </a:extLst>
              </p:cNvPr>
              <p:cNvSpPr>
                <a:spLocks noGrp="1" noRot="1" noChangeAspect="1" noMove="1" noResize="1" noEditPoints="1" noAdjustHandles="1" noChangeArrowheads="1" noChangeShapeType="1" noTextEdit="1"/>
              </p:cNvSpPr>
              <p:nvPr>
                <p:ph idx="1"/>
              </p:nvPr>
            </p:nvSpPr>
            <p:spPr>
              <a:xfrm>
                <a:off x="677337" y="1828800"/>
                <a:ext cx="6689952" cy="4343400"/>
              </a:xfrm>
              <a:blipFill>
                <a:blip r:embed="rId2"/>
                <a:stretch>
                  <a:fillRect l="-1821" t="-561" r="-2459"/>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2333BDD1-7575-4BE3-832B-7BB3211243F9}"/>
              </a:ext>
            </a:extLst>
          </p:cNvPr>
          <p:cNvGrpSpPr>
            <a:grpSpLocks noChangeAspect="1"/>
          </p:cNvGrpSpPr>
          <p:nvPr/>
        </p:nvGrpSpPr>
        <p:grpSpPr>
          <a:xfrm>
            <a:off x="7529435" y="2230269"/>
            <a:ext cx="4491113" cy="3540461"/>
            <a:chOff x="5753100" y="1307763"/>
            <a:chExt cx="5381623" cy="4242473"/>
          </a:xfrm>
        </p:grpSpPr>
        <p:sp>
          <p:nvSpPr>
            <p:cNvPr id="17" name="Rectangle: Rounded Corners 16">
              <a:extLst>
                <a:ext uri="{FF2B5EF4-FFF2-40B4-BE49-F238E27FC236}">
                  <a16:creationId xmlns:a16="http://schemas.microsoft.com/office/drawing/2014/main" id="{D09098A6-F43A-49CC-A6E1-BA7FE0C754B0}"/>
                </a:ext>
              </a:extLst>
            </p:cNvPr>
            <p:cNvSpPr/>
            <p:nvPr/>
          </p:nvSpPr>
          <p:spPr>
            <a:xfrm>
              <a:off x="5753101" y="1307763"/>
              <a:ext cx="5381622" cy="4242473"/>
            </a:xfrm>
            <a:prstGeom prst="roundRect">
              <a:avLst>
                <a:gd name="adj" fmla="val 385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8" name="Graphic 17">
              <a:extLst>
                <a:ext uri="{FF2B5EF4-FFF2-40B4-BE49-F238E27FC236}">
                  <a16:creationId xmlns:a16="http://schemas.microsoft.com/office/drawing/2014/main" id="{2020B208-2F38-4AA4-B1A9-2442AFB625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53100" y="1404000"/>
              <a:ext cx="5358531" cy="4018900"/>
            </a:xfrm>
            <a:prstGeom prst="rect">
              <a:avLst/>
            </a:prstGeom>
          </p:spPr>
        </p:pic>
      </p:grpSp>
    </p:spTree>
    <p:extLst>
      <p:ext uri="{BB962C8B-B14F-4D97-AF65-F5344CB8AC3E}">
        <p14:creationId xmlns:p14="http://schemas.microsoft.com/office/powerpoint/2010/main" val="233556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7" end="7"/>
                                            </p:txEl>
                                          </p:spTgt>
                                        </p:tgtEl>
                                        <p:attrNameLst>
                                          <p:attrName>style.visibility</p:attrName>
                                        </p:attrNameLst>
                                      </p:cBhvr>
                                      <p:to>
                                        <p:strVal val="visible"/>
                                      </p:to>
                                    </p:set>
                                    <p:animEffect transition="in" filter="fade">
                                      <p:cBhvr>
                                        <p:cTn id="7" dur="500"/>
                                        <p:tgtEl>
                                          <p:spTgt spid="32">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8" end="8"/>
                                            </p:txEl>
                                          </p:spTgt>
                                        </p:tgtEl>
                                        <p:attrNameLst>
                                          <p:attrName>style.visibility</p:attrName>
                                        </p:attrNameLst>
                                      </p:cBhvr>
                                      <p:to>
                                        <p:strVal val="visible"/>
                                      </p:to>
                                    </p:set>
                                    <p:animEffect transition="in" filter="fade">
                                      <p:cBhvr>
                                        <p:cTn id="12" dur="500"/>
                                        <p:tgtEl>
                                          <p:spTgt spid="32">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9" end="9"/>
                                            </p:txEl>
                                          </p:spTgt>
                                        </p:tgtEl>
                                        <p:attrNameLst>
                                          <p:attrName>style.visibility</p:attrName>
                                        </p:attrNameLst>
                                      </p:cBhvr>
                                      <p:to>
                                        <p:strVal val="visible"/>
                                      </p:to>
                                    </p:set>
                                    <p:animEffect transition="in" filter="fade">
                                      <p:cBhvr>
                                        <p:cTn id="17" dur="500"/>
                                        <p:tgtEl>
                                          <p:spTgt spid="3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Constraint Analysis</a:t>
            </a:r>
          </a:p>
        </p:txBody>
      </p:sp>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8" y="1828800"/>
            <a:ext cx="6013748" cy="4343400"/>
          </a:xfrm>
        </p:spPr>
        <p:txBody>
          <a:bodyPr/>
          <a:lstStyle/>
          <a:p>
            <a:pPr marL="0" indent="0">
              <a:buNone/>
            </a:pPr>
            <a:r>
              <a:rPr lang="en-US" dirty="0"/>
              <a:t>Energy Based Constraint Analysis</a:t>
            </a:r>
          </a:p>
          <a:p>
            <a:pPr marL="0" indent="0">
              <a:buNone/>
            </a:pPr>
            <a:endParaRPr lang="en-US" dirty="0"/>
          </a:p>
          <a:p>
            <a:r>
              <a:rPr lang="en-US" dirty="0">
                <a:solidFill>
                  <a:schemeClr val="tx1"/>
                </a:solidFill>
              </a:rPr>
              <a:t>Multiple cases can be evaluated using the functions provided in the constraint analysis module</a:t>
            </a:r>
          </a:p>
          <a:p>
            <a:endParaRPr lang="en-US" dirty="0"/>
          </a:p>
          <a:p>
            <a:r>
              <a:rPr lang="en-US" dirty="0"/>
              <a:t>The Constraint Analysis config file can be used to add additional point performance limitations to the ones coming from the TLARs</a:t>
            </a:r>
          </a:p>
          <a:p>
            <a:endParaRPr lang="en-US" dirty="0"/>
          </a:p>
          <a:p>
            <a:endParaRPr lang="en-US" dirty="0"/>
          </a:p>
        </p:txBody>
      </p:sp>
      <p:sp>
        <p:nvSpPr>
          <p:cNvPr id="8" name="Content Placeholder 1">
            <a:extLst>
              <a:ext uri="{FF2B5EF4-FFF2-40B4-BE49-F238E27FC236}">
                <a16:creationId xmlns:a16="http://schemas.microsoft.com/office/drawing/2014/main" id="{B37084BF-47C5-4ADF-9A4B-3BCA5C454366}"/>
              </a:ext>
            </a:extLst>
          </p:cNvPr>
          <p:cNvSpPr txBox="1">
            <a:spLocks/>
          </p:cNvSpPr>
          <p:nvPr/>
        </p:nvSpPr>
        <p:spPr bwMode="auto">
          <a:xfrm>
            <a:off x="7620000" y="1828800"/>
            <a:ext cx="3894669" cy="434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rtl="0" eaLnBrk="1" fontAlgn="base" hangingPunct="1">
              <a:lnSpc>
                <a:spcPct val="125000"/>
              </a:lnSpc>
              <a:spcBef>
                <a:spcPct val="0"/>
              </a:spcBef>
              <a:spcAft>
                <a:spcPct val="0"/>
              </a:spcAft>
              <a:buFont typeface="Wingdings" panose="05000000000000000000" pitchFamily="2" charset="2"/>
              <a:buChar char="§"/>
              <a:defRPr sz="1600" kern="1200">
                <a:solidFill>
                  <a:schemeClr val="tx1">
                    <a:lumMod val="50000"/>
                  </a:schemeClr>
                </a:solidFill>
                <a:latin typeface="+mn-lt"/>
                <a:ea typeface="+mn-ea"/>
                <a:cs typeface="+mn-cs"/>
              </a:defRPr>
            </a:lvl1pPr>
            <a:lvl2pPr marL="132160" indent="-132160" algn="l" rtl="0" eaLnBrk="1" fontAlgn="base" hangingPunct="1">
              <a:lnSpc>
                <a:spcPct val="125000"/>
              </a:lnSpc>
              <a:spcBef>
                <a:spcPct val="0"/>
              </a:spcBef>
              <a:spcAft>
                <a:spcPct val="0"/>
              </a:spcAft>
              <a:buFont typeface="Arial" charset="0"/>
              <a:buChar char="•"/>
              <a:defRPr sz="1600" kern="1200">
                <a:solidFill>
                  <a:schemeClr val="tx1">
                    <a:lumMod val="50000"/>
                  </a:schemeClr>
                </a:solidFill>
                <a:latin typeface="+mn-lt"/>
                <a:ea typeface="+mn-ea"/>
                <a:cs typeface="+mn-cs"/>
              </a:defRPr>
            </a:lvl2pPr>
            <a:lvl3pPr marL="270272" indent="-138113"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3pPr>
            <a:lvl4pPr marL="403622" indent="-133350"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4pPr>
            <a:lvl5pPr marL="535781" indent="-132160" algn="l" rtl="0" eaLnBrk="1" fontAlgn="base" hangingPunct="1">
              <a:lnSpc>
                <a:spcPct val="125000"/>
              </a:lnSpc>
              <a:spcBef>
                <a:spcPct val="0"/>
              </a:spcBef>
              <a:spcAft>
                <a:spcPct val="0"/>
              </a:spcAft>
              <a:buFont typeface="Symbol" pitchFamily="18" charset="2"/>
              <a:buChar char="-"/>
              <a:defRPr sz="1600" kern="1200">
                <a:solidFill>
                  <a:schemeClr val="tx1">
                    <a:lumMod val="50000"/>
                  </a:schemeClr>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defTabSz="914400">
              <a:buNone/>
            </a:pPr>
            <a:r>
              <a:rPr lang="en-US" dirty="0"/>
              <a:t>Possible Constraints</a:t>
            </a:r>
          </a:p>
          <a:p>
            <a:pPr defTabSz="914400"/>
            <a:r>
              <a:rPr lang="en-US" dirty="0"/>
              <a:t>Cruise Mach number</a:t>
            </a:r>
          </a:p>
          <a:p>
            <a:pPr defTabSz="914400"/>
            <a:r>
              <a:rPr lang="en-US" dirty="0"/>
              <a:t>Constant speed climb</a:t>
            </a:r>
          </a:p>
          <a:p>
            <a:pPr defTabSz="914400"/>
            <a:r>
              <a:rPr lang="en-US" dirty="0"/>
              <a:t>Constant altitude/speed turn</a:t>
            </a:r>
          </a:p>
          <a:p>
            <a:pPr defTabSz="914400"/>
            <a:r>
              <a:rPr lang="en-US" dirty="0"/>
              <a:t>Horizontal acceleration – dash</a:t>
            </a:r>
          </a:p>
          <a:p>
            <a:pPr defTabSz="914400"/>
            <a:r>
              <a:rPr lang="en-US" dirty="0"/>
              <a:t>Takeoff ground roll</a:t>
            </a:r>
          </a:p>
          <a:p>
            <a:pPr defTabSz="914400"/>
            <a:r>
              <a:rPr lang="en-US" dirty="0"/>
              <a:t>Braking roll</a:t>
            </a:r>
          </a:p>
          <a:p>
            <a:pPr defTabSz="914400"/>
            <a:r>
              <a:rPr lang="en-US" dirty="0"/>
              <a:t>Service ceiling – SEP</a:t>
            </a:r>
          </a:p>
          <a:p>
            <a:pPr defTabSz="914400"/>
            <a:r>
              <a:rPr lang="en-US" dirty="0"/>
              <a:t>Takeoff climb angle</a:t>
            </a:r>
          </a:p>
          <a:p>
            <a:pPr defTabSz="914400"/>
            <a:r>
              <a:rPr lang="en-US" dirty="0"/>
              <a:t>Gust</a:t>
            </a:r>
          </a:p>
          <a:p>
            <a:pPr defTabSz="914400"/>
            <a:endParaRPr lang="en-US" dirty="0"/>
          </a:p>
        </p:txBody>
      </p:sp>
    </p:spTree>
    <p:extLst>
      <p:ext uri="{BB962C8B-B14F-4D97-AF65-F5344CB8AC3E}">
        <p14:creationId xmlns:p14="http://schemas.microsoft.com/office/powerpoint/2010/main" val="16495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Constraint Analysis</a:t>
            </a:r>
          </a:p>
        </p:txBody>
      </p:sp>
      <p:sp>
        <p:nvSpPr>
          <p:cNvPr id="5" name="Rectangle 4">
            <a:extLst>
              <a:ext uri="{FF2B5EF4-FFF2-40B4-BE49-F238E27FC236}">
                <a16:creationId xmlns:a16="http://schemas.microsoft.com/office/drawing/2014/main" id="{7360AF34-8EB6-43BB-85A2-076A8AB50B37}"/>
              </a:ext>
            </a:extLst>
          </p:cNvPr>
          <p:cNvSpPr/>
          <p:nvPr/>
        </p:nvSpPr>
        <p:spPr>
          <a:xfrm>
            <a:off x="5195687" y="1524000"/>
            <a:ext cx="1800625"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Initialize</a:t>
            </a:r>
          </a:p>
        </p:txBody>
      </p:sp>
      <p:sp>
        <p:nvSpPr>
          <p:cNvPr id="19" name="Rectangle 18">
            <a:extLst>
              <a:ext uri="{FF2B5EF4-FFF2-40B4-BE49-F238E27FC236}">
                <a16:creationId xmlns:a16="http://schemas.microsoft.com/office/drawing/2014/main" id="{6C1EB526-D6EF-4A00-B803-01BFF530D4F6}"/>
              </a:ext>
            </a:extLst>
          </p:cNvPr>
          <p:cNvSpPr/>
          <p:nvPr/>
        </p:nvSpPr>
        <p:spPr>
          <a:xfrm>
            <a:off x="1809750" y="2154227"/>
            <a:ext cx="8562975" cy="1304365"/>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p>
            <a:r>
              <a:rPr lang="en-US" sz="1400" dirty="0"/>
              <a:t>For each case:</a:t>
            </a:r>
          </a:p>
        </p:txBody>
      </p:sp>
      <p:sp>
        <p:nvSpPr>
          <p:cNvPr id="20" name="Rectangle 19">
            <a:extLst>
              <a:ext uri="{FF2B5EF4-FFF2-40B4-BE49-F238E27FC236}">
                <a16:creationId xmlns:a16="http://schemas.microsoft.com/office/drawing/2014/main" id="{8DD80F44-C405-4B5B-81A7-CB5F969DE89A}"/>
              </a:ext>
            </a:extLst>
          </p:cNvPr>
          <p:cNvSpPr/>
          <p:nvPr/>
        </p:nvSpPr>
        <p:spPr>
          <a:xfrm>
            <a:off x="2196872" y="2577810"/>
            <a:ext cx="914400"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Read polar</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E409073-A795-48D9-9128-C83065E6E154}"/>
                  </a:ext>
                </a:extLst>
              </p:cNvPr>
              <p:cNvSpPr/>
              <p:nvPr/>
            </p:nvSpPr>
            <p:spPr>
              <a:xfrm>
                <a:off x="4100512" y="2394189"/>
                <a:ext cx="2103143" cy="824441"/>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𝐶</m:t>
                          </m:r>
                        </m:e>
                        <m:sub>
                          <m:r>
                            <a:rPr lang="en-US" sz="1400" i="1">
                              <a:latin typeface="Cambria Math" panose="02040503050406030204" pitchFamily="18" charset="0"/>
                            </a:rPr>
                            <m:t>𝐿</m:t>
                          </m:r>
                        </m:sub>
                      </m:sSub>
                      <m:r>
                        <a:rPr lang="en-US" sz="1400" i="1">
                          <a:latin typeface="Cambria Math" panose="02040503050406030204" pitchFamily="18" charset="0"/>
                        </a:rPr>
                        <m:t>=</m:t>
                      </m:r>
                      <m:f>
                        <m:fPr>
                          <m:ctrlPr>
                            <a:rPr lang="en-US" sz="1400" i="1">
                              <a:latin typeface="Cambria Math" panose="02040503050406030204" pitchFamily="18" charset="0"/>
                            </a:rPr>
                          </m:ctrlPr>
                        </m:fPr>
                        <m:num>
                          <m:r>
                            <m:rPr>
                              <m:sty m:val="p"/>
                            </m:rPr>
                            <a:rPr lang="en-US" sz="1400">
                              <a:latin typeface="Cambria Math" panose="02040503050406030204" pitchFamily="18" charset="0"/>
                              <a:ea typeface="MS Mincho" panose="02020609040205080304" pitchFamily="49" charset="-128"/>
                              <a:cs typeface="Times New Roman" panose="02020603050405020304" pitchFamily="18" charset="0"/>
                            </a:rPr>
                            <m:t>β</m:t>
                          </m:r>
                          <m:r>
                            <a:rPr lang="en-US" sz="1400">
                              <a:latin typeface="Cambria Math" panose="02040503050406030204" pitchFamily="18" charset="0"/>
                              <a:ea typeface="MS Mincho" panose="02020609040205080304" pitchFamily="49" charset="-128"/>
                              <a:cs typeface="Times New Roman" panose="02020603050405020304" pitchFamily="18" charset="0"/>
                            </a:rPr>
                            <m:t>⋅</m:t>
                          </m:r>
                          <m:r>
                            <a:rPr lang="en-US" sz="1400" i="1">
                              <a:latin typeface="Cambria Math" panose="02040503050406030204" pitchFamily="18" charset="0"/>
                              <a:ea typeface="MS Mincho" panose="02020609040205080304" pitchFamily="49" charset="-128"/>
                              <a:cs typeface="Times New Roman" panose="02020603050405020304" pitchFamily="18" charset="0"/>
                            </a:rPr>
                            <m:t>𝑛</m:t>
                          </m:r>
                        </m:num>
                        <m:den>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2</m:t>
                              </m:r>
                            </m:den>
                          </m:f>
                          <m:r>
                            <a:rPr lang="en-US" sz="1400">
                              <a:latin typeface="Cambria Math" panose="02040503050406030204" pitchFamily="18" charset="0"/>
                            </a:rPr>
                            <m:t>⋅</m:t>
                          </m:r>
                          <m:r>
                            <m:rPr>
                              <m:sty m:val="p"/>
                            </m:rPr>
                            <a:rPr lang="en-US" sz="1400">
                              <a:latin typeface="Cambria Math" panose="02040503050406030204" pitchFamily="18" charset="0"/>
                            </a:rPr>
                            <m:t>ρ</m:t>
                          </m:r>
                          <m:r>
                            <a:rPr lang="en-US" sz="1400">
                              <a:latin typeface="Cambria Math" panose="02040503050406030204" pitchFamily="18" charset="0"/>
                            </a:rPr>
                            <m:t>⋅</m:t>
                          </m:r>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𝑀</m:t>
                                  </m:r>
                                  <m:r>
                                    <a:rPr lang="en-US" sz="1400">
                                      <a:latin typeface="Cambria Math" panose="02040503050406030204" pitchFamily="18" charset="0"/>
                                    </a:rPr>
                                    <m:t>⋅</m:t>
                                  </m:r>
                                  <m:r>
                                    <a:rPr lang="en-US" sz="1400" i="1">
                                      <a:latin typeface="Cambria Math" panose="02040503050406030204" pitchFamily="18" charset="0"/>
                                    </a:rPr>
                                    <m:t>𝑎</m:t>
                                  </m:r>
                                </m:e>
                              </m:d>
                            </m:e>
                            <m:sup>
                              <m:r>
                                <a:rPr lang="en-US" sz="1400" i="1">
                                  <a:latin typeface="Cambria Math" panose="02040503050406030204" pitchFamily="18" charset="0"/>
                                </a:rPr>
                                <m:t>2</m:t>
                              </m:r>
                            </m:sup>
                          </m:sSup>
                        </m:den>
                      </m:f>
                      <m:r>
                        <a:rPr lang="en-US" sz="1400">
                          <a:latin typeface="Cambria Math" panose="02040503050406030204" pitchFamily="18" charset="0"/>
                        </a:rPr>
                        <m:t>⋅</m:t>
                      </m:r>
                      <m:f>
                        <m:fPr>
                          <m:ctrlPr>
                            <a:rPr lang="en-US" sz="1400" i="1" dirty="0">
                              <a:latin typeface="Cambria Math" panose="02040503050406030204" pitchFamily="18" charset="0"/>
                            </a:rPr>
                          </m:ctrlPr>
                        </m:fPr>
                        <m:num>
                          <m:sSub>
                            <m:sSubPr>
                              <m:ctrlPr>
                                <a:rPr lang="en-US" sz="1400" i="1" dirty="0">
                                  <a:latin typeface="Cambria Math" panose="02040503050406030204" pitchFamily="18" charset="0"/>
                                </a:rPr>
                              </m:ctrlPr>
                            </m:sSubPr>
                            <m:e>
                              <m:r>
                                <a:rPr lang="en-US" sz="1400" i="1" dirty="0">
                                  <a:latin typeface="Cambria Math" panose="02040503050406030204" pitchFamily="18" charset="0"/>
                                </a:rPr>
                                <m:t>𝑊</m:t>
                              </m:r>
                            </m:e>
                            <m:sub>
                              <m:r>
                                <a:rPr lang="en-US" sz="1400" i="1" dirty="0">
                                  <a:latin typeface="Cambria Math" panose="02040503050406030204" pitchFamily="18" charset="0"/>
                                </a:rPr>
                                <m:t>𝑇𝑂</m:t>
                              </m:r>
                            </m:sub>
                          </m:sSub>
                        </m:num>
                        <m:den>
                          <m:sSub>
                            <m:sSubPr>
                              <m:ctrlPr>
                                <a:rPr lang="en-US" sz="1400" i="1" dirty="0">
                                  <a:latin typeface="Cambria Math" panose="02040503050406030204" pitchFamily="18" charset="0"/>
                                </a:rPr>
                              </m:ctrlPr>
                            </m:sSubPr>
                            <m:e>
                              <m:r>
                                <a:rPr lang="en-US" sz="1400" i="1" dirty="0">
                                  <a:latin typeface="Cambria Math" panose="02040503050406030204" pitchFamily="18" charset="0"/>
                                </a:rPr>
                                <m:t>𝑆</m:t>
                              </m:r>
                            </m:e>
                            <m:sub>
                              <m:r>
                                <a:rPr lang="en-US" sz="1400" i="1" dirty="0">
                                  <a:latin typeface="Cambria Math" panose="02040503050406030204" pitchFamily="18" charset="0"/>
                                </a:rPr>
                                <m:t>𝑅𝑒𝑓</m:t>
                              </m:r>
                            </m:sub>
                          </m:sSub>
                        </m:den>
                      </m:f>
                    </m:oMath>
                  </m:oMathPara>
                </a14:m>
                <a:endParaRPr lang="en-US" sz="1400" dirty="0"/>
              </a:p>
            </p:txBody>
          </p:sp>
        </mc:Choice>
        <mc:Fallback xmlns="">
          <p:sp>
            <p:nvSpPr>
              <p:cNvPr id="21" name="Rectangle 20">
                <a:extLst>
                  <a:ext uri="{FF2B5EF4-FFF2-40B4-BE49-F238E27FC236}">
                    <a16:creationId xmlns:a16="http://schemas.microsoft.com/office/drawing/2014/main" id="{AE409073-A795-48D9-9128-C83065E6E154}"/>
                  </a:ext>
                </a:extLst>
              </p:cNvPr>
              <p:cNvSpPr>
                <a:spLocks noRot="1" noChangeAspect="1" noMove="1" noResize="1" noEditPoints="1" noAdjustHandles="1" noChangeArrowheads="1" noChangeShapeType="1" noTextEdit="1"/>
              </p:cNvSpPr>
              <p:nvPr/>
            </p:nvSpPr>
            <p:spPr>
              <a:xfrm>
                <a:off x="4100512" y="2394189"/>
                <a:ext cx="2103143" cy="824441"/>
              </a:xfrm>
              <a:prstGeom prst="rect">
                <a:avLst/>
              </a:prstGeom>
              <a:blipFill>
                <a:blip r:embed="rId2"/>
                <a:stretch>
                  <a:fillRect b="-3571"/>
                </a:stretch>
              </a:blipFill>
              <a:ln w="28575">
                <a:solidFill>
                  <a:schemeClr val="tx1"/>
                </a:solidFill>
              </a:ln>
            </p:spPr>
            <p:txBody>
              <a:bodyPr/>
              <a:lstStyle/>
              <a:p>
                <a:r>
                  <a:rPr lang="en-US">
                    <a:noFill/>
                  </a:rPr>
                  <a:t> </a:t>
                </a:r>
              </a:p>
            </p:txBody>
          </p:sp>
        </mc:Fallback>
      </mc:AlternateContent>
      <p:sp>
        <p:nvSpPr>
          <p:cNvPr id="22" name="Rectangle 21">
            <a:extLst>
              <a:ext uri="{FF2B5EF4-FFF2-40B4-BE49-F238E27FC236}">
                <a16:creationId xmlns:a16="http://schemas.microsoft.com/office/drawing/2014/main" id="{705D8E06-CB31-4FC4-A9DD-6C9D1DA1D8FD}"/>
              </a:ext>
            </a:extLst>
          </p:cNvPr>
          <p:cNvSpPr/>
          <p:nvPr/>
        </p:nvSpPr>
        <p:spPr>
          <a:xfrm>
            <a:off x="7055542" y="2577810"/>
            <a:ext cx="914400"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Get CD</a:t>
            </a:r>
          </a:p>
        </p:txBody>
      </p:sp>
      <p:sp>
        <p:nvSpPr>
          <p:cNvPr id="23" name="Rectangle 22">
            <a:extLst>
              <a:ext uri="{FF2B5EF4-FFF2-40B4-BE49-F238E27FC236}">
                <a16:creationId xmlns:a16="http://schemas.microsoft.com/office/drawing/2014/main" id="{2CEE7A8D-52C2-4384-8B54-097E85AC6E93}"/>
              </a:ext>
            </a:extLst>
          </p:cNvPr>
          <p:cNvSpPr/>
          <p:nvPr/>
        </p:nvSpPr>
        <p:spPr>
          <a:xfrm>
            <a:off x="8555129" y="2577810"/>
            <a:ext cx="1043710"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Evaluate constraint</a:t>
            </a:r>
          </a:p>
        </p:txBody>
      </p:sp>
      <p:sp>
        <p:nvSpPr>
          <p:cNvPr id="7" name="Rectangle 6">
            <a:extLst>
              <a:ext uri="{FF2B5EF4-FFF2-40B4-BE49-F238E27FC236}">
                <a16:creationId xmlns:a16="http://schemas.microsoft.com/office/drawing/2014/main" id="{FF803C56-45FD-4946-B476-9F49C7881534}"/>
              </a:ext>
            </a:extLst>
          </p:cNvPr>
          <p:cNvSpPr/>
          <p:nvPr/>
        </p:nvSpPr>
        <p:spPr>
          <a:xfrm>
            <a:off x="4953001" y="3649880"/>
            <a:ext cx="2266949"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Find Dominant Curve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3331D0D-80E6-48F9-84C8-5F2C100C3E29}"/>
                  </a:ext>
                </a:extLst>
              </p:cNvPr>
              <p:cNvSpPr/>
              <p:nvPr/>
            </p:nvSpPr>
            <p:spPr>
              <a:xfrm>
                <a:off x="4953001" y="4298368"/>
                <a:ext cx="2266950"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Find minimum </a:t>
                </a:r>
                <a14:m>
                  <m:oMath xmlns:m="http://schemas.openxmlformats.org/officeDocument/2006/math">
                    <m:f>
                      <m:fPr>
                        <m:ctrlPr>
                          <a:rPr lang="en-US" sz="1400" i="1" dirty="0">
                            <a:latin typeface="Cambria Math" panose="02040503050406030204" pitchFamily="18" charset="0"/>
                          </a:rPr>
                        </m:ctrlPr>
                      </m:fPr>
                      <m:num>
                        <m:sSub>
                          <m:sSubPr>
                            <m:ctrlPr>
                              <a:rPr lang="en-US" sz="1400" i="1" dirty="0">
                                <a:latin typeface="Cambria Math" panose="02040503050406030204" pitchFamily="18" charset="0"/>
                              </a:rPr>
                            </m:ctrlPr>
                          </m:sSubPr>
                          <m:e>
                            <m:r>
                              <a:rPr lang="en-US" sz="1400" i="1" dirty="0">
                                <a:latin typeface="Cambria Math" panose="02040503050406030204" pitchFamily="18" charset="0"/>
                              </a:rPr>
                              <m:t>𝑇</m:t>
                            </m:r>
                          </m:e>
                          <m:sub>
                            <m:r>
                              <a:rPr lang="en-US" sz="1400" i="1" dirty="0">
                                <a:latin typeface="Cambria Math" panose="02040503050406030204" pitchFamily="18" charset="0"/>
                              </a:rPr>
                              <m:t>𝑆𝐿</m:t>
                            </m:r>
                          </m:sub>
                        </m:sSub>
                      </m:num>
                      <m:den>
                        <m:sSub>
                          <m:sSubPr>
                            <m:ctrlPr>
                              <a:rPr lang="en-US" sz="1400" i="1" dirty="0">
                                <a:latin typeface="Cambria Math" panose="02040503050406030204" pitchFamily="18" charset="0"/>
                              </a:rPr>
                            </m:ctrlPr>
                          </m:sSubPr>
                          <m:e>
                            <m:r>
                              <a:rPr lang="en-US" sz="1400" i="1" dirty="0">
                                <a:latin typeface="Cambria Math" panose="02040503050406030204" pitchFamily="18" charset="0"/>
                              </a:rPr>
                              <m:t>𝑊</m:t>
                            </m:r>
                          </m:e>
                          <m:sub>
                            <m:r>
                              <a:rPr lang="en-US" sz="1400" i="1" dirty="0">
                                <a:latin typeface="Cambria Math" panose="02040503050406030204" pitchFamily="18" charset="0"/>
                              </a:rPr>
                              <m:t>𝑇𝑂</m:t>
                            </m:r>
                          </m:sub>
                        </m:sSub>
                      </m:den>
                    </m:f>
                  </m:oMath>
                </a14:m>
                <a:endParaRPr lang="en-US" sz="1400" dirty="0"/>
              </a:p>
            </p:txBody>
          </p:sp>
        </mc:Choice>
        <mc:Fallback xmlns="">
          <p:sp>
            <p:nvSpPr>
              <p:cNvPr id="8" name="Rectangle 7">
                <a:extLst>
                  <a:ext uri="{FF2B5EF4-FFF2-40B4-BE49-F238E27FC236}">
                    <a16:creationId xmlns:a16="http://schemas.microsoft.com/office/drawing/2014/main" id="{63331D0D-80E6-48F9-84C8-5F2C100C3E29}"/>
                  </a:ext>
                </a:extLst>
              </p:cNvPr>
              <p:cNvSpPr>
                <a:spLocks noRot="1" noChangeAspect="1" noMove="1" noResize="1" noEditPoints="1" noAdjustHandles="1" noChangeArrowheads="1" noChangeShapeType="1" noTextEdit="1"/>
              </p:cNvSpPr>
              <p:nvPr/>
            </p:nvSpPr>
            <p:spPr>
              <a:xfrm>
                <a:off x="4953001" y="4298368"/>
                <a:ext cx="2266950" cy="457200"/>
              </a:xfrm>
              <a:prstGeom prst="rect">
                <a:avLst/>
              </a:prstGeom>
              <a:blipFill>
                <a:blip r:embed="rId3"/>
                <a:stretch>
                  <a:fillRect/>
                </a:stretch>
              </a:blipFill>
              <a:ln w="2857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D89A4CC-47E9-4AB7-B5C2-F4F003DBD57D}"/>
                  </a:ext>
                </a:extLst>
              </p:cNvPr>
              <p:cNvSpPr/>
              <p:nvPr/>
            </p:nvSpPr>
            <p:spPr>
              <a:xfrm>
                <a:off x="4953001" y="4976155"/>
                <a:ext cx="2266949"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Find corresponding </a:t>
                </a:r>
                <a14:m>
                  <m:oMath xmlns:m="http://schemas.openxmlformats.org/officeDocument/2006/math">
                    <m:f>
                      <m:fPr>
                        <m:ctrlPr>
                          <a:rPr lang="en-US" sz="1400" i="1" dirty="0">
                            <a:latin typeface="Cambria Math" panose="02040503050406030204" pitchFamily="18" charset="0"/>
                          </a:rPr>
                        </m:ctrlPr>
                      </m:fPr>
                      <m:num>
                        <m:sSub>
                          <m:sSubPr>
                            <m:ctrlPr>
                              <a:rPr lang="en-US" sz="1400" i="1" dirty="0">
                                <a:latin typeface="Cambria Math" panose="02040503050406030204" pitchFamily="18" charset="0"/>
                              </a:rPr>
                            </m:ctrlPr>
                          </m:sSubPr>
                          <m:e>
                            <m:r>
                              <a:rPr lang="en-US" sz="1400" i="1" dirty="0">
                                <a:latin typeface="Cambria Math" panose="02040503050406030204" pitchFamily="18" charset="0"/>
                              </a:rPr>
                              <m:t>𝑊</m:t>
                            </m:r>
                          </m:e>
                          <m:sub>
                            <m:r>
                              <a:rPr lang="en-US" sz="1400" i="1" dirty="0">
                                <a:latin typeface="Cambria Math" panose="02040503050406030204" pitchFamily="18" charset="0"/>
                              </a:rPr>
                              <m:t>𝑇𝑂</m:t>
                            </m:r>
                          </m:sub>
                        </m:sSub>
                      </m:num>
                      <m:den>
                        <m:sSub>
                          <m:sSubPr>
                            <m:ctrlPr>
                              <a:rPr lang="en-US" sz="1400" i="1" dirty="0">
                                <a:latin typeface="Cambria Math" panose="02040503050406030204" pitchFamily="18" charset="0"/>
                              </a:rPr>
                            </m:ctrlPr>
                          </m:sSubPr>
                          <m:e>
                            <m:r>
                              <a:rPr lang="en-US" sz="1400" i="1" dirty="0">
                                <a:latin typeface="Cambria Math" panose="02040503050406030204" pitchFamily="18" charset="0"/>
                              </a:rPr>
                              <m:t>𝑆</m:t>
                            </m:r>
                          </m:e>
                          <m:sub>
                            <m:r>
                              <a:rPr lang="en-US" sz="1400" i="1" dirty="0">
                                <a:latin typeface="Cambria Math" panose="02040503050406030204" pitchFamily="18" charset="0"/>
                              </a:rPr>
                              <m:t>𝑅𝑒𝑓</m:t>
                            </m:r>
                          </m:sub>
                        </m:sSub>
                      </m:den>
                    </m:f>
                  </m:oMath>
                </a14:m>
                <a:endParaRPr lang="en-US" sz="1400" dirty="0"/>
              </a:p>
            </p:txBody>
          </p:sp>
        </mc:Choice>
        <mc:Fallback xmlns="">
          <p:sp>
            <p:nvSpPr>
              <p:cNvPr id="9" name="Rectangle 8">
                <a:extLst>
                  <a:ext uri="{FF2B5EF4-FFF2-40B4-BE49-F238E27FC236}">
                    <a16:creationId xmlns:a16="http://schemas.microsoft.com/office/drawing/2014/main" id="{1D89A4CC-47E9-4AB7-B5C2-F4F003DBD57D}"/>
                  </a:ext>
                </a:extLst>
              </p:cNvPr>
              <p:cNvSpPr>
                <a:spLocks noRot="1" noChangeAspect="1" noMove="1" noResize="1" noEditPoints="1" noAdjustHandles="1" noChangeArrowheads="1" noChangeShapeType="1" noTextEdit="1"/>
              </p:cNvSpPr>
              <p:nvPr/>
            </p:nvSpPr>
            <p:spPr>
              <a:xfrm>
                <a:off x="4953001" y="4976155"/>
                <a:ext cx="2266949" cy="457200"/>
              </a:xfrm>
              <a:prstGeom prst="rect">
                <a:avLst/>
              </a:prstGeom>
              <a:blipFill>
                <a:blip r:embed="rId4"/>
                <a:stretch>
                  <a:fillRect/>
                </a:stretch>
              </a:blipFill>
              <a:ln w="28575">
                <a:solidFill>
                  <a:schemeClr val="tx1"/>
                </a:solidFill>
              </a:ln>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EDB49134-EAC0-4C37-9BE7-E64656D9B414}"/>
              </a:ext>
            </a:extLst>
          </p:cNvPr>
          <p:cNvCxnSpPr>
            <a:cxnSpLocks/>
            <a:stCxn id="5" idx="2"/>
            <a:endCxn id="19" idx="0"/>
          </p:cNvCxnSpPr>
          <p:nvPr/>
        </p:nvCxnSpPr>
        <p:spPr>
          <a:xfrm flipH="1">
            <a:off x="6091238" y="1981200"/>
            <a:ext cx="4762" cy="1730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35A7BB8-D275-4920-95A7-3B512F9E4B1E}"/>
              </a:ext>
            </a:extLst>
          </p:cNvPr>
          <p:cNvCxnSpPr>
            <a:cxnSpLocks/>
            <a:stCxn id="20" idx="3"/>
            <a:endCxn id="21" idx="1"/>
          </p:cNvCxnSpPr>
          <p:nvPr/>
        </p:nvCxnSpPr>
        <p:spPr>
          <a:xfrm>
            <a:off x="3111272" y="2806410"/>
            <a:ext cx="98924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5B73935-DCB6-4147-BEDB-FC526D351486}"/>
              </a:ext>
            </a:extLst>
          </p:cNvPr>
          <p:cNvCxnSpPr>
            <a:cxnSpLocks/>
            <a:stCxn id="21" idx="3"/>
            <a:endCxn id="22" idx="1"/>
          </p:cNvCxnSpPr>
          <p:nvPr/>
        </p:nvCxnSpPr>
        <p:spPr>
          <a:xfrm>
            <a:off x="6203655" y="2806410"/>
            <a:ext cx="85188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3347115-DAFD-48A2-BEE4-A59402D2954A}"/>
              </a:ext>
            </a:extLst>
          </p:cNvPr>
          <p:cNvCxnSpPr>
            <a:stCxn id="22" idx="3"/>
            <a:endCxn id="23" idx="1"/>
          </p:cNvCxnSpPr>
          <p:nvPr/>
        </p:nvCxnSpPr>
        <p:spPr>
          <a:xfrm>
            <a:off x="7969942" y="2806410"/>
            <a:ext cx="58518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1081A74-56C9-49DC-8290-8EC939E61490}"/>
              </a:ext>
            </a:extLst>
          </p:cNvPr>
          <p:cNvCxnSpPr>
            <a:cxnSpLocks/>
            <a:stCxn id="19" idx="2"/>
            <a:endCxn id="7" idx="0"/>
          </p:cNvCxnSpPr>
          <p:nvPr/>
        </p:nvCxnSpPr>
        <p:spPr>
          <a:xfrm flipH="1">
            <a:off x="6086476" y="3458592"/>
            <a:ext cx="4762" cy="1912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6B7507F-5CD9-48A6-A62E-6EDC804557D8}"/>
              </a:ext>
            </a:extLst>
          </p:cNvPr>
          <p:cNvCxnSpPr>
            <a:cxnSpLocks/>
            <a:stCxn id="7" idx="2"/>
            <a:endCxn id="8" idx="0"/>
          </p:cNvCxnSpPr>
          <p:nvPr/>
        </p:nvCxnSpPr>
        <p:spPr>
          <a:xfrm>
            <a:off x="6086476" y="4107080"/>
            <a:ext cx="0" cy="1912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DAAE64D-8834-454D-9BFF-B1ABE1535C7B}"/>
              </a:ext>
            </a:extLst>
          </p:cNvPr>
          <p:cNvCxnSpPr>
            <a:cxnSpLocks/>
            <a:stCxn id="8" idx="2"/>
            <a:endCxn id="9" idx="0"/>
          </p:cNvCxnSpPr>
          <p:nvPr/>
        </p:nvCxnSpPr>
        <p:spPr>
          <a:xfrm>
            <a:off x="6086476" y="4755568"/>
            <a:ext cx="0" cy="22058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77BB581-53C9-49F5-93C0-86F7DD896721}"/>
              </a:ext>
            </a:extLst>
          </p:cNvPr>
          <p:cNvSpPr/>
          <p:nvPr/>
        </p:nvSpPr>
        <p:spPr>
          <a:xfrm>
            <a:off x="4953001" y="5634712"/>
            <a:ext cx="2266949" cy="4572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Update design point</a:t>
            </a:r>
          </a:p>
        </p:txBody>
      </p:sp>
      <p:cxnSp>
        <p:nvCxnSpPr>
          <p:cNvPr id="18" name="Straight Arrow Connector 17">
            <a:extLst>
              <a:ext uri="{FF2B5EF4-FFF2-40B4-BE49-F238E27FC236}">
                <a16:creationId xmlns:a16="http://schemas.microsoft.com/office/drawing/2014/main" id="{7861F191-0452-484F-A743-F8501D2CA56F}"/>
              </a:ext>
            </a:extLst>
          </p:cNvPr>
          <p:cNvCxnSpPr>
            <a:cxnSpLocks/>
            <a:stCxn id="9" idx="2"/>
            <a:endCxn id="17" idx="0"/>
          </p:cNvCxnSpPr>
          <p:nvPr/>
        </p:nvCxnSpPr>
        <p:spPr>
          <a:xfrm>
            <a:off x="6086476" y="5433355"/>
            <a:ext cx="0" cy="20135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28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500"/>
                                        <p:tgtEl>
                                          <p:spTgt spid="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9" grpId="0" animBg="1"/>
      <p:bldP spid="20" grpId="0" animBg="1"/>
      <p:bldP spid="21" grpId="0" animBg="1"/>
      <p:bldP spid="22" grpId="0" animBg="1"/>
      <p:bldP spid="23" grpId="0" animBg="1"/>
      <p:bldP spid="7" grpId="0" animBg="1"/>
      <p:bldP spid="8" grpId="0" animBg="1"/>
      <p:bldP spid="9"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Constraint Analysis</a:t>
            </a:r>
          </a:p>
        </p:txBody>
      </p:sp>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7" y="1828800"/>
            <a:ext cx="6297911" cy="4343400"/>
          </a:xfrm>
        </p:spPr>
        <p:txBody>
          <a:bodyPr/>
          <a:lstStyle/>
          <a:p>
            <a:pPr marL="0" indent="0">
              <a:buNone/>
            </a:pPr>
            <a:r>
              <a:rPr lang="en-US" b="1" dirty="0"/>
              <a:t>Challenge of Constraint Analysis and Convergence Loop</a:t>
            </a:r>
          </a:p>
          <a:p>
            <a:pPr marL="0" indent="0">
              <a:buNone/>
            </a:pPr>
            <a:endParaRPr lang="en-US" dirty="0"/>
          </a:p>
          <a:p>
            <a:r>
              <a:rPr lang="en-US" dirty="0">
                <a:solidFill>
                  <a:schemeClr val="tx1"/>
                </a:solidFill>
              </a:rPr>
              <a:t>The constraint analysis module (or constraint sizing module) selects a new design point based on the point performance requirements</a:t>
            </a:r>
          </a:p>
          <a:p>
            <a:endParaRPr lang="en-US" dirty="0">
              <a:solidFill>
                <a:schemeClr val="tx1"/>
              </a:solidFill>
            </a:endParaRPr>
          </a:p>
          <a:p>
            <a:r>
              <a:rPr lang="en-US" dirty="0">
                <a:solidFill>
                  <a:schemeClr val="tx1"/>
                </a:solidFill>
              </a:rPr>
              <a:t>If the selection method is not constructed carefully, it might result in oscillations in the design point</a:t>
            </a:r>
          </a:p>
          <a:p>
            <a:pPr lvl="3"/>
            <a:r>
              <a:rPr lang="en-US" dirty="0">
                <a:solidFill>
                  <a:schemeClr val="tx1"/>
                </a:solidFill>
              </a:rPr>
              <a:t>These oscillations can prevent convergence</a:t>
            </a:r>
          </a:p>
          <a:p>
            <a:endParaRPr lang="en-US" dirty="0">
              <a:solidFill>
                <a:schemeClr val="tx1"/>
              </a:solidFill>
            </a:endParaRPr>
          </a:p>
          <a:p>
            <a:r>
              <a:rPr lang="en-US" dirty="0">
                <a:solidFill>
                  <a:schemeClr val="tx1"/>
                </a:solidFill>
              </a:rPr>
              <a:t>If the design tools cannot handle movement within the design space, selecting a new design point can halt execution</a:t>
            </a:r>
          </a:p>
          <a:p>
            <a:pPr lvl="3"/>
            <a:r>
              <a:rPr lang="en-US" dirty="0">
                <a:solidFill>
                  <a:schemeClr val="tx1"/>
                </a:solidFill>
              </a:rPr>
              <a:t>But is this the fault of constraint analysis, or the design tools?</a:t>
            </a:r>
          </a:p>
        </p:txBody>
      </p:sp>
      <p:graphicFrame>
        <p:nvGraphicFramePr>
          <p:cNvPr id="7" name="Chart 6">
            <a:extLst>
              <a:ext uri="{FF2B5EF4-FFF2-40B4-BE49-F238E27FC236}">
                <a16:creationId xmlns:a16="http://schemas.microsoft.com/office/drawing/2014/main" id="{911650AB-66F6-46BA-BD09-AC0789D2D8E2}"/>
              </a:ext>
            </a:extLst>
          </p:cNvPr>
          <p:cNvGraphicFramePr>
            <a:graphicFrameLocks/>
          </p:cNvGraphicFramePr>
          <p:nvPr>
            <p:extLst>
              <p:ext uri="{D42A27DB-BD31-4B8C-83A1-F6EECF244321}">
                <p14:modId xmlns:p14="http://schemas.microsoft.com/office/powerpoint/2010/main" val="1589622473"/>
              </p:ext>
            </p:extLst>
          </p:nvPr>
        </p:nvGraphicFramePr>
        <p:xfrm>
          <a:off x="6975248" y="2200728"/>
          <a:ext cx="5057095" cy="35995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959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2" end="2"/>
                                            </p:txEl>
                                          </p:spTgt>
                                        </p:tgtEl>
                                        <p:attrNameLst>
                                          <p:attrName>style.visibility</p:attrName>
                                        </p:attrNameLst>
                                      </p:cBhvr>
                                      <p:to>
                                        <p:strVal val="visible"/>
                                      </p:to>
                                    </p:set>
                                    <p:animEffect transition="in" filter="fade">
                                      <p:cBhvr>
                                        <p:cTn id="7" dur="500"/>
                                        <p:tgtEl>
                                          <p:spTgt spid="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4" end="4"/>
                                            </p:txEl>
                                          </p:spTgt>
                                        </p:tgtEl>
                                        <p:attrNameLst>
                                          <p:attrName>style.visibility</p:attrName>
                                        </p:attrNameLst>
                                      </p:cBhvr>
                                      <p:to>
                                        <p:strVal val="visible"/>
                                      </p:to>
                                    </p:set>
                                    <p:animEffect transition="in" filter="fade">
                                      <p:cBhvr>
                                        <p:cTn id="12" dur="500"/>
                                        <p:tgtEl>
                                          <p:spTgt spid="32">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5" end="5"/>
                                            </p:txEl>
                                          </p:spTgt>
                                        </p:tgtEl>
                                        <p:attrNameLst>
                                          <p:attrName>style.visibility</p:attrName>
                                        </p:attrNameLst>
                                      </p:cBhvr>
                                      <p:to>
                                        <p:strVal val="visible"/>
                                      </p:to>
                                    </p:set>
                                    <p:animEffect transition="in" filter="fade">
                                      <p:cBhvr>
                                        <p:cTn id="15" dur="500"/>
                                        <p:tgtEl>
                                          <p:spTgt spid="32">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7" end="7"/>
                                            </p:txEl>
                                          </p:spTgt>
                                        </p:tgtEl>
                                        <p:attrNameLst>
                                          <p:attrName>style.visibility</p:attrName>
                                        </p:attrNameLst>
                                      </p:cBhvr>
                                      <p:to>
                                        <p:strVal val="visible"/>
                                      </p:to>
                                    </p:set>
                                    <p:animEffect transition="in" filter="fade">
                                      <p:cBhvr>
                                        <p:cTn id="20" dur="500"/>
                                        <p:tgtEl>
                                          <p:spTgt spid="32">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xEl>
                                              <p:pRg st="8" end="8"/>
                                            </p:txEl>
                                          </p:spTgt>
                                        </p:tgtEl>
                                        <p:attrNameLst>
                                          <p:attrName>style.visibility</p:attrName>
                                        </p:attrNameLst>
                                      </p:cBhvr>
                                      <p:to>
                                        <p:strVal val="visible"/>
                                      </p:to>
                                    </p:set>
                                    <p:animEffect transition="in" filter="fade">
                                      <p:cBhvr>
                                        <p:cTn id="25" dur="500"/>
                                        <p:tgtEl>
                                          <p:spTgt spid="3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2D02BF-D7AB-439A-960F-254D3FFA6B2B}"/>
              </a:ext>
            </a:extLst>
          </p:cNvPr>
          <p:cNvSpPr>
            <a:spLocks noGrp="1"/>
          </p:cNvSpPr>
          <p:nvPr>
            <p:ph type="title"/>
          </p:nvPr>
        </p:nvSpPr>
        <p:spPr>
          <a:xfrm>
            <a:off x="677336" y="914400"/>
            <a:ext cx="10837333" cy="609600"/>
          </a:xfrm>
        </p:spPr>
        <p:txBody>
          <a:bodyPr/>
          <a:lstStyle/>
          <a:p>
            <a:r>
              <a:rPr lang="en-US" dirty="0"/>
              <a:t>Convergence Loop</a:t>
            </a:r>
          </a:p>
        </p:txBody>
      </p:sp>
      <p:pic>
        <p:nvPicPr>
          <p:cNvPr id="4" name="Content Placeholder 4">
            <a:extLst>
              <a:ext uri="{FF2B5EF4-FFF2-40B4-BE49-F238E27FC236}">
                <a16:creationId xmlns:a16="http://schemas.microsoft.com/office/drawing/2014/main" id="{92CEB987-A5A9-4B88-B6E2-4C84CC9D38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677336" y="1568197"/>
            <a:ext cx="3048844" cy="4543043"/>
          </a:xfrm>
          <a:prstGeom prst="rect">
            <a:avLst/>
          </a:prstGeom>
          <a:noFill/>
          <a:ln w="9525">
            <a:noFill/>
            <a:miter lim="800000"/>
            <a:headEnd/>
            <a:tailEnd/>
          </a:ln>
        </p:spPr>
      </p:pic>
      <p:sp>
        <p:nvSpPr>
          <p:cNvPr id="6" name="Rectangle 5">
            <a:extLst>
              <a:ext uri="{FF2B5EF4-FFF2-40B4-BE49-F238E27FC236}">
                <a16:creationId xmlns:a16="http://schemas.microsoft.com/office/drawing/2014/main" id="{A1464DAD-1829-442C-8A3A-228660EE35FB}"/>
              </a:ext>
            </a:extLst>
          </p:cNvPr>
          <p:cNvSpPr/>
          <p:nvPr/>
        </p:nvSpPr>
        <p:spPr>
          <a:xfrm>
            <a:off x="5355836" y="4315309"/>
            <a:ext cx="1516068"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Aircraft Concept</a:t>
            </a:r>
          </a:p>
        </p:txBody>
      </p:sp>
      <p:grpSp>
        <p:nvGrpSpPr>
          <p:cNvPr id="7" name="Group 6">
            <a:extLst>
              <a:ext uri="{FF2B5EF4-FFF2-40B4-BE49-F238E27FC236}">
                <a16:creationId xmlns:a16="http://schemas.microsoft.com/office/drawing/2014/main" id="{AB68854D-3D47-4E22-A87D-D331C2C3918E}"/>
              </a:ext>
            </a:extLst>
          </p:cNvPr>
          <p:cNvGrpSpPr/>
          <p:nvPr/>
        </p:nvGrpSpPr>
        <p:grpSpPr>
          <a:xfrm>
            <a:off x="5355836" y="2144206"/>
            <a:ext cx="1585745" cy="2179382"/>
            <a:chOff x="497216" y="1905640"/>
            <a:chExt cx="1498387" cy="2059321"/>
          </a:xfrm>
        </p:grpSpPr>
        <p:sp>
          <p:nvSpPr>
            <p:cNvPr id="8" name="Cube 7">
              <a:extLst>
                <a:ext uri="{FF2B5EF4-FFF2-40B4-BE49-F238E27FC236}">
                  <a16:creationId xmlns:a16="http://schemas.microsoft.com/office/drawing/2014/main" id="{A8351BD0-82BB-4C2F-9F6A-881F079D3E8A}"/>
                </a:ext>
              </a:extLst>
            </p:cNvPr>
            <p:cNvSpPr/>
            <p:nvPr/>
          </p:nvSpPr>
          <p:spPr>
            <a:xfrm>
              <a:off x="497216" y="1905640"/>
              <a:ext cx="1498387" cy="2059321"/>
            </a:xfrm>
            <a:prstGeom prst="cube">
              <a:avLst>
                <a:gd name="adj" fmla="val 5775"/>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FE6C3806-A6B0-476F-922D-B81C67058DA2}"/>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10155" b="88742" l="10486" r="82609">
                          <a14:foregroundMark x1="70332" y1="12804" x2="70332" y2="12804"/>
                          <a14:foregroundMark x1="74169" y1="10155" x2="74169" y2="10155"/>
                          <a14:foregroundMark x1="79540" y1="65342" x2="79540" y2="65342"/>
                          <a14:foregroundMark x1="82609" y1="70640" x2="82609" y2="70640"/>
                          <a14:foregroundMark x1="13555" y1="76380" x2="13555" y2="76380"/>
                          <a14:foregroundMark x1="33504" y1="82561" x2="33504" y2="82561"/>
                          <a14:foregroundMark x1="36061" y1="85651" x2="36061" y2="85651"/>
                          <a14:foregroundMark x1="38875" y1="88742" x2="38875" y2="88742"/>
                          <a14:foregroundMark x1="10486" y1="34658" x2="10486" y2="34658"/>
                        </a14:backgroundRemoval>
                      </a14:imgEffect>
                      <a14:imgEffect>
                        <a14:sharpenSoften amount="-50000"/>
                      </a14:imgEffect>
                      <a14:imgEffect>
                        <a14:saturation sat="0"/>
                      </a14:imgEffect>
                      <a14:imgEffect>
                        <a14:brightnessContrast bright="20000" contrast="40000"/>
                      </a14:imgEffect>
                    </a14:imgLayer>
                  </a14:imgProps>
                </a:ext>
              </a:extLst>
            </a:blip>
            <a:srcRect l="6635" t="8194" r="12720" b="9700"/>
            <a:stretch/>
          </p:blipFill>
          <p:spPr>
            <a:xfrm>
              <a:off x="589310" y="2358254"/>
              <a:ext cx="1296199" cy="1528926"/>
            </a:xfrm>
            <a:prstGeom prst="rect">
              <a:avLst/>
            </a:prstGeom>
          </p:spPr>
        </p:pic>
      </p:grpSp>
      <p:sp>
        <p:nvSpPr>
          <p:cNvPr id="10" name="Rectangle 9">
            <a:extLst>
              <a:ext uri="{FF2B5EF4-FFF2-40B4-BE49-F238E27FC236}">
                <a16:creationId xmlns:a16="http://schemas.microsoft.com/office/drawing/2014/main" id="{04085EEE-9F9D-4BF8-9294-00DA6762667A}"/>
              </a:ext>
            </a:extLst>
          </p:cNvPr>
          <p:cNvSpPr/>
          <p:nvPr/>
        </p:nvSpPr>
        <p:spPr>
          <a:xfrm>
            <a:off x="5520974" y="2322322"/>
            <a:ext cx="1236420"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Component Design</a:t>
            </a:r>
          </a:p>
        </p:txBody>
      </p:sp>
      <p:sp>
        <p:nvSpPr>
          <p:cNvPr id="11" name="Arrow: Down 10">
            <a:extLst>
              <a:ext uri="{FF2B5EF4-FFF2-40B4-BE49-F238E27FC236}">
                <a16:creationId xmlns:a16="http://schemas.microsoft.com/office/drawing/2014/main" id="{82427DF4-AF99-45E1-B72B-39B278345A91}"/>
              </a:ext>
            </a:extLst>
          </p:cNvPr>
          <p:cNvSpPr/>
          <p:nvPr/>
        </p:nvSpPr>
        <p:spPr>
          <a:xfrm rot="16200000">
            <a:off x="4962075" y="3477490"/>
            <a:ext cx="376957" cy="209707"/>
          </a:xfrm>
          <a:prstGeom prst="downArrow">
            <a:avLst/>
          </a:prstGeom>
          <a:solidFill>
            <a:srgbClr val="0000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1582E3EB-3F1F-417C-900B-AE7603E28A67}"/>
              </a:ext>
            </a:extLst>
          </p:cNvPr>
          <p:cNvSpPr/>
          <p:nvPr/>
        </p:nvSpPr>
        <p:spPr>
          <a:xfrm rot="16200000">
            <a:off x="4962075" y="2739417"/>
            <a:ext cx="376957" cy="209707"/>
          </a:xfrm>
          <a:prstGeom prst="downArrow">
            <a:avLst/>
          </a:prstGeom>
          <a:solidFill>
            <a:srgbClr val="0000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8B8DD4-FBBF-4E15-A9F3-E397E9119287}"/>
              </a:ext>
            </a:extLst>
          </p:cNvPr>
          <p:cNvSpPr/>
          <p:nvPr/>
        </p:nvSpPr>
        <p:spPr>
          <a:xfrm>
            <a:off x="5359844" y="4976364"/>
            <a:ext cx="1508053" cy="487681"/>
          </a:xfrm>
          <a:prstGeom prst="rect">
            <a:avLst/>
          </a:prstGeom>
          <a:solidFill>
            <a:srgbClr val="0000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Weight and Balance Analysis</a:t>
            </a:r>
          </a:p>
        </p:txBody>
      </p:sp>
      <p:pic>
        <p:nvPicPr>
          <p:cNvPr id="14" name="Picture 13">
            <a:extLst>
              <a:ext uri="{FF2B5EF4-FFF2-40B4-BE49-F238E27FC236}">
                <a16:creationId xmlns:a16="http://schemas.microsoft.com/office/drawing/2014/main" id="{69A8058E-9D4A-4ACB-936C-8DB6BBEE74CA}"/>
              </a:ext>
            </a:extLst>
          </p:cNvPr>
          <p:cNvPicPr>
            <a:picLocks noChangeAspect="1"/>
          </p:cNvPicPr>
          <p:nvPr/>
        </p:nvPicPr>
        <p:blipFill rotWithShape="1">
          <a:blip r:embed="rId7"/>
          <a:srcRect l="4957" t="8739" r="4628" b="8371"/>
          <a:stretch/>
        </p:blipFill>
        <p:spPr>
          <a:xfrm>
            <a:off x="7223662" y="4933764"/>
            <a:ext cx="1090400" cy="575443"/>
          </a:xfrm>
          <a:prstGeom prst="rect">
            <a:avLst/>
          </a:prstGeom>
          <a:ln w="12700">
            <a:solidFill>
              <a:schemeClr val="tx1"/>
            </a:solidFill>
          </a:ln>
        </p:spPr>
      </p:pic>
      <p:cxnSp>
        <p:nvCxnSpPr>
          <p:cNvPr id="15" name="Straight Arrow Connector 14">
            <a:extLst>
              <a:ext uri="{FF2B5EF4-FFF2-40B4-BE49-F238E27FC236}">
                <a16:creationId xmlns:a16="http://schemas.microsoft.com/office/drawing/2014/main" id="{A7A19E32-E7FD-44D4-92A3-06DECA570A12}"/>
              </a:ext>
            </a:extLst>
          </p:cNvPr>
          <p:cNvCxnSpPr>
            <a:cxnSpLocks/>
            <a:stCxn id="13" idx="3"/>
            <a:endCxn id="14" idx="1"/>
          </p:cNvCxnSpPr>
          <p:nvPr/>
        </p:nvCxnSpPr>
        <p:spPr>
          <a:xfrm>
            <a:off x="6867897" y="5220205"/>
            <a:ext cx="355765" cy="128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E6A9E3-D626-448E-B28C-E4B9446DDAE3}"/>
              </a:ext>
            </a:extLst>
          </p:cNvPr>
          <p:cNvCxnSpPr>
            <a:cxnSpLocks/>
            <a:stCxn id="6" idx="2"/>
            <a:endCxn id="13" idx="0"/>
          </p:cNvCxnSpPr>
          <p:nvPr/>
        </p:nvCxnSpPr>
        <p:spPr>
          <a:xfrm>
            <a:off x="6113870" y="4616195"/>
            <a:ext cx="1" cy="3601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1E36F12F-34A6-4DE9-8A9F-F627D288FADD}"/>
              </a:ext>
            </a:extLst>
          </p:cNvPr>
          <p:cNvPicPr>
            <a:picLocks noChangeAspect="1"/>
          </p:cNvPicPr>
          <p:nvPr/>
        </p:nvPicPr>
        <p:blipFill rotWithShape="1">
          <a:blip r:embed="rId8"/>
          <a:srcRect l="10365" t="3183" r="4010" b="70802"/>
          <a:stretch/>
        </p:blipFill>
        <p:spPr>
          <a:xfrm>
            <a:off x="7223663" y="2693827"/>
            <a:ext cx="1053838" cy="410625"/>
          </a:xfrm>
          <a:prstGeom prst="rect">
            <a:avLst/>
          </a:prstGeom>
          <a:solidFill>
            <a:srgbClr val="00447E"/>
          </a:solidFill>
          <a:ln w="12700">
            <a:solidFill>
              <a:schemeClr val="tx1"/>
            </a:solidFill>
          </a:ln>
        </p:spPr>
      </p:pic>
      <p:pic>
        <p:nvPicPr>
          <p:cNvPr id="18" name="Picture 17">
            <a:extLst>
              <a:ext uri="{FF2B5EF4-FFF2-40B4-BE49-F238E27FC236}">
                <a16:creationId xmlns:a16="http://schemas.microsoft.com/office/drawing/2014/main" id="{16DA6284-BBEC-4BD1-95C2-D2398B0B3D32}"/>
              </a:ext>
            </a:extLst>
          </p:cNvPr>
          <p:cNvPicPr>
            <a:picLocks noChangeAspect="1"/>
          </p:cNvPicPr>
          <p:nvPr/>
        </p:nvPicPr>
        <p:blipFill rotWithShape="1">
          <a:blip r:embed="rId9"/>
          <a:srcRect l="6596" t="33475" r="4339" b="1831"/>
          <a:stretch/>
        </p:blipFill>
        <p:spPr>
          <a:xfrm>
            <a:off x="7223662" y="3609742"/>
            <a:ext cx="1057449" cy="1034789"/>
          </a:xfrm>
          <a:prstGeom prst="rect">
            <a:avLst/>
          </a:prstGeom>
          <a:ln w="12700">
            <a:solidFill>
              <a:schemeClr val="tx1"/>
            </a:solidFill>
          </a:ln>
        </p:spPr>
      </p:pic>
      <p:cxnSp>
        <p:nvCxnSpPr>
          <p:cNvPr id="19" name="Straight Arrow Connector 18">
            <a:extLst>
              <a:ext uri="{FF2B5EF4-FFF2-40B4-BE49-F238E27FC236}">
                <a16:creationId xmlns:a16="http://schemas.microsoft.com/office/drawing/2014/main" id="{82ACBAEB-A4E0-4080-8581-A28068E89788}"/>
              </a:ext>
            </a:extLst>
          </p:cNvPr>
          <p:cNvCxnSpPr>
            <a:cxnSpLocks/>
            <a:endCxn id="18" idx="1"/>
          </p:cNvCxnSpPr>
          <p:nvPr/>
        </p:nvCxnSpPr>
        <p:spPr>
          <a:xfrm>
            <a:off x="6945193" y="4126972"/>
            <a:ext cx="278469" cy="1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845B878-4E2E-4E2A-9A68-16BDEE30FDBA}"/>
              </a:ext>
            </a:extLst>
          </p:cNvPr>
          <p:cNvCxnSpPr>
            <a:cxnSpLocks/>
            <a:endCxn id="17" idx="1"/>
          </p:cNvCxnSpPr>
          <p:nvPr/>
        </p:nvCxnSpPr>
        <p:spPr>
          <a:xfrm>
            <a:off x="6941581" y="2899140"/>
            <a:ext cx="2820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0CD7B88E-07FC-40DB-A8BA-D22A812FA91E}"/>
              </a:ext>
            </a:extLst>
          </p:cNvPr>
          <p:cNvCxnSpPr>
            <a:cxnSpLocks/>
          </p:cNvCxnSpPr>
          <p:nvPr/>
        </p:nvCxnSpPr>
        <p:spPr>
          <a:xfrm flipV="1">
            <a:off x="8311133" y="4359461"/>
            <a:ext cx="422746" cy="822960"/>
          </a:xfrm>
          <a:prstGeom prst="bentConnector3">
            <a:avLst>
              <a:gd name="adj1" fmla="val 5901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BF5800D1-20F9-4F6F-A201-212A70448564}"/>
              </a:ext>
            </a:extLst>
          </p:cNvPr>
          <p:cNvCxnSpPr>
            <a:cxnSpLocks/>
            <a:stCxn id="26" idx="3"/>
            <a:endCxn id="27" idx="3"/>
          </p:cNvCxnSpPr>
          <p:nvPr/>
        </p:nvCxnSpPr>
        <p:spPr>
          <a:xfrm flipH="1">
            <a:off x="11387403" y="2587914"/>
            <a:ext cx="124177" cy="1459114"/>
          </a:xfrm>
          <a:prstGeom prst="bentConnector3">
            <a:avLst>
              <a:gd name="adj1" fmla="val -9895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BE3C50E-64CB-4A57-8A01-DF49E640DCFA}"/>
              </a:ext>
            </a:extLst>
          </p:cNvPr>
          <p:cNvCxnSpPr>
            <a:cxnSpLocks/>
          </p:cNvCxnSpPr>
          <p:nvPr/>
        </p:nvCxnSpPr>
        <p:spPr>
          <a:xfrm rot="5400000" flipH="1" flipV="1">
            <a:off x="8240176" y="2901670"/>
            <a:ext cx="822960" cy="195451"/>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F298609F-A88F-472F-BE8B-F40616830E7C}"/>
              </a:ext>
            </a:extLst>
          </p:cNvPr>
          <p:cNvCxnSpPr>
            <a:cxnSpLocks/>
          </p:cNvCxnSpPr>
          <p:nvPr/>
        </p:nvCxnSpPr>
        <p:spPr>
          <a:xfrm rot="16200000" flipH="1">
            <a:off x="8279609" y="3618955"/>
            <a:ext cx="731520" cy="18288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3C81701-7B63-448A-84FF-FEB737FDE38D}"/>
              </a:ext>
            </a:extLst>
          </p:cNvPr>
          <p:cNvCxnSpPr/>
          <p:nvPr/>
        </p:nvCxnSpPr>
        <p:spPr>
          <a:xfrm>
            <a:off x="8399988" y="3493508"/>
            <a:ext cx="153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 Placeholder 1">
                <a:extLst>
                  <a:ext uri="{FF2B5EF4-FFF2-40B4-BE49-F238E27FC236}">
                    <a16:creationId xmlns:a16="http://schemas.microsoft.com/office/drawing/2014/main" id="{E1CC9BCE-3D2B-4A08-B6A5-590B46BB8B5A}"/>
                  </a:ext>
                </a:extLst>
              </p:cNvPr>
              <p:cNvSpPr txBox="1">
                <a:spLocks/>
              </p:cNvSpPr>
              <p:nvPr/>
            </p:nvSpPr>
            <p:spPr>
              <a:xfrm>
                <a:off x="10771851" y="2382409"/>
                <a:ext cx="739729" cy="411010"/>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𝑇</m:t>
                          </m:r>
                        </m:e>
                        <m:sub>
                          <m:r>
                            <a:rPr lang="en-US" sz="1200" i="1" dirty="0">
                              <a:solidFill>
                                <a:schemeClr val="tx1"/>
                              </a:solidFill>
                              <a:latin typeface="Cambria Math" panose="02040503050406030204" pitchFamily="18" charset="0"/>
                            </a:rPr>
                            <m:t>𝑆𝐿</m:t>
                          </m:r>
                        </m:sub>
                      </m:sSub>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
                    </m:oMathParaPr>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𝑇𝑂</m:t>
                          </m:r>
                        </m:sub>
                      </m:sSub>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𝑆</m:t>
                          </m:r>
                        </m:e>
                        <m:sub>
                          <m:r>
                            <a:rPr lang="en-US" sz="1200" i="1" dirty="0">
                              <a:solidFill>
                                <a:schemeClr val="tx1"/>
                              </a:solidFill>
                              <a:latin typeface="Cambria Math" panose="02040503050406030204" pitchFamily="18" charset="0"/>
                            </a:rPr>
                            <m:t>𝑅𝑒𝑓</m:t>
                          </m:r>
                        </m:sub>
                      </m:sSub>
                    </m:oMath>
                  </m:oMathPara>
                </a14:m>
                <a:endParaRPr lang="en-US" sz="1400" dirty="0">
                  <a:solidFill>
                    <a:schemeClr val="tx1"/>
                  </a:solidFill>
                </a:endParaRPr>
              </a:p>
            </p:txBody>
          </p:sp>
        </mc:Choice>
        <mc:Fallback xmlns="">
          <p:sp>
            <p:nvSpPr>
              <p:cNvPr id="26" name="Text Placeholder 1">
                <a:extLst>
                  <a:ext uri="{FF2B5EF4-FFF2-40B4-BE49-F238E27FC236}">
                    <a16:creationId xmlns:a16="http://schemas.microsoft.com/office/drawing/2014/main" id="{E1CC9BCE-3D2B-4A08-B6A5-590B46BB8B5A}"/>
                  </a:ext>
                </a:extLst>
              </p:cNvPr>
              <p:cNvSpPr txBox="1">
                <a:spLocks noRot="1" noChangeAspect="1" noMove="1" noResize="1" noEditPoints="1" noAdjustHandles="1" noChangeArrowheads="1" noChangeShapeType="1" noTextEdit="1"/>
              </p:cNvSpPr>
              <p:nvPr/>
            </p:nvSpPr>
            <p:spPr>
              <a:xfrm>
                <a:off x="10771851" y="2382409"/>
                <a:ext cx="739729" cy="411010"/>
              </a:xfrm>
              <a:prstGeom prst="rect">
                <a:avLst/>
              </a:prstGeom>
              <a:blipFill>
                <a:blip r:embed="rId10"/>
                <a:stretch>
                  <a:fillRect l="-2439" b="-4348"/>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 Placeholder 1">
                <a:extLst>
                  <a:ext uri="{FF2B5EF4-FFF2-40B4-BE49-F238E27FC236}">
                    <a16:creationId xmlns:a16="http://schemas.microsoft.com/office/drawing/2014/main" id="{705D9DE8-DCA3-4FCE-8436-287C629CAA0A}"/>
                  </a:ext>
                </a:extLst>
              </p:cNvPr>
              <p:cNvSpPr txBox="1">
                <a:spLocks/>
              </p:cNvSpPr>
              <p:nvPr/>
            </p:nvSpPr>
            <p:spPr>
              <a:xfrm>
                <a:off x="10896027" y="3663574"/>
                <a:ext cx="491376" cy="766907"/>
              </a:xfrm>
              <a:prstGeom prst="rect">
                <a:avLst/>
              </a:prstGeom>
              <a:ln>
                <a:solidFill>
                  <a:schemeClr val="tx1"/>
                </a:solidFill>
              </a:ln>
            </p:spPr>
            <p:txBody>
              <a:bodyPr lIns="0" tIns="0" rIns="0" bIns="0"/>
              <a:lstStyle>
                <a:lvl1pPr marL="215900" indent="-215900" algn="l" defTabSz="215900" rtl="0" eaLnBrk="1" fontAlgn="base" hangingPunct="1">
                  <a:spcBef>
                    <a:spcPct val="0"/>
                  </a:spcBef>
                  <a:spcAft>
                    <a:spcPct val="0"/>
                  </a:spcAft>
                  <a:buClr>
                    <a:schemeClr val="tx2"/>
                  </a:buClr>
                  <a:buFont typeface="Arial"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𝑊</m:t>
                          </m:r>
                        </m:e>
                        <m:sub>
                          <m:r>
                            <a:rPr lang="en-US" sz="1200" b="0" i="1" smtClean="0">
                              <a:solidFill>
                                <a:schemeClr val="tx1"/>
                              </a:solidFill>
                              <a:latin typeface="Cambria Math" panose="02040503050406030204" pitchFamily="18" charset="0"/>
                            </a:rPr>
                            <m:t>𝑇𝑂</m:t>
                          </m:r>
                        </m:sub>
                      </m:sSub>
                    </m:oMath>
                  </m:oMathPara>
                </a14:m>
                <a:endParaRPr lang="en-US" sz="120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𝑊</m:t>
                          </m:r>
                        </m:e>
                        <m:sub>
                          <m:r>
                            <a:rPr lang="en-US" sz="1200" b="0" i="1" dirty="0" smtClean="0">
                              <a:solidFill>
                                <a:schemeClr val="tx1"/>
                              </a:solidFill>
                              <a:latin typeface="Cambria Math" panose="02040503050406030204" pitchFamily="18" charset="0"/>
                            </a:rPr>
                            <m:t>𝐸</m:t>
                          </m:r>
                        </m:sub>
                      </m:sSub>
                    </m:oMath>
                  </m:oMathPara>
                </a14:m>
                <a:endParaRPr lang="en-US" sz="1200" b="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smtClean="0">
                              <a:solidFill>
                                <a:schemeClr val="tx1"/>
                              </a:solidFill>
                              <a:latin typeface="Cambria Math" panose="02040503050406030204" pitchFamily="18" charset="0"/>
                            </a:rPr>
                            <m:t>𝐹</m:t>
                          </m:r>
                        </m:sub>
                      </m:sSub>
                    </m:oMath>
                  </m:oMathPara>
                </a14:m>
                <a:endParaRPr lang="en-US" sz="1200" i="1" dirty="0">
                  <a:solidFill>
                    <a:schemeClr val="tx1"/>
                  </a:solidFill>
                  <a:latin typeface="Cambria Math" panose="02040503050406030204" pitchFamily="18" charset="0"/>
                </a:endParaRPr>
              </a:p>
              <a:p>
                <a:pPr marL="0" indent="0" algn="ctr">
                  <a:buNone/>
                </a:pPr>
                <a14:m>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en-US" sz="1200" i="1" dirty="0" smtClean="0">
                            <a:solidFill>
                              <a:schemeClr val="tx1"/>
                            </a:solidFill>
                            <a:latin typeface="Cambria Math" panose="02040503050406030204" pitchFamily="18" charset="0"/>
                          </a:rPr>
                          <m:t>𝑊</m:t>
                        </m:r>
                      </m:e>
                      <m:sub>
                        <m:r>
                          <a:rPr lang="en-US" sz="1200" i="1" dirty="0">
                            <a:solidFill>
                              <a:schemeClr val="tx1"/>
                            </a:solidFill>
                            <a:latin typeface="Cambria Math" panose="02040503050406030204" pitchFamily="18" charset="0"/>
                          </a:rPr>
                          <m:t>𝑃</m:t>
                        </m:r>
                      </m:sub>
                    </m:sSub>
                  </m:oMath>
                </a14:m>
                <a:r>
                  <a:rPr lang="en-US" sz="1200" dirty="0">
                    <a:solidFill>
                      <a:schemeClr val="tx1"/>
                    </a:solidFill>
                  </a:rPr>
                  <a:t> </a:t>
                </a:r>
              </a:p>
            </p:txBody>
          </p:sp>
        </mc:Choice>
        <mc:Fallback xmlns="">
          <p:sp>
            <p:nvSpPr>
              <p:cNvPr id="27" name="Text Placeholder 1">
                <a:extLst>
                  <a:ext uri="{FF2B5EF4-FFF2-40B4-BE49-F238E27FC236}">
                    <a16:creationId xmlns:a16="http://schemas.microsoft.com/office/drawing/2014/main" id="{705D9DE8-DCA3-4FCE-8436-287C629CAA0A}"/>
                  </a:ext>
                </a:extLst>
              </p:cNvPr>
              <p:cNvSpPr txBox="1">
                <a:spLocks noRot="1" noChangeAspect="1" noMove="1" noResize="1" noEditPoints="1" noAdjustHandles="1" noChangeArrowheads="1" noChangeShapeType="1" noTextEdit="1"/>
              </p:cNvSpPr>
              <p:nvPr/>
            </p:nvSpPr>
            <p:spPr>
              <a:xfrm>
                <a:off x="10896027" y="3663574"/>
                <a:ext cx="491376" cy="766907"/>
              </a:xfrm>
              <a:prstGeom prst="rect">
                <a:avLst/>
              </a:prstGeom>
              <a:blipFill>
                <a:blip r:embed="rId11"/>
                <a:stretch>
                  <a:fillRect/>
                </a:stretch>
              </a:blipFill>
              <a:ln>
                <a:solidFill>
                  <a:schemeClr val="tx1"/>
                </a:solidFill>
              </a:ln>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6971B545-73D5-42E2-9E5D-BD0FA3552629}"/>
              </a:ext>
            </a:extLst>
          </p:cNvPr>
          <p:cNvCxnSpPr>
            <a:cxnSpLocks/>
            <a:endCxn id="26" idx="1"/>
          </p:cNvCxnSpPr>
          <p:nvPr/>
        </p:nvCxnSpPr>
        <p:spPr>
          <a:xfrm>
            <a:off x="10550457" y="2587914"/>
            <a:ext cx="221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2D5BE05-99D1-4705-8FDD-6A39D80A586C}"/>
              </a:ext>
            </a:extLst>
          </p:cNvPr>
          <p:cNvCxnSpPr>
            <a:cxnSpLocks/>
            <a:endCxn id="27" idx="1"/>
          </p:cNvCxnSpPr>
          <p:nvPr/>
        </p:nvCxnSpPr>
        <p:spPr>
          <a:xfrm flipV="1">
            <a:off x="10550457" y="4047028"/>
            <a:ext cx="345570"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95CEA357-D9FD-4EA8-BD9B-14FA754A1D99}"/>
              </a:ext>
            </a:extLst>
          </p:cNvPr>
          <p:cNvCxnSpPr>
            <a:cxnSpLocks/>
            <a:endCxn id="8" idx="0"/>
          </p:cNvCxnSpPr>
          <p:nvPr/>
        </p:nvCxnSpPr>
        <p:spPr>
          <a:xfrm rot="10800000">
            <a:off x="6194497" y="2144206"/>
            <a:ext cx="5441614" cy="1223346"/>
          </a:xfrm>
          <a:prstGeom prst="bentConnector4">
            <a:avLst>
              <a:gd name="adj1" fmla="val -3076"/>
              <a:gd name="adj2" fmla="val 16252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815DAB0-50CB-488A-8032-427796FB20EE}"/>
              </a:ext>
            </a:extLst>
          </p:cNvPr>
          <p:cNvCxnSpPr>
            <a:cxnSpLocks/>
          </p:cNvCxnSpPr>
          <p:nvPr/>
        </p:nvCxnSpPr>
        <p:spPr>
          <a:xfrm flipV="1">
            <a:off x="9845835" y="4617490"/>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7C27611-EDFE-4962-9EFB-A586DCEFECE5}"/>
              </a:ext>
            </a:extLst>
          </p:cNvPr>
          <p:cNvSpPr txBox="1"/>
          <p:nvPr/>
        </p:nvSpPr>
        <p:spPr>
          <a:xfrm>
            <a:off x="9226915" y="5075782"/>
            <a:ext cx="1237839" cy="338554"/>
          </a:xfrm>
          <a:prstGeom prst="rect">
            <a:avLst/>
          </a:prstGeom>
          <a:noFill/>
          <a:ln>
            <a:solidFill>
              <a:schemeClr val="tx1"/>
            </a:solidFill>
          </a:ln>
        </p:spPr>
        <p:txBody>
          <a:bodyPr wrap="square" rtlCol="0">
            <a:spAutoFit/>
          </a:bodyPr>
          <a:lstStyle/>
          <a:p>
            <a:pPr algn="ctr"/>
            <a:r>
              <a:rPr lang="en-US" sz="800" b="1" dirty="0"/>
              <a:t>Mission Performance Requirements</a:t>
            </a:r>
          </a:p>
        </p:txBody>
      </p:sp>
      <p:cxnSp>
        <p:nvCxnSpPr>
          <p:cNvPr id="33" name="Straight Arrow Connector 32">
            <a:extLst>
              <a:ext uri="{FF2B5EF4-FFF2-40B4-BE49-F238E27FC236}">
                <a16:creationId xmlns:a16="http://schemas.microsoft.com/office/drawing/2014/main" id="{FFB0A38F-65A9-4424-8038-3CCD594B1A85}"/>
              </a:ext>
            </a:extLst>
          </p:cNvPr>
          <p:cNvCxnSpPr>
            <a:cxnSpLocks/>
            <a:stCxn id="35" idx="2"/>
          </p:cNvCxnSpPr>
          <p:nvPr/>
        </p:nvCxnSpPr>
        <p:spPr>
          <a:xfrm>
            <a:off x="9644732" y="1890502"/>
            <a:ext cx="0" cy="16209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9F44476-C246-4C57-977E-3B64D9ACFF5B}"/>
              </a:ext>
            </a:extLst>
          </p:cNvPr>
          <p:cNvSpPr txBox="1"/>
          <p:nvPr/>
        </p:nvSpPr>
        <p:spPr>
          <a:xfrm>
            <a:off x="9025812" y="1551948"/>
            <a:ext cx="1237839" cy="338554"/>
          </a:xfrm>
          <a:prstGeom prst="rect">
            <a:avLst/>
          </a:prstGeom>
          <a:solidFill>
            <a:srgbClr val="003B6F"/>
          </a:solidFill>
          <a:ln>
            <a:solidFill>
              <a:schemeClr val="tx1"/>
            </a:solidFill>
          </a:ln>
        </p:spPr>
        <p:txBody>
          <a:bodyPr wrap="square" rtlCol="0">
            <a:spAutoFit/>
          </a:bodyPr>
          <a:lstStyle/>
          <a:p>
            <a:pPr algn="ctr"/>
            <a:r>
              <a:rPr lang="en-US" sz="800" b="1" dirty="0">
                <a:solidFill>
                  <a:schemeClr val="bg1"/>
                </a:solidFill>
              </a:rPr>
              <a:t>Point Performance Requirements</a:t>
            </a:r>
          </a:p>
        </p:txBody>
      </p:sp>
      <p:cxnSp>
        <p:nvCxnSpPr>
          <p:cNvPr id="36" name="Connector: Elbow 35">
            <a:extLst>
              <a:ext uri="{FF2B5EF4-FFF2-40B4-BE49-F238E27FC236}">
                <a16:creationId xmlns:a16="http://schemas.microsoft.com/office/drawing/2014/main" id="{2C27BD38-EEC6-4156-AAC6-DF75E68B382E}"/>
              </a:ext>
            </a:extLst>
          </p:cNvPr>
          <p:cNvCxnSpPr>
            <a:cxnSpLocks/>
            <a:stCxn id="17" idx="3"/>
            <a:endCxn id="18" idx="3"/>
          </p:cNvCxnSpPr>
          <p:nvPr/>
        </p:nvCxnSpPr>
        <p:spPr>
          <a:xfrm>
            <a:off x="8277501" y="2899140"/>
            <a:ext cx="3610" cy="1227997"/>
          </a:xfrm>
          <a:prstGeom prst="bentConnector3">
            <a:avLst>
              <a:gd name="adj1" fmla="val 3596011"/>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302C3A82-6A23-43DF-9FE2-052A552C7B1A}"/>
              </a:ext>
            </a:extLst>
          </p:cNvPr>
          <p:cNvGrpSpPr/>
          <p:nvPr/>
        </p:nvGrpSpPr>
        <p:grpSpPr>
          <a:xfrm>
            <a:off x="8749382" y="2059631"/>
            <a:ext cx="1827215" cy="1092529"/>
            <a:chOff x="9533697" y="3022896"/>
            <a:chExt cx="1948963" cy="1092529"/>
          </a:xfrm>
        </p:grpSpPr>
        <p:grpSp>
          <p:nvGrpSpPr>
            <p:cNvPr id="38" name="Group 37">
              <a:extLst>
                <a:ext uri="{FF2B5EF4-FFF2-40B4-BE49-F238E27FC236}">
                  <a16:creationId xmlns:a16="http://schemas.microsoft.com/office/drawing/2014/main" id="{EAAE9F4D-3205-4F77-B1E7-290E49AB23D0}"/>
                </a:ext>
              </a:extLst>
            </p:cNvPr>
            <p:cNvGrpSpPr/>
            <p:nvPr/>
          </p:nvGrpSpPr>
          <p:grpSpPr>
            <a:xfrm>
              <a:off x="9533697" y="3022896"/>
              <a:ext cx="1948963" cy="1092529"/>
              <a:chOff x="9533698" y="2966337"/>
              <a:chExt cx="1805906" cy="1724075"/>
            </a:xfrm>
            <a:solidFill>
              <a:srgbClr val="C0C0C0"/>
            </a:solidFill>
          </p:grpSpPr>
          <p:sp>
            <p:nvSpPr>
              <p:cNvPr id="40" name="Cube 39">
                <a:extLst>
                  <a:ext uri="{FF2B5EF4-FFF2-40B4-BE49-F238E27FC236}">
                    <a16:creationId xmlns:a16="http://schemas.microsoft.com/office/drawing/2014/main" id="{C9EBE6E8-3183-4C42-BBF5-BD4B98D1BC80}"/>
                  </a:ext>
                </a:extLst>
              </p:cNvPr>
              <p:cNvSpPr/>
              <p:nvPr/>
            </p:nvSpPr>
            <p:spPr>
              <a:xfrm>
                <a:off x="9533698"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EB9EBE77-4926-43E6-9FB8-0A1048F8D262}"/>
                  </a:ext>
                </a:extLst>
              </p:cNvPr>
              <p:cNvSpPr/>
              <p:nvPr/>
            </p:nvSpPr>
            <p:spPr>
              <a:xfrm>
                <a:off x="9598549" y="3236788"/>
                <a:ext cx="1647420" cy="406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Constraint Analysis</a:t>
                </a:r>
              </a:p>
            </p:txBody>
          </p:sp>
        </p:grpSp>
        <p:pic>
          <p:nvPicPr>
            <p:cNvPr id="39" name="Graphic 38">
              <a:extLst>
                <a:ext uri="{FF2B5EF4-FFF2-40B4-BE49-F238E27FC236}">
                  <a16:creationId xmlns:a16="http://schemas.microsoft.com/office/drawing/2014/main" id="{915B70CB-02E2-45E7-8A7B-29BA78D393E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754881" y="3427878"/>
              <a:ext cx="1385180" cy="639839"/>
            </a:xfrm>
            <a:prstGeom prst="rect">
              <a:avLst/>
            </a:prstGeom>
          </p:spPr>
        </p:pic>
      </p:grpSp>
      <p:grpSp>
        <p:nvGrpSpPr>
          <p:cNvPr id="42" name="Group 41">
            <a:extLst>
              <a:ext uri="{FF2B5EF4-FFF2-40B4-BE49-F238E27FC236}">
                <a16:creationId xmlns:a16="http://schemas.microsoft.com/office/drawing/2014/main" id="{94ED78E6-25D8-4004-86DB-930CAA0ED272}"/>
              </a:ext>
            </a:extLst>
          </p:cNvPr>
          <p:cNvGrpSpPr/>
          <p:nvPr/>
        </p:nvGrpSpPr>
        <p:grpSpPr>
          <a:xfrm>
            <a:off x="8736808" y="3519087"/>
            <a:ext cx="1835049" cy="1091781"/>
            <a:chOff x="8985516" y="3499112"/>
            <a:chExt cx="1835049" cy="1091781"/>
          </a:xfrm>
        </p:grpSpPr>
        <p:grpSp>
          <p:nvGrpSpPr>
            <p:cNvPr id="43" name="Group 42">
              <a:extLst>
                <a:ext uri="{FF2B5EF4-FFF2-40B4-BE49-F238E27FC236}">
                  <a16:creationId xmlns:a16="http://schemas.microsoft.com/office/drawing/2014/main" id="{BE9BFCC2-8E54-49D1-971E-765A11F94C78}"/>
                </a:ext>
              </a:extLst>
            </p:cNvPr>
            <p:cNvGrpSpPr/>
            <p:nvPr/>
          </p:nvGrpSpPr>
          <p:grpSpPr>
            <a:xfrm>
              <a:off x="8985516" y="3499112"/>
              <a:ext cx="1835049" cy="1091781"/>
              <a:chOff x="9533697" y="2966337"/>
              <a:chExt cx="1805906" cy="1724075"/>
            </a:xfrm>
            <a:solidFill>
              <a:srgbClr val="C0C079"/>
            </a:solidFill>
          </p:grpSpPr>
          <p:sp>
            <p:nvSpPr>
              <p:cNvPr id="45" name="Cube 44">
                <a:extLst>
                  <a:ext uri="{FF2B5EF4-FFF2-40B4-BE49-F238E27FC236}">
                    <a16:creationId xmlns:a16="http://schemas.microsoft.com/office/drawing/2014/main" id="{95CEE163-3BC4-4146-A3EB-98AC820A3754}"/>
                  </a:ext>
                </a:extLst>
              </p:cNvPr>
              <p:cNvSpPr/>
              <p:nvPr/>
            </p:nvSpPr>
            <p:spPr>
              <a:xfrm>
                <a:off x="9533697" y="2966337"/>
                <a:ext cx="1805906" cy="1724075"/>
              </a:xfrm>
              <a:prstGeom prst="cube">
                <a:avLst>
                  <a:gd name="adj" fmla="val 13781"/>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9C57477-B271-444D-A598-8F44B19C7B55}"/>
                  </a:ext>
                </a:extLst>
              </p:cNvPr>
              <p:cNvSpPr/>
              <p:nvPr/>
            </p:nvSpPr>
            <p:spPr>
              <a:xfrm>
                <a:off x="9598547" y="3242865"/>
                <a:ext cx="1544884" cy="4065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Mission Analysis</a:t>
                </a:r>
              </a:p>
            </p:txBody>
          </p:sp>
        </p:grpSp>
        <p:pic>
          <p:nvPicPr>
            <p:cNvPr id="44" name="Graphic 43">
              <a:extLst>
                <a:ext uri="{FF2B5EF4-FFF2-40B4-BE49-F238E27FC236}">
                  <a16:creationId xmlns:a16="http://schemas.microsoft.com/office/drawing/2014/main" id="{35B01EE1-792E-4399-A97D-5FD6E1F8A83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33664" y="3941409"/>
              <a:ext cx="1114960" cy="613187"/>
            </a:xfrm>
            <a:prstGeom prst="rect">
              <a:avLst/>
            </a:prstGeom>
          </p:spPr>
        </p:pic>
      </p:grpSp>
      <p:cxnSp>
        <p:nvCxnSpPr>
          <p:cNvPr id="47" name="Straight Arrow Connector 46">
            <a:extLst>
              <a:ext uri="{FF2B5EF4-FFF2-40B4-BE49-F238E27FC236}">
                <a16:creationId xmlns:a16="http://schemas.microsoft.com/office/drawing/2014/main" id="{9DE92F05-D645-48F4-BBD9-2977D007B029}"/>
              </a:ext>
            </a:extLst>
          </p:cNvPr>
          <p:cNvCxnSpPr>
            <a:cxnSpLocks/>
          </p:cNvCxnSpPr>
          <p:nvPr/>
        </p:nvCxnSpPr>
        <p:spPr>
          <a:xfrm flipV="1">
            <a:off x="9644732" y="3146986"/>
            <a:ext cx="0" cy="458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6C66B70-4F9E-4DEE-B5E1-62D77B680D4B}"/>
              </a:ext>
            </a:extLst>
          </p:cNvPr>
          <p:cNvSpPr txBox="1"/>
          <p:nvPr/>
        </p:nvSpPr>
        <p:spPr>
          <a:xfrm>
            <a:off x="9025812" y="3229938"/>
            <a:ext cx="1237839" cy="215444"/>
          </a:xfrm>
          <a:prstGeom prst="rect">
            <a:avLst/>
          </a:prstGeom>
          <a:solidFill>
            <a:srgbClr val="00447E"/>
          </a:solidFill>
          <a:ln>
            <a:solidFill>
              <a:schemeClr val="tx1"/>
            </a:solidFill>
          </a:ln>
        </p:spPr>
        <p:txBody>
          <a:bodyPr wrap="square" rtlCol="0">
            <a:spAutoFit/>
          </a:bodyPr>
          <a:lstStyle/>
          <a:p>
            <a:pPr algn="ctr"/>
            <a:r>
              <a:rPr lang="en-US" sz="800" b="1" dirty="0">
                <a:solidFill>
                  <a:schemeClr val="bg1"/>
                </a:solidFill>
              </a:rPr>
              <a:t>Weight fractions</a:t>
            </a:r>
          </a:p>
        </p:txBody>
      </p:sp>
      <p:sp>
        <p:nvSpPr>
          <p:cNvPr id="49" name="Rectangle 48">
            <a:extLst>
              <a:ext uri="{FF2B5EF4-FFF2-40B4-BE49-F238E27FC236}">
                <a16:creationId xmlns:a16="http://schemas.microsoft.com/office/drawing/2014/main" id="{9D661B9D-B0D7-4A9E-B7DE-F3E9A64DC317}"/>
              </a:ext>
            </a:extLst>
          </p:cNvPr>
          <p:cNvSpPr/>
          <p:nvPr/>
        </p:nvSpPr>
        <p:spPr>
          <a:xfrm>
            <a:off x="4181877" y="3410876"/>
            <a:ext cx="731837"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TLARs</a:t>
            </a:r>
          </a:p>
        </p:txBody>
      </p:sp>
      <p:sp>
        <p:nvSpPr>
          <p:cNvPr id="50" name="Rectangle 49">
            <a:extLst>
              <a:ext uri="{FF2B5EF4-FFF2-40B4-BE49-F238E27FC236}">
                <a16:creationId xmlns:a16="http://schemas.microsoft.com/office/drawing/2014/main" id="{0CE7CDEF-C4B2-4828-BF1D-3BE5EBF11DCD}"/>
              </a:ext>
            </a:extLst>
          </p:cNvPr>
          <p:cNvSpPr/>
          <p:nvPr/>
        </p:nvSpPr>
        <p:spPr>
          <a:xfrm>
            <a:off x="4063606" y="2672803"/>
            <a:ext cx="958360" cy="3008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Design Choices</a:t>
            </a:r>
          </a:p>
        </p:txBody>
      </p:sp>
      <p:sp>
        <p:nvSpPr>
          <p:cNvPr id="51" name="Rectangle: Rounded Corners 50">
            <a:extLst>
              <a:ext uri="{FF2B5EF4-FFF2-40B4-BE49-F238E27FC236}">
                <a16:creationId xmlns:a16="http://schemas.microsoft.com/office/drawing/2014/main" id="{08E95C5C-E0F9-465E-A50B-D2AA28A892C8}"/>
              </a:ext>
            </a:extLst>
          </p:cNvPr>
          <p:cNvSpPr/>
          <p:nvPr/>
        </p:nvSpPr>
        <p:spPr>
          <a:xfrm>
            <a:off x="1350341"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Tree>
    <p:extLst>
      <p:ext uri="{BB962C8B-B14F-4D97-AF65-F5344CB8AC3E}">
        <p14:creationId xmlns:p14="http://schemas.microsoft.com/office/powerpoint/2010/main" val="4174943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Convergence Loop</a:t>
            </a:r>
          </a:p>
        </p:txBody>
      </p:sp>
      <mc:AlternateContent xmlns:mc="http://schemas.openxmlformats.org/markup-compatibility/2006" xmlns:a14="http://schemas.microsoft.com/office/drawing/2010/main">
        <mc:Choice Requires="a14">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8" y="1828800"/>
                <a:ext cx="5904437" cy="4343400"/>
              </a:xfrm>
            </p:spPr>
            <p:txBody>
              <a:bodyPr/>
              <a:lstStyle/>
              <a:p>
                <a:pPr marL="0" indent="0">
                  <a:buNone/>
                </a:pPr>
                <a:r>
                  <a:rPr lang="en-US" dirty="0"/>
                  <a:t>Converged Aircraft</a:t>
                </a:r>
              </a:p>
              <a:p>
                <a:r>
                  <a:rPr lang="en-US" dirty="0"/>
                  <a:t>The aircraft that meets all the </a:t>
                </a:r>
              </a:p>
              <a:p>
                <a:pPr lvl="3"/>
                <a:r>
                  <a:rPr lang="en-US" dirty="0"/>
                  <a:t>Top Level Aircraft Requirements</a:t>
                </a:r>
              </a:p>
              <a:p>
                <a:pPr lvl="3"/>
                <a:r>
                  <a:rPr lang="en-US" dirty="0"/>
                  <a:t>Mission requirements</a:t>
                </a:r>
              </a:p>
              <a:p>
                <a:pPr lvl="3"/>
                <a:r>
                  <a:rPr lang="en-US" dirty="0"/>
                  <a:t>Performance requirements</a:t>
                </a:r>
              </a:p>
              <a:p>
                <a:pPr lvl="3"/>
                <a:endParaRPr lang="en-US" dirty="0"/>
              </a:p>
              <a:p>
                <a:r>
                  <a:rPr lang="en-US" dirty="0"/>
                  <a:t>The aircraft configuration that does not change through iterations</a:t>
                </a:r>
              </a:p>
              <a:p>
                <a:pPr lvl="3"/>
                <a:r>
                  <a:rPr lang="en-US" b="0" dirty="0"/>
                  <a:t>For parameter P: </a:t>
                </a:r>
                <a14:m>
                  <m:oMath xmlns:m="http://schemas.openxmlformats.org/officeDocument/2006/math">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sub>
                        </m:sSub>
                      </m:den>
                    </m:f>
                    <m:r>
                      <a:rPr lang="en-US" b="0" i="0" smtClean="0">
                        <a:latin typeface="Cambria Math" panose="02040503050406030204" pitchFamily="18" charset="0"/>
                      </a:rPr>
                      <m:t>&lt;</m:t>
                    </m:r>
                    <m:r>
                      <m:rPr>
                        <m:sty m:val="p"/>
                      </m:rPr>
                      <a:rPr lang="en-US" b="0" i="0" smtClean="0">
                        <a:latin typeface="Cambria Math" panose="02040503050406030204" pitchFamily="18" charset="0"/>
                      </a:rPr>
                      <m:t>Convergence</m:t>
                    </m:r>
                    <m:r>
                      <a:rPr lang="en-US" b="0" i="0" smtClean="0">
                        <a:latin typeface="Cambria Math" panose="02040503050406030204" pitchFamily="18" charset="0"/>
                      </a:rPr>
                      <m:t> </m:t>
                    </m:r>
                    <m:r>
                      <m:rPr>
                        <m:sty m:val="p"/>
                      </m:rPr>
                      <a:rPr lang="en-US" b="0" i="0" smtClean="0">
                        <a:latin typeface="Cambria Math" panose="02040503050406030204" pitchFamily="18" charset="0"/>
                      </a:rPr>
                      <m:t>Criteria</m:t>
                    </m:r>
                  </m:oMath>
                </a14:m>
                <a:endParaRPr lang="en-US" sz="1200" dirty="0"/>
              </a:p>
              <a:p>
                <a:pPr lvl="3"/>
                <a:endParaRPr lang="en-US" sz="1200" dirty="0"/>
              </a:p>
              <a:p>
                <a:r>
                  <a:rPr lang="en-US" dirty="0"/>
                  <a:t>What could be a parameter of interest for convergence?</a:t>
                </a:r>
              </a:p>
              <a:p>
                <a:pPr lvl="3"/>
                <a:r>
                  <a:rPr lang="en-US" dirty="0">
                    <a:solidFill>
                      <a:schemeClr val="tx1"/>
                    </a:solidFill>
                  </a:rPr>
                  <a:t>Mass properties: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𝑊</m:t>
                        </m:r>
                      </m:e>
                      <m:sub>
                        <m:r>
                          <a:rPr lang="en-US" i="1">
                            <a:solidFill>
                              <a:schemeClr val="tx1"/>
                            </a:solidFill>
                            <a:latin typeface="Cambria Math" panose="02040503050406030204" pitchFamily="18" charset="0"/>
                          </a:rPr>
                          <m:t>𝑇𝑂</m:t>
                        </m:r>
                      </m:sub>
                    </m:sSub>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𝐸</m:t>
                        </m:r>
                      </m:sub>
                    </m:sSub>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𝐹</m:t>
                        </m:r>
                      </m:sub>
                    </m:sSub>
                  </m:oMath>
                </a14:m>
                <a:r>
                  <a:rPr lang="en-US" dirty="0"/>
                  <a:t>?</a:t>
                </a:r>
              </a:p>
              <a:p>
                <a:pPr lvl="3"/>
                <a:r>
                  <a:rPr lang="en-US" dirty="0"/>
                  <a:t>Design point: </a:t>
                </a:r>
                <a14:m>
                  <m:oMath xmlns:m="http://schemas.openxmlformats.org/officeDocument/2006/math">
                    <m:r>
                      <a:rPr lang="en-US" b="0" i="1" smtClean="0">
                        <a:solidFill>
                          <a:schemeClr val="tx1"/>
                        </a:solidFill>
                        <a:latin typeface="Cambria Math" panose="02040503050406030204" pitchFamily="18" charset="0"/>
                      </a:rPr>
                      <m:t>𝑊</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𝑆</m:t>
                    </m:r>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𝑆𝐿</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𝑇𝑂</m:t>
                        </m:r>
                      </m:sub>
                    </m:sSub>
                  </m:oMath>
                </a14:m>
                <a:r>
                  <a:rPr lang="en-US" dirty="0"/>
                  <a:t>?</a:t>
                </a:r>
              </a:p>
              <a:p>
                <a:pPr lvl="3"/>
                <a:r>
                  <a:rPr lang="en-US" dirty="0"/>
                  <a:t>Center of gravity position?</a:t>
                </a:r>
              </a:p>
              <a:p>
                <a:pPr lvl="3"/>
                <a:endParaRPr lang="en-US" dirty="0"/>
              </a:p>
              <a:p>
                <a:pPr lvl="3"/>
                <a:endParaRPr lang="en-US" dirty="0"/>
              </a:p>
              <a:p>
                <a:pPr marL="0" indent="0">
                  <a:buNone/>
                </a:pPr>
                <a:endParaRPr lang="en-US" dirty="0"/>
              </a:p>
              <a:p>
                <a:pPr marL="0" indent="0">
                  <a:buNone/>
                </a:pPr>
                <a:endParaRPr lang="en-US" dirty="0"/>
              </a:p>
              <a:p>
                <a:endParaRPr lang="en-US" dirty="0"/>
              </a:p>
            </p:txBody>
          </p:sp>
        </mc:Choice>
        <mc:Fallback xmlns="">
          <p:sp>
            <p:nvSpPr>
              <p:cNvPr id="32" name="Content Placeholder 1">
                <a:extLst>
                  <a:ext uri="{FF2B5EF4-FFF2-40B4-BE49-F238E27FC236}">
                    <a16:creationId xmlns:a16="http://schemas.microsoft.com/office/drawing/2014/main" id="{9381DA82-38E7-47EC-9686-5CFAE6972F44}"/>
                  </a:ext>
                </a:extLst>
              </p:cNvPr>
              <p:cNvSpPr>
                <a:spLocks noGrp="1" noRot="1" noChangeAspect="1" noMove="1" noResize="1" noEditPoints="1" noAdjustHandles="1" noChangeArrowheads="1" noChangeShapeType="1" noTextEdit="1"/>
              </p:cNvSpPr>
              <p:nvPr>
                <p:ph idx="1"/>
              </p:nvPr>
            </p:nvSpPr>
            <p:spPr>
              <a:xfrm>
                <a:off x="677338" y="1828800"/>
                <a:ext cx="5904437" cy="4343400"/>
              </a:xfrm>
              <a:blipFill>
                <a:blip r:embed="rId2"/>
                <a:stretch>
                  <a:fillRect l="-2064" t="-561" b="-2525"/>
                </a:stretch>
              </a:blipFill>
            </p:spPr>
            <p:txBody>
              <a:bodyPr/>
              <a:lstStyle/>
              <a:p>
                <a:r>
                  <a:rPr lang="en-US">
                    <a:noFill/>
                  </a:rPr>
                  <a:t> </a:t>
                </a:r>
              </a:p>
            </p:txBody>
          </p:sp>
        </mc:Fallback>
      </mc:AlternateContent>
      <p:graphicFrame>
        <p:nvGraphicFramePr>
          <p:cNvPr id="6" name="Chart 5">
            <a:extLst>
              <a:ext uri="{FF2B5EF4-FFF2-40B4-BE49-F238E27FC236}">
                <a16:creationId xmlns:a16="http://schemas.microsoft.com/office/drawing/2014/main" id="{E111414C-47FF-44C1-8495-079BE528D63A}"/>
              </a:ext>
            </a:extLst>
          </p:cNvPr>
          <p:cNvGraphicFramePr>
            <a:graphicFrameLocks/>
          </p:cNvGraphicFramePr>
          <p:nvPr>
            <p:extLst>
              <p:ext uri="{D42A27DB-BD31-4B8C-83A1-F6EECF244321}">
                <p14:modId xmlns:p14="http://schemas.microsoft.com/office/powerpoint/2010/main" val="3462399582"/>
              </p:ext>
            </p:extLst>
          </p:nvPr>
        </p:nvGraphicFramePr>
        <p:xfrm>
          <a:off x="6581775" y="2200728"/>
          <a:ext cx="5057095" cy="3599543"/>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Rounded Corners 6">
            <a:extLst>
              <a:ext uri="{FF2B5EF4-FFF2-40B4-BE49-F238E27FC236}">
                <a16:creationId xmlns:a16="http://schemas.microsoft.com/office/drawing/2014/main" id="{DB45A776-E61B-47E7-95BB-D4B526026100}"/>
              </a:ext>
            </a:extLst>
          </p:cNvPr>
          <p:cNvSpPr/>
          <p:nvPr/>
        </p:nvSpPr>
        <p:spPr>
          <a:xfrm>
            <a:off x="4267200" y="5759815"/>
            <a:ext cx="7686676" cy="452841"/>
          </a:xfrm>
          <a:prstGeom prst="roundRect">
            <a:avLst>
              <a:gd name="adj" fmla="val 4255"/>
            </a:avLst>
          </a:prstGeom>
          <a:solidFill>
            <a:srgbClr val="003359"/>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dirty="0">
                <a:solidFill>
                  <a:schemeClr val="bg1"/>
                </a:solidFill>
              </a:rPr>
              <a:t>Choose the convergence criteria wisely, you might get stuck in iterations</a:t>
            </a:r>
          </a:p>
        </p:txBody>
      </p:sp>
    </p:spTree>
    <p:extLst>
      <p:ext uri="{BB962C8B-B14F-4D97-AF65-F5344CB8AC3E}">
        <p14:creationId xmlns:p14="http://schemas.microsoft.com/office/powerpoint/2010/main" val="44689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6" end="6"/>
                                            </p:txEl>
                                          </p:spTgt>
                                        </p:tgtEl>
                                        <p:attrNameLst>
                                          <p:attrName>style.visibility</p:attrName>
                                        </p:attrNameLst>
                                      </p:cBhvr>
                                      <p:to>
                                        <p:strVal val="visible"/>
                                      </p:to>
                                    </p:set>
                                    <p:animEffect transition="in" filter="fade">
                                      <p:cBhvr>
                                        <p:cTn id="7" dur="500"/>
                                        <p:tgtEl>
                                          <p:spTgt spid="32">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2">
                                            <p:txEl>
                                              <p:pRg st="7" end="7"/>
                                            </p:txEl>
                                          </p:spTgt>
                                        </p:tgtEl>
                                        <p:attrNameLst>
                                          <p:attrName>style.visibility</p:attrName>
                                        </p:attrNameLst>
                                      </p:cBhvr>
                                      <p:to>
                                        <p:strVal val="visible"/>
                                      </p:to>
                                    </p:set>
                                    <p:animEffect transition="in" filter="fade">
                                      <p:cBhvr>
                                        <p:cTn id="10" dur="500"/>
                                        <p:tgtEl>
                                          <p:spTgt spid="32">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xEl>
                                              <p:pRg st="9" end="9"/>
                                            </p:txEl>
                                          </p:spTgt>
                                        </p:tgtEl>
                                        <p:attrNameLst>
                                          <p:attrName>style.visibility</p:attrName>
                                        </p:attrNameLst>
                                      </p:cBhvr>
                                      <p:to>
                                        <p:strVal val="visible"/>
                                      </p:to>
                                    </p:set>
                                    <p:animEffect transition="in" filter="fade">
                                      <p:cBhvr>
                                        <p:cTn id="15" dur="500"/>
                                        <p:tgtEl>
                                          <p:spTgt spid="32">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2">
                                            <p:txEl>
                                              <p:pRg st="10" end="10"/>
                                            </p:txEl>
                                          </p:spTgt>
                                        </p:tgtEl>
                                        <p:attrNameLst>
                                          <p:attrName>style.visibility</p:attrName>
                                        </p:attrNameLst>
                                      </p:cBhvr>
                                      <p:to>
                                        <p:strVal val="visible"/>
                                      </p:to>
                                    </p:set>
                                    <p:animEffect transition="in" filter="fade">
                                      <p:cBhvr>
                                        <p:cTn id="20" dur="500"/>
                                        <p:tgtEl>
                                          <p:spTgt spid="32">
                                            <p:txEl>
                                              <p:pRg st="10" end="1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xEl>
                                              <p:pRg st="11" end="11"/>
                                            </p:txEl>
                                          </p:spTgt>
                                        </p:tgtEl>
                                        <p:attrNameLst>
                                          <p:attrName>style.visibility</p:attrName>
                                        </p:attrNameLst>
                                      </p:cBhvr>
                                      <p:to>
                                        <p:strVal val="visible"/>
                                      </p:to>
                                    </p:set>
                                    <p:animEffect transition="in" filter="fade">
                                      <p:cBhvr>
                                        <p:cTn id="25" dur="500"/>
                                        <p:tgtEl>
                                          <p:spTgt spid="32">
                                            <p:txEl>
                                              <p:pRg st="11" end="1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2">
                                            <p:txEl>
                                              <p:pRg st="12" end="12"/>
                                            </p:txEl>
                                          </p:spTgt>
                                        </p:tgtEl>
                                        <p:attrNameLst>
                                          <p:attrName>style.visibility</p:attrName>
                                        </p:attrNameLst>
                                      </p:cBhvr>
                                      <p:to>
                                        <p:strVal val="visible"/>
                                      </p:to>
                                    </p:set>
                                    <p:animEffect transition="in" filter="fade">
                                      <p:cBhvr>
                                        <p:cTn id="30" dur="500"/>
                                        <p:tgtEl>
                                          <p:spTgt spid="32">
                                            <p:txEl>
                                              <p:pRg st="12" end="1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752F54-5DA3-4EBE-9B3A-8F3DAF7179BB}"/>
              </a:ext>
            </a:extLst>
          </p:cNvPr>
          <p:cNvPicPr>
            <a:picLocks noChangeAspect="1"/>
          </p:cNvPicPr>
          <p:nvPr/>
        </p:nvPicPr>
        <p:blipFill>
          <a:blip r:embed="rId2"/>
          <a:stretch>
            <a:fillRect/>
          </a:stretch>
        </p:blipFill>
        <p:spPr>
          <a:xfrm>
            <a:off x="677337" y="802050"/>
            <a:ext cx="9991726" cy="5533792"/>
          </a:xfrm>
          <a:prstGeom prst="rect">
            <a:avLst/>
          </a:prstGeom>
        </p:spPr>
      </p:pic>
      <p:sp>
        <p:nvSpPr>
          <p:cNvPr id="3" name="Title 2">
            <a:extLst>
              <a:ext uri="{FF2B5EF4-FFF2-40B4-BE49-F238E27FC236}">
                <a16:creationId xmlns:a16="http://schemas.microsoft.com/office/drawing/2014/main" id="{25C06AAB-5CA3-4651-8AA1-CD18C1943797}"/>
              </a:ext>
            </a:extLst>
          </p:cNvPr>
          <p:cNvSpPr>
            <a:spLocks noGrp="1"/>
          </p:cNvSpPr>
          <p:nvPr>
            <p:ph type="title"/>
          </p:nvPr>
        </p:nvSpPr>
        <p:spPr/>
        <p:txBody>
          <a:bodyPr/>
          <a:lstStyle/>
          <a:p>
            <a:r>
              <a:rPr lang="en-US" dirty="0"/>
              <a:t>UNICADO in RCE</a:t>
            </a:r>
          </a:p>
        </p:txBody>
      </p:sp>
      <p:sp>
        <p:nvSpPr>
          <p:cNvPr id="32" name="Content Placeholder 1">
            <a:extLst>
              <a:ext uri="{FF2B5EF4-FFF2-40B4-BE49-F238E27FC236}">
                <a16:creationId xmlns:a16="http://schemas.microsoft.com/office/drawing/2014/main" id="{9381DA82-38E7-47EC-9686-5CFAE6972F44}"/>
              </a:ext>
            </a:extLst>
          </p:cNvPr>
          <p:cNvSpPr>
            <a:spLocks noGrp="1"/>
          </p:cNvSpPr>
          <p:nvPr>
            <p:ph idx="1"/>
          </p:nvPr>
        </p:nvSpPr>
        <p:spPr>
          <a:xfrm>
            <a:off x="677337" y="1828800"/>
            <a:ext cx="10837331" cy="4343400"/>
          </a:xfrm>
        </p:spPr>
        <p:txBody>
          <a:bodyPr/>
          <a:lstStyle/>
          <a:p>
            <a:pPr marL="0" indent="0">
              <a:buNone/>
            </a:pPr>
            <a:endParaRPr lang="en-US" dirty="0"/>
          </a:p>
          <a:p>
            <a:pPr marL="0" indent="0">
              <a:buNone/>
            </a:pPr>
            <a:endParaRPr lang="en-US" dirty="0"/>
          </a:p>
          <a:p>
            <a:endParaRPr lang="en-US" dirty="0"/>
          </a:p>
        </p:txBody>
      </p:sp>
      <p:pic>
        <p:nvPicPr>
          <p:cNvPr id="6" name="Content Placeholder 4">
            <a:extLst>
              <a:ext uri="{FF2B5EF4-FFF2-40B4-BE49-F238E27FC236}">
                <a16:creationId xmlns:a16="http://schemas.microsoft.com/office/drawing/2014/main" id="{6FC54470-E17B-41F3-A9DC-C334C6605B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4494734" y="1568197"/>
            <a:ext cx="3048844" cy="4543043"/>
          </a:xfrm>
          <a:prstGeom prst="rect">
            <a:avLst/>
          </a:prstGeom>
          <a:noFill/>
          <a:ln w="9525">
            <a:noFill/>
            <a:miter lim="800000"/>
            <a:headEnd/>
            <a:tailEnd/>
          </a:ln>
        </p:spPr>
      </p:pic>
      <p:sp>
        <p:nvSpPr>
          <p:cNvPr id="7" name="Rectangle: Rounded Corners 6">
            <a:extLst>
              <a:ext uri="{FF2B5EF4-FFF2-40B4-BE49-F238E27FC236}">
                <a16:creationId xmlns:a16="http://schemas.microsoft.com/office/drawing/2014/main" id="{5CD4CDA3-96B4-400A-890A-0FEF96F0007F}"/>
              </a:ext>
            </a:extLst>
          </p:cNvPr>
          <p:cNvSpPr/>
          <p:nvPr/>
        </p:nvSpPr>
        <p:spPr>
          <a:xfrm>
            <a:off x="5167739" y="2911468"/>
            <a:ext cx="1402383" cy="201168"/>
          </a:xfrm>
          <a:prstGeom prst="roundRect">
            <a:avLst>
              <a:gd name="adj" fmla="val 19189"/>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Component Design</a:t>
            </a:r>
          </a:p>
        </p:txBody>
      </p:sp>
    </p:spTree>
    <p:extLst>
      <p:ext uri="{BB962C8B-B14F-4D97-AF65-F5344CB8AC3E}">
        <p14:creationId xmlns:p14="http://schemas.microsoft.com/office/powerpoint/2010/main" val="357768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7"/>
                                        </p:tgtEl>
                                        <p:attrNameLst>
                                          <p:attrName>ppt_x</p:attrName>
                                        </p:attrNameLst>
                                      </p:cBhvr>
                                      <p:tavLst>
                                        <p:tav tm="0">
                                          <p:val>
                                            <p:strVal val="ppt_x"/>
                                          </p:val>
                                        </p:tav>
                                        <p:tav tm="100000">
                                          <p:val>
                                            <p:strVal val="ppt_x"/>
                                          </p:val>
                                        </p:tav>
                                      </p:tavLst>
                                    </p:anim>
                                    <p:anim calcmode="lin" valueType="num">
                                      <p:cBhvr additive="base">
                                        <p:cTn id="11" dur="500"/>
                                        <p:tgtEl>
                                          <p:spTgt spid="7"/>
                                        </p:tgtEl>
                                        <p:attrNameLst>
                                          <p:attrName>ppt_y</p:attrName>
                                        </p:attrNameLst>
                                      </p:cBhvr>
                                      <p:tavLst>
                                        <p:tav tm="0">
                                          <p:val>
                                            <p:strVal val="ppt_y"/>
                                          </p:val>
                                        </p:tav>
                                        <p:tav tm="100000">
                                          <p:val>
                                            <p:strVal val="1+ppt_h/2"/>
                                          </p:val>
                                        </p:tav>
                                      </p:tavLst>
                                    </p:anim>
                                    <p:set>
                                      <p:cBhvr>
                                        <p:cTn id="12" dur="1" fill="hold">
                                          <p:stCondLst>
                                            <p:cond delay="499"/>
                                          </p:stCondLst>
                                        </p:cTn>
                                        <p:tgtEl>
                                          <p:spTgt spid="7"/>
                                        </p:tgtEl>
                                        <p:attrNameLst>
                                          <p:attrName>style.visibility</p:attrName>
                                        </p:attrNameLst>
                                      </p:cBhvr>
                                      <p:to>
                                        <p:strVal val="hidden"/>
                                      </p:to>
                                    </p:set>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Standarddesign">
  <a:themeElements>
    <a:clrScheme name="TUM">
      <a:dk1>
        <a:srgbClr val="000000"/>
      </a:dk1>
      <a:lt1>
        <a:srgbClr val="FFFFFF"/>
      </a:lt1>
      <a:dk2>
        <a:srgbClr val="0065BD"/>
      </a:dk2>
      <a:lt2>
        <a:srgbClr val="DAD7CB"/>
      </a:lt2>
      <a:accent1>
        <a:srgbClr val="003359"/>
      </a:accent1>
      <a:accent2>
        <a:srgbClr val="005293"/>
      </a:accent2>
      <a:accent3>
        <a:srgbClr val="0073CF"/>
      </a:accent3>
      <a:accent4>
        <a:srgbClr val="64A0C8"/>
      </a:accent4>
      <a:accent5>
        <a:srgbClr val="A2AD00"/>
      </a:accent5>
      <a:accent6>
        <a:srgbClr val="E37222"/>
      </a:accent6>
      <a:hlink>
        <a:srgbClr val="98C6EA"/>
      </a:hlink>
      <a:folHlink>
        <a:srgbClr val="A2AD00"/>
      </a:folHlink>
    </a:clrScheme>
    <a:fontScheme name="TUM">
      <a:majorFont>
        <a:latin typeface="Arial"/>
        <a:ea typeface=""/>
        <a:cs typeface="Arial"/>
      </a:majorFont>
      <a:minorFont>
        <a:latin typeface="Arial"/>
        <a:ea typeface=""/>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a:solidFill>
            <a:schemeClr val="accent1"/>
          </a:solidFill>
        </a:ln>
      </a:spPr>
      <a:bodyPr rtlCol="0" anchor="ctr"/>
      <a:lstStyle>
        <a:defPPr algn="ctr">
          <a:defRPr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defPPr>
      </a:lstStyle>
    </a:txDef>
  </a:objectDefaults>
  <a:extraClrSchemeLst/>
</a:theme>
</file>

<file path=ppt/theme/theme2.xml><?xml version="1.0" encoding="utf-8"?>
<a:theme xmlns:a="http://schemas.openxmlformats.org/drawingml/2006/main" name="Standarddesign">
  <a:themeElements>
    <a:clrScheme name="TUM">
      <a:dk1>
        <a:srgbClr val="000000"/>
      </a:dk1>
      <a:lt1>
        <a:srgbClr val="FFFFFF"/>
      </a:lt1>
      <a:dk2>
        <a:srgbClr val="0065BD"/>
      </a:dk2>
      <a:lt2>
        <a:srgbClr val="DAD7CB"/>
      </a:lt2>
      <a:accent1>
        <a:srgbClr val="003359"/>
      </a:accent1>
      <a:accent2>
        <a:srgbClr val="005293"/>
      </a:accent2>
      <a:accent3>
        <a:srgbClr val="0073CF"/>
      </a:accent3>
      <a:accent4>
        <a:srgbClr val="64A0C8"/>
      </a:accent4>
      <a:accent5>
        <a:srgbClr val="A2AD00"/>
      </a:accent5>
      <a:accent6>
        <a:srgbClr val="E37222"/>
      </a:accent6>
      <a:hlink>
        <a:srgbClr val="98C6EA"/>
      </a:hlink>
      <a:folHlink>
        <a:srgbClr val="A2AD00"/>
      </a:folHlink>
    </a:clrScheme>
    <a:fontScheme name="TUM">
      <a:majorFont>
        <a:latin typeface="Arial"/>
        <a:ea typeface=""/>
        <a:cs typeface="Arial"/>
      </a:majorFont>
      <a:minorFont>
        <a:latin typeface="Arial"/>
        <a:ea typeface=""/>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a:solidFill>
            <a:schemeClr val="accent1"/>
          </a:solidFill>
        </a:ln>
      </a:spPr>
      <a:bodyPr rtlCol="0" anchor="ctr"/>
      <a:lstStyle>
        <a:defPPr algn="ctr">
          <a:defRPr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2343</Words>
  <Application>Microsoft Office PowerPoint</Application>
  <PresentationFormat>Widescreen</PresentationFormat>
  <Paragraphs>484</Paragraphs>
  <Slides>30</Slides>
  <Notes>9</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44" baseType="lpstr">
      <vt:lpstr>MS Mincho</vt:lpstr>
      <vt:lpstr>ＭＳ Ｐゴシック</vt:lpstr>
      <vt:lpstr>Arial</vt:lpstr>
      <vt:lpstr>Arial (body)</vt:lpstr>
      <vt:lpstr>Arial Narrow</vt:lpstr>
      <vt:lpstr>Calibri</vt:lpstr>
      <vt:lpstr>Cambria Math</vt:lpstr>
      <vt:lpstr>Noto Sans Symbols</vt:lpstr>
      <vt:lpstr>Symbol</vt:lpstr>
      <vt:lpstr>Times New Roman</vt:lpstr>
      <vt:lpstr>Wingdings</vt:lpstr>
      <vt:lpstr>1_Standarddesign</vt:lpstr>
      <vt:lpstr>Standarddesign</vt:lpstr>
      <vt:lpstr>think-cell Folie</vt:lpstr>
      <vt:lpstr>Aircraft Design Advanced  Meric Taneri </vt:lpstr>
      <vt:lpstr>Previously on UNICADO</vt:lpstr>
      <vt:lpstr>Design Analysis and Convergence Loop</vt:lpstr>
      <vt:lpstr>Design Analysis</vt:lpstr>
      <vt:lpstr>Aerodynamic Analysis</vt:lpstr>
      <vt:lpstr>Aerodynamic Analysis</vt:lpstr>
      <vt:lpstr>Aerodynamic Analysis</vt:lpstr>
      <vt:lpstr>Aerodynamic Analysis</vt:lpstr>
      <vt:lpstr>Aerodynamic Analysis</vt:lpstr>
      <vt:lpstr>Aerodynamic Analysis</vt:lpstr>
      <vt:lpstr>Aerodynamic Analysis</vt:lpstr>
      <vt:lpstr>PowerPoint Presentation</vt:lpstr>
      <vt:lpstr>Mission Analysis</vt:lpstr>
      <vt:lpstr>Mission Analysis</vt:lpstr>
      <vt:lpstr>Mission Analysis</vt:lpstr>
      <vt:lpstr>Mission Analysis</vt:lpstr>
      <vt:lpstr>Mission Analysis</vt:lpstr>
      <vt:lpstr>Simple Mission Analysis</vt:lpstr>
      <vt:lpstr>Simple Mission Analysis</vt:lpstr>
      <vt:lpstr>Simple Mission Analysis</vt:lpstr>
      <vt:lpstr>Simple Mission Analysis</vt:lpstr>
      <vt:lpstr>Simple Mission Analysis</vt:lpstr>
      <vt:lpstr>Constraint Analysis</vt:lpstr>
      <vt:lpstr>Constraint Analysis</vt:lpstr>
      <vt:lpstr>Constraint Analysis</vt:lpstr>
      <vt:lpstr>Constraint Analysis</vt:lpstr>
      <vt:lpstr>Constraint Analysis</vt:lpstr>
      <vt:lpstr>Convergence Loop</vt:lpstr>
      <vt:lpstr>Convergence Loop</vt:lpstr>
      <vt:lpstr>UNICADO in RCE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build aircraft?</dc:title>
  <dc:subject/>
  <dc:creator>Meric Taneri</dc:creator>
  <cp:keywords/>
  <dc:description>generated using python-pptx</dc:description>
  <cp:lastModifiedBy>Meric Taneri</cp:lastModifiedBy>
  <cp:revision>194</cp:revision>
  <dcterms:created xsi:type="dcterms:W3CDTF">2013-01-27T09:14:16Z</dcterms:created>
  <dcterms:modified xsi:type="dcterms:W3CDTF">2025-06-03T14:31:14Z</dcterms:modified>
  <cp:category/>
</cp:coreProperties>
</file>