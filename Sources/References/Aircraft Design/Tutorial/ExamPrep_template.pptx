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1325" r:id="rId2"/>
    <p:sldId id="1377" r:id="rId3"/>
    <p:sldId id="1379" r:id="rId4"/>
    <p:sldId id="257" r:id="rId5"/>
    <p:sldId id="1425" r:id="rId6"/>
    <p:sldId id="1423" r:id="rId7"/>
    <p:sldId id="1424" r:id="rId8"/>
    <p:sldId id="1400" r:id="rId9"/>
    <p:sldId id="1418" r:id="rId10"/>
    <p:sldId id="1383" r:id="rId11"/>
    <p:sldId id="1401" r:id="rId12"/>
    <p:sldId id="1402" r:id="rId13"/>
    <p:sldId id="1403" r:id="rId14"/>
    <p:sldId id="1404" r:id="rId15"/>
    <p:sldId id="1405" r:id="rId16"/>
    <p:sldId id="1420" r:id="rId17"/>
    <p:sldId id="1406" r:id="rId18"/>
    <p:sldId id="1407" r:id="rId19"/>
    <p:sldId id="1387" r:id="rId20"/>
    <p:sldId id="1390" r:id="rId21"/>
    <p:sldId id="1408" r:id="rId22"/>
    <p:sldId id="1409" r:id="rId23"/>
    <p:sldId id="1410" r:id="rId24"/>
    <p:sldId id="1411" r:id="rId25"/>
    <p:sldId id="1412" r:id="rId26"/>
    <p:sldId id="1413" r:id="rId27"/>
    <p:sldId id="1393" r:id="rId28"/>
  </p:sldIdLst>
  <p:sldSz cx="12192000" cy="6858000"/>
  <p:notesSz cx="6797675" cy="9926638"/>
  <p:custDataLst>
    <p:tags r:id="rId31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ttmann" initials="W" lastIdx="393" clrIdx="0"/>
  <p:cmAuthor id="2" name="Randt" initials="R" lastIdx="2" clrIdx="1"/>
  <p:cmAuthor id="3" name="Lampl, Thomas" initials="LT" lastIdx="1" clrIdx="2">
    <p:extLst>
      <p:ext uri="{19B8F6BF-5375-455C-9EA6-DF929625EA0E}">
        <p15:presenceInfo xmlns:p15="http://schemas.microsoft.com/office/powerpoint/2012/main" userId="S-1-5-21-1499261727-55176102-3529509929-695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BD"/>
    <a:srgbClr val="003359"/>
    <a:srgbClr val="64A0C8"/>
    <a:srgbClr val="A2AD00"/>
    <a:srgbClr val="E37222"/>
    <a:srgbClr val="3399FF"/>
    <a:srgbClr val="0073CF"/>
    <a:srgbClr val="66FF66"/>
    <a:srgbClr val="DAD7C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64" autoAdjust="0"/>
    <p:restoredTop sz="93792" autoAdjust="0"/>
  </p:normalViewPr>
  <p:slideViewPr>
    <p:cSldViewPr snapToGrid="0">
      <p:cViewPr>
        <p:scale>
          <a:sx n="50" d="100"/>
          <a:sy n="50" d="100"/>
        </p:scale>
        <p:origin x="-24" y="10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80232"/>
    </p:cViewPr>
  </p:sorterViewPr>
  <p:notesViewPr>
    <p:cSldViewPr snapToGrid="0">
      <p:cViewPr varScale="1">
        <p:scale>
          <a:sx n="88" d="100"/>
          <a:sy n="88" d="100"/>
        </p:scale>
        <p:origin x="367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333"/>
          </a:xfrm>
          <a:prstGeom prst="rect">
            <a:avLst/>
          </a:prstGeom>
        </p:spPr>
        <p:txBody>
          <a:bodyPr vert="horz" lIns="91281" tIns="45640" rIns="91281" bIns="4564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333"/>
          </a:xfrm>
          <a:prstGeom prst="rect">
            <a:avLst/>
          </a:prstGeom>
        </p:spPr>
        <p:txBody>
          <a:bodyPr vert="horz" lIns="91281" tIns="45640" rIns="91281" bIns="4564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30/01/2023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9428584"/>
            <a:ext cx="2945659" cy="496333"/>
          </a:xfrm>
          <a:prstGeom prst="rect">
            <a:avLst/>
          </a:prstGeom>
        </p:spPr>
        <p:txBody>
          <a:bodyPr vert="horz" lIns="91281" tIns="45640" rIns="91281" bIns="4564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6333"/>
          </a:xfrm>
          <a:prstGeom prst="rect">
            <a:avLst/>
          </a:prstGeom>
        </p:spPr>
        <p:txBody>
          <a:bodyPr vert="horz" lIns="91281" tIns="45640" rIns="91281" bIns="4564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7214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333"/>
          </a:xfrm>
          <a:prstGeom prst="rect">
            <a:avLst/>
          </a:prstGeom>
        </p:spPr>
        <p:txBody>
          <a:bodyPr vert="horz" lIns="91281" tIns="45640" rIns="91281" bIns="4564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3"/>
          </a:xfrm>
          <a:prstGeom prst="rect">
            <a:avLst/>
          </a:prstGeom>
        </p:spPr>
        <p:txBody>
          <a:bodyPr vert="horz" lIns="91281" tIns="45640" rIns="91281" bIns="4564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 smtClean="0"/>
              <a:pPr>
                <a:defRPr/>
              </a:pPr>
              <a:t>30/01/2023</a:t>
            </a:fld>
            <a:endParaRPr lang="en-GB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81" tIns="45640" rIns="91281" bIns="45640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8"/>
          </a:xfrm>
          <a:prstGeom prst="rect">
            <a:avLst/>
          </a:prstGeom>
        </p:spPr>
        <p:txBody>
          <a:bodyPr vert="horz" wrap="square" lIns="91281" tIns="45640" rIns="91281" bIns="4564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45659" cy="496333"/>
          </a:xfrm>
          <a:prstGeom prst="rect">
            <a:avLst/>
          </a:prstGeom>
        </p:spPr>
        <p:txBody>
          <a:bodyPr vert="horz" lIns="91281" tIns="45640" rIns="91281" bIns="4564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6333"/>
          </a:xfrm>
          <a:prstGeom prst="rect">
            <a:avLst/>
          </a:prstGeom>
        </p:spPr>
        <p:txBody>
          <a:bodyPr vert="horz" lIns="91281" tIns="45640" rIns="91281" bIns="4564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429615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692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574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1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863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302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4712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238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814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8992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496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806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240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645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716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856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8702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7237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9841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0543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6109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B04102-F918-4D25-A1C8-8E67F6A2F3CE}" type="slidenum">
              <a:rPr lang="de-DE" smtClean="0"/>
              <a:pPr>
                <a:defRPr/>
              </a:pPr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7651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3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platzhalter 1"/>
          <p:cNvSpPr>
            <a:spLocks noGrp="1"/>
          </p:cNvSpPr>
          <p:nvPr>
            <p:ph type="ctrTitle"/>
          </p:nvPr>
        </p:nvSpPr>
        <p:spPr>
          <a:xfrm>
            <a:off x="478367" y="2130426"/>
            <a:ext cx="11228917" cy="1470025"/>
          </a:xfrm>
        </p:spPr>
        <p:txBody>
          <a:bodyPr/>
          <a:lstStyle>
            <a:lvl1pPr>
              <a:defRPr sz="3200" smtClean="0">
                <a:solidFill>
                  <a:srgbClr val="0065BD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8195" name="Textplatzhalter 2"/>
          <p:cNvSpPr>
            <a:spLocks noGrp="1"/>
          </p:cNvSpPr>
          <p:nvPr>
            <p:ph type="subTitle" idx="1"/>
          </p:nvPr>
        </p:nvSpPr>
        <p:spPr>
          <a:xfrm>
            <a:off x="478367" y="3886200"/>
            <a:ext cx="11228917" cy="1752600"/>
          </a:xfrm>
        </p:spPr>
        <p:txBody>
          <a:bodyPr/>
          <a:lstStyle>
            <a:lvl1pPr>
              <a:defRPr sz="2000" smtClean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subtitle style</a:t>
            </a:r>
          </a:p>
        </p:txBody>
      </p:sp>
      <p:cxnSp>
        <p:nvCxnSpPr>
          <p:cNvPr id="14" name="Straight Connector 13"/>
          <p:cNvCxnSpPr/>
          <p:nvPr userDrawn="1"/>
        </p:nvCxnSpPr>
        <p:spPr bwMode="auto">
          <a:xfrm flipV="1">
            <a:off x="0" y="471056"/>
            <a:ext cx="12192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65B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 userDrawn="1"/>
        </p:nvCxnSpPr>
        <p:spPr bwMode="auto">
          <a:xfrm flipV="1">
            <a:off x="0" y="6400824"/>
            <a:ext cx="12192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65B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 Box 18"/>
          <p:cNvSpPr txBox="1">
            <a:spLocks noChangeArrowheads="1"/>
          </p:cNvSpPr>
          <p:nvPr userDrawn="1"/>
        </p:nvSpPr>
        <p:spPr bwMode="auto">
          <a:xfrm>
            <a:off x="478368" y="6493158"/>
            <a:ext cx="9326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Aircraft Design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| Kristina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Kossarev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65BD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 Box 23"/>
          <p:cNvSpPr txBox="1">
            <a:spLocks noChangeArrowheads="1"/>
          </p:cNvSpPr>
          <p:nvPr userDrawn="1"/>
        </p:nvSpPr>
        <p:spPr bwMode="auto">
          <a:xfrm>
            <a:off x="8456084" y="6493158"/>
            <a:ext cx="32512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Ins="0" anchor="b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anose="020B0604020202020204" pitchFamily="34" charset="0"/>
              </a:rPr>
              <a:t>AY 2022/23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|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anose="020B0604020202020204" pitchFamily="34" charset="0"/>
              </a:rPr>
              <a:t> </a:t>
            </a:r>
            <a:fld id="{9E2D9293-14AD-48BB-B030-230B5A633776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65BD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C0167BC-BB0D-4791-9DD3-2C3E64FE91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0292" y="110638"/>
            <a:ext cx="656992" cy="322394"/>
          </a:xfrm>
          <a:prstGeom prst="rect">
            <a:avLst/>
          </a:prstGeom>
        </p:spPr>
      </p:pic>
      <p:sp>
        <p:nvSpPr>
          <p:cNvPr id="10" name="Textfeld 10">
            <a:extLst>
              <a:ext uri="{FF2B5EF4-FFF2-40B4-BE49-F238E27FC236}">
                <a16:creationId xmlns:a16="http://schemas.microsoft.com/office/drawing/2014/main" id="{DF10F019-226C-49C7-9EC0-4F9F4ADFE917}"/>
              </a:ext>
            </a:extLst>
          </p:cNvPr>
          <p:cNvSpPr txBox="1"/>
          <p:nvPr userDrawn="1"/>
        </p:nvSpPr>
        <p:spPr>
          <a:xfrm>
            <a:off x="850856" y="282662"/>
            <a:ext cx="19634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defRPr/>
            </a:pPr>
            <a:r>
              <a:rPr lang="en-US" sz="1000" dirty="0">
                <a:solidFill>
                  <a:srgbClr val="0065BD"/>
                </a:solidFill>
                <a:latin typeface="Arial" panose="020B0604020202020204" pitchFamily="34" charset="0"/>
                <a:cs typeface="+mn-cs"/>
              </a:rPr>
              <a:t>Chair of Aircraft Design </a:t>
            </a:r>
          </a:p>
        </p:txBody>
      </p:sp>
      <p:pic>
        <p:nvPicPr>
          <p:cNvPr id="11" name="Picture 2" descr="V:\01_Vorlagen\05_Logos\Logo_LLT_Final\Blau\LS_LLT_RGB.emf">
            <a:extLst>
              <a:ext uri="{FF2B5EF4-FFF2-40B4-BE49-F238E27FC236}">
                <a16:creationId xmlns:a16="http://schemas.microsoft.com/office/drawing/2014/main" id="{CC322620-87F7-4760-8604-25A9EAA9AF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 r="9484" b="42673"/>
          <a:stretch>
            <a:fillRect/>
          </a:stretch>
        </p:blipFill>
        <p:spPr bwMode="auto">
          <a:xfrm>
            <a:off x="441432" y="71082"/>
            <a:ext cx="511025" cy="3816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8367" y="627988"/>
            <a:ext cx="11228917" cy="432000"/>
          </a:xfrm>
        </p:spPr>
        <p:txBody>
          <a:bodyPr>
            <a:noAutofit/>
          </a:bodyPr>
          <a:lstStyle>
            <a:lvl1pPr>
              <a:lnSpc>
                <a:spcPct val="125000"/>
              </a:lnSpc>
              <a:defRPr sz="2200"/>
            </a:lvl1pPr>
          </a:lstStyle>
          <a:p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8367" y="1134140"/>
            <a:ext cx="11228917" cy="513346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000"/>
            </a:lvl1pPr>
            <a:lvl2pPr marL="176213" indent="-176213">
              <a:lnSpc>
                <a:spcPct val="125000"/>
              </a:lnSpc>
              <a:spcBef>
                <a:spcPts val="0"/>
              </a:spcBef>
              <a:buFont typeface="Arial" pitchFamily="34" charset="0"/>
              <a:buChar char="•"/>
              <a:defRPr sz="2000"/>
            </a:lvl2pPr>
            <a:lvl3pPr marL="360363" indent="-184150">
              <a:lnSpc>
                <a:spcPct val="125000"/>
              </a:lnSpc>
              <a:spcBef>
                <a:spcPts val="0"/>
              </a:spcBef>
              <a:buFont typeface="Symbol" pitchFamily="18" charset="2"/>
              <a:buChar char="-"/>
              <a:defRPr sz="2000"/>
            </a:lvl3pPr>
            <a:lvl4pPr marL="538163" indent="-177800">
              <a:lnSpc>
                <a:spcPct val="125000"/>
              </a:lnSpc>
              <a:spcBef>
                <a:spcPts val="0"/>
              </a:spcBef>
              <a:buFont typeface="Symbol" pitchFamily="18" charset="2"/>
              <a:buChar char="-"/>
              <a:defRPr sz="2000"/>
            </a:lvl4pPr>
            <a:lvl5pPr marL="714375" indent="-176213">
              <a:lnSpc>
                <a:spcPct val="125000"/>
              </a:lnSpc>
              <a:spcBef>
                <a:spcPts val="0"/>
              </a:spcBef>
              <a:buFont typeface="Symbol" pitchFamily="18" charset="2"/>
              <a:buChar char="-"/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4378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335642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think-cell Folie" r:id="rId4" imgW="216" imgH="216" progId="TCLayout.ActiveDocument.1">
                  <p:embed/>
                </p:oleObj>
              </mc:Choice>
              <mc:Fallback>
                <p:oleObj name="think-cell Folie" r:id="rId4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8367" y="53830"/>
            <a:ext cx="11228917" cy="432000"/>
          </a:xfrm>
        </p:spPr>
        <p:txBody>
          <a:bodyPr>
            <a:noAutofit/>
          </a:bodyPr>
          <a:lstStyle>
            <a:lvl1pPr>
              <a:lnSpc>
                <a:spcPct val="125000"/>
              </a:lnSpc>
              <a:defRPr sz="2200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Master title style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8367" y="485830"/>
            <a:ext cx="11228917" cy="578177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000"/>
            </a:lvl1pPr>
            <a:lvl2pPr marL="176213" indent="-176213">
              <a:lnSpc>
                <a:spcPct val="125000"/>
              </a:lnSpc>
              <a:spcBef>
                <a:spcPts val="0"/>
              </a:spcBef>
              <a:buFont typeface="Arial" pitchFamily="34" charset="0"/>
              <a:buChar char="•"/>
              <a:defRPr sz="2000"/>
            </a:lvl2pPr>
            <a:lvl3pPr marL="360363" indent="-184150">
              <a:lnSpc>
                <a:spcPct val="125000"/>
              </a:lnSpc>
              <a:spcBef>
                <a:spcPts val="0"/>
              </a:spcBef>
              <a:buFont typeface="Symbol" pitchFamily="18" charset="2"/>
              <a:buChar char="-"/>
              <a:defRPr sz="2000"/>
            </a:lvl3pPr>
            <a:lvl4pPr marL="538163" indent="-177800">
              <a:lnSpc>
                <a:spcPct val="125000"/>
              </a:lnSpc>
              <a:spcBef>
                <a:spcPts val="0"/>
              </a:spcBef>
              <a:buFont typeface="Symbol" pitchFamily="18" charset="2"/>
              <a:buChar char="-"/>
              <a:defRPr sz="2000"/>
            </a:lvl4pPr>
            <a:lvl5pPr marL="714375" indent="-176213">
              <a:lnSpc>
                <a:spcPct val="125000"/>
              </a:lnSpc>
              <a:spcBef>
                <a:spcPts val="0"/>
              </a:spcBef>
              <a:buFont typeface="Symbol" pitchFamily="18" charset="2"/>
              <a:buChar char="-"/>
              <a:defRPr sz="20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349258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77333" y="1828800"/>
            <a:ext cx="5317067" cy="4343400"/>
          </a:xfrm>
        </p:spPr>
        <p:txBody>
          <a:bodyPr/>
          <a:lstStyle>
            <a:lvl1pPr>
              <a:defRPr sz="1800">
                <a:solidFill>
                  <a:srgbClr val="50505A"/>
                </a:solidFill>
              </a:defRPr>
            </a:lvl1pPr>
            <a:lvl2pPr>
              <a:defRPr sz="1800">
                <a:solidFill>
                  <a:srgbClr val="50505A"/>
                </a:solidFill>
              </a:defRPr>
            </a:lvl2pPr>
            <a:lvl3pPr>
              <a:defRPr sz="1800">
                <a:solidFill>
                  <a:srgbClr val="50505A"/>
                </a:solidFill>
              </a:defRPr>
            </a:lvl3pPr>
            <a:lvl4pPr>
              <a:defRPr sz="1800">
                <a:solidFill>
                  <a:srgbClr val="50505A"/>
                </a:solidFill>
              </a:defRPr>
            </a:lvl4pPr>
            <a:lvl5pPr>
              <a:defRPr sz="1800">
                <a:solidFill>
                  <a:srgbClr val="50505A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317067" cy="4343400"/>
          </a:xfrm>
        </p:spPr>
        <p:txBody>
          <a:bodyPr/>
          <a:lstStyle>
            <a:lvl1pPr>
              <a:defRPr sz="1800">
                <a:solidFill>
                  <a:srgbClr val="50505A"/>
                </a:solidFill>
              </a:defRPr>
            </a:lvl1pPr>
            <a:lvl2pPr>
              <a:defRPr sz="1800">
                <a:solidFill>
                  <a:srgbClr val="50505A"/>
                </a:solidFill>
              </a:defRPr>
            </a:lvl2pPr>
            <a:lvl3pPr>
              <a:defRPr sz="1800">
                <a:solidFill>
                  <a:srgbClr val="50505A"/>
                </a:solidFill>
              </a:defRPr>
            </a:lvl3pPr>
            <a:lvl4pPr>
              <a:defRPr sz="1800">
                <a:solidFill>
                  <a:srgbClr val="50505A"/>
                </a:solidFill>
              </a:defRPr>
            </a:lvl4pPr>
            <a:lvl5pPr>
              <a:defRPr sz="1800">
                <a:solidFill>
                  <a:srgbClr val="50505A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5478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4B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95"/>
              </a:lnSpc>
            </a:pPr>
            <a:r>
              <a:rPr lang="en-US"/>
              <a:t>AY</a:t>
            </a:r>
            <a:r>
              <a:rPr lang="en-US" spc="-60"/>
              <a:t> </a:t>
            </a:r>
            <a:r>
              <a:rPr lang="en-US" spc="-10"/>
              <a:t>2021/22</a:t>
            </a:r>
            <a:endParaRPr lang="en-US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4B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/>
              <a:t>Chair</a:t>
            </a:r>
            <a:r>
              <a:rPr lang="en-US" spc="-35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Aircraft</a:t>
            </a:r>
            <a:r>
              <a:rPr lang="en-US" spc="-25"/>
              <a:t> </a:t>
            </a:r>
            <a:r>
              <a:rPr lang="en-US" spc="-10"/>
              <a:t>Design</a:t>
            </a:r>
          </a:p>
          <a:p>
            <a:pPr marL="12700"/>
            <a:r>
              <a:rPr lang="en-US"/>
              <a:t>Aircraft</a:t>
            </a:r>
            <a:r>
              <a:rPr lang="en-US" spc="-10"/>
              <a:t> </a:t>
            </a:r>
            <a:r>
              <a:rPr lang="en-US"/>
              <a:t>Design</a:t>
            </a:r>
            <a:r>
              <a:rPr lang="en-US" spc="-20"/>
              <a:t> </a:t>
            </a:r>
            <a:r>
              <a:rPr lang="en-US"/>
              <a:t>| Prof.</a:t>
            </a:r>
            <a:r>
              <a:rPr lang="en-US" spc="-10"/>
              <a:t> Dr.-</a:t>
            </a:r>
            <a:r>
              <a:rPr lang="en-US"/>
              <a:t>Ing.</a:t>
            </a:r>
            <a:r>
              <a:rPr lang="en-US" spc="10"/>
              <a:t> </a:t>
            </a:r>
            <a:r>
              <a:rPr lang="en-US"/>
              <a:t>M. </a:t>
            </a:r>
            <a:r>
              <a:rPr lang="en-US" spc="-10"/>
              <a:t>Hornung</a:t>
            </a:r>
            <a:endParaRPr lang="en-US"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98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09855119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think-cell Folie" r:id="rId9" imgW="216" imgH="216" progId="TCLayout.ActiveDocument.1">
                  <p:embed/>
                </p:oleObj>
              </mc:Choice>
              <mc:Fallback>
                <p:oleObj name="think-cell Folie" r:id="rId9" imgW="216" imgH="21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78367" y="627478"/>
            <a:ext cx="11228917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78367" y="1135527"/>
            <a:ext cx="11228917" cy="513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" name="Text Box 18"/>
          <p:cNvSpPr txBox="1">
            <a:spLocks noChangeArrowheads="1"/>
          </p:cNvSpPr>
          <p:nvPr userDrawn="1"/>
        </p:nvSpPr>
        <p:spPr bwMode="auto">
          <a:xfrm>
            <a:off x="478368" y="6493158"/>
            <a:ext cx="932603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Aircraft Design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| Kristina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Kossarev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65BD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23"/>
          <p:cNvSpPr txBox="1">
            <a:spLocks noChangeArrowheads="1"/>
          </p:cNvSpPr>
          <p:nvPr userDrawn="1"/>
        </p:nvSpPr>
        <p:spPr bwMode="auto">
          <a:xfrm>
            <a:off x="8456084" y="6493158"/>
            <a:ext cx="32512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rIns="0" anchor="b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anose="020B0604020202020204" pitchFamily="34" charset="0"/>
              </a:rPr>
              <a:t>AY 2022/23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|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anose="020B0604020202020204" pitchFamily="34" charset="0"/>
              </a:rPr>
              <a:t> </a:t>
            </a:r>
            <a:fld id="{9E2D9293-14AD-48BB-B030-230B5A633776}" type="slidenum">
              <a:rPr kumimoji="0" lang="de-DE" sz="1200" b="0" i="0" u="none" strike="noStrike" kern="0" cap="none" spc="0" normalizeH="0" baseline="0" noProof="0" smtClean="0">
                <a:ln>
                  <a:noFill/>
                </a:ln>
                <a:solidFill>
                  <a:srgbClr val="0065BD"/>
                </a:solidFill>
                <a:effectLst/>
                <a:uLnTx/>
                <a:uFillTx/>
                <a:latin typeface="Arial" panose="020B0604020202020204" pitchFamily="34" charset="0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65BD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cxnSp>
        <p:nvCxnSpPr>
          <p:cNvPr id="11" name="Straight Connector 10"/>
          <p:cNvCxnSpPr/>
          <p:nvPr userDrawn="1"/>
        </p:nvCxnSpPr>
        <p:spPr bwMode="auto">
          <a:xfrm flipV="1">
            <a:off x="0" y="471056"/>
            <a:ext cx="12192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65B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 userDrawn="1"/>
        </p:nvCxnSpPr>
        <p:spPr bwMode="auto">
          <a:xfrm flipV="1">
            <a:off x="0" y="6400824"/>
            <a:ext cx="121920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65B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EA2D513F-1336-4B59-8B5D-B353D2FE70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0292" y="110638"/>
            <a:ext cx="656992" cy="322394"/>
          </a:xfrm>
          <a:prstGeom prst="rect">
            <a:avLst/>
          </a:prstGeom>
        </p:spPr>
      </p:pic>
      <p:sp>
        <p:nvSpPr>
          <p:cNvPr id="14" name="Textfeld 10">
            <a:extLst>
              <a:ext uri="{FF2B5EF4-FFF2-40B4-BE49-F238E27FC236}">
                <a16:creationId xmlns:a16="http://schemas.microsoft.com/office/drawing/2014/main" id="{32F94777-F511-49DA-B612-B9F751F794A4}"/>
              </a:ext>
            </a:extLst>
          </p:cNvPr>
          <p:cNvSpPr txBox="1"/>
          <p:nvPr userDrawn="1"/>
        </p:nvSpPr>
        <p:spPr>
          <a:xfrm>
            <a:off x="850856" y="282662"/>
            <a:ext cx="19634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>
              <a:defRPr/>
            </a:pPr>
            <a:r>
              <a:rPr lang="en-US" sz="1000" dirty="0">
                <a:solidFill>
                  <a:srgbClr val="0065BD"/>
                </a:solidFill>
                <a:latin typeface="Arial" panose="020B0604020202020204" pitchFamily="34" charset="0"/>
                <a:cs typeface="+mn-cs"/>
              </a:rPr>
              <a:t>Chair of Aircraft Design </a:t>
            </a:r>
          </a:p>
        </p:txBody>
      </p:sp>
      <p:pic>
        <p:nvPicPr>
          <p:cNvPr id="15" name="Picture 2" descr="V:\01_Vorlagen\05_Logos\Logo_LLT_Final\Blau\LS_LLT_RGB.emf">
            <a:extLst>
              <a:ext uri="{FF2B5EF4-FFF2-40B4-BE49-F238E27FC236}">
                <a16:creationId xmlns:a16="http://schemas.microsoft.com/office/drawing/2014/main" id="{EAAAC92A-DA6F-4C29-8A9C-14DD7576E0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/>
          <a:srcRect r="9484" b="42673"/>
          <a:stretch>
            <a:fillRect/>
          </a:stretch>
        </p:blipFill>
        <p:spPr bwMode="auto">
          <a:xfrm>
            <a:off x="441432" y="71082"/>
            <a:ext cx="511025" cy="3816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</p:sldLayoutIdLst>
  <p:hf sldNum="0" hdr="0" ft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ampus.tum.de/tumonline/pl/ui/$ctx;design=pl;header=max;lang=de/ris.einzelRaum?raumKey=6201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ampus.tum.de/tumonline/pl/ui/$ctx;design=pl;header=max;lang=de/ris.einzelRaum?raumKey=68981" TargetMode="External"/><Relationship Id="rId4" Type="http://schemas.openxmlformats.org/officeDocument/2006/relationships/hyperlink" Target="https://campus.tum.de/tumonline/pl/ui/$ctx;design=pl;header=max;lang=de/ris.einzelRaum?raumKey=11807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sKivHdFUMI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youtube.com/watch?v=-wOSrXV60MY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4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0.png"/><Relationship Id="rId4" Type="http://schemas.openxmlformats.org/officeDocument/2006/relationships/image" Target="../media/image4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Aircraft Design</a:t>
            </a:r>
            <a:br>
              <a:rPr lang="en-US" dirty="0"/>
            </a:br>
            <a:r>
              <a:rPr lang="en-US" sz="1800" dirty="0"/>
              <a:t>Exam Preparation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56DE786-BC17-4F06-A266-33FA78D0C2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1"/>
          <a:stretch/>
        </p:blipFill>
        <p:spPr>
          <a:xfrm rot="10800000" flipH="1">
            <a:off x="4503896" y="528882"/>
            <a:ext cx="7182371" cy="3346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D592253-566B-498C-B3D5-AE59486A75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61"/>
          <a:stretch/>
        </p:blipFill>
        <p:spPr>
          <a:xfrm>
            <a:off x="478366" y="4001824"/>
            <a:ext cx="3262467" cy="23746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121F330-302D-4CE7-9FAB-FD5B515799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462" y="4001632"/>
            <a:ext cx="7063579" cy="237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840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306CC06-6961-4A0A-849F-0B640585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</a:t>
            </a:r>
            <a:r>
              <a:rPr lang="de-DE" dirty="0"/>
              <a:t>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67" y="1096552"/>
            <a:ext cx="11228917" cy="5133460"/>
          </a:xfrm>
          <a:ln>
            <a:noFill/>
          </a:ln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300"/>
              </a:spcBef>
              <a:buNone/>
              <a:tabLst>
                <a:tab pos="176213" algn="l"/>
                <a:tab pos="1612900" algn="l"/>
              </a:tabLst>
            </a:pPr>
            <a:r>
              <a:rPr lang="de-DE" sz="1800" dirty="0" err="1"/>
              <a:t>February</a:t>
            </a:r>
            <a:r>
              <a:rPr lang="de-DE" sz="1800" dirty="0"/>
              <a:t> 14th 2023 11:30-13:00 in </a:t>
            </a:r>
            <a:r>
              <a:rPr lang="en-US" sz="1800" u="sng" dirty="0">
                <a:hlinkClick r:id="rId3"/>
              </a:rPr>
              <a:t>101, </a:t>
            </a:r>
            <a:r>
              <a:rPr lang="en-US" sz="1800" u="sng" dirty="0" err="1">
                <a:hlinkClick r:id="rId3"/>
              </a:rPr>
              <a:t>Hörsaal</a:t>
            </a:r>
            <a:r>
              <a:rPr lang="en-US" sz="1800" u="sng" dirty="0">
                <a:hlinkClick r:id="rId3"/>
              </a:rPr>
              <a:t> 1, "Interims I" (5620.01.101)</a:t>
            </a:r>
            <a:r>
              <a:rPr lang="en-US" sz="1800" dirty="0"/>
              <a:t>, </a:t>
            </a:r>
            <a:r>
              <a:rPr lang="en-US" sz="1800" dirty="0">
                <a:hlinkClick r:id="rId4"/>
              </a:rPr>
              <a:t>MW 1801, Ernst-Schmidt-</a:t>
            </a:r>
            <a:r>
              <a:rPr lang="en-US" sz="1800" dirty="0" err="1">
                <a:hlinkClick r:id="rId4"/>
              </a:rPr>
              <a:t>Hörsaal</a:t>
            </a:r>
            <a:r>
              <a:rPr lang="en-US" sz="1800" dirty="0">
                <a:hlinkClick r:id="rId4"/>
              </a:rPr>
              <a:t> (5508.02.801)</a:t>
            </a:r>
            <a:r>
              <a:rPr lang="en-US" sz="1800" dirty="0"/>
              <a:t>, </a:t>
            </a:r>
            <a:r>
              <a:rPr lang="en-US" sz="1800" dirty="0">
                <a:hlinkClick r:id="rId5"/>
              </a:rPr>
              <a:t>003, </a:t>
            </a:r>
            <a:r>
              <a:rPr lang="en-US" sz="1800" dirty="0" err="1">
                <a:hlinkClick r:id="rId5"/>
              </a:rPr>
              <a:t>Hörsaal</a:t>
            </a:r>
            <a:r>
              <a:rPr lang="en-US" sz="1800" dirty="0">
                <a:hlinkClick r:id="rId5"/>
              </a:rPr>
              <a:t> 2, "Interims II" (5416.01.003)</a:t>
            </a:r>
            <a:r>
              <a:rPr lang="en-US" sz="1800" dirty="0"/>
              <a:t> (room allocation will be published soon)</a:t>
            </a:r>
          </a:p>
          <a:p>
            <a:pPr marL="0" lvl="1" indent="0">
              <a:lnSpc>
                <a:spcPct val="150000"/>
              </a:lnSpc>
              <a:spcBef>
                <a:spcPts val="300"/>
              </a:spcBef>
              <a:buNone/>
              <a:tabLst>
                <a:tab pos="176213" algn="l"/>
                <a:tab pos="1612900" algn="l"/>
              </a:tabLst>
            </a:pPr>
            <a:endParaRPr lang="de-DE" sz="1800" dirty="0"/>
          </a:p>
          <a:p>
            <a:pPr lvl="1">
              <a:lnSpc>
                <a:spcPct val="150000"/>
              </a:lnSpc>
              <a:spcBef>
                <a:spcPts val="300"/>
              </a:spcBef>
              <a:tabLst>
                <a:tab pos="176213" algn="l"/>
                <a:tab pos="1612900" algn="l"/>
              </a:tabLst>
            </a:pPr>
            <a:r>
              <a:rPr lang="de-DE" sz="1800" dirty="0"/>
              <a:t>Style: 	- </a:t>
            </a:r>
            <a:r>
              <a:rPr lang="de-DE" sz="1800" dirty="0" err="1"/>
              <a:t>Written</a:t>
            </a:r>
            <a:r>
              <a:rPr lang="de-DE" sz="1800" dirty="0"/>
              <a:t> </a:t>
            </a:r>
            <a:r>
              <a:rPr lang="de-DE" sz="1800" dirty="0" err="1"/>
              <a:t>exam</a:t>
            </a:r>
            <a:endParaRPr lang="de-DE" sz="1800" dirty="0"/>
          </a:p>
          <a:p>
            <a:pPr marL="1700213" lvl="1" indent="-87313">
              <a:lnSpc>
                <a:spcPct val="150000"/>
              </a:lnSpc>
              <a:spcBef>
                <a:spcPts val="300"/>
              </a:spcBef>
              <a:buNone/>
              <a:tabLst>
                <a:tab pos="176213" algn="l"/>
                <a:tab pos="1797050" algn="l"/>
              </a:tabLst>
            </a:pPr>
            <a:r>
              <a:rPr lang="de-DE" sz="1800" dirty="0"/>
              <a:t>- </a:t>
            </a:r>
            <a:r>
              <a:rPr lang="de-DE" sz="1800" dirty="0" err="1"/>
              <a:t>Mixture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questions</a:t>
            </a:r>
            <a:r>
              <a:rPr lang="de-DE" sz="1800" dirty="0"/>
              <a:t> (</a:t>
            </a:r>
            <a:r>
              <a:rPr lang="de-DE" sz="1800" dirty="0" err="1"/>
              <a:t>of</a:t>
            </a:r>
            <a:r>
              <a:rPr lang="de-DE" sz="1800" dirty="0"/>
              <a:t> style multiple-</a:t>
            </a:r>
            <a:r>
              <a:rPr lang="de-DE" sz="1800" dirty="0" err="1"/>
              <a:t>choice</a:t>
            </a:r>
            <a:r>
              <a:rPr lang="de-DE" sz="1800" dirty="0"/>
              <a:t> &amp; „</a:t>
            </a:r>
            <a:r>
              <a:rPr lang="de-DE" sz="1800" dirty="0" err="1"/>
              <a:t>free</a:t>
            </a:r>
            <a:r>
              <a:rPr lang="de-DE" sz="1800" dirty="0"/>
              <a:t>-text“) and </a:t>
            </a:r>
            <a:r>
              <a:rPr lang="de-DE" sz="1800" dirty="0" err="1"/>
              <a:t>calculation</a:t>
            </a:r>
            <a:r>
              <a:rPr lang="de-DE" sz="1800" dirty="0"/>
              <a:t> </a:t>
            </a:r>
            <a:r>
              <a:rPr lang="de-DE" sz="1800" dirty="0" err="1"/>
              <a:t>tasks</a:t>
            </a:r>
            <a:r>
              <a:rPr lang="de-DE" sz="1800" dirty="0"/>
              <a:t> (~ 50/50)</a:t>
            </a:r>
          </a:p>
          <a:p>
            <a:pPr lvl="1">
              <a:lnSpc>
                <a:spcPct val="150000"/>
              </a:lnSpc>
              <a:spcBef>
                <a:spcPts val="300"/>
              </a:spcBef>
              <a:tabLst>
                <a:tab pos="1612900" algn="l"/>
              </a:tabLst>
            </a:pPr>
            <a:r>
              <a:rPr lang="en-US" sz="1800" dirty="0"/>
              <a:t>Aids:	- Except from a pen, ruler and calculator (not programmable) no other aids are allowed! </a:t>
            </a:r>
          </a:p>
          <a:p>
            <a:pPr marL="0" lvl="1" indent="0">
              <a:lnSpc>
                <a:spcPct val="150000"/>
              </a:lnSpc>
              <a:spcBef>
                <a:spcPts val="300"/>
              </a:spcBef>
              <a:buNone/>
              <a:tabLst>
                <a:tab pos="1611313" algn="l"/>
              </a:tabLst>
            </a:pPr>
            <a:r>
              <a:rPr lang="de-DE" sz="1800" dirty="0"/>
              <a:t>	- A </a:t>
            </a:r>
            <a:r>
              <a:rPr lang="de-DE" sz="1800" dirty="0" err="1"/>
              <a:t>dictionary</a:t>
            </a:r>
            <a:r>
              <a:rPr lang="de-DE" sz="1800" dirty="0"/>
              <a:t> </a:t>
            </a:r>
            <a:r>
              <a:rPr lang="de-DE" sz="1800" dirty="0" err="1"/>
              <a:t>may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used</a:t>
            </a:r>
            <a:r>
              <a:rPr lang="de-DE" sz="1800" dirty="0"/>
              <a:t>.</a:t>
            </a:r>
            <a:endParaRPr lang="en-US" sz="1800" i="1" dirty="0"/>
          </a:p>
          <a:p>
            <a:pPr marL="461963" lvl="1" indent="-285750">
              <a:spcAft>
                <a:spcPts val="1200"/>
              </a:spcAft>
            </a:pPr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7917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306CC06-6961-4A0A-849F-0B6405856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</a:t>
            </a:r>
            <a:r>
              <a:rPr lang="de-DE" dirty="0"/>
              <a:t>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67" y="1134140"/>
            <a:ext cx="11228917" cy="5133460"/>
          </a:xfrm>
          <a:ln>
            <a:noFill/>
          </a:ln>
        </p:spPr>
        <p:txBody>
          <a:bodyPr>
            <a:noAutofit/>
          </a:bodyPr>
          <a:lstStyle/>
          <a:p>
            <a:pPr lvl="1">
              <a:lnSpc>
                <a:spcPct val="150000"/>
              </a:lnSpc>
              <a:spcBef>
                <a:spcPts val="300"/>
              </a:spcBef>
              <a:tabLst>
                <a:tab pos="1616075" algn="l"/>
              </a:tabLst>
            </a:pPr>
            <a:r>
              <a:rPr lang="de-DE" sz="1800" dirty="0"/>
              <a:t>Other </a:t>
            </a:r>
            <a:r>
              <a:rPr lang="de-DE" sz="1800" dirty="0" err="1"/>
              <a:t>hints</a:t>
            </a:r>
            <a:r>
              <a:rPr lang="de-DE" sz="1800" dirty="0"/>
              <a:t>:	</a:t>
            </a:r>
            <a:endParaRPr lang="en-US" sz="1800" i="1" dirty="0"/>
          </a:p>
          <a:p>
            <a:pPr marL="461963" lvl="1" indent="-285750">
              <a:spcAft>
                <a:spcPts val="1200"/>
              </a:spcAft>
            </a:pPr>
            <a:endParaRPr lang="en-US" sz="1800" dirty="0">
              <a:latin typeface="+mj-l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FBDA439-C3AB-42A8-801C-53AD64675312}"/>
              </a:ext>
            </a:extLst>
          </p:cNvPr>
          <p:cNvSpPr txBox="1"/>
          <p:nvPr/>
        </p:nvSpPr>
        <p:spPr>
          <a:xfrm>
            <a:off x="2173236" y="1244502"/>
            <a:ext cx="9534047" cy="46108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/>
                <a:cs typeface="Arial"/>
              </a:rPr>
              <a:t>-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List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with</a:t>
            </a:r>
            <a:r>
              <a:rPr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equations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to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be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known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by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heart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available</a:t>
            </a:r>
            <a:r>
              <a:rPr spc="-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Moodle</a:t>
            </a:r>
            <a:endParaRPr lang="de-DE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de-DE" spc="-10" dirty="0">
              <a:latin typeface="Arial"/>
              <a:cs typeface="Arial"/>
            </a:endParaRPr>
          </a:p>
          <a:p>
            <a:pPr marL="137160" indent="-125095">
              <a:lnSpc>
                <a:spcPct val="100000"/>
              </a:lnSpc>
              <a:spcBef>
                <a:spcPts val="95"/>
              </a:spcBef>
              <a:buChar char="-"/>
              <a:tabLst>
                <a:tab pos="137795" algn="l"/>
              </a:tabLst>
            </a:pPr>
            <a:r>
              <a:rPr lang="en-US" dirty="0"/>
              <a:t>Unit</a:t>
            </a:r>
            <a:r>
              <a:rPr lang="en-US" spc="-45" dirty="0"/>
              <a:t> </a:t>
            </a:r>
            <a:r>
              <a:rPr lang="en-US" dirty="0"/>
              <a:t>conversion</a:t>
            </a:r>
            <a:r>
              <a:rPr lang="en-US" spc="-45" dirty="0"/>
              <a:t> </a:t>
            </a:r>
            <a:r>
              <a:rPr lang="en-US" dirty="0"/>
              <a:t>factors</a:t>
            </a:r>
            <a:r>
              <a:rPr lang="en-US" spc="-35" dirty="0"/>
              <a:t> </a:t>
            </a:r>
            <a:r>
              <a:rPr lang="en-US" dirty="0"/>
              <a:t>will</a:t>
            </a:r>
            <a:r>
              <a:rPr lang="en-US" spc="-45" dirty="0"/>
              <a:t> </a:t>
            </a:r>
            <a:r>
              <a:rPr lang="en-US" dirty="0"/>
              <a:t>be</a:t>
            </a:r>
            <a:r>
              <a:rPr lang="en-US" spc="-50" dirty="0"/>
              <a:t> </a:t>
            </a:r>
            <a:r>
              <a:rPr lang="en-US" spc="-10" dirty="0"/>
              <a:t>given</a:t>
            </a: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-"/>
            </a:pPr>
            <a:endParaRPr lang="en-US" sz="2400" dirty="0"/>
          </a:p>
          <a:p>
            <a:pPr marL="135890" indent="-122555">
              <a:lnSpc>
                <a:spcPct val="100000"/>
              </a:lnSpc>
              <a:buChar char="-"/>
              <a:tabLst>
                <a:tab pos="136525" algn="l"/>
              </a:tabLst>
            </a:pPr>
            <a:r>
              <a:rPr lang="en-US" spc="-40" dirty="0"/>
              <a:t>You</a:t>
            </a:r>
            <a:r>
              <a:rPr lang="en-US" spc="-25" dirty="0"/>
              <a:t> </a:t>
            </a:r>
            <a:r>
              <a:rPr lang="en-US" dirty="0"/>
              <a:t>can</a:t>
            </a:r>
            <a:r>
              <a:rPr lang="en-US" spc="-40" dirty="0"/>
              <a:t> </a:t>
            </a:r>
            <a:r>
              <a:rPr lang="en-US" dirty="0"/>
              <a:t>answer</a:t>
            </a:r>
            <a:r>
              <a:rPr lang="en-US" spc="-35" dirty="0"/>
              <a:t> </a:t>
            </a:r>
            <a:r>
              <a:rPr lang="en-US" dirty="0"/>
              <a:t>in</a:t>
            </a:r>
            <a:r>
              <a:rPr lang="en-US" spc="-45" dirty="0"/>
              <a:t> </a:t>
            </a:r>
            <a:r>
              <a:rPr lang="en-US" dirty="0"/>
              <a:t>English</a:t>
            </a:r>
            <a:r>
              <a:rPr lang="en-US" spc="-60" dirty="0"/>
              <a:t> </a:t>
            </a:r>
            <a:r>
              <a:rPr lang="en-US" b="1" dirty="0">
                <a:latin typeface="Arial"/>
                <a:cs typeface="Arial"/>
              </a:rPr>
              <a:t>or</a:t>
            </a:r>
            <a:r>
              <a:rPr lang="en-US" b="1" spc="-30" dirty="0">
                <a:latin typeface="Arial"/>
                <a:cs typeface="Arial"/>
              </a:rPr>
              <a:t> </a:t>
            </a:r>
            <a:r>
              <a:rPr lang="en-US" dirty="0"/>
              <a:t>in</a:t>
            </a:r>
            <a:r>
              <a:rPr lang="en-US" spc="-55" dirty="0"/>
              <a:t> </a:t>
            </a:r>
            <a:r>
              <a:rPr lang="en-US" spc="-10" dirty="0"/>
              <a:t>German</a:t>
            </a:r>
          </a:p>
          <a:p>
            <a:pPr marL="13970" marR="847725" indent="125730">
              <a:lnSpc>
                <a:spcPct val="150000"/>
              </a:lnSpc>
              <a:spcBef>
                <a:spcPts val="785"/>
              </a:spcBef>
              <a:buChar char="-"/>
              <a:tabLst>
                <a:tab pos="139700" algn="l"/>
              </a:tabLst>
            </a:pPr>
            <a:r>
              <a:rPr lang="en-US" dirty="0"/>
              <a:t>Give</a:t>
            </a:r>
            <a:r>
              <a:rPr lang="en-US" spc="-50" dirty="0"/>
              <a:t> </a:t>
            </a:r>
            <a:r>
              <a:rPr lang="en-US" dirty="0"/>
              <a:t>numeric</a:t>
            </a:r>
            <a:r>
              <a:rPr lang="en-US" spc="-55" dirty="0"/>
              <a:t> </a:t>
            </a:r>
            <a:r>
              <a:rPr lang="en-US" dirty="0"/>
              <a:t>values</a:t>
            </a:r>
            <a:r>
              <a:rPr lang="en-US" spc="-70" dirty="0"/>
              <a:t> </a:t>
            </a:r>
            <a:r>
              <a:rPr lang="en-US" dirty="0"/>
              <a:t>with</a:t>
            </a:r>
            <a:r>
              <a:rPr lang="en-US" spc="-40" dirty="0"/>
              <a:t> </a:t>
            </a:r>
            <a:r>
              <a:rPr lang="en-US" b="1" dirty="0">
                <a:latin typeface="Arial"/>
                <a:cs typeface="Arial"/>
              </a:rPr>
              <a:t>four</a:t>
            </a:r>
            <a:r>
              <a:rPr lang="en-US" b="1" spc="-4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significant</a:t>
            </a:r>
            <a:r>
              <a:rPr lang="en-US" b="1" spc="-3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digits</a:t>
            </a:r>
            <a:r>
              <a:rPr lang="en-US" b="1" spc="-30" dirty="0">
                <a:latin typeface="Arial"/>
                <a:cs typeface="Arial"/>
              </a:rPr>
              <a:t> </a:t>
            </a:r>
            <a:r>
              <a:rPr lang="en-US" b="1" spc="-10" dirty="0">
                <a:latin typeface="Arial"/>
                <a:cs typeface="Arial"/>
              </a:rPr>
              <a:t>(123400, 0.01234).</a:t>
            </a:r>
          </a:p>
          <a:p>
            <a:pPr marL="140335">
              <a:lnSpc>
                <a:spcPct val="100000"/>
              </a:lnSpc>
              <a:spcBef>
                <a:spcPts val="1560"/>
              </a:spcBef>
            </a:pPr>
            <a:r>
              <a:rPr lang="en-US" spc="-160" dirty="0">
                <a:latin typeface="Wingdings"/>
                <a:cs typeface="Wingdings"/>
              </a:rPr>
              <a:t></a:t>
            </a:r>
            <a:r>
              <a:rPr lang="en-US" spc="50" dirty="0">
                <a:latin typeface="Times New Roman"/>
                <a:cs typeface="Times New Roman"/>
              </a:rPr>
              <a:t> </a:t>
            </a:r>
            <a:r>
              <a:rPr lang="en-US" dirty="0"/>
              <a:t>for</a:t>
            </a:r>
            <a:r>
              <a:rPr lang="en-US" spc="-60" dirty="0"/>
              <a:t> </a:t>
            </a:r>
            <a:r>
              <a:rPr lang="en-US" dirty="0"/>
              <a:t>wrong</a:t>
            </a:r>
            <a:r>
              <a:rPr lang="en-US" spc="-15" dirty="0"/>
              <a:t> </a:t>
            </a:r>
            <a:r>
              <a:rPr lang="en-US" dirty="0" err="1"/>
              <a:t>roundings</a:t>
            </a:r>
            <a:r>
              <a:rPr lang="en-US" spc="-30" dirty="0"/>
              <a:t> </a:t>
            </a:r>
            <a:r>
              <a:rPr lang="en-US" spc="-20" dirty="0"/>
              <a:t>-</a:t>
            </a:r>
            <a:r>
              <a:rPr lang="en-US" dirty="0"/>
              <a:t>0.5P</a:t>
            </a:r>
            <a:r>
              <a:rPr lang="en-US" spc="-40" dirty="0"/>
              <a:t> </a:t>
            </a:r>
            <a:r>
              <a:rPr lang="en-US" dirty="0"/>
              <a:t>will</a:t>
            </a:r>
            <a:r>
              <a:rPr lang="en-US" spc="-40" dirty="0"/>
              <a:t> </a:t>
            </a:r>
            <a:r>
              <a:rPr lang="en-US" dirty="0"/>
              <a:t>be</a:t>
            </a:r>
            <a:r>
              <a:rPr lang="en-US" spc="-35" dirty="0"/>
              <a:t> </a:t>
            </a:r>
            <a:r>
              <a:rPr lang="en-US" spc="-10" dirty="0"/>
              <a:t>given</a:t>
            </a:r>
          </a:p>
          <a:p>
            <a:pPr marL="140335">
              <a:lnSpc>
                <a:spcPct val="100000"/>
              </a:lnSpc>
              <a:spcBef>
                <a:spcPts val="1560"/>
              </a:spcBef>
            </a:pPr>
            <a:r>
              <a:rPr lang="en-US" spc="-160" dirty="0">
                <a:latin typeface="Wingdings"/>
                <a:cs typeface="Wingdings"/>
              </a:rPr>
              <a:t></a:t>
            </a:r>
            <a:r>
              <a:rPr lang="en-US" spc="50" dirty="0">
                <a:latin typeface="Times New Roman"/>
                <a:cs typeface="Times New Roman"/>
              </a:rPr>
              <a:t> </a:t>
            </a:r>
            <a:r>
              <a:rPr lang="en-US" dirty="0"/>
              <a:t>for</a:t>
            </a:r>
            <a:r>
              <a:rPr lang="en-US" spc="-55" dirty="0"/>
              <a:t> </a:t>
            </a:r>
            <a:r>
              <a:rPr lang="en-US" dirty="0"/>
              <a:t>missing</a:t>
            </a:r>
            <a:r>
              <a:rPr lang="en-US" spc="-40" dirty="0"/>
              <a:t> </a:t>
            </a:r>
            <a:r>
              <a:rPr lang="en-US" dirty="0"/>
              <a:t>units</a:t>
            </a:r>
            <a:r>
              <a:rPr lang="en-US" spc="-15" dirty="0"/>
              <a:t> </a:t>
            </a:r>
            <a:r>
              <a:rPr lang="en-US" spc="-20" dirty="0"/>
              <a:t>-</a:t>
            </a:r>
            <a:r>
              <a:rPr lang="en-US" dirty="0"/>
              <a:t>0.5P</a:t>
            </a:r>
            <a:r>
              <a:rPr lang="en-US" spc="-35" dirty="0"/>
              <a:t> </a:t>
            </a:r>
            <a:r>
              <a:rPr lang="en-US" dirty="0"/>
              <a:t>will</a:t>
            </a:r>
            <a:r>
              <a:rPr lang="en-US" spc="-55" dirty="0"/>
              <a:t> </a:t>
            </a:r>
            <a:r>
              <a:rPr lang="en-US" dirty="0"/>
              <a:t>be</a:t>
            </a:r>
            <a:r>
              <a:rPr lang="en-US" spc="-20" dirty="0"/>
              <a:t> given</a:t>
            </a:r>
          </a:p>
          <a:p>
            <a:pPr marL="103505" marR="5080" indent="-90170">
              <a:lnSpc>
                <a:spcPct val="150100"/>
              </a:lnSpc>
              <a:spcBef>
                <a:spcPts val="600"/>
              </a:spcBef>
              <a:buChar char="-"/>
              <a:tabLst>
                <a:tab pos="139700" algn="l"/>
              </a:tabLst>
            </a:pPr>
            <a:r>
              <a:rPr lang="en-US" dirty="0"/>
              <a:t>In</a:t>
            </a:r>
            <a:r>
              <a:rPr lang="en-US" spc="-15" dirty="0"/>
              <a:t> </a:t>
            </a:r>
            <a:r>
              <a:rPr lang="en-US" dirty="0"/>
              <a:t>most</a:t>
            </a:r>
            <a:r>
              <a:rPr lang="en-US" spc="-15" dirty="0"/>
              <a:t> </a:t>
            </a:r>
            <a:r>
              <a:rPr lang="en-US" dirty="0"/>
              <a:t>of</a:t>
            </a:r>
            <a:r>
              <a:rPr lang="en-US" spc="-20" dirty="0"/>
              <a:t> </a:t>
            </a:r>
            <a:r>
              <a:rPr lang="en-US" dirty="0"/>
              <a:t>the</a:t>
            </a:r>
            <a:r>
              <a:rPr lang="en-US" spc="-15" dirty="0"/>
              <a:t> </a:t>
            </a:r>
            <a:r>
              <a:rPr lang="en-US" spc="-10" dirty="0"/>
              <a:t>calculation</a:t>
            </a:r>
            <a:r>
              <a:rPr lang="en-US" spc="-50" dirty="0"/>
              <a:t> </a:t>
            </a:r>
            <a:r>
              <a:rPr lang="en-US" dirty="0"/>
              <a:t>tasks</a:t>
            </a:r>
            <a:r>
              <a:rPr lang="en-US" spc="-20" dirty="0"/>
              <a:t> </a:t>
            </a:r>
            <a:r>
              <a:rPr lang="en-US" spc="-10" dirty="0"/>
              <a:t>“back-</a:t>
            </a:r>
            <a:r>
              <a:rPr lang="en-US" dirty="0"/>
              <a:t>up”</a:t>
            </a:r>
            <a:r>
              <a:rPr lang="en-US" spc="-10" dirty="0"/>
              <a:t> </a:t>
            </a:r>
            <a:r>
              <a:rPr lang="en-US" dirty="0"/>
              <a:t>values</a:t>
            </a:r>
            <a:r>
              <a:rPr lang="en-US" spc="-35" dirty="0"/>
              <a:t> </a:t>
            </a:r>
            <a:r>
              <a:rPr lang="en-US" dirty="0"/>
              <a:t>will</a:t>
            </a:r>
            <a:r>
              <a:rPr lang="en-US" spc="-35" dirty="0"/>
              <a:t> </a:t>
            </a:r>
            <a:r>
              <a:rPr lang="en-US" dirty="0"/>
              <a:t>be</a:t>
            </a:r>
            <a:r>
              <a:rPr lang="en-US" spc="-30" dirty="0"/>
              <a:t> </a:t>
            </a:r>
            <a:r>
              <a:rPr lang="en-US" dirty="0"/>
              <a:t>given</a:t>
            </a:r>
            <a:r>
              <a:rPr lang="en-US" spc="-35" dirty="0"/>
              <a:t> </a:t>
            </a:r>
            <a:r>
              <a:rPr lang="en-US" spc="-10" dirty="0"/>
              <a:t>(there </a:t>
            </a:r>
            <a:r>
              <a:rPr lang="en-US" dirty="0"/>
              <a:t>are</a:t>
            </a:r>
            <a:r>
              <a:rPr lang="en-US" spc="-45" dirty="0"/>
              <a:t> </a:t>
            </a:r>
            <a:r>
              <a:rPr lang="en-US" b="1" dirty="0">
                <a:latin typeface="Arial"/>
                <a:cs typeface="Arial"/>
              </a:rPr>
              <a:t>no</a:t>
            </a:r>
            <a:r>
              <a:rPr lang="en-US" b="1" spc="-25" dirty="0">
                <a:latin typeface="Arial"/>
                <a:cs typeface="Arial"/>
              </a:rPr>
              <a:t> </a:t>
            </a:r>
            <a:r>
              <a:rPr lang="en-US" dirty="0"/>
              <a:t>minus</a:t>
            </a:r>
            <a:r>
              <a:rPr lang="en-US" spc="-25" dirty="0"/>
              <a:t> </a:t>
            </a:r>
            <a:r>
              <a:rPr lang="en-US" dirty="0"/>
              <a:t>points</a:t>
            </a:r>
            <a:r>
              <a:rPr lang="en-US" spc="-30" dirty="0"/>
              <a:t> </a:t>
            </a:r>
            <a:r>
              <a:rPr lang="en-US" dirty="0"/>
              <a:t>if</a:t>
            </a:r>
            <a:r>
              <a:rPr lang="en-US" spc="-40" dirty="0"/>
              <a:t> </a:t>
            </a:r>
            <a:r>
              <a:rPr lang="en-US" dirty="0"/>
              <a:t>you</a:t>
            </a:r>
            <a:r>
              <a:rPr lang="en-US" spc="-10" dirty="0"/>
              <a:t> </a:t>
            </a:r>
            <a:r>
              <a:rPr lang="en-US" dirty="0"/>
              <a:t>use</a:t>
            </a:r>
            <a:r>
              <a:rPr lang="en-US" spc="-35" dirty="0"/>
              <a:t> </a:t>
            </a:r>
            <a:r>
              <a:rPr lang="en-US" dirty="0"/>
              <a:t>the</a:t>
            </a:r>
            <a:r>
              <a:rPr lang="en-US" spc="-25" dirty="0"/>
              <a:t> </a:t>
            </a:r>
            <a:r>
              <a:rPr lang="en-US" spc="-10" dirty="0"/>
              <a:t>back-</a:t>
            </a:r>
            <a:r>
              <a:rPr lang="en-US" dirty="0"/>
              <a:t>up</a:t>
            </a:r>
            <a:r>
              <a:rPr lang="en-US" spc="-35" dirty="0"/>
              <a:t> </a:t>
            </a:r>
            <a:r>
              <a:rPr lang="en-US" spc="-10" dirty="0"/>
              <a:t>value)</a:t>
            </a:r>
            <a:r>
              <a:rPr lang="en-US" spc="-100" dirty="0"/>
              <a:t> </a:t>
            </a:r>
            <a:r>
              <a:rPr lang="en-US" dirty="0"/>
              <a:t>Also,</a:t>
            </a:r>
            <a:r>
              <a:rPr lang="en-US" spc="-45" dirty="0"/>
              <a:t> </a:t>
            </a:r>
            <a:r>
              <a:rPr lang="en-US" dirty="0"/>
              <a:t>points</a:t>
            </a:r>
            <a:r>
              <a:rPr lang="en-US" spc="-30" dirty="0"/>
              <a:t> </a:t>
            </a:r>
            <a:r>
              <a:rPr lang="en-US" spc="-25" dirty="0"/>
              <a:t>for </a:t>
            </a:r>
            <a:r>
              <a:rPr lang="en-US" spc="-10" dirty="0"/>
              <a:t>subsequent</a:t>
            </a:r>
            <a:r>
              <a:rPr lang="en-US" spc="-50" dirty="0"/>
              <a:t> </a:t>
            </a:r>
            <a:r>
              <a:rPr lang="en-US" dirty="0"/>
              <a:t>errors</a:t>
            </a:r>
            <a:r>
              <a:rPr lang="en-US" spc="-10" dirty="0"/>
              <a:t> </a:t>
            </a:r>
            <a:r>
              <a:rPr lang="en-US" dirty="0"/>
              <a:t>(dt.:</a:t>
            </a:r>
            <a:r>
              <a:rPr lang="en-US" spc="-15" dirty="0"/>
              <a:t> </a:t>
            </a:r>
            <a:r>
              <a:rPr lang="en-US" dirty="0" err="1"/>
              <a:t>Folgefehler</a:t>
            </a:r>
            <a:r>
              <a:rPr lang="en-US" dirty="0"/>
              <a:t>)</a:t>
            </a:r>
            <a:r>
              <a:rPr lang="en-US" spc="-35" dirty="0"/>
              <a:t> </a:t>
            </a:r>
            <a:r>
              <a:rPr lang="en-US" dirty="0"/>
              <a:t>will</a:t>
            </a:r>
            <a:r>
              <a:rPr lang="en-US" spc="-50" dirty="0"/>
              <a:t> </a:t>
            </a:r>
            <a:r>
              <a:rPr lang="en-US" dirty="0"/>
              <a:t>also</a:t>
            </a:r>
            <a:r>
              <a:rPr lang="en-US" spc="-55" dirty="0"/>
              <a:t> </a:t>
            </a:r>
            <a:r>
              <a:rPr lang="en-US" dirty="0"/>
              <a:t>be</a:t>
            </a:r>
            <a:r>
              <a:rPr lang="en-US" spc="-40" dirty="0"/>
              <a:t> </a:t>
            </a:r>
            <a:r>
              <a:rPr lang="en-US" spc="-10" dirty="0"/>
              <a:t>given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7156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792297" y="1795819"/>
            <a:ext cx="6423025" cy="4418330"/>
            <a:chOff x="1268296" y="1795819"/>
            <a:chExt cx="6423025" cy="44183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182" y="3581170"/>
              <a:ext cx="6370525" cy="26325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8296" y="1795819"/>
              <a:ext cx="6422604" cy="176463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367" y="582509"/>
            <a:ext cx="11228917" cy="521938"/>
          </a:xfrm>
          <a:prstGeom prst="rect">
            <a:avLst/>
          </a:prstGeom>
        </p:spPr>
        <p:txBody>
          <a:bodyPr vert="horz" wrap="square" lIns="0" tIns="1816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200" dirty="0"/>
              <a:t>Exam</a:t>
            </a:r>
            <a:r>
              <a:rPr sz="2200" spc="-5" dirty="0"/>
              <a:t> </a:t>
            </a:r>
            <a:r>
              <a:rPr sz="2200" spc="-10" dirty="0"/>
              <a:t>Information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36F130A-D531-4522-BADF-672658359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367" y="1143418"/>
            <a:ext cx="11228917" cy="5132073"/>
          </a:xfrm>
        </p:spPr>
        <p:txBody>
          <a:bodyPr/>
          <a:lstStyle/>
          <a:p>
            <a:r>
              <a:rPr lang="en-US" sz="1800" i="1" spc="-10" dirty="0"/>
              <a:t>Calculation</a:t>
            </a:r>
            <a:r>
              <a:rPr lang="en-US" sz="1800" i="1" spc="-65" dirty="0"/>
              <a:t> </a:t>
            </a:r>
            <a:r>
              <a:rPr lang="en-US" sz="1800" i="1" dirty="0"/>
              <a:t>tasks:</a:t>
            </a:r>
            <a:r>
              <a:rPr lang="en-US" sz="1800" i="1" spc="-45" dirty="0"/>
              <a:t> </a:t>
            </a:r>
            <a:r>
              <a:rPr lang="en-US" sz="1800" dirty="0"/>
              <a:t>Always</a:t>
            </a:r>
            <a:r>
              <a:rPr lang="en-US" sz="1800" spc="-15" dirty="0"/>
              <a:t> </a:t>
            </a:r>
            <a:r>
              <a:rPr lang="en-US" sz="1800" dirty="0"/>
              <a:t>provide</a:t>
            </a:r>
            <a:r>
              <a:rPr lang="en-US" sz="1800" spc="-40" dirty="0"/>
              <a:t> </a:t>
            </a:r>
            <a:r>
              <a:rPr lang="en-US" sz="1800" dirty="0"/>
              <a:t>a</a:t>
            </a:r>
            <a:r>
              <a:rPr lang="en-US" sz="1800" spc="-50" dirty="0"/>
              <a:t> </a:t>
            </a:r>
            <a:r>
              <a:rPr lang="en-US" sz="1800" spc="-10" dirty="0"/>
              <a:t>comprehensive</a:t>
            </a:r>
            <a:r>
              <a:rPr lang="en-US" sz="1800" spc="25" dirty="0"/>
              <a:t> </a:t>
            </a:r>
            <a:r>
              <a:rPr lang="en-US" sz="1800" dirty="0"/>
              <a:t>derivation</a:t>
            </a:r>
            <a:r>
              <a:rPr lang="en-US" sz="1800" spc="15" dirty="0"/>
              <a:t> </a:t>
            </a:r>
            <a:r>
              <a:rPr lang="en-US" sz="1800" dirty="0"/>
              <a:t>of</a:t>
            </a:r>
            <a:r>
              <a:rPr lang="en-US" sz="1800" spc="-40" dirty="0"/>
              <a:t> </a:t>
            </a:r>
            <a:r>
              <a:rPr lang="en-US" sz="1800" dirty="0"/>
              <a:t>the</a:t>
            </a:r>
            <a:r>
              <a:rPr lang="en-US" sz="1800" spc="-25" dirty="0"/>
              <a:t> </a:t>
            </a:r>
            <a:r>
              <a:rPr lang="en-US" sz="1800" spc="-10" dirty="0"/>
              <a:t>solution.</a:t>
            </a:r>
            <a:r>
              <a:rPr lang="en-US" sz="1800" spc="-90" dirty="0"/>
              <a:t> </a:t>
            </a:r>
            <a:r>
              <a:rPr lang="en-US" sz="1800" dirty="0"/>
              <a:t>Also,</a:t>
            </a:r>
            <a:r>
              <a:rPr lang="en-US" sz="1800" spc="-50" dirty="0"/>
              <a:t> </a:t>
            </a:r>
            <a:r>
              <a:rPr lang="en-US" sz="1800" spc="-25" dirty="0"/>
              <a:t>if </a:t>
            </a:r>
            <a:r>
              <a:rPr lang="en-US" sz="1800" dirty="0"/>
              <a:t>not</a:t>
            </a:r>
            <a:r>
              <a:rPr lang="en-US" sz="1800" spc="-45" dirty="0"/>
              <a:t> </a:t>
            </a:r>
            <a:r>
              <a:rPr lang="en-US" sz="1800" dirty="0"/>
              <a:t>asked</a:t>
            </a:r>
            <a:r>
              <a:rPr lang="en-US" sz="1800" spc="-45" dirty="0"/>
              <a:t> </a:t>
            </a:r>
            <a:r>
              <a:rPr lang="en-US" sz="1800" dirty="0"/>
              <a:t>otherwise,</a:t>
            </a:r>
            <a:r>
              <a:rPr lang="en-US" sz="1800" spc="-40" dirty="0"/>
              <a:t> </a:t>
            </a:r>
            <a:r>
              <a:rPr lang="en-US" sz="1800" dirty="0"/>
              <a:t>put</a:t>
            </a:r>
            <a:r>
              <a:rPr lang="en-US" sz="1800" spc="-35" dirty="0"/>
              <a:t> </a:t>
            </a:r>
            <a:r>
              <a:rPr lang="en-US" sz="1800" dirty="0"/>
              <a:t>the</a:t>
            </a:r>
            <a:r>
              <a:rPr lang="en-US" sz="1800" spc="-25" dirty="0"/>
              <a:t> </a:t>
            </a:r>
            <a:r>
              <a:rPr lang="en-US" sz="1800" dirty="0"/>
              <a:t>final</a:t>
            </a:r>
            <a:r>
              <a:rPr lang="en-US" sz="1800" spc="-30" dirty="0"/>
              <a:t> </a:t>
            </a:r>
            <a:r>
              <a:rPr lang="en-US" sz="1800" dirty="0"/>
              <a:t>solution</a:t>
            </a:r>
            <a:r>
              <a:rPr lang="en-US" sz="1800" spc="-25" dirty="0"/>
              <a:t> </a:t>
            </a:r>
            <a:r>
              <a:rPr lang="en-US" sz="1800" dirty="0"/>
              <a:t>in</a:t>
            </a:r>
            <a:r>
              <a:rPr lang="en-US" sz="1800" spc="-30" dirty="0"/>
              <a:t> </a:t>
            </a:r>
            <a:r>
              <a:rPr lang="en-US" sz="1800" dirty="0"/>
              <a:t>solution</a:t>
            </a:r>
            <a:r>
              <a:rPr lang="en-US" sz="1800" spc="-30" dirty="0"/>
              <a:t> </a:t>
            </a:r>
            <a:r>
              <a:rPr lang="en-US" sz="1800" dirty="0"/>
              <a:t>box</a:t>
            </a:r>
            <a:r>
              <a:rPr lang="en-US" sz="1800" spc="-40" dirty="0"/>
              <a:t> </a:t>
            </a:r>
            <a:r>
              <a:rPr lang="en-US" sz="1800" dirty="0"/>
              <a:t>beneath</a:t>
            </a:r>
            <a:r>
              <a:rPr lang="en-US" sz="1800" spc="-45" dirty="0"/>
              <a:t> </a:t>
            </a:r>
            <a:r>
              <a:rPr lang="en-US" sz="1800" dirty="0"/>
              <a:t>the</a:t>
            </a:r>
            <a:r>
              <a:rPr lang="en-US" sz="1800" spc="-40" dirty="0"/>
              <a:t> </a:t>
            </a:r>
            <a:r>
              <a:rPr lang="en-US" sz="1800" spc="-10" dirty="0"/>
              <a:t>task!</a:t>
            </a:r>
            <a:endParaRPr lang="en-US"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1829815" y="2512010"/>
            <a:ext cx="7162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spc="-10" dirty="0">
                <a:solidFill>
                  <a:srgbClr val="00AF50"/>
                </a:solidFill>
                <a:latin typeface="Arial"/>
                <a:cs typeface="Arial"/>
              </a:rPr>
              <a:t>Example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9276" y="2069339"/>
            <a:ext cx="575246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2755900" algn="l"/>
              </a:tabLst>
            </a:pP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𝐴𝑅</a:t>
            </a:r>
            <a:r>
              <a:rPr sz="1400" spc="415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=</a:t>
            </a:r>
            <a:r>
              <a:rPr sz="1400" spc="385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9.901</a:t>
            </a:r>
            <a:r>
              <a:rPr sz="1400" spc="-10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00AF50"/>
                </a:solidFill>
                <a:latin typeface="Segoe UI Emoji"/>
                <a:cs typeface="Segoe UI Emoji"/>
              </a:rPr>
              <a:t>✔</a:t>
            </a:r>
            <a:r>
              <a:rPr sz="1400" dirty="0">
                <a:solidFill>
                  <a:srgbClr val="00AF50"/>
                </a:solidFill>
                <a:latin typeface="Segoe UI Emoji"/>
                <a:cs typeface="Segoe UI Emoji"/>
              </a:rPr>
              <a:t>	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correct</a:t>
            </a:r>
            <a:r>
              <a:rPr sz="1400" spc="-8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answer</a:t>
            </a:r>
            <a:r>
              <a:rPr sz="1400" spc="-3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+</a:t>
            </a:r>
            <a:r>
              <a:rPr sz="1400" spc="-3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derivation,</a:t>
            </a:r>
            <a:r>
              <a:rPr sz="1400" spc="-4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full</a:t>
            </a:r>
            <a:r>
              <a:rPr sz="1400" spc="-4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E27121"/>
                </a:solidFill>
                <a:latin typeface="Arial"/>
                <a:cs typeface="Arial"/>
              </a:rPr>
              <a:t>points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9275" y="2608581"/>
            <a:ext cx="11684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𝜆</a:t>
            </a:r>
            <a:r>
              <a:rPr sz="1400" spc="100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=</a:t>
            </a:r>
            <a:r>
              <a:rPr sz="1400" spc="75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0.2549</a:t>
            </a:r>
            <a:r>
              <a:rPr sz="1400" spc="5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Segoe UI Emoji"/>
                <a:cs typeface="Segoe UI Emoji"/>
              </a:rPr>
              <a:t>✖</a:t>
            </a:r>
            <a:endParaRPr sz="1400">
              <a:latin typeface="Segoe UI Emoji"/>
              <a:cs typeface="Segoe UI Emoj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5041" y="3920997"/>
            <a:ext cx="6451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a)</a:t>
            </a:r>
            <a:r>
              <a:rPr sz="1400" spc="-25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Cambria Math"/>
                <a:cs typeface="Cambria Math"/>
              </a:rPr>
              <a:t>𝐴𝑅</a:t>
            </a:r>
            <a:r>
              <a:rPr sz="1400" spc="110" dirty="0">
                <a:solidFill>
                  <a:srgbClr val="0064BC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0064BC"/>
                </a:solidFill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76523" y="4054602"/>
            <a:ext cx="266700" cy="12700"/>
          </a:xfrm>
          <a:custGeom>
            <a:avLst/>
            <a:gdLst/>
            <a:ahLst/>
            <a:cxnLst/>
            <a:rect l="l" t="t" r="r" b="b"/>
            <a:pathLst>
              <a:path w="266700" h="12700">
                <a:moveTo>
                  <a:pt x="266700" y="0"/>
                </a:moveTo>
                <a:lnTo>
                  <a:pt x="0" y="0"/>
                </a:lnTo>
                <a:lnTo>
                  <a:pt x="0" y="12191"/>
                </a:lnTo>
                <a:lnTo>
                  <a:pt x="266700" y="12191"/>
                </a:lnTo>
                <a:lnTo>
                  <a:pt x="266700" y="0"/>
                </a:lnTo>
                <a:close/>
              </a:path>
            </a:pathLst>
          </a:custGeom>
          <a:solidFill>
            <a:srgbClr val="0064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98114" y="3817366"/>
            <a:ext cx="220979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52" baseline="-19444" dirty="0">
                <a:solidFill>
                  <a:srgbClr val="0064BC"/>
                </a:solidFill>
                <a:latin typeface="Cambria Math"/>
                <a:cs typeface="Cambria Math"/>
              </a:rPr>
              <a:t>𝑏</a:t>
            </a:r>
            <a:r>
              <a:rPr sz="850" spc="35" dirty="0">
                <a:solidFill>
                  <a:srgbClr val="0064BC"/>
                </a:solidFill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8676" y="4087115"/>
            <a:ext cx="337820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52" baseline="11111" dirty="0">
                <a:solidFill>
                  <a:srgbClr val="0064BC"/>
                </a:solidFill>
                <a:latin typeface="Cambria Math"/>
                <a:cs typeface="Cambria Math"/>
              </a:rPr>
              <a:t>𝑆</a:t>
            </a:r>
            <a:r>
              <a:rPr sz="850" spc="35" dirty="0">
                <a:solidFill>
                  <a:srgbClr val="0064BC"/>
                </a:solidFill>
                <a:latin typeface="Cambria Math"/>
                <a:cs typeface="Cambria Math"/>
              </a:rPr>
              <a:t>𝑟𝑒𝑓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76395" y="4054602"/>
            <a:ext cx="320040" cy="12700"/>
          </a:xfrm>
          <a:custGeom>
            <a:avLst/>
            <a:gdLst/>
            <a:ahLst/>
            <a:cxnLst/>
            <a:rect l="l" t="t" r="r" b="b"/>
            <a:pathLst>
              <a:path w="320039" h="12700">
                <a:moveTo>
                  <a:pt x="320039" y="0"/>
                </a:moveTo>
                <a:lnTo>
                  <a:pt x="0" y="0"/>
                </a:lnTo>
                <a:lnTo>
                  <a:pt x="0" y="12191"/>
                </a:lnTo>
                <a:lnTo>
                  <a:pt x="320039" y="12191"/>
                </a:lnTo>
                <a:lnTo>
                  <a:pt x="320039" y="0"/>
                </a:lnTo>
                <a:close/>
              </a:path>
            </a:pathLst>
          </a:custGeom>
          <a:solidFill>
            <a:srgbClr val="0064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211573" y="4059683"/>
            <a:ext cx="249554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000" spc="-25" dirty="0">
                <a:solidFill>
                  <a:srgbClr val="0064BC"/>
                </a:solidFill>
                <a:latin typeface="Cambria Math"/>
                <a:cs typeface="Cambria Math"/>
              </a:rPr>
              <a:t>200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57114" y="3830574"/>
            <a:ext cx="31705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100">
              <a:spcBef>
                <a:spcPts val="100"/>
              </a:spcBef>
            </a:pP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Here,</a:t>
            </a:r>
            <a:r>
              <a:rPr sz="1400" spc="-35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0064BC"/>
                </a:solidFill>
                <a:latin typeface="Arial"/>
                <a:cs typeface="Arial"/>
              </a:rPr>
              <a:t>comprehensive</a:t>
            </a:r>
            <a:r>
              <a:rPr sz="1400" spc="-40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derivation</a:t>
            </a:r>
            <a:r>
              <a:rPr sz="1400" spc="-25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of</a:t>
            </a:r>
            <a:r>
              <a:rPr sz="1400" spc="-20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0064BC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solution</a:t>
            </a:r>
            <a:r>
              <a:rPr sz="1400" spc="-50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is</a:t>
            </a:r>
            <a:r>
              <a:rPr sz="1400" spc="-15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required</a:t>
            </a:r>
            <a:r>
              <a:rPr sz="1400" spc="-60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(e.g.</a:t>
            </a:r>
            <a:r>
              <a:rPr sz="1400" spc="-40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equations</a:t>
            </a:r>
            <a:r>
              <a:rPr sz="1400" spc="-55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0064BC"/>
                </a:solidFill>
                <a:latin typeface="Arial"/>
                <a:cs typeface="Arial"/>
              </a:rPr>
              <a:t>etc.)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10916" y="4717541"/>
            <a:ext cx="50927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b)</a:t>
            </a:r>
            <a:r>
              <a:rPr sz="1400" spc="-25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64BC"/>
                </a:solidFill>
                <a:latin typeface="Cambria Math"/>
                <a:cs typeface="Cambria Math"/>
              </a:rPr>
              <a:t>𝜆</a:t>
            </a:r>
            <a:r>
              <a:rPr sz="1400" spc="105" dirty="0">
                <a:solidFill>
                  <a:srgbClr val="0064BC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0064BC"/>
                </a:solidFill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4061" y="4647439"/>
            <a:ext cx="130810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000" u="sng" spc="60" dirty="0">
                <a:solidFill>
                  <a:srgbClr val="0064BC"/>
                </a:solidFill>
                <a:uFill>
                  <a:solidFill>
                    <a:srgbClr val="0064B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-10" dirty="0">
                <a:solidFill>
                  <a:srgbClr val="0064BC"/>
                </a:solidFill>
                <a:uFill>
                  <a:solidFill>
                    <a:srgbClr val="0064BC"/>
                  </a:solidFill>
                </a:uFill>
                <a:latin typeface="Cambria Math"/>
                <a:cs typeface="Cambria Math"/>
              </a:rPr>
              <a:t>𝑐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49472" y="4697730"/>
            <a:ext cx="232410" cy="14234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850" u="sng" spc="35" dirty="0">
                <a:solidFill>
                  <a:srgbClr val="0064BC"/>
                </a:solidFill>
                <a:uFill>
                  <a:solidFill>
                    <a:srgbClr val="0064BC"/>
                  </a:solidFill>
                </a:uFill>
                <a:latin typeface="Cambria Math"/>
                <a:cs typeface="Cambria Math"/>
              </a:rPr>
              <a:t>𝑡𝑖𝑝</a:t>
            </a:r>
            <a:r>
              <a:rPr sz="850" u="sng" spc="500" dirty="0">
                <a:solidFill>
                  <a:srgbClr val="0064BC"/>
                </a:solidFill>
                <a:uFill>
                  <a:solidFill>
                    <a:srgbClr val="0064BC"/>
                  </a:solidFill>
                </a:uFill>
                <a:latin typeface="Cambria Math"/>
                <a:cs typeface="Cambria Math"/>
              </a:rPr>
              <a:t> </a:t>
            </a:r>
            <a:endParaRPr sz="8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8916" y="4882134"/>
            <a:ext cx="384810" cy="1692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1500" spc="75" baseline="11111" dirty="0">
                <a:solidFill>
                  <a:srgbClr val="0064BC"/>
                </a:solidFill>
                <a:latin typeface="Cambria Math"/>
                <a:cs typeface="Cambria Math"/>
              </a:rPr>
              <a:t>𝑐</a:t>
            </a:r>
            <a:r>
              <a:rPr sz="850" spc="50" dirty="0">
                <a:solidFill>
                  <a:srgbClr val="0064BC"/>
                </a:solidFill>
                <a:latin typeface="Cambria Math"/>
                <a:cs typeface="Cambria Math"/>
              </a:rPr>
              <a:t>𝑟𝑜𝑜𝑡</a:t>
            </a:r>
            <a:endParaRPr sz="850" dirty="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05504" y="4717541"/>
            <a:ext cx="15875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0064BC"/>
                </a:solidFill>
                <a:latin typeface="Cambria Math"/>
                <a:cs typeface="Cambria Math"/>
              </a:rPr>
              <a:t>=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88384" y="4621530"/>
            <a:ext cx="202565" cy="4159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spcBef>
                <a:spcPts val="430"/>
              </a:spcBef>
            </a:pPr>
            <a:r>
              <a:rPr sz="1000" u="sng" spc="-25" dirty="0">
                <a:solidFill>
                  <a:srgbClr val="0064BC"/>
                </a:solidFill>
                <a:uFill>
                  <a:solidFill>
                    <a:srgbClr val="0064BC"/>
                  </a:solidFill>
                </a:uFill>
                <a:latin typeface="Cambria Math"/>
                <a:cs typeface="Cambria Math"/>
              </a:rPr>
              <a:t>1.5</a:t>
            </a:r>
            <a:endParaRPr sz="1000">
              <a:latin typeface="Cambria Math"/>
              <a:cs typeface="Cambria Math"/>
            </a:endParaRPr>
          </a:p>
          <a:p>
            <a:pPr marL="12700">
              <a:spcBef>
                <a:spcPts val="335"/>
              </a:spcBef>
            </a:pPr>
            <a:r>
              <a:rPr sz="1000" spc="-25" dirty="0">
                <a:solidFill>
                  <a:srgbClr val="0064BC"/>
                </a:solidFill>
                <a:latin typeface="Cambria Math"/>
                <a:cs typeface="Cambria Math"/>
              </a:rPr>
              <a:t>6.1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56051" y="3765246"/>
            <a:ext cx="907415" cy="30035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97790" algn="ctr">
              <a:lnSpc>
                <a:spcPts val="220"/>
              </a:lnSpc>
              <a:spcBef>
                <a:spcPts val="680"/>
              </a:spcBef>
            </a:pPr>
            <a:r>
              <a:rPr sz="850" spc="25" dirty="0">
                <a:solidFill>
                  <a:srgbClr val="0064BC"/>
                </a:solidFill>
                <a:latin typeface="Cambria Math"/>
                <a:cs typeface="Cambria Math"/>
              </a:rPr>
              <a:t>2</a:t>
            </a:r>
            <a:endParaRPr sz="850">
              <a:latin typeface="Cambria Math"/>
              <a:cs typeface="Cambria Math"/>
            </a:endParaRPr>
          </a:p>
          <a:p>
            <a:pPr marL="38100">
              <a:lnSpc>
                <a:spcPts val="1360"/>
              </a:lnSpc>
            </a:pPr>
            <a:r>
              <a:rPr sz="2100" baseline="-33730" dirty="0">
                <a:solidFill>
                  <a:srgbClr val="0064BC"/>
                </a:solidFill>
                <a:latin typeface="Cambria Math"/>
                <a:cs typeface="Cambria Math"/>
              </a:rPr>
              <a:t>=</a:t>
            </a:r>
            <a:r>
              <a:rPr sz="2100" spc="165" baseline="-33730" dirty="0">
                <a:solidFill>
                  <a:srgbClr val="0064BC"/>
                </a:solidFill>
                <a:latin typeface="Cambria Math"/>
                <a:cs typeface="Cambria Math"/>
              </a:rPr>
              <a:t> </a:t>
            </a:r>
            <a:r>
              <a:rPr sz="1000" dirty="0">
                <a:solidFill>
                  <a:srgbClr val="0064BC"/>
                </a:solidFill>
                <a:latin typeface="Cambria Math"/>
                <a:cs typeface="Cambria Math"/>
              </a:rPr>
              <a:t>44.5</a:t>
            </a:r>
            <a:r>
              <a:rPr sz="1000" spc="484" dirty="0">
                <a:solidFill>
                  <a:srgbClr val="0064BC"/>
                </a:solidFill>
                <a:latin typeface="Cambria Math"/>
                <a:cs typeface="Cambria Math"/>
              </a:rPr>
              <a:t> </a:t>
            </a:r>
            <a:r>
              <a:rPr sz="2700" spc="-75" baseline="-32407" dirty="0">
                <a:solidFill>
                  <a:srgbClr val="00AF50"/>
                </a:solidFill>
                <a:latin typeface="Segoe UI Emoji"/>
                <a:cs typeface="Segoe UI Emoji"/>
              </a:rPr>
              <a:t>✔</a:t>
            </a:r>
            <a:endParaRPr sz="2700" baseline="-32407">
              <a:latin typeface="Segoe UI Emoji"/>
              <a:cs typeface="Segoe UI Emoj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24351" y="4711700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AF50"/>
                </a:solidFill>
                <a:latin typeface="Segoe UI Emoji"/>
                <a:cs typeface="Segoe UI Emoji"/>
              </a:rPr>
              <a:t>✔</a:t>
            </a:r>
            <a:endParaRPr>
              <a:latin typeface="Segoe UI Emoji"/>
              <a:cs typeface="Segoe UI Emoj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63875" y="3165476"/>
            <a:ext cx="147701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spcBef>
                <a:spcPts val="105"/>
              </a:spcBef>
            </a:pP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Λ</a:t>
            </a:r>
            <a:r>
              <a:rPr sz="1500" baseline="-16666" dirty="0">
                <a:solidFill>
                  <a:srgbClr val="E27121"/>
                </a:solidFill>
                <a:latin typeface="Cambria Math"/>
                <a:cs typeface="Cambria Math"/>
              </a:rPr>
              <a:t>25%</a:t>
            </a:r>
            <a:r>
              <a:rPr sz="1500" spc="397" baseline="-16666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=</a:t>
            </a:r>
            <a:r>
              <a:rPr sz="1400" spc="114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E27121"/>
                </a:solidFill>
                <a:latin typeface="Cambria Math"/>
                <a:cs typeface="Cambria Math"/>
              </a:rPr>
              <a:t>22.12°</a:t>
            </a:r>
            <a:r>
              <a:rPr sz="1400" spc="15" dirty="0">
                <a:solidFill>
                  <a:srgbClr val="E27121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Segoe UI Emoji"/>
                <a:cs typeface="Segoe UI Emoji"/>
              </a:rPr>
              <a:t>✖</a:t>
            </a:r>
            <a:endParaRPr sz="1400">
              <a:latin typeface="Segoe UI Emoji"/>
              <a:cs typeface="Segoe UI Emoj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18913" y="2508886"/>
            <a:ext cx="3997960" cy="9728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" marR="5080">
              <a:spcBef>
                <a:spcPts val="105"/>
              </a:spcBef>
            </a:pP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incorrect</a:t>
            </a:r>
            <a:r>
              <a:rPr sz="1400" spc="-7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answer</a:t>
            </a:r>
            <a:r>
              <a:rPr sz="1400" spc="-4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(due</a:t>
            </a:r>
            <a:r>
              <a:rPr sz="1400" spc="-4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to</a:t>
            </a:r>
            <a:r>
              <a:rPr sz="1400" spc="-3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typo</a:t>
            </a:r>
            <a:r>
              <a:rPr sz="1400" spc="-3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in</a:t>
            </a:r>
            <a:r>
              <a:rPr sz="1400" spc="-3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calculator),</a:t>
            </a:r>
            <a:r>
              <a:rPr sz="1400" spc="-7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but</a:t>
            </a:r>
            <a:r>
              <a:rPr sz="1400" spc="-3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E27121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additional</a:t>
            </a:r>
            <a:r>
              <a:rPr sz="1400" spc="-6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box</a:t>
            </a:r>
            <a:r>
              <a:rPr sz="1400" spc="-4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equation</a:t>
            </a:r>
            <a:r>
              <a:rPr sz="1400" spc="-6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given</a:t>
            </a:r>
            <a:r>
              <a:rPr sz="1400" spc="-1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–</a:t>
            </a:r>
            <a:r>
              <a:rPr sz="1400" spc="-4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points</a:t>
            </a:r>
            <a:r>
              <a:rPr sz="1400" spc="-4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on</a:t>
            </a:r>
            <a:r>
              <a:rPr sz="1400" spc="-3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E27121"/>
                </a:solidFill>
                <a:latin typeface="Arial"/>
                <a:cs typeface="Arial"/>
              </a:rPr>
              <a:t>equation</a:t>
            </a:r>
            <a:endParaRPr sz="1400">
              <a:latin typeface="Arial"/>
              <a:cs typeface="Arial"/>
            </a:endParaRPr>
          </a:p>
          <a:p>
            <a:pPr marL="12700">
              <a:spcBef>
                <a:spcPts val="725"/>
              </a:spcBef>
            </a:pP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correct</a:t>
            </a:r>
            <a:r>
              <a:rPr sz="1400" spc="-8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E27121"/>
                </a:solidFill>
                <a:latin typeface="Arial"/>
                <a:cs typeface="Arial"/>
              </a:rPr>
              <a:t>answer,</a:t>
            </a:r>
            <a:r>
              <a:rPr sz="1400" spc="-4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but</a:t>
            </a:r>
            <a:r>
              <a:rPr sz="1400" spc="-5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no</a:t>
            </a:r>
            <a:r>
              <a:rPr sz="1400" spc="-4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derivation</a:t>
            </a:r>
            <a:r>
              <a:rPr sz="1400" spc="-6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in</a:t>
            </a:r>
            <a:r>
              <a:rPr sz="1400" spc="-3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additional</a:t>
            </a:r>
            <a:r>
              <a:rPr sz="1400" spc="-7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E27121"/>
                </a:solidFill>
                <a:latin typeface="Arial"/>
                <a:cs typeface="Arial"/>
              </a:rPr>
              <a:t>box</a:t>
            </a:r>
            <a:endParaRPr sz="1400">
              <a:latin typeface="Arial"/>
              <a:cs typeface="Arial"/>
            </a:endParaRPr>
          </a:p>
          <a:p>
            <a:pPr marL="12700">
              <a:spcBef>
                <a:spcPts val="5"/>
              </a:spcBef>
            </a:pP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equation</a:t>
            </a:r>
            <a:r>
              <a:rPr sz="1400" spc="-5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–</a:t>
            </a:r>
            <a:r>
              <a:rPr sz="1400" spc="-25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E27121"/>
                </a:solidFill>
                <a:latin typeface="Arial"/>
                <a:cs typeface="Arial"/>
              </a:rPr>
              <a:t>no</a:t>
            </a:r>
            <a:r>
              <a:rPr sz="1400" spc="-30" dirty="0">
                <a:solidFill>
                  <a:srgbClr val="E2712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E27121"/>
                </a:solidFill>
                <a:latin typeface="Arial"/>
                <a:cs typeface="Arial"/>
              </a:rPr>
              <a:t>points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10917" y="5347461"/>
            <a:ext cx="78168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400" dirty="0">
                <a:solidFill>
                  <a:srgbClr val="0064BC"/>
                </a:solidFill>
                <a:latin typeface="Arial"/>
                <a:cs typeface="Arial"/>
              </a:rPr>
              <a:t>c)</a:t>
            </a:r>
            <a:r>
              <a:rPr sz="1400" spc="200" dirty="0">
                <a:solidFill>
                  <a:srgbClr val="0064BC"/>
                </a:solidFill>
                <a:latin typeface="Arial"/>
                <a:cs typeface="Arial"/>
              </a:rPr>
              <a:t> </a:t>
            </a:r>
            <a:r>
              <a:rPr sz="2400" baseline="-5208" dirty="0">
                <a:solidFill>
                  <a:srgbClr val="FF0000"/>
                </a:solidFill>
                <a:latin typeface="Segoe UI Emoji"/>
                <a:cs typeface="Segoe UI Emoji"/>
              </a:rPr>
              <a:t>❓</a:t>
            </a:r>
            <a:r>
              <a:rPr sz="2400" spc="22" baseline="-5208" dirty="0">
                <a:solidFill>
                  <a:srgbClr val="FF0000"/>
                </a:solidFill>
                <a:latin typeface="Segoe UI Emoji"/>
                <a:cs typeface="Segoe UI Emoji"/>
              </a:rPr>
              <a:t> </a:t>
            </a:r>
            <a:r>
              <a:rPr sz="2400" spc="-75" baseline="-5208" dirty="0">
                <a:solidFill>
                  <a:srgbClr val="FF0000"/>
                </a:solidFill>
                <a:latin typeface="Segoe UI Emoji"/>
                <a:cs typeface="Segoe UI Emoji"/>
              </a:rPr>
              <a:t>✖</a:t>
            </a:r>
            <a:endParaRPr sz="2400" baseline="-5208">
              <a:latin typeface="Segoe UI Emoji"/>
              <a:cs typeface="Segoe UI Emoj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4B0DE7C-7084-42BF-BD9C-CF520E8C3D55}"/>
              </a:ext>
            </a:extLst>
          </p:cNvPr>
          <p:cNvSpPr/>
          <p:nvPr/>
        </p:nvSpPr>
        <p:spPr>
          <a:xfrm>
            <a:off x="9770080" y="4840077"/>
            <a:ext cx="2033966" cy="1340576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Also uploaded in Moodle in “Exam Information”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573692E-6AA7-4C7F-966A-CE75D31DF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Preparation Tasks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5FA50159-7BF5-4FB6-9A25-6765E417D1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8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C34383-B190-440D-9954-6906C8367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Piaggio P180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Inhaltsplatzhalter 3">
                <a:extLst>
                  <a:ext uri="{FF2B5EF4-FFF2-40B4-BE49-F238E27FC236}">
                    <a16:creationId xmlns:a16="http://schemas.microsoft.com/office/drawing/2014/main" id="{F8C80907-BCC2-4448-A168-D002034D113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55568535"/>
                  </p:ext>
                </p:extLst>
              </p:nvPr>
            </p:nvGraphicFramePr>
            <p:xfrm>
              <a:off x="6194065" y="843988"/>
              <a:ext cx="5513219" cy="549294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72142">
                      <a:extLst>
                        <a:ext uri="{9D8B030D-6E8A-4147-A177-3AD203B41FA5}">
                          <a16:colId xmlns:a16="http://schemas.microsoft.com/office/drawing/2014/main" val="160338404"/>
                        </a:ext>
                      </a:extLst>
                    </a:gridCol>
                    <a:gridCol w="2757598">
                      <a:extLst>
                        <a:ext uri="{9D8B030D-6E8A-4147-A177-3AD203B41FA5}">
                          <a16:colId xmlns:a16="http://schemas.microsoft.com/office/drawing/2014/main" val="3928378332"/>
                        </a:ext>
                      </a:extLst>
                    </a:gridCol>
                    <a:gridCol w="780735">
                      <a:extLst>
                        <a:ext uri="{9D8B030D-6E8A-4147-A177-3AD203B41FA5}">
                          <a16:colId xmlns:a16="http://schemas.microsoft.com/office/drawing/2014/main" val="2209436301"/>
                        </a:ext>
                      </a:extLst>
                    </a:gridCol>
                    <a:gridCol w="679074">
                      <a:extLst>
                        <a:ext uri="{9D8B030D-6E8A-4147-A177-3AD203B41FA5}">
                          <a16:colId xmlns:a16="http://schemas.microsoft.com/office/drawing/2014/main" val="1055435569"/>
                        </a:ext>
                      </a:extLst>
                    </a:gridCol>
                    <a:gridCol w="423670">
                      <a:extLst>
                        <a:ext uri="{9D8B030D-6E8A-4147-A177-3AD203B41FA5}">
                          <a16:colId xmlns:a16="http://schemas.microsoft.com/office/drawing/2014/main" val="2335293761"/>
                        </a:ext>
                      </a:extLst>
                    </a:gridCol>
                  </a:tblGrid>
                  <a:tr h="166185">
                    <a:tc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 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Description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Symbol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Value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Unit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04762953"/>
                      </a:ext>
                    </a:extLst>
                  </a:tr>
                  <a:tr h="194437">
                    <a:tc rowSpan="10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Wing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Area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𝑟𝑒𝑓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16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m²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651854526"/>
                      </a:ext>
                    </a:extLst>
                  </a:tr>
                  <a:tr h="17759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Mean aerodynamic chord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𝑀𝐴𝐶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1.284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4077409270"/>
                      </a:ext>
                    </a:extLst>
                  </a:tr>
                  <a:tr h="34839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Average airfoil rel. thickness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1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1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14.5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%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002640226"/>
                      </a:ext>
                    </a:extLst>
                  </a:tr>
                  <a:tr h="166185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Airfoil type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NACA airfoil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8288515"/>
                      </a:ext>
                    </a:extLst>
                  </a:tr>
                  <a:tr h="17759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Aspect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𝐴𝑅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11.96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873904532"/>
                      </a:ext>
                    </a:extLst>
                  </a:tr>
                  <a:tr h="17759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Oswald factor at take-off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0.80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128353767"/>
                      </a:ext>
                    </a:extLst>
                  </a:tr>
                  <a:tr h="18531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25% sweep angle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25%,</m:t>
                                    </m:r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0.0194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rad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683902365"/>
                      </a:ext>
                    </a:extLst>
                  </a:tr>
                  <a:tr h="183499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% location of max. thickness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⁡_</m:t>
                                    </m:r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40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%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3100454289"/>
                      </a:ext>
                    </a:extLst>
                  </a:tr>
                  <a:tr h="17759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Taper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0.371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210893380"/>
                      </a:ext>
                    </a:extLst>
                  </a:tr>
                  <a:tr h="18531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Distance from nose to wing apex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7.29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3961301330"/>
                      </a:ext>
                    </a:extLst>
                  </a:tr>
                  <a:tr h="177591">
                    <a:tc rowSpan="7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Horizontal tail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Area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3.83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m²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744834423"/>
                      </a:ext>
                    </a:extLst>
                  </a:tr>
                  <a:tr h="18531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25% sweep angle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25%,</m:t>
                                    </m:r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0.5145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rad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250235940"/>
                      </a:ext>
                    </a:extLst>
                  </a:tr>
                  <a:tr h="17759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Taper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0.58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137560165"/>
                      </a:ext>
                    </a:extLst>
                  </a:tr>
                  <a:tr h="17759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Aspect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𝐴𝑅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4.57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351992285"/>
                      </a:ext>
                    </a:extLst>
                  </a:tr>
                  <a:tr h="34763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Average airfoil rel. thickness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11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1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10.4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%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696242338"/>
                      </a:ext>
                    </a:extLst>
                  </a:tr>
                  <a:tr h="18531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Root chord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𝑟𝑜𝑜𝑡</m:t>
                                    </m:r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1.10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444496774"/>
                      </a:ext>
                    </a:extLst>
                  </a:tr>
                  <a:tr h="18531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Distance from nose to horizontal tail apex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12.07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3232640656"/>
                      </a:ext>
                    </a:extLst>
                  </a:tr>
                  <a:tr h="185312">
                    <a:tc rowSpan="5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Vertical tail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25% sweep angle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𝛬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25%,</m:t>
                                    </m:r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0.8029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rad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172064664"/>
                      </a:ext>
                    </a:extLst>
                  </a:tr>
                  <a:tr h="17759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Aspect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1.1675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076521407"/>
                      </a:ext>
                    </a:extLst>
                  </a:tr>
                  <a:tr h="17759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Taper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0.52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965704853"/>
                      </a:ext>
                    </a:extLst>
                  </a:tr>
                  <a:tr h="18531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Distance from nose to vertical tail apex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0,</m:t>
                                    </m:r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9.846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94130429"/>
                      </a:ext>
                    </a:extLst>
                  </a:tr>
                  <a:tr h="185312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Root chord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𝑟𝑜𝑜𝑡</m:t>
                                    </m:r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𝑉𝑇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2.53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3731346647"/>
                      </a:ext>
                    </a:extLst>
                  </a:tr>
                  <a:tr h="194437">
                    <a:tc rowSpan="3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Fuse-lage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Total length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 marL="21590"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de-DE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𝑓𝑢𝑠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14.4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468549135"/>
                      </a:ext>
                    </a:extLst>
                  </a:tr>
                  <a:tr h="19443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Width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𝑓𝑢𝑠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1.85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676804975"/>
                      </a:ext>
                    </a:extLst>
                  </a:tr>
                  <a:tr h="194437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Height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1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1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𝑓𝑢𝑠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1.75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m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5187253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Inhaltsplatzhalter 3">
                <a:extLst>
                  <a:ext uri="{FF2B5EF4-FFF2-40B4-BE49-F238E27FC236}">
                    <a16:creationId xmlns:a16="http://schemas.microsoft.com/office/drawing/2014/main" id="{F8C80907-BCC2-4448-A168-D002034D113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55568535"/>
                  </p:ext>
                </p:extLst>
              </p:nvPr>
            </p:nvGraphicFramePr>
            <p:xfrm>
              <a:off x="6194065" y="843988"/>
              <a:ext cx="5513219" cy="550430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72142">
                      <a:extLst>
                        <a:ext uri="{9D8B030D-6E8A-4147-A177-3AD203B41FA5}">
                          <a16:colId xmlns:a16="http://schemas.microsoft.com/office/drawing/2014/main" val="160338404"/>
                        </a:ext>
                      </a:extLst>
                    </a:gridCol>
                    <a:gridCol w="2757598">
                      <a:extLst>
                        <a:ext uri="{9D8B030D-6E8A-4147-A177-3AD203B41FA5}">
                          <a16:colId xmlns:a16="http://schemas.microsoft.com/office/drawing/2014/main" val="3928378332"/>
                        </a:ext>
                      </a:extLst>
                    </a:gridCol>
                    <a:gridCol w="780735">
                      <a:extLst>
                        <a:ext uri="{9D8B030D-6E8A-4147-A177-3AD203B41FA5}">
                          <a16:colId xmlns:a16="http://schemas.microsoft.com/office/drawing/2014/main" val="2209436301"/>
                        </a:ext>
                      </a:extLst>
                    </a:gridCol>
                    <a:gridCol w="679074">
                      <a:extLst>
                        <a:ext uri="{9D8B030D-6E8A-4147-A177-3AD203B41FA5}">
                          <a16:colId xmlns:a16="http://schemas.microsoft.com/office/drawing/2014/main" val="1055435569"/>
                        </a:ext>
                      </a:extLst>
                    </a:gridCol>
                    <a:gridCol w="423670">
                      <a:extLst>
                        <a:ext uri="{9D8B030D-6E8A-4147-A177-3AD203B41FA5}">
                          <a16:colId xmlns:a16="http://schemas.microsoft.com/office/drawing/2014/main" val="2335293761"/>
                        </a:ext>
                      </a:extLst>
                    </a:gridCol>
                  </a:tblGrid>
                  <a:tr h="180404">
                    <a:tc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 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Description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Symbol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Value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Unit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04762953"/>
                      </a:ext>
                    </a:extLst>
                  </a:tr>
                  <a:tr h="211074">
                    <a:tc rowSpan="10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Wing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Area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05882" r="-144531" b="-24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16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m²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651854526"/>
                      </a:ext>
                    </a:extLst>
                  </a:tr>
                  <a:tr h="1927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Mean aerodynamic chord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218750" r="-144531" b="-2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1.284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4077409270"/>
                      </a:ext>
                    </a:extLst>
                  </a:tr>
                  <a:tr h="37820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Average airfoil rel. thickness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64516" r="-144531" b="-12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14.5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%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002640226"/>
                      </a:ext>
                    </a:extLst>
                  </a:tr>
                  <a:tr h="18040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Airfoil type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NACA airfoil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8288515"/>
                      </a:ext>
                    </a:extLst>
                  </a:tr>
                  <a:tr h="1927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Aspect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625806" r="-144531" b="-22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11.96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873904532"/>
                      </a:ext>
                    </a:extLst>
                  </a:tr>
                  <a:tr h="1927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Oswald factor at take-off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703125" r="-144531" b="-206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0.80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128353767"/>
                      </a:ext>
                    </a:extLst>
                  </a:tr>
                  <a:tr h="2011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25% sweep angle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778788" r="-144531" b="-19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0.0194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rad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683902365"/>
                      </a:ext>
                    </a:extLst>
                  </a:tr>
                  <a:tr h="19920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% location of max. thickness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878788" r="-144531" b="-18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40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%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3100454289"/>
                      </a:ext>
                    </a:extLst>
                  </a:tr>
                  <a:tr h="1927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Taper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041935" r="-144531" b="-18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0.371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210893380"/>
                      </a:ext>
                    </a:extLst>
                  </a:tr>
                  <a:tr h="2011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Distance from nose to wing apex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072727" r="-144531" b="-16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7.29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3961301330"/>
                      </a:ext>
                    </a:extLst>
                  </a:tr>
                  <a:tr h="192786">
                    <a:tc rowSpan="7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Horizontal tail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Area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209375" r="-144531" b="-155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3.83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m²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744834423"/>
                      </a:ext>
                    </a:extLst>
                  </a:tr>
                  <a:tr h="2011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25% sweep angle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269697" r="-144531" b="-14121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0.5145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rad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250235940"/>
                      </a:ext>
                    </a:extLst>
                  </a:tr>
                  <a:tr h="1927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Taper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412500" r="-144531" b="-135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0.58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137560165"/>
                      </a:ext>
                    </a:extLst>
                  </a:tr>
                  <a:tr h="1927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Aspect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512500" r="-144531" b="-125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4.57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351992285"/>
                      </a:ext>
                    </a:extLst>
                  </a:tr>
                  <a:tr h="377381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Average airfoil rel. thickness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845902" r="-144531" b="-559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10.4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%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696242338"/>
                      </a:ext>
                    </a:extLst>
                  </a:tr>
                  <a:tr h="2011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Root chord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697059" r="-144531" b="-9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1.10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444496774"/>
                      </a:ext>
                    </a:extLst>
                  </a:tr>
                  <a:tr h="2011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Distance from nose to horizontal tail apex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851515" r="-144531" b="-8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12.07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3232640656"/>
                      </a:ext>
                    </a:extLst>
                  </a:tr>
                  <a:tr h="201168">
                    <a:tc rowSpan="5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Vertical tail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25% sweep angle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1951515" r="-144531" b="-7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0.8029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rad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172064664"/>
                      </a:ext>
                    </a:extLst>
                  </a:tr>
                  <a:tr h="1927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Aspect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2183871" r="-144531" b="-677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1.1675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076521407"/>
                      </a:ext>
                    </a:extLst>
                  </a:tr>
                  <a:tr h="192786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Taper ratio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2212500" r="-144531" b="-55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0.52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-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965704853"/>
                      </a:ext>
                    </a:extLst>
                  </a:tr>
                  <a:tr h="2011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Distance from nose to vertical tail apex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2242424" r="-144531" b="-439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9.846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94130429"/>
                      </a:ext>
                    </a:extLst>
                  </a:tr>
                  <a:tr h="201168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Root chord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2342424" r="-144531" b="-339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2.53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3731346647"/>
                      </a:ext>
                    </a:extLst>
                  </a:tr>
                  <a:tr h="211074">
                    <a:tc rowSpan="3"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Fuse-lage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 vert="vert27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Total length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2302857" r="-144531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14.4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468549135"/>
                      </a:ext>
                    </a:extLst>
                  </a:tr>
                  <a:tr h="21107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de-DE" sz="1100">
                              <a:effectLst/>
                            </a:rPr>
                            <a:t>Width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2473529" r="-144531" b="-1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1.85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m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2676804975"/>
                      </a:ext>
                    </a:extLst>
                  </a:tr>
                  <a:tr h="211074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Height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239" marR="55239" marT="0" marB="0">
                        <a:blipFill>
                          <a:blip r:embed="rId2"/>
                          <a:stretch>
                            <a:fillRect l="-466406" t="-2500000" r="-144531" b="-2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>
                              <a:effectLst/>
                            </a:rPr>
                            <a:t>1.75</a:t>
                          </a:r>
                          <a:endParaRPr lang="en-US" sz="105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m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5187253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FE93AA35-EFCF-408C-A4CC-C9B6E313D0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6853354"/>
                  </p:ext>
                </p:extLst>
              </p:nvPr>
            </p:nvGraphicFramePr>
            <p:xfrm>
              <a:off x="478367" y="1210708"/>
              <a:ext cx="5136515" cy="39179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47040">
                      <a:extLst>
                        <a:ext uri="{9D8B030D-6E8A-4147-A177-3AD203B41FA5}">
                          <a16:colId xmlns:a16="http://schemas.microsoft.com/office/drawing/2014/main" val="3169330899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364466028"/>
                        </a:ext>
                      </a:extLst>
                    </a:gridCol>
                    <a:gridCol w="989965">
                      <a:extLst>
                        <a:ext uri="{9D8B030D-6E8A-4147-A177-3AD203B41FA5}">
                          <a16:colId xmlns:a16="http://schemas.microsoft.com/office/drawing/2014/main" val="3976717280"/>
                        </a:ext>
                      </a:extLst>
                    </a:gridCol>
                    <a:gridCol w="861060">
                      <a:extLst>
                        <a:ext uri="{9D8B030D-6E8A-4147-A177-3AD203B41FA5}">
                          <a16:colId xmlns:a16="http://schemas.microsoft.com/office/drawing/2014/main" val="4265800295"/>
                        </a:ext>
                      </a:extLst>
                    </a:gridCol>
                    <a:gridCol w="537210">
                      <a:extLst>
                        <a:ext uri="{9D8B030D-6E8A-4147-A177-3AD203B41FA5}">
                          <a16:colId xmlns:a16="http://schemas.microsoft.com/office/drawing/2014/main" val="319696158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Description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Symbol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Value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Unit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4975801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Take-off mass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𝑇𝑂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5239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kg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805596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FE93AA35-EFCF-408C-A4CC-C9B6E313D0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6853354"/>
                  </p:ext>
                </p:extLst>
              </p:nvPr>
            </p:nvGraphicFramePr>
            <p:xfrm>
              <a:off x="478367" y="1210708"/>
              <a:ext cx="5136515" cy="39179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47040">
                      <a:extLst>
                        <a:ext uri="{9D8B030D-6E8A-4147-A177-3AD203B41FA5}">
                          <a16:colId xmlns:a16="http://schemas.microsoft.com/office/drawing/2014/main" val="3169330899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364466028"/>
                        </a:ext>
                      </a:extLst>
                    </a:gridCol>
                    <a:gridCol w="989965">
                      <a:extLst>
                        <a:ext uri="{9D8B030D-6E8A-4147-A177-3AD203B41FA5}">
                          <a16:colId xmlns:a16="http://schemas.microsoft.com/office/drawing/2014/main" val="3976717280"/>
                        </a:ext>
                      </a:extLst>
                    </a:gridCol>
                    <a:gridCol w="861060">
                      <a:extLst>
                        <a:ext uri="{9D8B030D-6E8A-4147-A177-3AD203B41FA5}">
                          <a16:colId xmlns:a16="http://schemas.microsoft.com/office/drawing/2014/main" val="4265800295"/>
                        </a:ext>
                      </a:extLst>
                    </a:gridCol>
                    <a:gridCol w="537210">
                      <a:extLst>
                        <a:ext uri="{9D8B030D-6E8A-4147-A177-3AD203B41FA5}">
                          <a16:colId xmlns:a16="http://schemas.microsoft.com/office/drawing/2014/main" val="3196961586"/>
                        </a:ext>
                      </a:extLst>
                    </a:gridCol>
                  </a:tblGrid>
                  <a:tr h="18148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Description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Symbol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Value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100" dirty="0">
                              <a:effectLst/>
                            </a:rPr>
                            <a:t>Unit</a:t>
                          </a:r>
                          <a:endParaRPr lang="en-US" sz="105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239" marR="55239" marT="0" marB="0"/>
                    </a:tc>
                    <a:extLst>
                      <a:ext uri="{0D108BD9-81ED-4DB2-BD59-A6C34878D82A}">
                        <a16:rowId xmlns:a16="http://schemas.microsoft.com/office/drawing/2014/main" val="1497580177"/>
                      </a:ext>
                    </a:extLst>
                  </a:tr>
                  <a:tr h="210312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 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Take-off mass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79630" t="-102857" r="-144444" b="-3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>
                              <a:effectLst/>
                            </a:rPr>
                            <a:t>5239</a:t>
                          </a:r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effectLst/>
                            </a:rPr>
                            <a:t>kg</a:t>
                          </a:r>
                          <a:endParaRPr lang="en-US" sz="1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805596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ABA15371-F35E-4E4C-B3CD-60FFC330F72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53005" y="2001685"/>
            <a:ext cx="5941060" cy="4142740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6149D3BC-30E6-48A6-8CCE-292437F4F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0434" y="3928275"/>
            <a:ext cx="1229360" cy="289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de-DE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Pressurized cabin</a:t>
            </a:r>
            <a:endParaRPr lang="en-US" sz="110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33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3C51AE-DCE3-468C-8E03-0B30B5BF6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F800D02-5BC2-4187-9624-A1E389D8B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53" y="962427"/>
                <a:ext cx="6938826" cy="5133460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=1+0.75⋅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𝑡𝑎𝑛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𝛬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%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𝑡𝑎𝑛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𝛬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%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𝐴𝑅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0.6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1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de-DE" sz="14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b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den>
                          </m:f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+100∙</m:t>
                          </m:r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  <m:sup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bSup>
                        </m:e>
                      </m:d>
                      <m:r>
                        <a:rPr lang="de-DE" sz="1400" i="1">
                          <a:latin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1.34 ∙ 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0.18</m:t>
                              </m:r>
                            </m:sup>
                          </m:sSup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𝛬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0.28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𝑅𝑒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𝐶𝑂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=38∙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𝑟𝑒𝑓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1.053</m:t>
                        </m:r>
                      </m:sup>
                    </m:sSup>
                  </m:oMath>
                </a14:m>
                <a:r>
                  <a:rPr lang="en-US" sz="1400" dirty="0"/>
                  <a:t>(subsonic);</a:t>
                </a:r>
                <a:r>
                  <a:rPr lang="en-US" sz="1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𝑅𝑒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𝐶𝑂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=44∙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𝑟𝑒𝑓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1.053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1.16</m:t>
                        </m:r>
                      </m:sup>
                    </m:sSubSup>
                  </m:oMath>
                </a14:m>
                <a:r>
                  <a:rPr lang="de-DE" sz="1400" i="1" dirty="0"/>
                  <a:t> </a:t>
                </a:r>
                <a:r>
                  <a:rPr lang="en-US" sz="1400" dirty="0"/>
                  <a:t>(trans-/supersonic)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𝑙𝑎𝑚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1.328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𝑅𝑒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𝑡𝑢𝑟𝑏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0.455</m:t>
                          </m:r>
                        </m:num>
                        <m:den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unc>
                                <m:func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𝑙𝑜𝑔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𝑅𝑒</m:t>
                                  </m:r>
                                </m:e>
                              </m:func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2.58</m:t>
                              </m:r>
                            </m:sup>
                          </m:sSup>
                        </m:den>
                      </m:f>
                      <m:r>
                        <a:rPr lang="de-DE" sz="14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1+0.144⋅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∞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−0.65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𝑤𝑒𝑡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1">
                          <a:latin typeface="Cambria Math" panose="02040503050406030204" pitchFamily="18" charset="0"/>
                        </a:rPr>
                        <m:t>2⋅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F800D02-5BC2-4187-9624-A1E389D8B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53" y="962427"/>
                <a:ext cx="6938826" cy="5133460"/>
              </a:xfrm>
              <a:blipFill>
                <a:blip r:embed="rId2"/>
                <a:stretch>
                  <a:fillRect l="-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fik 3">
            <a:extLst>
              <a:ext uri="{FF2B5EF4-FFF2-40B4-BE49-F238E27FC236}">
                <a16:creationId xmlns:a16="http://schemas.microsoft.com/office/drawing/2014/main" id="{EC5DDF33-97C2-4FBE-94A4-25172317A20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358" y="4389823"/>
            <a:ext cx="2550077" cy="1895200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F7BD54C-B41B-4A19-8DA4-F98E480309B6}"/>
                  </a:ext>
                </a:extLst>
              </p:cNvPr>
              <p:cNvSpPr/>
              <p:nvPr/>
            </p:nvSpPr>
            <p:spPr>
              <a:xfrm>
                <a:off x="6009959" y="1117022"/>
                <a:ext cx="4014176" cy="48242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𝑛𝑎𝑐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=0.49∙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𝑢𝑛𝑖𝑡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1000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.4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0.2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𝑇𝐸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de-DE" sz="1400" i="1"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i="1"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𝑇𝐸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1"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𝑇𝐸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𝑇𝐸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r>
                        <a:rPr lang="de-DE" sz="1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𝛬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𝑎𝑐𝑐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𝑇𝑂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2∙</m:t>
                          </m:r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num>
                        <m:den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de-DE" sz="1400" i="1">
                          <a:latin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de-DE" sz="14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𝑎𝑒𝑟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∙(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𝑇𝑂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𝑇𝑂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𝑎𝑒𝑟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0|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𝑐𝑙𝑒𝑎𝑛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𝑓𝑙𝑎𝑝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𝐿𝐺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𝑇𝑂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𝑇𝑂</m:t>
                              </m:r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sub>
                          </m:s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𝑇𝑂</m:t>
                              </m:r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𝑇𝑂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sub>
                          </m:s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e-DE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de-DE" sz="14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de-DE" sz="1400" i="1">
                                          <a:latin typeface="Cambria Math" panose="02040503050406030204" pitchFamily="18" charset="0"/>
                                        </a:rPr>
                                        <m:t>𝑇𝑂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num>
                        <m:den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𝐷𝑖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𝑇𝑂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,0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𝐴𝑅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𝐴𝑅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de-DE" sz="14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𝑇𝑂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𝑇𝑂</m:t>
                          </m:r>
                        </m:sub>
                      </m:sSub>
                      <m:r>
                        <a:rPr lang="de-DE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4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de-DE" sz="14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de-DE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F7BD54C-B41B-4A19-8DA4-F98E480309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9959" y="1117022"/>
                <a:ext cx="4014176" cy="48242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D53A29F-4500-4928-9401-CA41FB54ED17}"/>
              </a:ext>
            </a:extLst>
          </p:cNvPr>
          <p:cNvGrpSpPr/>
          <p:nvPr/>
        </p:nvGrpSpPr>
        <p:grpSpPr>
          <a:xfrm>
            <a:off x="1014000" y="4429400"/>
            <a:ext cx="6096000" cy="1857816"/>
            <a:chOff x="317412" y="4588983"/>
            <a:chExt cx="6096000" cy="18578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hteck 9">
                  <a:extLst>
                    <a:ext uri="{FF2B5EF4-FFF2-40B4-BE49-F238E27FC236}">
                      <a16:creationId xmlns:a16="http://schemas.microsoft.com/office/drawing/2014/main" id="{793371B6-76CD-4D4B-9BD7-8D54685713B7}"/>
                    </a:ext>
                  </a:extLst>
                </p:cNvPr>
                <p:cNvSpPr/>
                <p:nvPr/>
              </p:nvSpPr>
              <p:spPr>
                <a:xfrm>
                  <a:off x="317412" y="4588983"/>
                  <a:ext cx="6096000" cy="1857816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150000"/>
                    </a:lnSpc>
                    <a:spcAft>
                      <a:spcPts val="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𝑓𝑢𝑠</m:t>
                          </m:r>
                        </m:sub>
                      </m:sSub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=0.021⋅</m:t>
                      </m:r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𝑓𝑢𝑠</m:t>
                          </m:r>
                        </m:sub>
                      </m:sSub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𝐻𝑇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𝑓𝑢𝑠</m:t>
                                  </m:r>
                                </m:sub>
                              </m:s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𝑓𝑢𝑠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∙</m:t>
                      </m:r>
                      <m:sSubSup>
                        <m:sSubSup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𝑓𝑢𝑠</m:t>
                          </m:r>
                        </m:sub>
                        <m:sup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1.2</m:t>
                          </m:r>
                        </m:sup>
                      </m:sSubSup>
                    </m:oMath>
                  </a14:m>
                  <a:r>
                    <a:rPr lang="en-US" sz="1400" i="1" dirty="0">
                      <a:effectLst/>
                      <a:latin typeface="Calibri" panose="020F0502020204030204" pitchFamily="34" charset="0"/>
                      <a:ea typeface="PMingLiU" panose="02020500000000000000" pitchFamily="18" charset="-120"/>
                      <a:cs typeface="Calibri" panose="020F0502020204030204" pitchFamily="34" charset="0"/>
                    </a:rPr>
                    <a:t> </a:t>
                  </a:r>
                </a:p>
                <a:p>
                  <a:pPr algn="just">
                    <a:lnSpc>
                      <a:spcPct val="150000"/>
                    </a:lnSpc>
                    <a:spcAft>
                      <a:spcPts val="0"/>
                    </a:spcAft>
                  </a:pPr>
                  <a:r>
                    <a:rPr lang="en-US" sz="1400" dirty="0">
                      <a:effectLst/>
                      <a:latin typeface="Calibri" panose="020F0502020204030204" pitchFamily="34" charset="0"/>
                      <a:ea typeface="PMingLiU" panose="02020500000000000000" pitchFamily="18" charset="-120"/>
                      <a:cs typeface="Calibri" panose="020F0502020204030204" pitchFamily="34" charset="0"/>
                    </a:rPr>
                    <a:t>with</a:t>
                  </a:r>
                  <a:r>
                    <a:rPr lang="en-US" sz="1400" i="1" dirty="0">
                      <a:effectLst/>
                      <a:latin typeface="Calibri" panose="020F0502020204030204" pitchFamily="34" charset="0"/>
                      <a:ea typeface="PMingLiU" panose="02020500000000000000" pitchFamily="18" charset="-12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𝑆</m:t>
                          </m:r>
                        </m:e>
                        <m:sub>
                          <m:r>
                            <a:rPr lang="de-DE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𝑓𝑢𝑠</m:t>
                          </m:r>
                        </m:sub>
                      </m:sSub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≈</m:t>
                      </m:r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𝑙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𝑓𝑢𝑠</m:t>
                          </m:r>
                        </m:sub>
                      </m:sSub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𝜋</m:t>
                      </m:r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⋅</m:t>
                      </m:r>
                      <m:d>
                        <m:d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𝑓𝑢𝑠</m:t>
                                  </m:r>
                                </m:sub>
                              </m:s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+ 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𝑓𝑢𝑠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a14:m>
                  <a:r>
                    <a:rPr lang="de-DE" sz="1400" i="1" dirty="0">
                      <a:effectLst/>
                      <a:latin typeface="Calibri" panose="020F0502020204030204" pitchFamily="34" charset="0"/>
                      <a:ea typeface="PMingLiU" panose="02020500000000000000" pitchFamily="18" charset="-120"/>
                      <a:cs typeface="Calibri" panose="020F0502020204030204" pitchFamily="34" charset="0"/>
                    </a:rPr>
                    <a:t> </a:t>
                  </a:r>
                  <a:r>
                    <a:rPr lang="en-US" sz="1400" dirty="0">
                      <a:effectLst/>
                      <a:latin typeface="Calibri" panose="020F0502020204030204" pitchFamily="34" charset="0"/>
                      <a:ea typeface="PMingLiU" panose="02020500000000000000" pitchFamily="18" charset="-120"/>
                      <a:cs typeface="Calibri" panose="020F0502020204030204" pitchFamily="34" charset="0"/>
                    </a:rPr>
                    <a:t>&amp;</a:t>
                  </a:r>
                  <a:r>
                    <a:rPr lang="en-US" sz="1400" i="1" dirty="0">
                      <a:effectLst/>
                      <a:latin typeface="Calibri" panose="020F0502020204030204" pitchFamily="34" charset="0"/>
                      <a:ea typeface="PMingLiU" panose="02020500000000000000" pitchFamily="18" charset="-12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𝐻𝑇</m:t>
                          </m:r>
                        </m:sub>
                      </m:sSub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≈</m:t>
                      </m:r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0,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𝐻𝑇</m:t>
                          </m:r>
                        </m:sub>
                      </m:sSub>
                      <m:r>
                        <a:rPr lang="en-US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0,</m:t>
                          </m:r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𝑊</m:t>
                          </m:r>
                        </m:sub>
                      </m:sSub>
                    </m:oMath>
                  </a14:m>
                  <a:endParaRPr lang="en-US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ct val="150000"/>
                    </a:lnSpc>
                    <a:spcAft>
                      <a:spcPts val="0"/>
                    </a:spcAft>
                  </a:pPr>
                  <a:endPara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ct val="150000"/>
                    </a:lnSpc>
                    <a:spcAft>
                      <a:spcPts val="0"/>
                    </a:spcAft>
                  </a:pPr>
                  <a:endParaRPr lang="en-US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hteck 9">
                  <a:extLst>
                    <a:ext uri="{FF2B5EF4-FFF2-40B4-BE49-F238E27FC236}">
                      <a16:creationId xmlns:a16="http://schemas.microsoft.com/office/drawing/2014/main" id="{793371B6-76CD-4D4B-9BD7-8D54685713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412" y="4588983"/>
                  <a:ext cx="6096000" cy="1857816"/>
                </a:xfrm>
                <a:prstGeom prst="rect">
                  <a:avLst/>
                </a:prstGeom>
                <a:blipFill>
                  <a:blip r:embed="rId5"/>
                  <a:stretch>
                    <a:fillRect l="-3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FABEF419-0569-4C7A-9989-7A992AECB373}"/>
                </a:ext>
              </a:extLst>
            </p:cNvPr>
            <p:cNvPicPr/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67974" y="5817861"/>
              <a:ext cx="4247515" cy="6267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 de texto 2">
                  <a:extLst>
                    <a:ext uri="{FF2B5EF4-FFF2-40B4-BE49-F238E27FC236}">
                      <a16:creationId xmlns:a16="http://schemas.microsoft.com/office/drawing/2014/main" id="{C52DB8A5-AA1B-4759-A065-2D0C1C8470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17210" y="5771034"/>
                  <a:ext cx="387350" cy="2667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lnSpc>
                      <a:spcPct val="115000"/>
                    </a:lnSpc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>
                                <a:solidFill>
                                  <a:srgbClr val="80808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>
                                <a:solidFill>
                                  <a:srgbClr val="80808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e-DE" sz="1100" i="1">
                                <a:solidFill>
                                  <a:srgbClr val="80808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𝑓𝑢𝑠</m:t>
                            </m:r>
                          </m:sub>
                        </m:sSub>
                      </m:oMath>
                    </m:oMathPara>
                  </a14:m>
                  <a:endParaRPr lang="en-US" sz="11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Cuadro de texto 2">
                  <a:extLst>
                    <a:ext uri="{FF2B5EF4-FFF2-40B4-BE49-F238E27FC236}">
                      <a16:creationId xmlns:a16="http://schemas.microsoft.com/office/drawing/2014/main" id="{C52DB8A5-AA1B-4759-A065-2D0C1C8470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17210" y="5771034"/>
                  <a:ext cx="387350" cy="266700"/>
                </a:xfrm>
                <a:prstGeom prst="rect">
                  <a:avLst/>
                </a:prstGeom>
                <a:blipFill>
                  <a:blip r:embed="rId8"/>
                  <a:stretch>
                    <a:fillRect b="-1395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2906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800" i="1" dirty="0"/>
              <a:t>Which configurative features are visible on the three-side view and the illustration of each aircraft? What are the corresponding derived properties for the aircraft? List at least 6 for the Piaggio P180 moderate speed (M0.6), laminar flow executive transport aircraft.</a:t>
            </a:r>
            <a:endParaRPr lang="en-US" sz="1800" dirty="0"/>
          </a:p>
          <a:p>
            <a:endParaRPr lang="en-US" sz="1800" dirty="0"/>
          </a:p>
          <a:p>
            <a:endParaRPr lang="en-US" sz="1800" dirty="0">
              <a:cs typeface="Calibri" panose="020F0502020204030204" pitchFamily="34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4122281" y="6080142"/>
            <a:ext cx="4124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/>
              <a:t>Source: </a:t>
            </a:r>
            <a:r>
              <a:rPr lang="de-DE" sz="1100" dirty="0">
                <a:hlinkClick r:id="rId3"/>
              </a:rPr>
              <a:t>https://www.youtube.com/watch?v=osKivHdFUMI</a:t>
            </a:r>
            <a:r>
              <a:rPr lang="de-DE" sz="1100" dirty="0"/>
              <a:t>  </a:t>
            </a:r>
            <a:endParaRPr lang="en-US" sz="1100" dirty="0" err="1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8DE1FF6-CBD2-40F9-AE30-9D09BE626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91" y="2408544"/>
            <a:ext cx="4905880" cy="367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4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1800" i="1" dirty="0"/>
              <a:t>Which configurative features are visible on the three-side view and the illustration of each aircraft? What are the corresponding derived properties for the aircraft? List at least 6 for the Piaggio P180 moderate speed (M0.6), laminar flow executive transport aircraft.</a:t>
            </a:r>
            <a:endParaRPr lang="en-US" sz="1800" dirty="0"/>
          </a:p>
          <a:p>
            <a:endParaRPr lang="en-US" sz="1800" dirty="0"/>
          </a:p>
          <a:p>
            <a:endParaRPr lang="en-US" sz="1800" dirty="0">
              <a:cs typeface="Calibri" panose="020F0502020204030204" pitchFamily="34" charset="0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A5A4AD4-FAA0-4A2A-997F-4D857D362BD1}"/>
              </a:ext>
            </a:extLst>
          </p:cNvPr>
          <p:cNvGrpSpPr/>
          <p:nvPr/>
        </p:nvGrpSpPr>
        <p:grpSpPr>
          <a:xfrm>
            <a:off x="8323536" y="2097796"/>
            <a:ext cx="3453185" cy="3847722"/>
            <a:chOff x="6765957" y="2082298"/>
            <a:chExt cx="3453185" cy="3847722"/>
          </a:xfrm>
        </p:grpSpPr>
        <p:pic>
          <p:nvPicPr>
            <p:cNvPr id="5" name="Grafik 4"/>
            <p:cNvPicPr/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37" r="5407" b="13661"/>
            <a:stretch/>
          </p:blipFill>
          <p:spPr bwMode="auto">
            <a:xfrm>
              <a:off x="6765957" y="2082298"/>
              <a:ext cx="3453184" cy="185683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" name="Grafik 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698" b="8353"/>
            <a:stretch/>
          </p:blipFill>
          <p:spPr>
            <a:xfrm>
              <a:off x="6775355" y="4140029"/>
              <a:ext cx="3443787" cy="178999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0915505-0299-45C8-B460-A160FFA94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762528"/>
              </p:ext>
            </p:extLst>
          </p:nvPr>
        </p:nvGraphicFramePr>
        <p:xfrm>
          <a:off x="478367" y="2158928"/>
          <a:ext cx="7634996" cy="4003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639">
                  <a:extLst>
                    <a:ext uri="{9D8B030D-6E8A-4147-A177-3AD203B41FA5}">
                      <a16:colId xmlns:a16="http://schemas.microsoft.com/office/drawing/2014/main" val="649321316"/>
                    </a:ext>
                  </a:extLst>
                </a:gridCol>
                <a:gridCol w="4741357">
                  <a:extLst>
                    <a:ext uri="{9D8B030D-6E8A-4147-A177-3AD203B41FA5}">
                      <a16:colId xmlns:a16="http://schemas.microsoft.com/office/drawing/2014/main" val="397381781"/>
                    </a:ext>
                  </a:extLst>
                </a:gridCol>
              </a:tblGrid>
              <a:tr h="33778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Configurative feature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Derived property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extLst>
                  <a:ext uri="{0D108BD9-81ED-4DB2-BD59-A6C34878D82A}">
                    <a16:rowId xmlns:a16="http://schemas.microsoft.com/office/drawing/2014/main" val="1765634090"/>
                  </a:ext>
                </a:extLst>
              </a:tr>
              <a:tr h="7607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extLst>
                  <a:ext uri="{0D108BD9-81ED-4DB2-BD59-A6C34878D82A}">
                    <a16:rowId xmlns:a16="http://schemas.microsoft.com/office/drawing/2014/main" val="4020532702"/>
                  </a:ext>
                </a:extLst>
              </a:tr>
              <a:tr h="5428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extLst>
                  <a:ext uri="{0D108BD9-81ED-4DB2-BD59-A6C34878D82A}">
                    <a16:rowId xmlns:a16="http://schemas.microsoft.com/office/drawing/2014/main" val="891420790"/>
                  </a:ext>
                </a:extLst>
              </a:tr>
              <a:tr h="5428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extLst>
                  <a:ext uri="{0D108BD9-81ED-4DB2-BD59-A6C34878D82A}">
                    <a16:rowId xmlns:a16="http://schemas.microsoft.com/office/drawing/2014/main" val="1161643768"/>
                  </a:ext>
                </a:extLst>
              </a:tr>
              <a:tr h="6460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extLst>
                  <a:ext uri="{0D108BD9-81ED-4DB2-BD59-A6C34878D82A}">
                    <a16:rowId xmlns:a16="http://schemas.microsoft.com/office/drawing/2014/main" val="3557864267"/>
                  </a:ext>
                </a:extLst>
              </a:tr>
              <a:tr h="6306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extLst>
                  <a:ext uri="{0D108BD9-81ED-4DB2-BD59-A6C34878D82A}">
                    <a16:rowId xmlns:a16="http://schemas.microsoft.com/office/drawing/2014/main" val="3415067897"/>
                  </a:ext>
                </a:extLst>
              </a:tr>
              <a:tr h="5428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273" marR="72273" marT="36136" marB="36136"/>
                </a:tc>
                <a:extLst>
                  <a:ext uri="{0D108BD9-81ED-4DB2-BD59-A6C34878D82A}">
                    <a16:rowId xmlns:a16="http://schemas.microsoft.com/office/drawing/2014/main" val="1626351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232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1800" i="1" dirty="0"/>
                  <a:t>Determine the lift coefficient slope of the horizontal stabilizer at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800" i="1" dirty="0"/>
                  <a:t> on aircraft level. Due to the vertical position, the local dynamic pressure is reduced by only 5% compared to the main wings and the effective angle of attack is reduced by 10%. If more than one method is applicable, use the most precise one.</a:t>
                </a:r>
              </a:p>
              <a:p>
                <a:pPr algn="just"/>
                <a:endParaRPr lang="de-DE" sz="1800" i="1" dirty="0"/>
              </a:p>
              <a:p>
                <a:pPr algn="just"/>
                <a:endParaRPr lang="en-US" sz="1800" i="1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 r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0576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1800" i="1" dirty="0"/>
                  <a:t>Determine the lift coefficient slope of the horizontal stabilizer at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800" i="1" dirty="0"/>
                  <a:t> on aircraft level. Due to the vertical position, the local dynamic pressure is reduced by only 5% compared to the main wings and the effective angle of attack is reduced by 10%. If more than one method is applicable, use the most precise one.</a:t>
                </a:r>
              </a:p>
              <a:p>
                <a:pPr algn="just"/>
                <a:endParaRPr lang="de-DE" sz="1800" i="1" dirty="0"/>
              </a:p>
              <a:p>
                <a:pPr algn="just"/>
                <a:endParaRPr lang="en-US" sz="1800" i="1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 r="-1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520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Calculate the parasite drag area of the main wing during subsonic cruise flight at </a:t>
                </a:r>
                <a14:m>
                  <m:oMath xmlns:m="http://schemas.openxmlformats.org/officeDocument/2006/math">
                    <m:r>
                      <a:rPr lang="es-ES" sz="1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=12000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800" i="1" dirty="0"/>
                  <a:t>. Assume laminar conditions prevail on 45% of the (camouflaged aluminum) wing chord and weight the equations for the coefficient of friction accordingly.</a:t>
                </a:r>
              </a:p>
              <a:p>
                <a:endParaRPr lang="de-DE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741F6BEA-D07D-42A1-A558-B61B23B798B3}"/>
              </a:ext>
            </a:extLst>
          </p:cNvPr>
          <p:cNvSpPr/>
          <p:nvPr/>
        </p:nvSpPr>
        <p:spPr>
          <a:xfrm>
            <a:off x="8640305" y="5716113"/>
            <a:ext cx="3162945" cy="617892"/>
          </a:xfrm>
          <a:prstGeom prst="roundRect">
            <a:avLst>
              <a:gd name="adj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434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Calculate the parasite drag area of the main wing during subsonic cruise flight at </a:t>
                </a:r>
                <a14:m>
                  <m:oMath xmlns:m="http://schemas.openxmlformats.org/officeDocument/2006/math">
                    <m:r>
                      <a:rPr lang="es-ES" sz="1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=12000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800" i="1" dirty="0"/>
                  <a:t>. Assume laminar conditions prevail on 45% of the (camouflaged aluminum) wing chord and weight the equations for the coefficient of friction accordingly.</a:t>
                </a:r>
              </a:p>
              <a:p>
                <a:endParaRPr lang="de-DE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E744FF5C-74F5-4854-B9C0-FC435FFB1FF4}"/>
              </a:ext>
            </a:extLst>
          </p:cNvPr>
          <p:cNvSpPr/>
          <p:nvPr/>
        </p:nvSpPr>
        <p:spPr>
          <a:xfrm>
            <a:off x="8733295" y="5405984"/>
            <a:ext cx="3001505" cy="295939"/>
          </a:xfrm>
          <a:prstGeom prst="roundRect">
            <a:avLst>
              <a:gd name="adj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1933D049-367B-4ACC-A239-B5E4F355A51C}"/>
              </a:ext>
            </a:extLst>
          </p:cNvPr>
          <p:cNvSpPr/>
          <p:nvPr/>
        </p:nvSpPr>
        <p:spPr>
          <a:xfrm>
            <a:off x="8640305" y="6019799"/>
            <a:ext cx="3201692" cy="321953"/>
          </a:xfrm>
          <a:prstGeom prst="roundRect">
            <a:avLst>
              <a:gd name="adj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810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Calculate the parasite drag area of the main wing during subsonic cruise flight at </a:t>
                </a:r>
                <a14:m>
                  <m:oMath xmlns:m="http://schemas.openxmlformats.org/officeDocument/2006/math">
                    <m:r>
                      <a:rPr lang="es-ES" sz="1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=12000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800" i="1" dirty="0"/>
                  <a:t>. Assume laminar conditions prevail on 45% of the (camouflaged aluminum) wing chord and weight the equations for the coefficient of friction accordingly.</a:t>
                </a:r>
              </a:p>
              <a:p>
                <a:endParaRPr lang="de-DE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C7A9F881-0FA7-46BD-B1D0-72059D367B31}"/>
              </a:ext>
            </a:extLst>
          </p:cNvPr>
          <p:cNvSpPr/>
          <p:nvPr/>
        </p:nvSpPr>
        <p:spPr>
          <a:xfrm>
            <a:off x="8733295" y="5405984"/>
            <a:ext cx="3001505" cy="295939"/>
          </a:xfrm>
          <a:prstGeom prst="roundRect">
            <a:avLst>
              <a:gd name="adj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781EFBC1-5A23-4532-AB6E-C6550915EEB8}"/>
              </a:ext>
            </a:extLst>
          </p:cNvPr>
          <p:cNvSpPr/>
          <p:nvPr/>
        </p:nvSpPr>
        <p:spPr>
          <a:xfrm>
            <a:off x="8640305" y="6019799"/>
            <a:ext cx="3201692" cy="321953"/>
          </a:xfrm>
          <a:prstGeom prst="roundRect">
            <a:avLst>
              <a:gd name="adj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501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Calculate the parasite drag area of the main wing during subsonic cruise flight at </a:t>
                </a:r>
                <a14:m>
                  <m:oMath xmlns:m="http://schemas.openxmlformats.org/officeDocument/2006/math">
                    <m:r>
                      <a:rPr lang="es-ES" sz="1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=12000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800" i="1" dirty="0"/>
                  <a:t>. Assume laminar conditions prevail on 45% of the (camouflaged aluminum) wing chord and weight the equations for the coefficient of friction accordingly.</a:t>
                </a:r>
              </a:p>
              <a:p>
                <a:endParaRPr lang="de-DE" sz="1800" dirty="0"/>
              </a:p>
              <a:p>
                <a:endParaRPr lang="de-DE" sz="1800" dirty="0"/>
              </a:p>
              <a:p>
                <a:endParaRPr lang="de-DE" sz="1800" dirty="0"/>
              </a:p>
              <a:p>
                <a:endParaRPr lang="de-DE" sz="1800" dirty="0"/>
              </a:p>
              <a:p>
                <a:pPr lvl="0"/>
                <a:endParaRPr lang="de-DE" sz="1800" i="1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D46611BE-28D3-4D52-9AB1-EE89EFF9357B}"/>
              </a:ext>
            </a:extLst>
          </p:cNvPr>
          <p:cNvSpPr/>
          <p:nvPr/>
        </p:nvSpPr>
        <p:spPr>
          <a:xfrm>
            <a:off x="8701007" y="5709837"/>
            <a:ext cx="3109993" cy="321953"/>
          </a:xfrm>
          <a:prstGeom prst="roundRect">
            <a:avLst>
              <a:gd name="adj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3F8D583-5CE9-47B1-93BC-39C6617301A4}"/>
              </a:ext>
            </a:extLst>
          </p:cNvPr>
          <p:cNvSpPr/>
          <p:nvPr/>
        </p:nvSpPr>
        <p:spPr>
          <a:xfrm>
            <a:off x="8624807" y="5390486"/>
            <a:ext cx="3109993" cy="295939"/>
          </a:xfrm>
          <a:prstGeom prst="roundRect">
            <a:avLst>
              <a:gd name="adj" fmla="val 0"/>
            </a:avLst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237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Break (5min)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sz="1200" dirty="0"/>
          </a:p>
          <a:p>
            <a:r>
              <a:rPr lang="de-DE" sz="1600" dirty="0" err="1"/>
              <a:t>Exam</a:t>
            </a:r>
            <a:r>
              <a:rPr lang="de-DE" sz="1600" dirty="0"/>
              <a:t> </a:t>
            </a:r>
            <a:r>
              <a:rPr lang="de-DE" sz="1600" dirty="0" err="1"/>
              <a:t>preparation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r>
              <a:rPr lang="de-DE" sz="1600" dirty="0"/>
              <a:t> Mr. Bean</a:t>
            </a:r>
            <a:endParaRPr lang="en-US" sz="1600" dirty="0"/>
          </a:p>
        </p:txBody>
      </p:sp>
      <p:sp>
        <p:nvSpPr>
          <p:cNvPr id="4" name="Textfeld 2"/>
          <p:cNvSpPr txBox="1"/>
          <p:nvPr/>
        </p:nvSpPr>
        <p:spPr>
          <a:xfrm>
            <a:off x="4207522" y="5667625"/>
            <a:ext cx="39565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de-DE" sz="1100" dirty="0"/>
              <a:t>Source: </a:t>
            </a:r>
            <a:r>
              <a:rPr lang="en-US" sz="1100" dirty="0">
                <a:hlinkClick r:id="rId2"/>
              </a:rPr>
              <a:t>https://www.youtube.com/watch?v=-wOSrXV60MY</a:t>
            </a:r>
            <a:r>
              <a:rPr lang="en-US" sz="1100" dirty="0"/>
              <a:t> </a:t>
            </a:r>
          </a:p>
        </p:txBody>
      </p:sp>
      <p:sp>
        <p:nvSpPr>
          <p:cNvPr id="5" name="Textfeld 6"/>
          <p:cNvSpPr txBox="1"/>
          <p:nvPr/>
        </p:nvSpPr>
        <p:spPr>
          <a:xfrm>
            <a:off x="1809357" y="1056249"/>
            <a:ext cx="3235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de-DE" sz="1400" dirty="0">
                <a:solidFill>
                  <a:srgbClr val="FF0000"/>
                </a:solidFill>
              </a:rPr>
              <a:t>This </a:t>
            </a:r>
            <a:r>
              <a:rPr lang="de-DE" sz="1400" dirty="0" err="1">
                <a:solidFill>
                  <a:srgbClr val="FF0000"/>
                </a:solidFill>
              </a:rPr>
              <a:t>video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is</a:t>
            </a:r>
            <a:r>
              <a:rPr lang="de-DE" sz="1400" dirty="0">
                <a:solidFill>
                  <a:srgbClr val="FF0000"/>
                </a:solidFill>
              </a:rPr>
              <a:t> not relevant </a:t>
            </a:r>
            <a:r>
              <a:rPr lang="de-DE" sz="1400" dirty="0" err="1">
                <a:solidFill>
                  <a:srgbClr val="FF0000"/>
                </a:solidFill>
              </a:rPr>
              <a:t>for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the</a:t>
            </a:r>
            <a:r>
              <a:rPr lang="de-DE" sz="1400" dirty="0">
                <a:solidFill>
                  <a:srgbClr val="FF0000"/>
                </a:solidFill>
              </a:rPr>
              <a:t> </a:t>
            </a:r>
            <a:r>
              <a:rPr lang="de-DE" sz="1400" dirty="0" err="1">
                <a:solidFill>
                  <a:srgbClr val="FF0000"/>
                </a:solidFill>
              </a:rPr>
              <a:t>exam</a:t>
            </a:r>
            <a:r>
              <a:rPr lang="de-DE" sz="1400" dirty="0">
                <a:solidFill>
                  <a:srgbClr val="FF0000"/>
                </a:solidFill>
              </a:rPr>
              <a:t>!</a:t>
            </a:r>
            <a:endParaRPr lang="en-US" sz="1400" dirty="0" err="1">
              <a:solidFill>
                <a:srgbClr val="FF0000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A3562AC-3095-4AD3-AE77-15C503E21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349" y="2081192"/>
            <a:ext cx="6411857" cy="359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31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Locate the absolute location of the aerodynamic center of the horizontal tail during approach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US" sz="1800" i="1" dirty="0"/>
                  <a:t>), measured from the nose of the aircraft.</a:t>
                </a:r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/>
              <p:cNvSpPr txBox="1"/>
              <p:nvPr/>
            </p:nvSpPr>
            <p:spPr>
              <a:xfrm rot="16200000">
                <a:off x="8002820" y="3830995"/>
                <a:ext cx="878702" cy="438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𝐴𝐶</m:t>
                          </m:r>
                        </m:sub>
                      </m:sSub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dirty="0" err="1"/>
              </a:p>
            </p:txBody>
          </p:sp>
        </mc:Choice>
        <mc:Fallback xmlns="">
          <p:sp>
            <p:nvSpPr>
              <p:cNvPr id="5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002820" y="3830995"/>
                <a:ext cx="878702" cy="438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/>
          <a:srcRect b="1340"/>
          <a:stretch/>
        </p:blipFill>
        <p:spPr>
          <a:xfrm>
            <a:off x="8661558" y="2177480"/>
            <a:ext cx="3224023" cy="4092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B791CA17-C6BD-412E-9F39-FF007C53C69F}"/>
                  </a:ext>
                </a:extLst>
              </p:cNvPr>
              <p:cNvSpPr/>
              <p:nvPr/>
            </p:nvSpPr>
            <p:spPr>
              <a:xfrm>
                <a:off x="9403396" y="2023592"/>
                <a:ext cx="174034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/>
                  <a:t>taper ratio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de-DE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B791CA17-C6BD-412E-9F39-FF007C53C6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96" y="2023592"/>
                <a:ext cx="1740348" cy="307777"/>
              </a:xfrm>
              <a:prstGeom prst="rect">
                <a:avLst/>
              </a:prstGeom>
              <a:blipFill>
                <a:blip r:embed="rId6"/>
                <a:stretch>
                  <a:fillRect l="-1053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151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Locate the absolute location of the aerodynamic center of the horizontal tail during approach 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r>
                  <a:rPr lang="en-US" sz="1800" i="1" dirty="0"/>
                  <a:t>), measured from the nose of the aircraft.</a:t>
                </a:r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478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Estimate the mass of the fuselage in kilograms. The design dive speed is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400 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𝑘𝑛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800" dirty="0"/>
              </a:p>
              <a:p>
                <a:pPr lvl="0"/>
                <a:endParaRPr lang="en-US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506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An upgraded version of the aircraft shall use two turbofan engines in order to reach a nominal thrust to weight ratio of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𝑇𝑂</m:t>
                            </m:r>
                          </m:sub>
                        </m:sSub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sz="1800" i="1" dirty="0"/>
                  <a:t>. With the help of the sizing equations, estimate the length of the new nacelles. Cruise Mach number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1800" i="1" dirty="0"/>
                  <a:t>. Assume that the BPR is lower than 6.</a:t>
                </a:r>
              </a:p>
              <a:p>
                <a:endParaRPr lang="de-DE" sz="1800" i="1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1781" r="-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98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Estimate the maximum lift coefficient increment when the (average) double-slotted trailing edge flaps are deflected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=20°</m:t>
                    </m:r>
                  </m:oMath>
                </a14:m>
                <a:r>
                  <a:rPr lang="en-US" sz="1800" i="1" dirty="0"/>
                  <a:t>. Assume that 80% of the wing area is influenced by the flaps, which have a chord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=0.2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. 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fik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29" y="2894389"/>
            <a:ext cx="5232350" cy="33356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75">
                <a:extLst>
                  <a:ext uri="{FF2B5EF4-FFF2-40B4-BE49-F238E27FC236}">
                    <a16:creationId xmlns:a16="http://schemas.microsoft.com/office/drawing/2014/main" id="{DD97B0EA-649F-46A7-B5B9-30B5CA13F0BA}"/>
                  </a:ext>
                </a:extLst>
              </p:cNvPr>
              <p:cNvSpPr txBox="1"/>
              <p:nvPr/>
            </p:nvSpPr>
            <p:spPr>
              <a:xfrm>
                <a:off x="5160936" y="5739728"/>
                <a:ext cx="963480" cy="4217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sz="1600" i="1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</a:rPr>
                                <m:t>𝑇𝐸</m:t>
                              </m:r>
                            </m:sub>
                          </m:sSub>
                        </m:num>
                        <m:den>
                          <m:r>
                            <a:rPr lang="en-US" sz="1600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en-US" sz="1600">
                          <a:solidFill>
                            <a:srgbClr val="0065BD"/>
                          </a:solidFill>
                          <a:latin typeface="Cambria Math" panose="02040503050406030204" pitchFamily="18" charset="0"/>
                        </a:rPr>
                        <m:t> [%]</m:t>
                      </m:r>
                    </m:oMath>
                  </m:oMathPara>
                </a14:m>
                <a:endParaRPr lang="en-US" sz="1600" dirty="0">
                  <a:solidFill>
                    <a:srgbClr val="0065BD"/>
                  </a:solidFill>
                </a:endParaRPr>
              </a:p>
            </p:txBody>
          </p:sp>
        </mc:Choice>
        <mc:Fallback xmlns="">
          <p:sp>
            <p:nvSpPr>
              <p:cNvPr id="6" name="Textfeld 75">
                <a:extLst>
                  <a:ext uri="{FF2B5EF4-FFF2-40B4-BE49-F238E27FC236}">
                    <a16:creationId xmlns:a16="http://schemas.microsoft.com/office/drawing/2014/main" id="{DD97B0EA-649F-46A7-B5B9-30B5CA13F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936" y="5739728"/>
                <a:ext cx="963480" cy="421719"/>
              </a:xfrm>
              <a:prstGeom prst="rect">
                <a:avLst/>
              </a:prstGeom>
              <a:blipFill>
                <a:blip r:embed="rId6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855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Estimate the maximum lift coefficient increment when the (average) double-slotted trailing edge flaps are deflected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=20°</m:t>
                    </m:r>
                  </m:oMath>
                </a14:m>
                <a:r>
                  <a:rPr lang="en-US" sz="1800" i="1" dirty="0"/>
                  <a:t>. Assume that 80% of the wing area is influenced by the flaps, which have a chord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=0.2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. </a:t>
                </a:r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fik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603" y="2360545"/>
            <a:ext cx="3813748" cy="268065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 rotWithShape="1">
          <a:blip r:embed="rId5"/>
          <a:srcRect r="22399"/>
          <a:stretch/>
        </p:blipFill>
        <p:spPr>
          <a:xfrm>
            <a:off x="6153178" y="2239171"/>
            <a:ext cx="3422760" cy="3179565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5"/>
          <a:srcRect l="78574" t="81309"/>
          <a:stretch/>
        </p:blipFill>
        <p:spPr>
          <a:xfrm>
            <a:off x="9575938" y="4575102"/>
            <a:ext cx="945046" cy="5943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167">
                <a:extLst>
                  <a:ext uri="{FF2B5EF4-FFF2-40B4-BE49-F238E27FC236}">
                    <a16:creationId xmlns:a16="http://schemas.microsoft.com/office/drawing/2014/main" id="{8164977D-7437-49B9-B31E-179DAC4C0018}"/>
                  </a:ext>
                </a:extLst>
              </p:cNvPr>
              <p:cNvSpPr txBox="1"/>
              <p:nvPr/>
            </p:nvSpPr>
            <p:spPr>
              <a:xfrm>
                <a:off x="5297597" y="4825752"/>
                <a:ext cx="639061" cy="20005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300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TE</m:t>
                          </m:r>
                        </m:sub>
                      </m:sSub>
                      <m:r>
                        <a:rPr lang="en-US" sz="1300">
                          <a:solidFill>
                            <a:srgbClr val="0065B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300">
                          <a:solidFill>
                            <a:srgbClr val="0065BD"/>
                          </a:solidFill>
                          <a:latin typeface="Cambria Math" panose="02040503050406030204" pitchFamily="18" charset="0"/>
                        </a:rPr>
                        <m:t>[°]</m:t>
                      </m:r>
                    </m:oMath>
                  </m:oMathPara>
                </a14:m>
                <a:endParaRPr lang="en-US" sz="1300" dirty="0">
                  <a:solidFill>
                    <a:srgbClr val="0065BD"/>
                  </a:solidFill>
                </a:endParaRPr>
              </a:p>
            </p:txBody>
          </p:sp>
        </mc:Choice>
        <mc:Fallback xmlns="">
          <p:sp>
            <p:nvSpPr>
              <p:cNvPr id="10" name="Textfeld 167">
                <a:extLst>
                  <a:ext uri="{FF2B5EF4-FFF2-40B4-BE49-F238E27FC236}">
                    <a16:creationId xmlns:a16="http://schemas.microsoft.com/office/drawing/2014/main" id="{8164977D-7437-49B9-B31E-179DAC4C0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597" y="4825752"/>
                <a:ext cx="639061" cy="200055"/>
              </a:xfrm>
              <a:prstGeom prst="rect">
                <a:avLst/>
              </a:prstGeom>
              <a:blipFill>
                <a:blip r:embed="rId8"/>
                <a:stretch>
                  <a:fillRect b="-40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67">
                <a:extLst>
                  <a:ext uri="{FF2B5EF4-FFF2-40B4-BE49-F238E27FC236}">
                    <a16:creationId xmlns:a16="http://schemas.microsoft.com/office/drawing/2014/main" id="{36B3C72A-A7AA-4D96-8EE8-E08A0AC72C38}"/>
                  </a:ext>
                </a:extLst>
              </p:cNvPr>
              <p:cNvSpPr txBox="1"/>
              <p:nvPr/>
            </p:nvSpPr>
            <p:spPr>
              <a:xfrm>
                <a:off x="9538346" y="4564118"/>
                <a:ext cx="1086945" cy="33823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de-DE" sz="13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300" i="1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300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TE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300" i="1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DE" sz="1300">
                                  <a:solidFill>
                                    <a:srgbClr val="0065B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ref</m:t>
                              </m:r>
                            </m:sub>
                          </m:sSub>
                        </m:den>
                      </m:f>
                      <m:r>
                        <a:rPr lang="en-US" sz="1300">
                          <a:solidFill>
                            <a:srgbClr val="0065B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300">
                          <a:solidFill>
                            <a:srgbClr val="0065BD"/>
                          </a:solidFill>
                          <a:latin typeface="Cambria Math" panose="02040503050406030204" pitchFamily="18" charset="0"/>
                        </a:rPr>
                        <m:t>[°]</m:t>
                      </m:r>
                    </m:oMath>
                  </m:oMathPara>
                </a14:m>
                <a:endParaRPr lang="en-US" sz="1300" dirty="0">
                  <a:solidFill>
                    <a:srgbClr val="0065BD"/>
                  </a:solidFill>
                </a:endParaRPr>
              </a:p>
            </p:txBody>
          </p:sp>
        </mc:Choice>
        <mc:Fallback xmlns="">
          <p:sp>
            <p:nvSpPr>
              <p:cNvPr id="11" name="Textfeld 167">
                <a:extLst>
                  <a:ext uri="{FF2B5EF4-FFF2-40B4-BE49-F238E27FC236}">
                    <a16:creationId xmlns:a16="http://schemas.microsoft.com/office/drawing/2014/main" id="{36B3C72A-A7AA-4D96-8EE8-E08A0AC72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8346" y="4564118"/>
                <a:ext cx="1086945" cy="338234"/>
              </a:xfrm>
              <a:prstGeom prst="rect">
                <a:avLst/>
              </a:prstGeom>
              <a:blipFill>
                <a:blip r:embed="rId9"/>
                <a:stretch>
                  <a:fillRect l="-1124" t="-116364" r="-2809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8628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Estimate the maximum lift coefficient increment when the (average) double-slotted trailing edge flaps are deflected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=20°</m:t>
                    </m:r>
                  </m:oMath>
                </a14:m>
                <a:r>
                  <a:rPr lang="en-US" sz="1800" i="1" dirty="0"/>
                  <a:t>. Assume that 80% of the wing area is influenced by the flaps, which have a chord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=0.2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. 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364" y="2566845"/>
            <a:ext cx="4175491" cy="24527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hteck 9"/>
              <p:cNvSpPr/>
              <p:nvPr/>
            </p:nvSpPr>
            <p:spPr>
              <a:xfrm>
                <a:off x="1666255" y="2249642"/>
                <a:ext cx="1542327" cy="3172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1400">
                          <a:solidFill>
                            <a:srgbClr val="0065BD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e-DE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de-DE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de-DE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solidFill>
                    <a:srgbClr val="0065BD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hteck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255" y="2249642"/>
                <a:ext cx="1542327" cy="317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Group 68"/>
          <p:cNvGraphicFramePr>
            <a:graphicFrameLocks noGrp="1"/>
          </p:cNvGraphicFramePr>
          <p:nvPr/>
        </p:nvGraphicFramePr>
        <p:xfrm>
          <a:off x="6649375" y="2831989"/>
          <a:ext cx="2643308" cy="1600200"/>
        </p:xfrm>
        <a:graphic>
          <a:graphicData uri="http://schemas.openxmlformats.org/drawingml/2006/table">
            <a:tbl>
              <a:tblPr/>
              <a:tblGrid>
                <a:gridCol w="23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Flap type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Airfoil type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919FF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919FF"/>
                          </a:solidFill>
                          <a:effectLst/>
                          <a:latin typeface="Arial" panose="020B0604020202020204" pitchFamily="34" charset="0"/>
                        </a:rPr>
                        <a:t>Optimum double-slotted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1919FF"/>
                          </a:solidFill>
                          <a:effectLst/>
                          <a:latin typeface="Arial" panose="020B0604020202020204" pitchFamily="34" charset="0"/>
                        </a:rPr>
                        <a:t>NACA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panose="020B0604020202020204" pitchFamily="34" charset="0"/>
                        </a:rPr>
                        <a:t>Average double-slotted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panose="020B0604020202020204" pitchFamily="34" charset="0"/>
                        </a:rPr>
                        <a:t>NACA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UM Neue Helvetica 55 Regular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panose="020B0604020202020204" pitchFamily="34" charset="0"/>
                        </a:rPr>
                        <a:t>Fowler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Arial" panose="020B0604020202020204" pitchFamily="34" charset="0"/>
                        </a:rPr>
                        <a:t>any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Double slotted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NACA 6 series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Single slotted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any</a:t>
                      </a:r>
                      <a:endParaRPr kumimoji="0" lang="en-US" sz="9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Split / plain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any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34422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Estimate the maximum lift coefficient increment when the (average) double-slotted trailing edge flaps are deflected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=20°</m:t>
                    </m:r>
                  </m:oMath>
                </a14:m>
                <a:r>
                  <a:rPr lang="en-US" sz="1800" i="1" dirty="0"/>
                  <a:t>. Assume that 80% of the wing area is influenced by the flaps, which have a chord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𝑇𝐸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=0.2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. </a:t>
                </a:r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490" y="2712181"/>
            <a:ext cx="3971418" cy="25954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32">
                <a:extLst>
                  <a:ext uri="{FF2B5EF4-FFF2-40B4-BE49-F238E27FC236}">
                    <a16:creationId xmlns:a16="http://schemas.microsoft.com/office/drawing/2014/main" id="{E0130B2B-1941-4D7C-AE74-C7633CA07832}"/>
                  </a:ext>
                </a:extLst>
              </p:cNvPr>
              <p:cNvSpPr/>
              <p:nvPr/>
            </p:nvSpPr>
            <p:spPr>
              <a:xfrm>
                <a:off x="2075274" y="2712182"/>
                <a:ext cx="5425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400" i="1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1400">
                              <a:solidFill>
                                <a:srgbClr val="0065B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solidFill>
                    <a:srgbClr val="0065BD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hteck 32">
                <a:extLst>
                  <a:ext uri="{FF2B5EF4-FFF2-40B4-BE49-F238E27FC236}">
                    <a16:creationId xmlns:a16="http://schemas.microsoft.com/office/drawing/2014/main" id="{E0130B2B-1941-4D7C-AE74-C7633CA078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274" y="2712182"/>
                <a:ext cx="54251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feld 1"/>
          <p:cNvSpPr txBox="1"/>
          <p:nvPr/>
        </p:nvSpPr>
        <p:spPr>
          <a:xfrm>
            <a:off x="5999725" y="5016329"/>
            <a:ext cx="1932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dirty="0">
                <a:solidFill>
                  <a:schemeClr val="accent3"/>
                </a:solidFill>
              </a:rPr>
              <a:t>%</a:t>
            </a:r>
            <a:endParaRPr lang="en-US" sz="1050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35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Draw the limit curve for a take-off distance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=650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 at an altitude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2000 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 above mean sea level into a design chart (limit the number of supporting points of the resulting curve to three) and indicate the location of the design region.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=2.2,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0|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=0.016,  </m:t>
                    </m:r>
                    <m:r>
                      <a:rPr lang="es-E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=1.15,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𝑇𝑂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=1.66,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r>
                  <a:rPr lang="en-US" sz="1800" i="1" dirty="0"/>
                  <a:t>.</a:t>
                </a:r>
                <a:endParaRPr lang="en-US" sz="1800" dirty="0"/>
              </a:p>
              <a:p>
                <a:endParaRPr lang="de-DE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268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Inhaltsplatzhalt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800" i="1" dirty="0"/>
                  <a:t>Draw the limit curve for a take-off distance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𝑎𝑐𝑐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=650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 at an altitude of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2000 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i="1" dirty="0"/>
                  <a:t> above mean sea level into a design chart (limit the number of supporting points of the resulting curve to three) and indicate the location of the design region.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=2.2,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0|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=0.016,  </m:t>
                    </m:r>
                    <m:r>
                      <a:rPr lang="es-ES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=1.15,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𝑇𝑂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=1.66, 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DE" sz="18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=0.02</m:t>
                    </m:r>
                  </m:oMath>
                </a14:m>
                <a:r>
                  <a:rPr lang="en-US" sz="1800" i="1" dirty="0"/>
                  <a:t>.</a:t>
                </a:r>
              </a:p>
              <a:p>
                <a:endParaRPr lang="de-DE" sz="1800" i="1" dirty="0"/>
              </a:p>
              <a:p>
                <a:r>
                  <a:rPr lang="de-DE" sz="1800" dirty="0"/>
                  <a:t>Draw </a:t>
                </a:r>
                <a:r>
                  <a:rPr lang="de-DE" sz="1800" dirty="0" err="1"/>
                  <a:t>curve</a:t>
                </a:r>
                <a:r>
                  <a:rPr lang="de-DE" sz="1800" dirty="0"/>
                  <a:t>:</a:t>
                </a:r>
                <a:endParaRPr lang="en-US" sz="1800" dirty="0"/>
              </a:p>
            </p:txBody>
          </p:sp>
        </mc:Choice>
        <mc:Fallback xmlns="">
          <p:sp>
            <p:nvSpPr>
              <p:cNvPr id="8" name="Inhaltsplatzhalt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49" t="-831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hteck 3"/>
          <p:cNvSpPr/>
          <p:nvPr/>
        </p:nvSpPr>
        <p:spPr>
          <a:xfrm>
            <a:off x="3505960" y="2694966"/>
            <a:ext cx="3914552" cy="3451862"/>
          </a:xfrm>
          <a:prstGeom prst="rect">
            <a:avLst/>
          </a:prstGeom>
          <a:pattFill prst="lg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Line 1037"/>
          <p:cNvSpPr>
            <a:spLocks noChangeShapeType="1"/>
          </p:cNvSpPr>
          <p:nvPr/>
        </p:nvSpPr>
        <p:spPr bwMode="auto">
          <a:xfrm flipV="1">
            <a:off x="3466889" y="2610782"/>
            <a:ext cx="0" cy="367990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i="0" dirty="0">
              <a:solidFill>
                <a:srgbClr val="005293"/>
              </a:solidFill>
            </a:endParaRPr>
          </a:p>
        </p:txBody>
      </p:sp>
      <p:sp>
        <p:nvSpPr>
          <p:cNvPr id="6" name="Line 1038"/>
          <p:cNvSpPr>
            <a:spLocks noChangeShapeType="1"/>
          </p:cNvSpPr>
          <p:nvPr/>
        </p:nvSpPr>
        <p:spPr bwMode="auto">
          <a:xfrm flipV="1">
            <a:off x="3310772" y="6146828"/>
            <a:ext cx="416930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 i="0" dirty="0">
              <a:solidFill>
                <a:srgbClr val="00529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1054"/>
              <p:cNvSpPr txBox="1">
                <a:spLocks noChangeArrowheads="1"/>
              </p:cNvSpPr>
              <p:nvPr/>
            </p:nvSpPr>
            <p:spPr bwMode="auto">
              <a:xfrm>
                <a:off x="2965961" y="2271521"/>
                <a:ext cx="875727" cy="3355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1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s-ES" sz="1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de-DE" sz="1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[−]</m:t>
                      </m:r>
                    </m:oMath>
                  </m:oMathPara>
                </a14:m>
                <a:endParaRPr lang="en-US" sz="1400" dirty="0">
                  <a:solidFill>
                    <a:schemeClr val="accent2"/>
                  </a:solidFill>
                  <a:latin typeface="Symbol" pitchFamily="18" charset="2"/>
                </a:endParaRPr>
              </a:p>
            </p:txBody>
          </p:sp>
        </mc:Choice>
        <mc:Fallback xmlns="">
          <p:sp>
            <p:nvSpPr>
              <p:cNvPr id="10" name="Text Box 10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5961" y="2271521"/>
                <a:ext cx="875727" cy="335541"/>
              </a:xfrm>
              <a:prstGeom prst="rect">
                <a:avLst/>
              </a:prstGeom>
              <a:blipFill>
                <a:blip r:embed="rId4"/>
                <a:stretch>
                  <a:fillRect l="-23077" t="-123636" r="-14685" b="-19818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/>
          <p:cNvSpPr txBox="1"/>
          <p:nvPr/>
        </p:nvSpPr>
        <p:spPr>
          <a:xfrm>
            <a:off x="3117410" y="2456892"/>
            <a:ext cx="388550" cy="377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6000"/>
              </a:lnSpc>
            </a:pPr>
            <a:r>
              <a:rPr lang="de-DE" sz="1100" dirty="0">
                <a:solidFill>
                  <a:schemeClr val="accent2"/>
                </a:solidFill>
              </a:rPr>
              <a:t>0.8</a:t>
            </a:r>
          </a:p>
          <a:p>
            <a:pPr algn="r">
              <a:lnSpc>
                <a:spcPts val="6000"/>
              </a:lnSpc>
            </a:pPr>
            <a:r>
              <a:rPr lang="de-DE" sz="1100" dirty="0">
                <a:solidFill>
                  <a:schemeClr val="accent2"/>
                </a:solidFill>
              </a:rPr>
              <a:t>0.6</a:t>
            </a:r>
          </a:p>
          <a:p>
            <a:pPr algn="r">
              <a:lnSpc>
                <a:spcPts val="6000"/>
              </a:lnSpc>
            </a:pPr>
            <a:r>
              <a:rPr lang="de-DE" sz="1100" dirty="0">
                <a:solidFill>
                  <a:schemeClr val="accent2"/>
                </a:solidFill>
              </a:rPr>
              <a:t>0.4</a:t>
            </a:r>
          </a:p>
          <a:p>
            <a:pPr algn="r">
              <a:lnSpc>
                <a:spcPts val="6000"/>
              </a:lnSpc>
            </a:pPr>
            <a:r>
              <a:rPr lang="de-DE" sz="1100" dirty="0">
                <a:solidFill>
                  <a:schemeClr val="accent2"/>
                </a:solidFill>
              </a:rPr>
              <a:t>0.2</a:t>
            </a:r>
          </a:p>
          <a:p>
            <a:pPr algn="r">
              <a:lnSpc>
                <a:spcPts val="6000"/>
              </a:lnSpc>
            </a:pPr>
            <a:r>
              <a:rPr lang="de-DE" sz="1100" dirty="0">
                <a:solidFill>
                  <a:schemeClr val="accent2"/>
                </a:solidFill>
              </a:rPr>
              <a:t>0</a:t>
            </a:r>
            <a:endParaRPr lang="en-US" sz="1100" dirty="0" err="1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054"/>
              <p:cNvSpPr txBox="1">
                <a:spLocks noChangeArrowheads="1"/>
              </p:cNvSpPr>
              <p:nvPr/>
            </p:nvSpPr>
            <p:spPr bwMode="auto">
              <a:xfrm>
                <a:off x="7480077" y="5961274"/>
                <a:ext cx="1214269" cy="3427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sz="1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lang="de-DE" sz="14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de-DE" sz="1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de-DE" sz="1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de-DE" sz="1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de-DE" sz="1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sz="14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²]</m:t>
                      </m:r>
                    </m:oMath>
                  </m:oMathPara>
                </a14:m>
                <a:endParaRPr lang="en-US" sz="1400" dirty="0">
                  <a:solidFill>
                    <a:schemeClr val="accent2"/>
                  </a:solidFill>
                  <a:latin typeface="Symbol" pitchFamily="18" charset="2"/>
                </a:endParaRPr>
              </a:p>
            </p:txBody>
          </p:sp>
        </mc:Choice>
        <mc:Fallback xmlns="">
          <p:sp>
            <p:nvSpPr>
              <p:cNvPr id="12" name="Text Box 10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80077" y="5961274"/>
                <a:ext cx="1214269" cy="342723"/>
              </a:xfrm>
              <a:prstGeom prst="rect">
                <a:avLst/>
              </a:prstGeom>
              <a:blipFill>
                <a:blip r:embed="rId5"/>
                <a:stretch>
                  <a:fillRect l="-12563" t="-121429" b="-19285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feld 1"/>
          <p:cNvSpPr txBox="1"/>
          <p:nvPr/>
        </p:nvSpPr>
        <p:spPr>
          <a:xfrm>
            <a:off x="3466890" y="6146828"/>
            <a:ext cx="4169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06450"/>
            <a:r>
              <a:rPr lang="de-DE" sz="1100" dirty="0">
                <a:solidFill>
                  <a:schemeClr val="tx2"/>
                </a:solidFill>
              </a:rPr>
              <a:t>0	2000	4000	6000	8000</a:t>
            </a:r>
            <a:endParaRPr lang="en-US" sz="11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164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/>
          <p:cNvGrpSpPr>
            <a:grpSpLocks noChangeAspect="1"/>
          </p:cNvGrpSpPr>
          <p:nvPr/>
        </p:nvGrpSpPr>
        <p:grpSpPr>
          <a:xfrm>
            <a:off x="3740492" y="936537"/>
            <a:ext cx="4808778" cy="5215675"/>
            <a:chOff x="614287" y="1122390"/>
            <a:chExt cx="3377255" cy="3407681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287" y="1122390"/>
              <a:ext cx="3377255" cy="3407681"/>
            </a:xfrm>
            <a:prstGeom prst="rect">
              <a:avLst/>
            </a:prstGeom>
          </p:spPr>
        </p:pic>
        <p:pic>
          <p:nvPicPr>
            <p:cNvPr id="9" name="Grafik 8"/>
            <p:cNvPicPr>
              <a:picLocks noChangeAspect="1"/>
            </p:cNvPicPr>
            <p:nvPr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41" r="35507"/>
            <a:stretch/>
          </p:blipFill>
          <p:spPr>
            <a:xfrm rot="10800000" flipH="1">
              <a:off x="913283" y="1293146"/>
              <a:ext cx="1453700" cy="1073026"/>
            </a:xfrm>
            <a:prstGeom prst="rect">
              <a:avLst/>
            </a:prstGeom>
          </p:spPr>
        </p:pic>
        <p:pic>
          <p:nvPicPr>
            <p:cNvPr id="2" name="Grafik 1"/>
            <p:cNvPicPr>
              <a:picLocks noChangeAspect="1"/>
            </p:cNvPicPr>
            <p:nvPr/>
          </p:nvPicPr>
          <p:blipFill rotWithShape="1"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61" r="11066"/>
            <a:stretch/>
          </p:blipFill>
          <p:spPr>
            <a:xfrm rot="517588" flipH="1">
              <a:off x="2847867" y="2087582"/>
              <a:ext cx="655709" cy="644607"/>
            </a:xfrm>
            <a:prstGeom prst="rect">
              <a:avLst/>
            </a:prstGeom>
          </p:spPr>
        </p:pic>
        <p:pic>
          <p:nvPicPr>
            <p:cNvPr id="3" name="Grafik 2"/>
            <p:cNvPicPr>
              <a:picLocks noChangeAspect="1"/>
            </p:cNvPicPr>
            <p:nvPr/>
          </p:nvPicPr>
          <p:blipFill rotWithShape="1"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73"/>
            <a:stretch/>
          </p:blipFill>
          <p:spPr>
            <a:xfrm>
              <a:off x="875843" y="2061858"/>
              <a:ext cx="1523271" cy="793684"/>
            </a:xfrm>
            <a:prstGeom prst="rect">
              <a:avLst/>
            </a:prstGeom>
          </p:spPr>
        </p:pic>
        <p:sp>
          <p:nvSpPr>
            <p:cNvPr id="11" name="Ellipse 10"/>
            <p:cNvSpPr/>
            <p:nvPr/>
          </p:nvSpPr>
          <p:spPr>
            <a:xfrm rot="21152604">
              <a:off x="2431841" y="1161998"/>
              <a:ext cx="936703" cy="56541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2522840" y="1344160"/>
              <a:ext cx="897829" cy="2010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Candara" panose="020E0502030303020204" pitchFamily="34" charset="0"/>
                </a:rPr>
                <a:t>QUESTIONS?</a:t>
              </a:r>
              <a:endParaRPr lang="en-US" sz="1400" dirty="0" err="1">
                <a:latin typeface="Candara" panose="020E0502030303020204" pitchFamily="34" charset="0"/>
              </a:endParaRPr>
            </a:p>
          </p:txBody>
        </p:sp>
      </p:grpSp>
      <p:sp>
        <p:nvSpPr>
          <p:cNvPr id="4" name="Textfeld 3"/>
          <p:cNvSpPr txBox="1"/>
          <p:nvPr/>
        </p:nvSpPr>
        <p:spPr>
          <a:xfrm>
            <a:off x="8493435" y="2756990"/>
            <a:ext cx="1811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err="1">
                <a:solidFill>
                  <a:srgbClr val="FF0000"/>
                </a:solidFill>
              </a:rPr>
              <a:t>Good</a:t>
            </a:r>
            <a:r>
              <a:rPr lang="de-DE" sz="2000" b="1" dirty="0">
                <a:solidFill>
                  <a:srgbClr val="FF0000"/>
                </a:solidFill>
              </a:rPr>
              <a:t> </a:t>
            </a:r>
            <a:r>
              <a:rPr lang="de-DE" sz="2000" b="1" dirty="0" err="1">
                <a:solidFill>
                  <a:srgbClr val="FF0000"/>
                </a:solidFill>
              </a:rPr>
              <a:t>luck</a:t>
            </a:r>
            <a:r>
              <a:rPr lang="de-DE" sz="2000" b="1" dirty="0">
                <a:solidFill>
                  <a:srgbClr val="FF0000"/>
                </a:solidFill>
              </a:rPr>
              <a:t> in </a:t>
            </a:r>
            <a:r>
              <a:rPr lang="de-DE" sz="2000" b="1" dirty="0" err="1">
                <a:solidFill>
                  <a:srgbClr val="FF0000"/>
                </a:solidFill>
              </a:rPr>
              <a:t>the</a:t>
            </a:r>
            <a:r>
              <a:rPr lang="de-DE" sz="2000" b="1" dirty="0">
                <a:solidFill>
                  <a:srgbClr val="FF0000"/>
                </a:solidFill>
              </a:rPr>
              <a:t> </a:t>
            </a:r>
            <a:r>
              <a:rPr lang="de-DE" sz="2000" b="1" dirty="0" err="1">
                <a:solidFill>
                  <a:srgbClr val="FF0000"/>
                </a:solidFill>
              </a:rPr>
              <a:t>exam</a:t>
            </a:r>
            <a:r>
              <a:rPr lang="de-DE" sz="2000" b="1" dirty="0">
                <a:solidFill>
                  <a:srgbClr val="FF0000"/>
                </a:solidFill>
              </a:rPr>
              <a:t>!</a:t>
            </a:r>
            <a:endParaRPr lang="en-US" sz="2000" b="1" dirty="0" err="1">
              <a:solidFill>
                <a:srgbClr val="FF0000"/>
              </a:solidFill>
            </a:endParaRPr>
          </a:p>
        </p:txBody>
      </p:sp>
      <p:sp>
        <p:nvSpPr>
          <p:cNvPr id="13" name="Inhaltsplatzhalter 7"/>
          <p:cNvSpPr txBox="1">
            <a:spLocks/>
          </p:cNvSpPr>
          <p:nvPr/>
        </p:nvSpPr>
        <p:spPr bwMode="auto">
          <a:xfrm>
            <a:off x="1708289" y="2019056"/>
            <a:ext cx="2218414" cy="2969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1" fontAlgn="base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b="1" dirty="0"/>
              <a:t>Additional </a:t>
            </a:r>
            <a:r>
              <a:rPr lang="de-DE" sz="1600" b="1" dirty="0" err="1"/>
              <a:t>Resource</a:t>
            </a:r>
            <a:r>
              <a:rPr lang="de-DE" sz="1600" b="1" dirty="0"/>
              <a:t> </a:t>
            </a:r>
            <a:r>
              <a:rPr lang="de-DE" sz="1600" b="1" dirty="0" err="1"/>
              <a:t>for</a:t>
            </a:r>
            <a:r>
              <a:rPr lang="de-DE" sz="1600" b="1" dirty="0"/>
              <a:t> </a:t>
            </a:r>
            <a:r>
              <a:rPr lang="de-DE" sz="1600" b="1" dirty="0" err="1"/>
              <a:t>Exam</a:t>
            </a:r>
            <a:r>
              <a:rPr lang="de-DE" sz="1600" b="1" dirty="0"/>
              <a:t> </a:t>
            </a:r>
            <a:r>
              <a:rPr lang="de-DE" sz="1600" b="1" dirty="0" err="1"/>
              <a:t>Preparation</a:t>
            </a:r>
            <a:endParaRPr lang="de-DE" sz="1600" b="1" dirty="0"/>
          </a:p>
          <a:p>
            <a:r>
              <a:rPr lang="de-DE" sz="1400" dirty="0" err="1"/>
              <a:t>Question</a:t>
            </a:r>
            <a:r>
              <a:rPr lang="de-DE" sz="1400" dirty="0"/>
              <a:t> </a:t>
            </a:r>
            <a:r>
              <a:rPr lang="de-DE" sz="1400" dirty="0" err="1"/>
              <a:t>chapter</a:t>
            </a:r>
            <a:r>
              <a:rPr lang="de-DE" sz="1400" dirty="0"/>
              <a:t> </a:t>
            </a:r>
            <a:r>
              <a:rPr lang="de-DE" sz="1400" dirty="0" err="1"/>
              <a:t>with</a:t>
            </a:r>
            <a:r>
              <a:rPr lang="de-DE" sz="1400" dirty="0"/>
              <a:t> </a:t>
            </a:r>
            <a:r>
              <a:rPr lang="de-DE" sz="1400" dirty="0" err="1"/>
              <a:t>calculation</a:t>
            </a:r>
            <a:r>
              <a:rPr lang="de-DE" sz="1400" dirty="0"/>
              <a:t> </a:t>
            </a:r>
            <a:r>
              <a:rPr lang="de-DE" sz="1400" dirty="0" err="1"/>
              <a:t>tasks</a:t>
            </a:r>
            <a:r>
              <a:rPr lang="de-DE" sz="1400" dirty="0"/>
              <a:t> &amp; </a:t>
            </a:r>
            <a:r>
              <a:rPr lang="de-DE" sz="1400" dirty="0" err="1"/>
              <a:t>theory</a:t>
            </a:r>
            <a:r>
              <a:rPr lang="de-DE" sz="1400" dirty="0"/>
              <a:t> </a:t>
            </a:r>
            <a:r>
              <a:rPr lang="de-DE" sz="1400" dirty="0" err="1"/>
              <a:t>questions</a:t>
            </a:r>
            <a:r>
              <a:rPr lang="de-DE" sz="1400" dirty="0"/>
              <a:t> at </a:t>
            </a:r>
            <a:r>
              <a:rPr lang="de-DE" sz="1400" dirty="0" err="1"/>
              <a:t>the</a:t>
            </a:r>
            <a:r>
              <a:rPr lang="de-DE" sz="1400" dirty="0"/>
              <a:t> end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book</a:t>
            </a:r>
            <a:r>
              <a:rPr lang="de-DE" sz="1400" dirty="0"/>
              <a:t>: </a:t>
            </a:r>
            <a:r>
              <a:rPr lang="de-DE" sz="1400" dirty="0" err="1"/>
              <a:t>Raymer</a:t>
            </a:r>
            <a:r>
              <a:rPr lang="de-DE" sz="1400" dirty="0"/>
              <a:t> (2012): </a:t>
            </a:r>
            <a:r>
              <a:rPr lang="de-DE" sz="1400" i="1" dirty="0" err="1"/>
              <a:t>Aircraft</a:t>
            </a:r>
            <a:r>
              <a:rPr lang="de-DE" sz="1400" i="1" dirty="0"/>
              <a:t> Design: A </a:t>
            </a:r>
            <a:r>
              <a:rPr lang="de-DE" sz="1400" i="1" dirty="0" err="1"/>
              <a:t>Conceptual</a:t>
            </a:r>
            <a:r>
              <a:rPr lang="de-DE" sz="1400" i="1" dirty="0"/>
              <a:t> Approach</a:t>
            </a:r>
            <a:r>
              <a:rPr lang="de-DE" sz="1400" dirty="0"/>
              <a:t>, 5. </a:t>
            </a:r>
            <a:r>
              <a:rPr lang="de-DE" sz="1400" dirty="0" err="1"/>
              <a:t>ed</a:t>
            </a:r>
            <a:r>
              <a:rPr lang="de-DE" sz="1400" dirty="0"/>
              <a:t>., AIAA Education Series, Reston, Virginia. </a:t>
            </a:r>
            <a:endParaRPr lang="en-US" sz="1400" dirty="0"/>
          </a:p>
          <a:p>
            <a:endParaRPr lang="de-DE" sz="1400" i="1" dirty="0"/>
          </a:p>
          <a:p>
            <a:endParaRPr lang="de-DE" sz="1400" i="1" dirty="0"/>
          </a:p>
          <a:p>
            <a:endParaRPr lang="de-DE" sz="1400" i="1" dirty="0"/>
          </a:p>
          <a:p>
            <a:endParaRPr lang="de-DE" sz="1400" i="1" dirty="0"/>
          </a:p>
          <a:p>
            <a:endParaRPr lang="de-DE" sz="1400" i="1" dirty="0"/>
          </a:p>
          <a:p>
            <a:endParaRPr lang="de-DE" sz="1400" i="1" dirty="0"/>
          </a:p>
          <a:p>
            <a:endParaRPr lang="de-DE" sz="1400" i="1" dirty="0"/>
          </a:p>
          <a:p>
            <a:endParaRPr lang="de-DE" sz="1400" i="1" dirty="0"/>
          </a:p>
          <a:p>
            <a:endParaRPr lang="de-DE" sz="1400" i="1" dirty="0"/>
          </a:p>
          <a:p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31862368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andarddesign">
  <a:themeElements>
    <a:clrScheme name="TUM">
      <a:dk1>
        <a:srgbClr val="000000"/>
      </a:dk1>
      <a:lt1>
        <a:srgbClr val="FFFFFF"/>
      </a:lt1>
      <a:dk2>
        <a:srgbClr val="0065BD"/>
      </a:dk2>
      <a:lt2>
        <a:srgbClr val="DAD7CB"/>
      </a:lt2>
      <a:accent1>
        <a:srgbClr val="003359"/>
      </a:accent1>
      <a:accent2>
        <a:srgbClr val="005293"/>
      </a:accent2>
      <a:accent3>
        <a:srgbClr val="0073CF"/>
      </a:accent3>
      <a:accent4>
        <a:srgbClr val="64A0C8"/>
      </a:accent4>
      <a:accent5>
        <a:srgbClr val="A2AD00"/>
      </a:accent5>
      <a:accent6>
        <a:srgbClr val="E37222"/>
      </a:accent6>
      <a:hlink>
        <a:srgbClr val="98C6EA"/>
      </a:hlink>
      <a:folHlink>
        <a:srgbClr val="A2AD00"/>
      </a:folHlink>
    </a:clrScheme>
    <a:fontScheme name="TUM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6350">
          <a:solidFill>
            <a:schemeClr val="accent1"/>
          </a:solidFill>
        </a:ln>
      </a:spPr>
      <a:bodyPr rtlCol="0" anchor="ctr"/>
      <a:lstStyle>
        <a:defPPr algn="ctr"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1793</Words>
  <Application>Microsoft Office PowerPoint</Application>
  <PresentationFormat>Breitbild</PresentationFormat>
  <Paragraphs>302</Paragraphs>
  <Slides>27</Slides>
  <Notes>22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9" baseType="lpstr">
      <vt:lpstr>PMingLiU</vt:lpstr>
      <vt:lpstr>Arial</vt:lpstr>
      <vt:lpstr>Calibri</vt:lpstr>
      <vt:lpstr>Cambria Math</vt:lpstr>
      <vt:lpstr>Candara</vt:lpstr>
      <vt:lpstr>Courier New</vt:lpstr>
      <vt:lpstr>Segoe UI Emoji</vt:lpstr>
      <vt:lpstr>Symbol</vt:lpstr>
      <vt:lpstr>Times New Roman</vt:lpstr>
      <vt:lpstr>Wingdings</vt:lpstr>
      <vt:lpstr>Standarddesign</vt:lpstr>
      <vt:lpstr>think-cell Folie</vt:lpstr>
      <vt:lpstr>Aircraft Design Exam Preparation</vt:lpstr>
      <vt:lpstr>Exam Information</vt:lpstr>
      <vt:lpstr>Exam Information</vt:lpstr>
      <vt:lpstr>Exam Information</vt:lpstr>
      <vt:lpstr>Exam Preparation Tasks</vt:lpstr>
      <vt:lpstr>Piaggio P180</vt:lpstr>
      <vt:lpstr>Further information</vt:lpstr>
      <vt:lpstr>Task 1</vt:lpstr>
      <vt:lpstr>Task 1</vt:lpstr>
      <vt:lpstr>Task 2</vt:lpstr>
      <vt:lpstr>Task 2</vt:lpstr>
      <vt:lpstr>Task 3</vt:lpstr>
      <vt:lpstr>Task 3</vt:lpstr>
      <vt:lpstr>Task 3</vt:lpstr>
      <vt:lpstr>Task 3</vt:lpstr>
      <vt:lpstr>Break (5min)</vt:lpstr>
      <vt:lpstr>Task 4</vt:lpstr>
      <vt:lpstr>Task 4</vt:lpstr>
      <vt:lpstr>Task 5</vt:lpstr>
      <vt:lpstr>Task 6</vt:lpstr>
      <vt:lpstr>Task 7</vt:lpstr>
      <vt:lpstr>Task 7</vt:lpstr>
      <vt:lpstr>Task 7</vt:lpstr>
      <vt:lpstr>Task 7</vt:lpstr>
      <vt:lpstr>Task 8</vt:lpstr>
      <vt:lpstr>Task 8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Luftfahrttechnik</dc:title>
  <dc:creator>L. Anastasopoulos</dc:creator>
  <cp:keywords>WS 2016/2017</cp:keywords>
  <cp:lastModifiedBy>Kossarev, Kristina</cp:lastModifiedBy>
  <cp:revision>3776</cp:revision>
  <cp:lastPrinted>2019-11-08T08:14:41Z</cp:lastPrinted>
  <dcterms:created xsi:type="dcterms:W3CDTF">2014-04-28T14:47:37Z</dcterms:created>
  <dcterms:modified xsi:type="dcterms:W3CDTF">2023-01-30T08:25:53Z</dcterms:modified>
  <cp:category>Bachelor</cp:category>
</cp:coreProperties>
</file>